
<file path=[Content_Types].xml><?xml version="1.0" encoding="utf-8"?>
<Types xmlns="http://schemas.openxmlformats.org/package/2006/content-types">
  <Default Extension="bin" ContentType="application/vnd.openxmlformats-officedocument.oleObject"/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wav" ContentType="audio/x-wav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1"/>
  </p:notesMasterIdLst>
  <p:handoutMasterIdLst>
    <p:handoutMasterId r:id="rId32"/>
  </p:handoutMasterIdLst>
  <p:sldIdLst>
    <p:sldId id="300" r:id="rId2"/>
    <p:sldId id="326" r:id="rId3"/>
    <p:sldId id="302" r:id="rId4"/>
    <p:sldId id="258" r:id="rId5"/>
    <p:sldId id="259" r:id="rId6"/>
    <p:sldId id="260" r:id="rId7"/>
    <p:sldId id="261" r:id="rId8"/>
    <p:sldId id="303" r:id="rId9"/>
    <p:sldId id="262" r:id="rId10"/>
    <p:sldId id="263" r:id="rId11"/>
    <p:sldId id="264" r:id="rId12"/>
    <p:sldId id="265" r:id="rId13"/>
    <p:sldId id="266" r:id="rId14"/>
    <p:sldId id="304" r:id="rId15"/>
    <p:sldId id="267" r:id="rId16"/>
    <p:sldId id="268" r:id="rId17"/>
    <p:sldId id="269" r:id="rId18"/>
    <p:sldId id="270" r:id="rId19"/>
    <p:sldId id="271" r:id="rId20"/>
    <p:sldId id="272" r:id="rId21"/>
    <p:sldId id="305" r:id="rId22"/>
    <p:sldId id="328" r:id="rId23"/>
    <p:sldId id="329" r:id="rId24"/>
    <p:sldId id="330" r:id="rId25"/>
    <p:sldId id="273" r:id="rId26"/>
    <p:sldId id="308" r:id="rId27"/>
    <p:sldId id="274" r:id="rId28"/>
    <p:sldId id="275" r:id="rId29"/>
    <p:sldId id="325" r:id="rId30"/>
  </p:sldIdLst>
  <p:sldSz cx="9144000" cy="6858000" type="screen4x3"/>
  <p:notesSz cx="7029450" cy="9942513"/>
  <p:custDataLst>
    <p:tags r:id="rId33"/>
  </p:custDataLst>
  <p:defaultTextStyle>
    <a:defPPr>
      <a:defRPr lang="zh-CN"/>
    </a:defPPr>
    <a:lvl1pPr marL="0" lvl="0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1pPr>
    <a:lvl2pPr marL="457200" lvl="1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2pPr>
    <a:lvl3pPr marL="914400" lvl="2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3pPr>
    <a:lvl4pPr marL="1371600" lvl="3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4pPr>
    <a:lvl5pPr marL="1828800" lvl="4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5pPr>
    <a:lvl6pPr marL="2286000" lvl="5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6pPr>
    <a:lvl7pPr marL="2743200" lvl="6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7pPr>
    <a:lvl8pPr marL="3200400" lvl="7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8pPr>
    <a:lvl9pPr marL="3657600" lvl="8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098" userDrawn="1">
          <p15:clr>
            <a:srgbClr val="A4A3A4"/>
          </p15:clr>
        </p15:guide>
        <p15:guide id="2" pos="2901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C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32786"/>
    <p:restoredTop sz="90928"/>
  </p:normalViewPr>
  <p:slideViewPr>
    <p:cSldViewPr showGuides="1">
      <p:cViewPr varScale="1">
        <p:scale>
          <a:sx n="87" d="100"/>
          <a:sy n="87" d="100"/>
        </p:scale>
        <p:origin x="381" y="54"/>
      </p:cViewPr>
      <p:guideLst>
        <p:guide orient="horz" pos="2098"/>
        <p:guide pos="2901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gs" Target="tags/tag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handoutMaster" Target="handoutMasters/handoutMaster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46413" cy="4968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100764" tIns="50382" rIns="100764" bIns="50382" numCol="1" anchor="t" anchorCtr="0" compatLnSpc="1"/>
          <a:lstStyle>
            <a:lvl1pPr defTabSz="1008380">
              <a:defRPr sz="1400"/>
            </a:lvl1pPr>
          </a:lstStyle>
          <a:p>
            <a:pPr marL="0" marR="0" lvl="0" indent="0" algn="l" defTabSz="100838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7107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981450" y="0"/>
            <a:ext cx="3046413" cy="4968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100764" tIns="50382" rIns="100764" bIns="50382" numCol="1" anchor="t" anchorCtr="0" compatLnSpc="1"/>
          <a:lstStyle>
            <a:lvl1pPr algn="r" defTabSz="1008380">
              <a:defRPr sz="1400"/>
            </a:lvl1pPr>
          </a:lstStyle>
          <a:p>
            <a:pPr marL="0" marR="0" lvl="0" indent="0" algn="r" defTabSz="100838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7108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444038"/>
            <a:ext cx="3046413" cy="4968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100764" tIns="50382" rIns="100764" bIns="50382" numCol="1" anchor="b" anchorCtr="0" compatLnSpc="1"/>
          <a:lstStyle>
            <a:lvl1pPr defTabSz="1008380">
              <a:defRPr sz="1400"/>
            </a:lvl1pPr>
          </a:lstStyle>
          <a:p>
            <a:pPr marL="0" marR="0" lvl="0" indent="0" algn="l" defTabSz="100838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7109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981450" y="9444038"/>
            <a:ext cx="3046413" cy="4968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100764" tIns="50382" rIns="100764" bIns="50382" numCol="1" anchor="b" anchorCtr="0" compatLnSpc="1"/>
          <a:lstStyle>
            <a:lvl1pPr algn="r" defTabSz="1008380">
              <a:defRPr sz="1400"/>
            </a:lvl1pPr>
          </a:lstStyle>
          <a:p>
            <a:pPr marL="0" marR="0" lvl="0" indent="0" algn="r" defTabSz="100838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C4657B7F-DBE5-4DBE-9091-5783F9346E7C}" type="slidenum">
              <a:rPr kumimoji="1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‹#›</a:t>
            </a:fld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122247" cy="54245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4081272" y="0"/>
            <a:ext cx="3122247" cy="54245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  <a:t>2026/3/3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359159" y="1351431"/>
            <a:ext cx="6486868" cy="364886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720519" y="5203009"/>
            <a:ext cx="5764149" cy="425700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10268998"/>
            <a:ext cx="3122247" cy="542449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4081272" y="10268998"/>
            <a:ext cx="3122247" cy="542449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</p:spPr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pPr fontAlgn="base"/>
            <a:r>
              <a:rPr lang="zh-CN" altLang="en-US" strike="noStrike" noProof="1"/>
              <a:t>单击此处编辑母版副标题样式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3200" b="0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eaVert"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  <a:prstGeom prst="rect">
            <a:avLst/>
          </a:prstGeom>
        </p:spPr>
        <p:txBody>
          <a:bodyPr vert="eaVert"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  <a:prstGeom prst="rect">
            <a:avLst/>
          </a:prstGeom>
        </p:spPr>
        <p:txBody>
          <a:bodyPr vert="eaVert"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13" cstate="print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AutoShape 8">
            <a:hlinkClick r:id="" action="ppaction://hlinkshowjump?jump=nextslide" highlightClick="1"/>
          </p:cNvPr>
          <p:cNvSpPr>
            <a:spLocks noChangeArrowheads="1"/>
          </p:cNvSpPr>
          <p:nvPr/>
        </p:nvSpPr>
        <p:spPr bwMode="auto">
          <a:xfrm>
            <a:off x="8448675" y="6488113"/>
            <a:ext cx="500063" cy="292100"/>
          </a:xfrm>
          <a:prstGeom prst="actionButtonBlank">
            <a:avLst/>
          </a:prstGeom>
          <a:gradFill rotWithShape="0">
            <a:gsLst>
              <a:gs pos="0">
                <a:srgbClr val="F5FEDE"/>
              </a:gs>
              <a:gs pos="100000">
                <a:srgbClr val="DCE4C7"/>
              </a:gs>
            </a:gsLst>
            <a:path path="rect">
              <a:fillToRect l="50000" t="50000" r="50000" b="50000"/>
            </a:path>
          </a:gradFill>
          <a:ln w="9525">
            <a:solidFill>
              <a:schemeClr val="bg2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35" tIns="45718" rIns="91435" bIns="45718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1" i="0" u="none" strike="noStrike" kern="1200" cap="none" spc="0" normalizeH="0" baseline="0" noProof="0">
                <a:ln>
                  <a:noFill/>
                </a:ln>
                <a:solidFill>
                  <a:srgbClr val="6A9C06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下一页</a:t>
            </a:r>
          </a:p>
        </p:txBody>
      </p:sp>
      <p:sp>
        <p:nvSpPr>
          <p:cNvPr id="1027" name="AutoShape 9">
            <a:hlinkClick r:id="" action="ppaction://noaction" highlightClick="1"/>
          </p:cNvPr>
          <p:cNvSpPr>
            <a:spLocks noChangeArrowheads="1"/>
          </p:cNvSpPr>
          <p:nvPr/>
        </p:nvSpPr>
        <p:spPr bwMode="auto">
          <a:xfrm>
            <a:off x="6324600" y="6489700"/>
            <a:ext cx="500063" cy="292100"/>
          </a:xfrm>
          <a:prstGeom prst="actionButtonBlank">
            <a:avLst/>
          </a:prstGeom>
          <a:gradFill rotWithShape="0">
            <a:gsLst>
              <a:gs pos="0">
                <a:srgbClr val="F5FEDE"/>
              </a:gs>
              <a:gs pos="100000">
                <a:srgbClr val="DCE4C7"/>
              </a:gs>
            </a:gsLst>
            <a:path path="rect">
              <a:fillToRect l="50000" t="50000" r="50000" b="50000"/>
            </a:path>
          </a:gradFill>
          <a:ln w="9525">
            <a:solidFill>
              <a:schemeClr val="bg2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35" tIns="45718" rIns="91435" bIns="45718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1" i="0" u="none" strike="noStrike" kern="1200" cap="none" spc="0" normalizeH="0" baseline="0" noProof="0">
                <a:ln>
                  <a:noFill/>
                </a:ln>
                <a:solidFill>
                  <a:srgbClr val="6A9C06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总目录</a:t>
            </a:r>
          </a:p>
        </p:txBody>
      </p:sp>
      <p:sp>
        <p:nvSpPr>
          <p:cNvPr id="1028" name="AutoShape 10">
            <a:hlinkClick r:id="" action="ppaction://hlinkshowjump?jump=firstslide" highlightClick="1"/>
          </p:cNvPr>
          <p:cNvSpPr>
            <a:spLocks noChangeArrowheads="1"/>
          </p:cNvSpPr>
          <p:nvPr/>
        </p:nvSpPr>
        <p:spPr bwMode="auto">
          <a:xfrm>
            <a:off x="6854825" y="6489700"/>
            <a:ext cx="500063" cy="292100"/>
          </a:xfrm>
          <a:prstGeom prst="actionButtonBlank">
            <a:avLst/>
          </a:prstGeom>
          <a:gradFill rotWithShape="0">
            <a:gsLst>
              <a:gs pos="0">
                <a:srgbClr val="F5FEDE"/>
              </a:gs>
              <a:gs pos="100000">
                <a:srgbClr val="DCE4C7"/>
              </a:gs>
            </a:gsLst>
            <a:path path="rect">
              <a:fillToRect l="50000" t="50000" r="50000" b="50000"/>
            </a:path>
          </a:gradFill>
          <a:ln w="9525">
            <a:solidFill>
              <a:schemeClr val="bg2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35" tIns="45718" rIns="91435" bIns="45718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1" i="0" u="none" strike="noStrike" kern="1200" cap="none" spc="0" normalizeH="0" baseline="0" noProof="0">
                <a:ln>
                  <a:noFill/>
                </a:ln>
                <a:solidFill>
                  <a:srgbClr val="6A9C06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章目录</a:t>
            </a:r>
          </a:p>
        </p:txBody>
      </p:sp>
      <p:sp>
        <p:nvSpPr>
          <p:cNvPr id="1029" name="AutoShape 11">
            <a:hlinkClick r:id="" action="ppaction://hlinkshowjump?jump=lastslideviewed" highlightClick="1"/>
          </p:cNvPr>
          <p:cNvSpPr>
            <a:spLocks noChangeArrowheads="1"/>
          </p:cNvSpPr>
          <p:nvPr/>
        </p:nvSpPr>
        <p:spPr bwMode="auto">
          <a:xfrm>
            <a:off x="7383463" y="6489700"/>
            <a:ext cx="500063" cy="292100"/>
          </a:xfrm>
          <a:prstGeom prst="actionButtonBlank">
            <a:avLst/>
          </a:prstGeom>
          <a:gradFill rotWithShape="0">
            <a:gsLst>
              <a:gs pos="0">
                <a:srgbClr val="F5FEDE"/>
              </a:gs>
              <a:gs pos="100000">
                <a:srgbClr val="DCE4C7"/>
              </a:gs>
            </a:gsLst>
            <a:path path="rect">
              <a:fillToRect l="50000" t="50000" r="50000" b="50000"/>
            </a:path>
          </a:gradFill>
          <a:ln w="9525">
            <a:solidFill>
              <a:schemeClr val="bg2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35" tIns="45718" rIns="91435" bIns="45718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1" i="0" u="none" strike="noStrike" kern="1200" cap="none" spc="0" normalizeH="0" baseline="0" noProof="0">
                <a:ln>
                  <a:noFill/>
                </a:ln>
                <a:solidFill>
                  <a:srgbClr val="6A9C06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返回</a:t>
            </a:r>
          </a:p>
        </p:txBody>
      </p:sp>
      <p:sp>
        <p:nvSpPr>
          <p:cNvPr id="1030" name="AutoShape 12">
            <a:hlinkClick r:id="" action="ppaction://hlinkshowjump?jump=previousslide" highlightClick="1"/>
          </p:cNvPr>
          <p:cNvSpPr>
            <a:spLocks noChangeArrowheads="1"/>
          </p:cNvSpPr>
          <p:nvPr/>
        </p:nvSpPr>
        <p:spPr bwMode="auto">
          <a:xfrm>
            <a:off x="7918450" y="6489700"/>
            <a:ext cx="500063" cy="292100"/>
          </a:xfrm>
          <a:prstGeom prst="actionButtonBlank">
            <a:avLst/>
          </a:prstGeom>
          <a:gradFill rotWithShape="0">
            <a:gsLst>
              <a:gs pos="0">
                <a:srgbClr val="F5FEDE"/>
              </a:gs>
              <a:gs pos="100000">
                <a:srgbClr val="DCE4C7"/>
              </a:gs>
            </a:gsLst>
            <a:path path="rect">
              <a:fillToRect l="50000" t="50000" r="50000" b="50000"/>
            </a:path>
          </a:gradFill>
          <a:ln w="9525">
            <a:solidFill>
              <a:schemeClr val="bg2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35" tIns="45718" rIns="91435" bIns="45718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1" i="0" u="none" strike="noStrike" kern="1200" cap="none" spc="0" normalizeH="0" baseline="0" noProof="0">
                <a:ln>
                  <a:noFill/>
                </a:ln>
                <a:solidFill>
                  <a:srgbClr val="6A9C06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上一页</a:t>
            </a:r>
          </a:p>
        </p:txBody>
      </p:sp>
      <p:sp>
        <p:nvSpPr>
          <p:cNvPr id="1031" name="Rectangle 13">
            <a:hlinkClick r:id="" action="ppaction://hlinkpres?slideindex=1&amp;slidetitle="/>
          </p:cNvPr>
          <p:cNvSpPr>
            <a:spLocks noChangeArrowheads="1"/>
          </p:cNvSpPr>
          <p:nvPr/>
        </p:nvSpPr>
        <p:spPr bwMode="auto">
          <a:xfrm>
            <a:off x="6324600" y="6477000"/>
            <a:ext cx="500063" cy="292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kumimoji="1"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" Target="slide1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" Target="slide5.xml"/><Relationship Id="rId2" Type="http://schemas.openxmlformats.org/officeDocument/2006/relationships/slide" Target="slide18.xml"/><Relationship Id="rId1" Type="http://schemas.openxmlformats.org/officeDocument/2006/relationships/slideLayout" Target="../slideLayouts/slideLayout7.xml"/><Relationship Id="rId4" Type="http://schemas.openxmlformats.org/officeDocument/2006/relationships/slide" Target="slid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wmf"/><Relationship Id="rId2" Type="http://schemas.openxmlformats.org/officeDocument/2006/relationships/oleObject" Target="../embeddings/oleObject2.bin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5" Type="http://schemas.openxmlformats.org/officeDocument/2006/relationships/image" Target="../media/image5.wmf"/><Relationship Id="rId4" Type="http://schemas.openxmlformats.org/officeDocument/2006/relationships/oleObject" Target="../embeddings/oleObject3.bin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wmf"/><Relationship Id="rId2" Type="http://schemas.openxmlformats.org/officeDocument/2006/relationships/oleObject" Target="../embeddings/oleObject4.bin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.xml"/><Relationship Id="rId5" Type="http://schemas.openxmlformats.org/officeDocument/2006/relationships/image" Target="../media/image10.png"/><Relationship Id="rId4" Type="http://schemas.openxmlformats.org/officeDocument/2006/relationships/oleObject" Target="../embeddings/oleObject5.bin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GIF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wmf"/><Relationship Id="rId2" Type="http://schemas.openxmlformats.org/officeDocument/2006/relationships/oleObject" Target="../embeddings/oleObject6.bin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5.wmf"/><Relationship Id="rId4" Type="http://schemas.openxmlformats.org/officeDocument/2006/relationships/oleObject" Target="../embeddings/oleObject7.bin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8.bin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6.wmf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9.bin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7.wmf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wmf"/><Relationship Id="rId2" Type="http://schemas.openxmlformats.org/officeDocument/2006/relationships/oleObject" Target="../embeddings/oleObject10.bin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tags" Target="../tags/tag5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5" Type="http://schemas.openxmlformats.org/officeDocument/2006/relationships/slideLayout" Target="../slideLayouts/slideLayout7.xml"/><Relationship Id="rId4" Type="http://schemas.openxmlformats.org/officeDocument/2006/relationships/tags" Target="../tags/tag6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wmf"/><Relationship Id="rId2" Type="http://schemas.openxmlformats.org/officeDocument/2006/relationships/oleObject" Target="../embeddings/oleObject11.bin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wmf"/><Relationship Id="rId2" Type="http://schemas.openxmlformats.org/officeDocument/2006/relationships/oleObject" Target="../embeddings/oleObject12.bin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wmf"/><Relationship Id="rId2" Type="http://schemas.openxmlformats.org/officeDocument/2006/relationships/oleObject" Target="../embeddings/oleObject13.bin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wmf"/><Relationship Id="rId2" Type="http://schemas.openxmlformats.org/officeDocument/2006/relationships/oleObject" Target="../embeddings/oleObject14.bin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wmf"/><Relationship Id="rId2" Type="http://schemas.openxmlformats.org/officeDocument/2006/relationships/oleObject" Target="../embeddings/oleObject15.bin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wmf"/><Relationship Id="rId3" Type="http://schemas.openxmlformats.org/officeDocument/2006/relationships/oleObject" Target="../embeddings/oleObject16.bin"/><Relationship Id="rId7" Type="http://schemas.openxmlformats.org/officeDocument/2006/relationships/oleObject" Target="../embeddings/oleObject18.bin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5.wmf"/><Relationship Id="rId5" Type="http://schemas.openxmlformats.org/officeDocument/2006/relationships/oleObject" Target="../embeddings/oleObject17.bin"/><Relationship Id="rId4" Type="http://schemas.openxmlformats.org/officeDocument/2006/relationships/image" Target="../media/image24.wmf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9.bin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7.wmf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slide" Target="slide5.xml"/><Relationship Id="rId2" Type="http://schemas.openxmlformats.org/officeDocument/2006/relationships/slide" Target="slide18.xml"/><Relationship Id="rId1" Type="http://schemas.openxmlformats.org/officeDocument/2006/relationships/slideLayout" Target="../slideLayouts/slideLayout7.xml"/><Relationship Id="rId4" Type="http://schemas.openxmlformats.org/officeDocument/2006/relationships/slide" Target="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3" name="Rectangle 3">
            <a:hlinkClick r:id="rId2" action="ppaction://hlinksldjump"/>
          </p:cNvPr>
          <p:cNvSpPr>
            <a:spLocks noChangeArrowheads="1"/>
          </p:cNvSpPr>
          <p:nvPr/>
        </p:nvSpPr>
        <p:spPr bwMode="auto">
          <a:xfrm>
            <a:off x="2917190" y="188595"/>
            <a:ext cx="2871470" cy="520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CC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 lIns="91435" tIns="45718" rIns="91435" bIns="45718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课程的主要内容</a:t>
            </a:r>
          </a:p>
        </p:txBody>
      </p:sp>
      <p:sp>
        <p:nvSpPr>
          <p:cNvPr id="3" name="Rectangle 3">
            <a:hlinkClick r:id="rId2" action="ppaction://hlinksldjump"/>
          </p:cNvPr>
          <p:cNvSpPr>
            <a:spLocks noChangeArrowheads="1"/>
          </p:cNvSpPr>
          <p:nvPr/>
        </p:nvSpPr>
        <p:spPr bwMode="auto">
          <a:xfrm>
            <a:off x="545465" y="692785"/>
            <a:ext cx="8489950" cy="3975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CC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 lIns="91435" tIns="45718" rIns="91435" bIns="45718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0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highlight>
                  <a:srgbClr val="C0C0C0"/>
                </a:highlight>
                <a:uLnTx/>
                <a:uFillTx/>
                <a:latin typeface="华文行楷" panose="02010800040101010101" charset="-122"/>
                <a:ea typeface="华文行楷" panose="02010800040101010101" charset="-122"/>
                <a:cs typeface="华文行楷" panose="02010800040101010101" charset="-122"/>
              </a:rPr>
              <a:t>电工电子技术</a:t>
            </a:r>
            <a:r>
              <a:rPr kumimoji="1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highlight>
                  <a:srgbClr val="C0C0C0"/>
                </a:highlight>
                <a:uLnTx/>
                <a:uFillTx/>
                <a:latin typeface="华文行楷" panose="02010800040101010101" charset="-122"/>
                <a:ea typeface="华文行楷" panose="02010800040101010101" charset="-122"/>
                <a:cs typeface="华文行楷" panose="02010800040101010101" charset="-122"/>
              </a:rPr>
              <a:t>----</a:t>
            </a:r>
            <a:r>
              <a:rPr kumimoji="1" lang="zh-CN" altLang="en-US" sz="20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highlight>
                  <a:srgbClr val="C0C0C0"/>
                </a:highlight>
                <a:uLnTx/>
                <a:uFillTx/>
                <a:latin typeface="华文行楷" panose="02010800040101010101" charset="-122"/>
                <a:ea typeface="华文行楷" panose="02010800040101010101" charset="-122"/>
                <a:cs typeface="华文行楷" panose="02010800040101010101" charset="-122"/>
              </a:rPr>
              <a:t>研究电工技术和电子技术的理论及其应用的科学技术。</a:t>
            </a:r>
          </a:p>
        </p:txBody>
      </p:sp>
      <p:grpSp>
        <p:nvGrpSpPr>
          <p:cNvPr id="6" name="组合 5"/>
          <p:cNvGrpSpPr/>
          <p:nvPr/>
        </p:nvGrpSpPr>
        <p:grpSpPr>
          <a:xfrm>
            <a:off x="2416175" y="1126490"/>
            <a:ext cx="4104640" cy="575310"/>
            <a:chOff x="3798" y="2565"/>
            <a:chExt cx="6464" cy="906"/>
          </a:xfrm>
        </p:grpSpPr>
        <p:sp>
          <p:nvSpPr>
            <p:cNvPr id="4" name="下箭头标注 3"/>
            <p:cNvSpPr/>
            <p:nvPr/>
          </p:nvSpPr>
          <p:spPr>
            <a:xfrm>
              <a:off x="3798" y="2565"/>
              <a:ext cx="6464" cy="907"/>
            </a:xfrm>
            <a:prstGeom prst="downArrowCallout">
              <a:avLst/>
            </a:prstGeom>
            <a:solidFill>
              <a:schemeClr val="bg1">
                <a:lumMod val="75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5" name="Rectangle 3">
              <a:hlinkClick r:id="rId2" action="ppaction://hlinksldjump"/>
            </p:cNvPr>
            <p:cNvSpPr>
              <a:spLocks noChangeArrowheads="1"/>
            </p:cNvSpPr>
            <p:nvPr/>
          </p:nvSpPr>
          <p:spPr bwMode="auto">
            <a:xfrm>
              <a:off x="4587" y="2565"/>
              <a:ext cx="4659" cy="62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CC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square" lIns="91435" tIns="45718" rIns="91435" bIns="45718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zh-CN" altLang="en-US" sz="2000" b="1" i="0" u="none" strike="noStrike" kern="120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highlight>
                    <a:srgbClr val="C0C0C0"/>
                  </a:highlight>
                  <a:uLnTx/>
                  <a:uFillTx/>
                  <a:latin typeface="华文行楷" panose="02010800040101010101" charset="-122"/>
                  <a:ea typeface="华文行楷" panose="02010800040101010101" charset="-122"/>
                  <a:cs typeface="华文行楷" panose="02010800040101010101" charset="-122"/>
                </a:rPr>
                <a:t>电工电子技术</a:t>
              </a:r>
              <a:r>
                <a:rPr kumimoji="1" lang="zh-CN" sz="2000" b="1" i="0" u="none" strike="noStrike" kern="120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highlight>
                    <a:srgbClr val="C0C0C0"/>
                  </a:highlight>
                  <a:uLnTx/>
                  <a:uFillTx/>
                  <a:latin typeface="华文行楷" panose="02010800040101010101" charset="-122"/>
                  <a:ea typeface="华文行楷" panose="02010800040101010101" charset="-122"/>
                  <a:cs typeface="华文行楷" panose="02010800040101010101" charset="-122"/>
                </a:rPr>
                <a:t>（电工学）</a:t>
              </a:r>
            </a:p>
          </p:txBody>
        </p:sp>
      </p:grpSp>
      <p:grpSp>
        <p:nvGrpSpPr>
          <p:cNvPr id="11" name="组合 10"/>
          <p:cNvGrpSpPr/>
          <p:nvPr/>
        </p:nvGrpSpPr>
        <p:grpSpPr>
          <a:xfrm>
            <a:off x="1790065" y="1691640"/>
            <a:ext cx="5121910" cy="81280"/>
            <a:chOff x="3565" y="3456"/>
            <a:chExt cx="6923" cy="128"/>
          </a:xfrm>
        </p:grpSpPr>
        <p:cxnSp>
          <p:nvCxnSpPr>
            <p:cNvPr id="7" name="直接连接符 6"/>
            <p:cNvCxnSpPr/>
            <p:nvPr/>
          </p:nvCxnSpPr>
          <p:spPr>
            <a:xfrm>
              <a:off x="3565" y="3473"/>
              <a:ext cx="6918" cy="0"/>
            </a:xfrm>
            <a:prstGeom prst="line">
              <a:avLst/>
            </a:prstGeom>
            <a:solidFill>
              <a:schemeClr val="accent1"/>
            </a:solidFill>
            <a:ln w="28575" cap="flat" cmpd="sng" algn="ctr">
              <a:solidFill>
                <a:schemeClr val="accent1">
                  <a:shade val="5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8" name="直接连接符 7"/>
            <p:cNvCxnSpPr/>
            <p:nvPr/>
          </p:nvCxnSpPr>
          <p:spPr>
            <a:xfrm flipH="1">
              <a:off x="3571" y="3456"/>
              <a:ext cx="9" cy="129"/>
            </a:xfrm>
            <a:prstGeom prst="line">
              <a:avLst/>
            </a:prstGeom>
            <a:solidFill>
              <a:schemeClr val="accent1"/>
            </a:solidFill>
            <a:ln w="28575" cap="flat" cmpd="sng" algn="ctr">
              <a:solidFill>
                <a:schemeClr val="accent1">
                  <a:shade val="5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9" name="直接连接符 8"/>
            <p:cNvCxnSpPr/>
            <p:nvPr/>
          </p:nvCxnSpPr>
          <p:spPr>
            <a:xfrm flipH="1">
              <a:off x="10480" y="3456"/>
              <a:ext cx="9" cy="129"/>
            </a:xfrm>
            <a:prstGeom prst="line">
              <a:avLst/>
            </a:prstGeom>
            <a:solidFill>
              <a:schemeClr val="accent1"/>
            </a:solidFill>
            <a:ln w="28575" cap="flat" cmpd="sng" algn="ctr">
              <a:solidFill>
                <a:schemeClr val="accent1">
                  <a:shade val="5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12" name="组合 11"/>
          <p:cNvGrpSpPr/>
          <p:nvPr/>
        </p:nvGrpSpPr>
        <p:grpSpPr>
          <a:xfrm>
            <a:off x="1119505" y="1774825"/>
            <a:ext cx="1407795" cy="575945"/>
            <a:chOff x="4536" y="2565"/>
            <a:chExt cx="5666" cy="907"/>
          </a:xfrm>
        </p:grpSpPr>
        <p:sp>
          <p:nvSpPr>
            <p:cNvPr id="13" name="下箭头标注 12"/>
            <p:cNvSpPr/>
            <p:nvPr/>
          </p:nvSpPr>
          <p:spPr>
            <a:xfrm>
              <a:off x="4536" y="2565"/>
              <a:ext cx="5666" cy="907"/>
            </a:xfrm>
            <a:prstGeom prst="downArrowCallout">
              <a:avLst/>
            </a:prstGeom>
            <a:solidFill>
              <a:schemeClr val="bg1">
                <a:lumMod val="75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4" name="Rectangle 3">
              <a:hlinkClick r:id="rId2" action="ppaction://hlinksldjump"/>
            </p:cNvPr>
            <p:cNvSpPr>
              <a:spLocks noChangeArrowheads="1"/>
            </p:cNvSpPr>
            <p:nvPr/>
          </p:nvSpPr>
          <p:spPr bwMode="auto">
            <a:xfrm>
              <a:off x="4789" y="2565"/>
              <a:ext cx="5219" cy="62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CC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square" lIns="91435" tIns="45718" rIns="91435" bIns="45718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zh-CN" altLang="en-US" sz="20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highlight>
                    <a:srgbClr val="C0C0C0"/>
                  </a:highlight>
                  <a:uLnTx/>
                  <a:uFillTx/>
                  <a:latin typeface="华文行楷" panose="02010800040101010101" charset="-122"/>
                  <a:ea typeface="华文行楷" panose="02010800040101010101" charset="-122"/>
                  <a:cs typeface="华文行楷" panose="02010800040101010101" charset="-122"/>
                </a:rPr>
                <a:t>电工技术</a:t>
              </a:r>
              <a:endParaRPr kumimoji="1" lang="zh-CN" sz="20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highlight>
                  <a:srgbClr val="C0C0C0"/>
                </a:highlight>
                <a:uLnTx/>
                <a:uFillTx/>
                <a:latin typeface="华文行楷" panose="02010800040101010101" charset="-122"/>
                <a:ea typeface="华文行楷" panose="02010800040101010101" charset="-122"/>
                <a:cs typeface="华文行楷" panose="02010800040101010101" charset="-122"/>
              </a:endParaRPr>
            </a:p>
          </p:txBody>
        </p:sp>
      </p:grpSp>
      <p:grpSp>
        <p:nvGrpSpPr>
          <p:cNvPr id="18" name="组合 17"/>
          <p:cNvGrpSpPr/>
          <p:nvPr/>
        </p:nvGrpSpPr>
        <p:grpSpPr>
          <a:xfrm>
            <a:off x="6227445" y="1773555"/>
            <a:ext cx="1407795" cy="575945"/>
            <a:chOff x="4536" y="2565"/>
            <a:chExt cx="5666" cy="907"/>
          </a:xfrm>
        </p:grpSpPr>
        <p:sp>
          <p:nvSpPr>
            <p:cNvPr id="19" name="下箭头标注 18"/>
            <p:cNvSpPr/>
            <p:nvPr/>
          </p:nvSpPr>
          <p:spPr>
            <a:xfrm>
              <a:off x="4536" y="2565"/>
              <a:ext cx="5666" cy="907"/>
            </a:xfrm>
            <a:prstGeom prst="downArrowCallout">
              <a:avLst/>
            </a:prstGeom>
            <a:solidFill>
              <a:schemeClr val="bg1">
                <a:lumMod val="75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0" name="Rectangle 3">
              <a:hlinkClick r:id="rId2" action="ppaction://hlinksldjump"/>
            </p:cNvPr>
            <p:cNvSpPr>
              <a:spLocks noChangeArrowheads="1"/>
            </p:cNvSpPr>
            <p:nvPr/>
          </p:nvSpPr>
          <p:spPr bwMode="auto">
            <a:xfrm>
              <a:off x="4789" y="2565"/>
              <a:ext cx="5219" cy="62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CC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square" lIns="91435" tIns="45718" rIns="91435" bIns="45718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zh-CN" altLang="en-US" sz="20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highlight>
                    <a:srgbClr val="C0C0C0"/>
                  </a:highlight>
                  <a:uLnTx/>
                  <a:uFillTx/>
                  <a:latin typeface="华文行楷" panose="02010800040101010101" charset="-122"/>
                  <a:ea typeface="华文行楷" panose="02010800040101010101" charset="-122"/>
                  <a:cs typeface="华文行楷" panose="02010800040101010101" charset="-122"/>
                </a:rPr>
                <a:t>电子技术</a:t>
              </a:r>
              <a:endParaRPr kumimoji="1" lang="zh-CN" sz="20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highlight>
                  <a:srgbClr val="C0C0C0"/>
                </a:highlight>
                <a:uLnTx/>
                <a:uFillTx/>
                <a:latin typeface="华文行楷" panose="02010800040101010101" charset="-122"/>
                <a:ea typeface="华文行楷" panose="02010800040101010101" charset="-122"/>
                <a:cs typeface="华文行楷" panose="02010800040101010101" charset="-122"/>
              </a:endParaRPr>
            </a:p>
          </p:txBody>
        </p:sp>
      </p:grpSp>
      <p:grpSp>
        <p:nvGrpSpPr>
          <p:cNvPr id="29" name="组合 28"/>
          <p:cNvGrpSpPr/>
          <p:nvPr/>
        </p:nvGrpSpPr>
        <p:grpSpPr>
          <a:xfrm>
            <a:off x="5684520" y="2364740"/>
            <a:ext cx="2576830" cy="76200"/>
            <a:chOff x="3565" y="3456"/>
            <a:chExt cx="6923" cy="128"/>
          </a:xfrm>
        </p:grpSpPr>
        <p:cxnSp>
          <p:nvCxnSpPr>
            <p:cNvPr id="30" name="直接连接符 29"/>
            <p:cNvCxnSpPr/>
            <p:nvPr/>
          </p:nvCxnSpPr>
          <p:spPr>
            <a:xfrm>
              <a:off x="3565" y="3473"/>
              <a:ext cx="6918" cy="0"/>
            </a:xfrm>
            <a:prstGeom prst="line">
              <a:avLst/>
            </a:prstGeom>
            <a:solidFill>
              <a:schemeClr val="accent1"/>
            </a:solidFill>
            <a:ln w="28575" cap="flat" cmpd="sng" algn="ctr">
              <a:solidFill>
                <a:schemeClr val="accent1">
                  <a:shade val="5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1" name="直接连接符 30"/>
            <p:cNvCxnSpPr/>
            <p:nvPr/>
          </p:nvCxnSpPr>
          <p:spPr>
            <a:xfrm flipH="1">
              <a:off x="3571" y="3456"/>
              <a:ext cx="9" cy="129"/>
            </a:xfrm>
            <a:prstGeom prst="line">
              <a:avLst/>
            </a:prstGeom>
            <a:solidFill>
              <a:schemeClr val="accent1"/>
            </a:solidFill>
            <a:ln w="28575" cap="flat" cmpd="sng" algn="ctr">
              <a:solidFill>
                <a:schemeClr val="accent1">
                  <a:shade val="5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2" name="直接连接符 31"/>
            <p:cNvCxnSpPr/>
            <p:nvPr/>
          </p:nvCxnSpPr>
          <p:spPr>
            <a:xfrm flipH="1">
              <a:off x="10480" y="3456"/>
              <a:ext cx="9" cy="129"/>
            </a:xfrm>
            <a:prstGeom prst="line">
              <a:avLst/>
            </a:prstGeom>
            <a:solidFill>
              <a:schemeClr val="accent1"/>
            </a:solidFill>
            <a:ln w="28575" cap="flat" cmpd="sng" algn="ctr">
              <a:solidFill>
                <a:schemeClr val="accent1">
                  <a:shade val="5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33" name="Rectangle 3">
            <a:hlinkClick r:id="rId2" action="ppaction://hlinksldjump"/>
          </p:cNvPr>
          <p:cNvSpPr>
            <a:spLocks noChangeArrowheads="1"/>
          </p:cNvSpPr>
          <p:nvPr/>
        </p:nvSpPr>
        <p:spPr bwMode="auto">
          <a:xfrm>
            <a:off x="3982720" y="2451100"/>
            <a:ext cx="3374390" cy="367030"/>
          </a:xfrm>
          <a:prstGeom prst="rect">
            <a:avLst/>
          </a:prstGeom>
          <a:noFill/>
          <a:ln w="28575" cmpd="sng">
            <a:solidFill>
              <a:schemeClr val="bg1">
                <a:lumMod val="50000"/>
              </a:schemeClr>
            </a:solidFill>
            <a:prstDash val="sysDot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 lIns="91435" tIns="45718" rIns="91435" bIns="45718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highlight>
                  <a:srgbClr val="C0C0C0"/>
                </a:highlight>
                <a:uLnTx/>
                <a:uFillTx/>
                <a:latin typeface="华文行楷" panose="02010800040101010101" charset="-122"/>
                <a:ea typeface="华文行楷" panose="02010800040101010101" charset="-122"/>
                <a:cs typeface="华文行楷" panose="02010800040101010101" charset="-122"/>
              </a:rPr>
              <a:t>模</a:t>
            </a:r>
            <a:r>
              <a:rPr kumimoji="1" lang="en-US" altLang="zh-CN" sz="1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highlight>
                  <a:srgbClr val="C0C0C0"/>
                </a:highlight>
                <a:uLnTx/>
                <a:uFillTx/>
                <a:latin typeface="华文行楷" panose="02010800040101010101" charset="-122"/>
                <a:ea typeface="华文行楷" panose="02010800040101010101" charset="-122"/>
                <a:cs typeface="华文行楷" panose="02010800040101010101" charset="-122"/>
              </a:rPr>
              <a:t>      </a:t>
            </a:r>
            <a:r>
              <a:rPr kumimoji="1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highlight>
                  <a:srgbClr val="C0C0C0"/>
                </a:highlight>
                <a:uLnTx/>
                <a:uFillTx/>
                <a:latin typeface="华文行楷" panose="02010800040101010101" charset="-122"/>
                <a:ea typeface="华文行楷" panose="02010800040101010101" charset="-122"/>
                <a:cs typeface="华文行楷" panose="02010800040101010101" charset="-122"/>
              </a:rPr>
              <a:t>拟</a:t>
            </a:r>
            <a:r>
              <a:rPr kumimoji="1" lang="en-US" altLang="zh-CN" sz="1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highlight>
                  <a:srgbClr val="C0C0C0"/>
                </a:highlight>
                <a:uLnTx/>
                <a:uFillTx/>
                <a:latin typeface="华文行楷" panose="02010800040101010101" charset="-122"/>
                <a:ea typeface="华文行楷" panose="02010800040101010101" charset="-122"/>
                <a:cs typeface="华文行楷" panose="02010800040101010101" charset="-122"/>
              </a:rPr>
              <a:t>      </a:t>
            </a:r>
            <a:r>
              <a:rPr kumimoji="1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highlight>
                  <a:srgbClr val="C0C0C0"/>
                </a:highlight>
                <a:uLnTx/>
                <a:uFillTx/>
                <a:latin typeface="华文行楷" panose="02010800040101010101" charset="-122"/>
                <a:ea typeface="华文行楷" panose="02010800040101010101" charset="-122"/>
                <a:cs typeface="华文行楷" panose="02010800040101010101" charset="-122"/>
              </a:rPr>
              <a:t>电</a:t>
            </a:r>
            <a:r>
              <a:rPr kumimoji="1" lang="en-US" altLang="zh-CN" sz="1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highlight>
                  <a:srgbClr val="C0C0C0"/>
                </a:highlight>
                <a:uLnTx/>
                <a:uFillTx/>
                <a:latin typeface="华文行楷" panose="02010800040101010101" charset="-122"/>
                <a:ea typeface="华文行楷" panose="02010800040101010101" charset="-122"/>
                <a:cs typeface="华文行楷" panose="02010800040101010101" charset="-122"/>
              </a:rPr>
              <a:t>      </a:t>
            </a:r>
            <a:r>
              <a:rPr kumimoji="1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highlight>
                  <a:srgbClr val="C0C0C0"/>
                </a:highlight>
                <a:uLnTx/>
                <a:uFillTx/>
                <a:latin typeface="华文行楷" panose="02010800040101010101" charset="-122"/>
                <a:ea typeface="华文行楷" panose="02010800040101010101" charset="-122"/>
                <a:cs typeface="华文行楷" panose="02010800040101010101" charset="-122"/>
              </a:rPr>
              <a:t>子</a:t>
            </a:r>
            <a:r>
              <a:rPr kumimoji="1" lang="en-US" altLang="zh-CN" sz="1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highlight>
                  <a:srgbClr val="C0C0C0"/>
                </a:highlight>
                <a:uLnTx/>
                <a:uFillTx/>
                <a:latin typeface="华文行楷" panose="02010800040101010101" charset="-122"/>
                <a:ea typeface="华文行楷" panose="02010800040101010101" charset="-122"/>
                <a:cs typeface="华文行楷" panose="02010800040101010101" charset="-122"/>
              </a:rPr>
              <a:t>      </a:t>
            </a:r>
            <a:r>
              <a:rPr kumimoji="1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highlight>
                  <a:srgbClr val="C0C0C0"/>
                </a:highlight>
                <a:uLnTx/>
                <a:uFillTx/>
                <a:latin typeface="华文行楷" panose="02010800040101010101" charset="-122"/>
                <a:ea typeface="华文行楷" panose="02010800040101010101" charset="-122"/>
                <a:cs typeface="华文行楷" panose="02010800040101010101" charset="-122"/>
              </a:rPr>
              <a:t>技</a:t>
            </a:r>
            <a:r>
              <a:rPr kumimoji="1" lang="en-US" altLang="zh-CN" sz="1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highlight>
                  <a:srgbClr val="C0C0C0"/>
                </a:highlight>
                <a:uLnTx/>
                <a:uFillTx/>
                <a:latin typeface="华文行楷" panose="02010800040101010101" charset="-122"/>
                <a:ea typeface="华文行楷" panose="02010800040101010101" charset="-122"/>
                <a:cs typeface="华文行楷" panose="02010800040101010101" charset="-122"/>
              </a:rPr>
              <a:t>      </a:t>
            </a:r>
            <a:r>
              <a:rPr kumimoji="1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highlight>
                  <a:srgbClr val="C0C0C0"/>
                </a:highlight>
                <a:uLnTx/>
                <a:uFillTx/>
                <a:latin typeface="华文行楷" panose="02010800040101010101" charset="-122"/>
                <a:ea typeface="华文行楷" panose="02010800040101010101" charset="-122"/>
                <a:cs typeface="华文行楷" panose="02010800040101010101" charset="-122"/>
              </a:rPr>
              <a:t>术</a:t>
            </a:r>
          </a:p>
        </p:txBody>
      </p:sp>
      <p:sp>
        <p:nvSpPr>
          <p:cNvPr id="34" name="Rectangle 3">
            <a:hlinkClick r:id="rId2" action="ppaction://hlinksldjump"/>
          </p:cNvPr>
          <p:cNvSpPr>
            <a:spLocks noChangeArrowheads="1"/>
          </p:cNvSpPr>
          <p:nvPr/>
        </p:nvSpPr>
        <p:spPr bwMode="auto">
          <a:xfrm>
            <a:off x="7469505" y="2450465"/>
            <a:ext cx="1594485" cy="367030"/>
          </a:xfrm>
          <a:prstGeom prst="rect">
            <a:avLst/>
          </a:prstGeom>
          <a:noFill/>
          <a:ln w="28575" cmpd="sng">
            <a:solidFill>
              <a:schemeClr val="bg1">
                <a:lumMod val="50000"/>
              </a:schemeClr>
            </a:solidFill>
            <a:prstDash val="sysDot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 lIns="91435" tIns="45718" rIns="91435" bIns="45718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highlight>
                  <a:srgbClr val="C0C0C0"/>
                </a:highlight>
                <a:uLnTx/>
                <a:uFillTx/>
                <a:latin typeface="华文行楷" panose="02010800040101010101" charset="-122"/>
                <a:ea typeface="华文行楷" panose="02010800040101010101" charset="-122"/>
                <a:cs typeface="华文行楷" panose="02010800040101010101" charset="-122"/>
              </a:rPr>
              <a:t>数字电子技术</a:t>
            </a:r>
          </a:p>
        </p:txBody>
      </p:sp>
      <p:grpSp>
        <p:nvGrpSpPr>
          <p:cNvPr id="56" name="组合 55"/>
          <p:cNvGrpSpPr/>
          <p:nvPr/>
        </p:nvGrpSpPr>
        <p:grpSpPr>
          <a:xfrm>
            <a:off x="7682865" y="2825115"/>
            <a:ext cx="1153795" cy="3291205"/>
            <a:chOff x="962" y="5228"/>
            <a:chExt cx="1817" cy="5183"/>
          </a:xfrm>
        </p:grpSpPr>
        <p:cxnSp>
          <p:nvCxnSpPr>
            <p:cNvPr id="57" name="直接连接符 56"/>
            <p:cNvCxnSpPr/>
            <p:nvPr/>
          </p:nvCxnSpPr>
          <p:spPr>
            <a:xfrm flipH="1">
              <a:off x="1192" y="5228"/>
              <a:ext cx="11" cy="399"/>
            </a:xfrm>
            <a:prstGeom prst="line">
              <a:avLst/>
            </a:prstGeom>
            <a:solidFill>
              <a:schemeClr val="accent1"/>
            </a:solidFill>
            <a:ln w="28575" cap="flat" cmpd="sng" algn="ctr">
              <a:solidFill>
                <a:schemeClr val="accent1">
                  <a:shade val="5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8" name="直接连接符 57"/>
            <p:cNvCxnSpPr/>
            <p:nvPr/>
          </p:nvCxnSpPr>
          <p:spPr>
            <a:xfrm flipH="1">
              <a:off x="2529" y="5232"/>
              <a:ext cx="11" cy="399"/>
            </a:xfrm>
            <a:prstGeom prst="line">
              <a:avLst/>
            </a:prstGeom>
            <a:solidFill>
              <a:schemeClr val="accent1"/>
            </a:solidFill>
            <a:ln w="28575" cap="flat" cmpd="sng" algn="ctr">
              <a:solidFill>
                <a:schemeClr val="accent1">
                  <a:shade val="5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59" name="Rectangle 3">
              <a:hlinkClick r:id="rId2" action="ppaction://hlinksldjump"/>
            </p:cNvPr>
            <p:cNvSpPr>
              <a:spLocks noChangeArrowheads="1"/>
            </p:cNvSpPr>
            <p:nvPr/>
          </p:nvSpPr>
          <p:spPr bwMode="auto">
            <a:xfrm>
              <a:off x="962" y="5629"/>
              <a:ext cx="483" cy="4767"/>
            </a:xfrm>
            <a:prstGeom prst="rect">
              <a:avLst/>
            </a:prstGeom>
            <a:noFill/>
            <a:ln w="12700" cmpd="sng">
              <a:solidFill>
                <a:schemeClr val="accent1">
                  <a:shade val="50000"/>
                </a:schemeClr>
              </a:solidFill>
              <a:prstDash val="dashDot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square" lIns="0" tIns="36195" rIns="0" bIns="36195">
              <a:spAutoFit/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zh-CN" altLang="en-US" sz="16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highlight>
                    <a:srgbClr val="C0C0C0"/>
                  </a:highlight>
                  <a:uLnTx/>
                  <a:uFillTx/>
                  <a:latin typeface="华文行楷" panose="02010800040101010101" charset="-122"/>
                  <a:ea typeface="华文行楷" panose="02010800040101010101" charset="-122"/>
                  <a:cs typeface="华文行楷" panose="02010800040101010101" charset="-122"/>
                </a:rPr>
                <a:t>门电路和组合逻辑电路</a:t>
              </a:r>
            </a:p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16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highlight>
                    <a:srgbClr val="C0C0C0"/>
                  </a:highlight>
                  <a:uLnTx/>
                  <a:uFillTx/>
                  <a:latin typeface="华文行楷" panose="02010800040101010101" charset="-122"/>
                  <a:ea typeface="华文行楷" panose="02010800040101010101" charset="-122"/>
                  <a:cs typeface="华文行楷" panose="02010800040101010101" charset="-122"/>
                </a:rPr>
                <a:t>20</a:t>
              </a:r>
              <a:r>
                <a:rPr kumimoji="1" lang="zh-CN" altLang="en-US" sz="16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highlight>
                    <a:srgbClr val="C0C0C0"/>
                  </a:highlight>
                  <a:uLnTx/>
                  <a:uFillTx/>
                  <a:latin typeface="华文行楷" panose="02010800040101010101" charset="-122"/>
                  <a:ea typeface="华文行楷" panose="02010800040101010101" charset="-122"/>
                  <a:cs typeface="华文行楷" panose="02010800040101010101" charset="-122"/>
                </a:rPr>
                <a:t>章</a:t>
              </a:r>
            </a:p>
          </p:txBody>
        </p:sp>
        <p:sp>
          <p:nvSpPr>
            <p:cNvPr id="60" name="Rectangle 3">
              <a:hlinkClick r:id="rId2" action="ppaction://hlinksldjump"/>
            </p:cNvPr>
            <p:cNvSpPr>
              <a:spLocks noChangeArrowheads="1"/>
            </p:cNvSpPr>
            <p:nvPr/>
          </p:nvSpPr>
          <p:spPr bwMode="auto">
            <a:xfrm>
              <a:off x="2318" y="5644"/>
              <a:ext cx="461" cy="4767"/>
            </a:xfrm>
            <a:prstGeom prst="rect">
              <a:avLst/>
            </a:prstGeom>
            <a:noFill/>
            <a:ln w="12700" cmpd="sng">
              <a:solidFill>
                <a:schemeClr val="accent1">
                  <a:shade val="50000"/>
                </a:schemeClr>
              </a:solidFill>
              <a:prstDash val="dashDot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square" lIns="0" tIns="36195" rIns="0" bIns="36195">
              <a:spAutoFit/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zh-CN" altLang="en-US" sz="16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highlight>
                    <a:srgbClr val="C0C0C0"/>
                  </a:highlight>
                  <a:uLnTx/>
                  <a:uFillTx/>
                  <a:latin typeface="华文行楷" panose="02010800040101010101" charset="-122"/>
                  <a:ea typeface="华文行楷" panose="02010800040101010101" charset="-122"/>
                  <a:cs typeface="华文行楷" panose="02010800040101010101" charset="-122"/>
                </a:rPr>
                <a:t>触发器和时序电路</a:t>
              </a:r>
            </a:p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16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highlight>
                  <a:srgbClr val="C0C0C0"/>
                </a:highlight>
                <a:uLnTx/>
                <a:uFillTx/>
                <a:latin typeface="华文行楷" panose="02010800040101010101" charset="-122"/>
                <a:ea typeface="华文行楷" panose="02010800040101010101" charset="-122"/>
                <a:cs typeface="华文行楷" panose="02010800040101010101" charset="-122"/>
              </a:endParaRPr>
            </a:p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16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highlight>
                  <a:srgbClr val="C0C0C0"/>
                </a:highlight>
                <a:uLnTx/>
                <a:uFillTx/>
                <a:latin typeface="华文行楷" panose="02010800040101010101" charset="-122"/>
                <a:ea typeface="华文行楷" panose="02010800040101010101" charset="-122"/>
                <a:cs typeface="华文行楷" panose="02010800040101010101" charset="-122"/>
              </a:endParaRPr>
            </a:p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16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highlight>
                    <a:srgbClr val="C0C0C0"/>
                  </a:highlight>
                  <a:uLnTx/>
                  <a:uFillTx/>
                  <a:latin typeface="华文行楷" panose="02010800040101010101" charset="-122"/>
                  <a:ea typeface="华文行楷" panose="02010800040101010101" charset="-122"/>
                  <a:cs typeface="华文行楷" panose="02010800040101010101" charset="-122"/>
                </a:rPr>
                <a:t>21</a:t>
              </a:r>
              <a:r>
                <a:rPr kumimoji="1" lang="zh-CN" altLang="en-US" sz="16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highlight>
                    <a:srgbClr val="C0C0C0"/>
                  </a:highlight>
                  <a:uLnTx/>
                  <a:uFillTx/>
                  <a:latin typeface="华文行楷" panose="02010800040101010101" charset="-122"/>
                  <a:ea typeface="华文行楷" panose="02010800040101010101" charset="-122"/>
                  <a:cs typeface="华文行楷" panose="02010800040101010101" charset="-122"/>
                </a:rPr>
                <a:t>章</a:t>
              </a:r>
            </a:p>
          </p:txBody>
        </p:sp>
        <p:sp>
          <p:nvSpPr>
            <p:cNvPr id="61" name="左右箭头 60"/>
            <p:cNvSpPr/>
            <p:nvPr/>
          </p:nvSpPr>
          <p:spPr>
            <a:xfrm>
              <a:off x="1417" y="7130"/>
              <a:ext cx="907" cy="311"/>
            </a:xfrm>
            <a:prstGeom prst="leftRightArrow">
              <a:avLst/>
            </a:prstGeom>
            <a:solidFill>
              <a:schemeClr val="bg1">
                <a:lumMod val="75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62" name="Rectangle 3">
              <a:hlinkClick r:id="rId2" action="ppaction://hlinksldjump"/>
            </p:cNvPr>
            <p:cNvSpPr>
              <a:spLocks noChangeArrowheads="1"/>
            </p:cNvSpPr>
            <p:nvPr/>
          </p:nvSpPr>
          <p:spPr bwMode="auto">
            <a:xfrm>
              <a:off x="1544" y="6779"/>
              <a:ext cx="675" cy="101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CC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square" lIns="91435" tIns="45718" rIns="91435" bIns="45718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zh-CN" altLang="en-US" sz="9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highlight>
                    <a:srgbClr val="FFFF00"/>
                  </a:highlight>
                  <a:uLnTx/>
                  <a:uFillTx/>
                  <a:latin typeface="华文彩云" panose="02010800040101010101" charset="-122"/>
                  <a:ea typeface="华文彩云" panose="02010800040101010101" charset="-122"/>
                  <a:cs typeface="华文彩云" panose="02010800040101010101" charset="-122"/>
                </a:rPr>
                <a:t>分立</a:t>
              </a:r>
              <a:endParaRPr kumimoji="1" lang="zh-CN" altLang="en-US" sz="9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highlight>
                  <a:srgbClr val="C0C0C0"/>
                </a:highlight>
                <a:uLnTx/>
                <a:uFillTx/>
                <a:latin typeface="华文彩云" panose="02010800040101010101" charset="-122"/>
                <a:ea typeface="华文彩云" panose="02010800040101010101" charset="-122"/>
                <a:cs typeface="华文彩云" panose="02010800040101010101" charset="-122"/>
              </a:endParaRPr>
            </a:p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9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highlight>
                  <a:srgbClr val="C0C0C0"/>
                </a:highlight>
                <a:uLnTx/>
                <a:uFillTx/>
                <a:latin typeface="华文彩云" panose="02010800040101010101" charset="-122"/>
                <a:ea typeface="华文彩云" panose="02010800040101010101" charset="-122"/>
                <a:cs typeface="华文彩云" panose="02010800040101010101" charset="-122"/>
              </a:endParaRPr>
            </a:p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9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highlight>
                  <a:srgbClr val="C0C0C0"/>
                </a:highlight>
                <a:uLnTx/>
                <a:uFillTx/>
                <a:latin typeface="华文彩云" panose="02010800040101010101" charset="-122"/>
                <a:ea typeface="华文彩云" panose="02010800040101010101" charset="-122"/>
                <a:cs typeface="华文彩云" panose="02010800040101010101" charset="-122"/>
              </a:endParaRPr>
            </a:p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zh-CN" altLang="en-US" sz="9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highlight>
                    <a:srgbClr val="FF0000"/>
                  </a:highlight>
                  <a:uLnTx/>
                  <a:uFillTx/>
                  <a:latin typeface="华文彩云" panose="02010800040101010101" charset="-122"/>
                  <a:ea typeface="华文彩云" panose="02010800040101010101" charset="-122"/>
                  <a:cs typeface="华文彩云" panose="02010800040101010101" charset="-122"/>
                </a:rPr>
                <a:t>集成</a:t>
              </a:r>
            </a:p>
          </p:txBody>
        </p:sp>
      </p:grpSp>
      <p:grpSp>
        <p:nvGrpSpPr>
          <p:cNvPr id="114" name="组合 113"/>
          <p:cNvGrpSpPr/>
          <p:nvPr/>
        </p:nvGrpSpPr>
        <p:grpSpPr>
          <a:xfrm>
            <a:off x="-35560" y="2357120"/>
            <a:ext cx="3939540" cy="3487420"/>
            <a:chOff x="-56" y="4503"/>
            <a:chExt cx="6204" cy="5492"/>
          </a:xfrm>
        </p:grpSpPr>
        <p:grpSp>
          <p:nvGrpSpPr>
            <p:cNvPr id="27" name="组合 26"/>
            <p:cNvGrpSpPr/>
            <p:nvPr/>
          </p:nvGrpSpPr>
          <p:grpSpPr>
            <a:xfrm>
              <a:off x="-56" y="4503"/>
              <a:ext cx="6204" cy="714"/>
              <a:chOff x="622" y="4503"/>
              <a:chExt cx="6204" cy="714"/>
            </a:xfrm>
          </p:grpSpPr>
          <p:grpSp>
            <p:nvGrpSpPr>
              <p:cNvPr id="21" name="组合 20"/>
              <p:cNvGrpSpPr/>
              <p:nvPr/>
            </p:nvGrpSpPr>
            <p:grpSpPr>
              <a:xfrm>
                <a:off x="1870" y="4503"/>
                <a:ext cx="3313" cy="120"/>
                <a:chOff x="3565" y="3456"/>
                <a:chExt cx="6923" cy="128"/>
              </a:xfrm>
            </p:grpSpPr>
            <p:cxnSp>
              <p:nvCxnSpPr>
                <p:cNvPr id="22" name="直接连接符 21"/>
                <p:cNvCxnSpPr/>
                <p:nvPr/>
              </p:nvCxnSpPr>
              <p:spPr>
                <a:xfrm>
                  <a:off x="3565" y="3473"/>
                  <a:ext cx="6918" cy="0"/>
                </a:xfrm>
                <a:prstGeom prst="line">
                  <a:avLst/>
                </a:prstGeom>
                <a:solidFill>
                  <a:schemeClr val="accent1"/>
                </a:solidFill>
                <a:ln w="28575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23" name="直接连接符 22"/>
                <p:cNvCxnSpPr/>
                <p:nvPr/>
              </p:nvCxnSpPr>
              <p:spPr>
                <a:xfrm flipH="1">
                  <a:off x="3571" y="3456"/>
                  <a:ext cx="9" cy="129"/>
                </a:xfrm>
                <a:prstGeom prst="line">
                  <a:avLst/>
                </a:prstGeom>
                <a:solidFill>
                  <a:schemeClr val="accent1"/>
                </a:solidFill>
                <a:ln w="28575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24" name="直接连接符 23"/>
                <p:cNvCxnSpPr/>
                <p:nvPr/>
              </p:nvCxnSpPr>
              <p:spPr>
                <a:xfrm flipH="1">
                  <a:off x="10480" y="3456"/>
                  <a:ext cx="9" cy="129"/>
                </a:xfrm>
                <a:prstGeom prst="line">
                  <a:avLst/>
                </a:prstGeom>
                <a:solidFill>
                  <a:schemeClr val="accent1"/>
                </a:solidFill>
                <a:ln w="28575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  <p:sp>
            <p:nvSpPr>
              <p:cNvPr id="25" name="Rectangle 3">
                <a:hlinkClick r:id="rId2" action="ppaction://hlinksldjump"/>
              </p:cNvPr>
              <p:cNvSpPr>
                <a:spLocks noChangeArrowheads="1"/>
              </p:cNvSpPr>
              <p:nvPr/>
            </p:nvSpPr>
            <p:spPr bwMode="auto">
              <a:xfrm>
                <a:off x="622" y="4639"/>
                <a:ext cx="2498" cy="578"/>
              </a:xfrm>
              <a:prstGeom prst="rect">
                <a:avLst/>
              </a:prstGeom>
              <a:noFill/>
              <a:ln w="28575" cmpd="sng">
                <a:solidFill>
                  <a:schemeClr val="bg1">
                    <a:lumMod val="50000"/>
                  </a:schemeClr>
                </a:solidFill>
                <a:prstDash val="sysDot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square" lIns="91435" tIns="45718" rIns="91435" bIns="45718">
                <a:spAutoFit/>
              </a:bodyPr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kumimoji="1" lang="zh-CN" altLang="en-US" sz="1800" b="1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C0C0C0"/>
                      </a:outerShdw>
                    </a:effectLst>
                    <a:highlight>
                      <a:srgbClr val="C0C0C0"/>
                    </a:highlight>
                    <a:uLnTx/>
                    <a:uFillTx/>
                    <a:latin typeface="华文行楷" panose="02010800040101010101" charset="-122"/>
                    <a:ea typeface="华文行楷" panose="02010800040101010101" charset="-122"/>
                    <a:cs typeface="华文行楷" panose="02010800040101010101" charset="-122"/>
                  </a:rPr>
                  <a:t>电路分析基础</a:t>
                </a:r>
              </a:p>
            </p:txBody>
          </p:sp>
          <p:sp>
            <p:nvSpPr>
              <p:cNvPr id="26" name="Rectangle 3">
                <a:hlinkClick r:id="rId2" action="ppaction://hlinksldjump"/>
              </p:cNvPr>
              <p:cNvSpPr>
                <a:spLocks noChangeArrowheads="1"/>
              </p:cNvSpPr>
              <p:nvPr/>
            </p:nvSpPr>
            <p:spPr bwMode="auto">
              <a:xfrm>
                <a:off x="3442" y="4639"/>
                <a:ext cx="3384" cy="578"/>
              </a:xfrm>
              <a:prstGeom prst="rect">
                <a:avLst/>
              </a:prstGeom>
              <a:noFill/>
              <a:ln w="28575" cmpd="sng">
                <a:solidFill>
                  <a:schemeClr val="bg1">
                    <a:lumMod val="50000"/>
                  </a:schemeClr>
                </a:solidFill>
                <a:prstDash val="sysDot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square" lIns="91435" tIns="45718" rIns="91435" bIns="45718">
                <a:spAutoFit/>
              </a:bodyPr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kumimoji="1" lang="zh-CN" altLang="en-US" sz="1800" b="1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C0C0C0"/>
                      </a:outerShdw>
                    </a:effectLst>
                    <a:highlight>
                      <a:srgbClr val="C0C0C0"/>
                    </a:highlight>
                    <a:uLnTx/>
                    <a:uFillTx/>
                    <a:latin typeface="华文行楷" panose="02010800040101010101" charset="-122"/>
                    <a:ea typeface="华文行楷" panose="02010800040101010101" charset="-122"/>
                    <a:cs typeface="华文行楷" panose="02010800040101010101" charset="-122"/>
                  </a:rPr>
                  <a:t>磁</a:t>
                </a:r>
                <a:r>
                  <a:rPr kumimoji="1" lang="en-US" altLang="zh-CN" sz="1800" b="1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C0C0C0"/>
                      </a:outerShdw>
                    </a:effectLst>
                    <a:highlight>
                      <a:srgbClr val="C0C0C0"/>
                    </a:highlight>
                    <a:uLnTx/>
                    <a:uFillTx/>
                    <a:latin typeface="华文行楷" panose="02010800040101010101" charset="-122"/>
                    <a:ea typeface="华文行楷" panose="02010800040101010101" charset="-122"/>
                    <a:cs typeface="华文行楷" panose="02010800040101010101" charset="-122"/>
                  </a:rPr>
                  <a:t>   </a:t>
                </a:r>
                <a:r>
                  <a:rPr kumimoji="1" lang="zh-CN" altLang="en-US" sz="1800" b="1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C0C0C0"/>
                      </a:outerShdw>
                    </a:effectLst>
                    <a:highlight>
                      <a:srgbClr val="C0C0C0"/>
                    </a:highlight>
                    <a:uLnTx/>
                    <a:uFillTx/>
                    <a:latin typeface="华文行楷" panose="02010800040101010101" charset="-122"/>
                    <a:ea typeface="华文行楷" panose="02010800040101010101" charset="-122"/>
                    <a:cs typeface="华文行楷" panose="02010800040101010101" charset="-122"/>
                  </a:rPr>
                  <a:t>路</a:t>
                </a:r>
                <a:r>
                  <a:rPr kumimoji="1" lang="en-US" altLang="zh-CN" sz="1800" b="1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C0C0C0"/>
                      </a:outerShdw>
                    </a:effectLst>
                    <a:highlight>
                      <a:srgbClr val="C0C0C0"/>
                    </a:highlight>
                    <a:uLnTx/>
                    <a:uFillTx/>
                    <a:latin typeface="华文行楷" panose="02010800040101010101" charset="-122"/>
                    <a:ea typeface="华文行楷" panose="02010800040101010101" charset="-122"/>
                    <a:cs typeface="华文行楷" panose="02010800040101010101" charset="-122"/>
                  </a:rPr>
                  <a:t>   </a:t>
                </a:r>
                <a:r>
                  <a:rPr kumimoji="1" lang="zh-CN" altLang="en-US" sz="1800" b="1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C0C0C0"/>
                      </a:outerShdw>
                    </a:effectLst>
                    <a:highlight>
                      <a:srgbClr val="C0C0C0"/>
                    </a:highlight>
                    <a:uLnTx/>
                    <a:uFillTx/>
                    <a:latin typeface="华文行楷" panose="02010800040101010101" charset="-122"/>
                    <a:ea typeface="华文行楷" panose="02010800040101010101" charset="-122"/>
                    <a:cs typeface="华文行楷" panose="02010800040101010101" charset="-122"/>
                  </a:rPr>
                  <a:t>与</a:t>
                </a:r>
                <a:r>
                  <a:rPr kumimoji="1" lang="en-US" altLang="zh-CN" sz="1800" b="1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C0C0C0"/>
                      </a:outerShdw>
                    </a:effectLst>
                    <a:highlight>
                      <a:srgbClr val="C0C0C0"/>
                    </a:highlight>
                    <a:uLnTx/>
                    <a:uFillTx/>
                    <a:latin typeface="华文行楷" panose="02010800040101010101" charset="-122"/>
                    <a:ea typeface="华文行楷" panose="02010800040101010101" charset="-122"/>
                    <a:cs typeface="华文行楷" panose="02010800040101010101" charset="-122"/>
                  </a:rPr>
                  <a:t>   </a:t>
                </a:r>
                <a:r>
                  <a:rPr kumimoji="1" lang="zh-CN" altLang="en-US" sz="1800" b="1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C0C0C0"/>
                      </a:outerShdw>
                    </a:effectLst>
                    <a:highlight>
                      <a:srgbClr val="C0C0C0"/>
                    </a:highlight>
                    <a:uLnTx/>
                    <a:uFillTx/>
                    <a:latin typeface="华文行楷" panose="02010800040101010101" charset="-122"/>
                    <a:ea typeface="华文行楷" panose="02010800040101010101" charset="-122"/>
                    <a:cs typeface="华文行楷" panose="02010800040101010101" charset="-122"/>
                  </a:rPr>
                  <a:t>电</a:t>
                </a:r>
                <a:r>
                  <a:rPr kumimoji="1" lang="en-US" altLang="zh-CN" sz="1800" b="1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C0C0C0"/>
                      </a:outerShdw>
                    </a:effectLst>
                    <a:highlight>
                      <a:srgbClr val="C0C0C0"/>
                    </a:highlight>
                    <a:uLnTx/>
                    <a:uFillTx/>
                    <a:latin typeface="华文行楷" panose="02010800040101010101" charset="-122"/>
                    <a:ea typeface="华文行楷" panose="02010800040101010101" charset="-122"/>
                    <a:cs typeface="华文行楷" panose="02010800040101010101" charset="-122"/>
                  </a:rPr>
                  <a:t>   </a:t>
                </a:r>
                <a:r>
                  <a:rPr kumimoji="1" lang="zh-CN" altLang="en-US" sz="1800" b="1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C0C0C0"/>
                      </a:outerShdw>
                    </a:effectLst>
                    <a:highlight>
                      <a:srgbClr val="C0C0C0"/>
                    </a:highlight>
                    <a:uLnTx/>
                    <a:uFillTx/>
                    <a:latin typeface="华文行楷" panose="02010800040101010101" charset="-122"/>
                    <a:ea typeface="华文行楷" panose="02010800040101010101" charset="-122"/>
                    <a:cs typeface="华文行楷" panose="02010800040101010101" charset="-122"/>
                  </a:rPr>
                  <a:t>机</a:t>
                </a:r>
              </a:p>
            </p:txBody>
          </p:sp>
        </p:grpSp>
        <p:grpSp>
          <p:nvGrpSpPr>
            <p:cNvPr id="85" name="组合 84"/>
            <p:cNvGrpSpPr/>
            <p:nvPr/>
          </p:nvGrpSpPr>
          <p:grpSpPr>
            <a:xfrm>
              <a:off x="284" y="5206"/>
              <a:ext cx="5793" cy="4789"/>
              <a:chOff x="962" y="5206"/>
              <a:chExt cx="5793" cy="4789"/>
            </a:xfrm>
          </p:grpSpPr>
          <p:grpSp>
            <p:nvGrpSpPr>
              <p:cNvPr id="55" name="组合 54"/>
              <p:cNvGrpSpPr/>
              <p:nvPr/>
            </p:nvGrpSpPr>
            <p:grpSpPr>
              <a:xfrm>
                <a:off x="962" y="5228"/>
                <a:ext cx="5332" cy="4019"/>
                <a:chOff x="962" y="5228"/>
                <a:chExt cx="5332" cy="4019"/>
              </a:xfrm>
            </p:grpSpPr>
            <p:cxnSp>
              <p:nvCxnSpPr>
                <p:cNvPr id="40" name="直接连接符 39"/>
                <p:cNvCxnSpPr/>
                <p:nvPr/>
              </p:nvCxnSpPr>
              <p:spPr>
                <a:xfrm flipH="1">
                  <a:off x="1192" y="5228"/>
                  <a:ext cx="11" cy="399"/>
                </a:xfrm>
                <a:prstGeom prst="line">
                  <a:avLst/>
                </a:prstGeom>
                <a:solidFill>
                  <a:schemeClr val="accent1"/>
                </a:solidFill>
                <a:ln w="28575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50" name="直接连接符 49"/>
                <p:cNvCxnSpPr/>
                <p:nvPr/>
              </p:nvCxnSpPr>
              <p:spPr>
                <a:xfrm flipH="1">
                  <a:off x="2529" y="5232"/>
                  <a:ext cx="11" cy="399"/>
                </a:xfrm>
                <a:prstGeom prst="line">
                  <a:avLst/>
                </a:prstGeom>
                <a:solidFill>
                  <a:schemeClr val="accent1"/>
                </a:solidFill>
                <a:ln w="28575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sp>
              <p:nvSpPr>
                <p:cNvPr id="51" name="Rectangle 3">
                  <a:hlinkClick r:id="rId2" action="ppaction://hlinksldjump"/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962" y="5629"/>
                  <a:ext cx="483" cy="3603"/>
                </a:xfrm>
                <a:prstGeom prst="rect">
                  <a:avLst/>
                </a:prstGeom>
                <a:noFill/>
                <a:ln w="12700" cmpd="sng">
                  <a:solidFill>
                    <a:schemeClr val="accent1">
                      <a:shade val="50000"/>
                    </a:schemeClr>
                  </a:solidFill>
                  <a:prstDash val="dashDot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 wrap="square" lIns="0" tIns="36195" rIns="0" bIns="36195">
                  <a:spAutoFit/>
                </a:bodyPr>
                <a:lstStyle/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r>
                    <a:rPr kumimoji="1" lang="zh-CN" altLang="en-US" sz="1600" b="1" i="0" u="none" strike="noStrike" kern="1200" cap="none" spc="0" normalizeH="0" baseline="0" noProof="0" dirty="0">
                      <a:ln>
                        <a:noFill/>
                      </a:ln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C0C0C0"/>
                        </a:outerShdw>
                      </a:effectLst>
                      <a:highlight>
                        <a:srgbClr val="C0C0C0"/>
                      </a:highlight>
                      <a:uLnTx/>
                      <a:uFillTx/>
                      <a:latin typeface="华文行楷" panose="02010800040101010101" charset="-122"/>
                      <a:ea typeface="华文行楷" panose="02010800040101010101" charset="-122"/>
                      <a:cs typeface="华文行楷" panose="02010800040101010101" charset="-122"/>
                    </a:rPr>
                    <a:t>直流电路分析</a:t>
                  </a:r>
                </a:p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1" lang="zh-CN" altLang="en-US" sz="1600" b="1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C0C0C0"/>
                      </a:outerShdw>
                    </a:effectLst>
                    <a:highlight>
                      <a:srgbClr val="C0C0C0"/>
                    </a:highlight>
                    <a:uLnTx/>
                    <a:uFillTx/>
                    <a:latin typeface="华文行楷" panose="02010800040101010101" charset="-122"/>
                    <a:ea typeface="华文行楷" panose="02010800040101010101" charset="-122"/>
                    <a:cs typeface="华文行楷" panose="02010800040101010101" charset="-122"/>
                  </a:endParaRPr>
                </a:p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r>
                    <a:rPr kumimoji="1" lang="en-US" altLang="zh-CN" sz="1600" b="1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00B050"/>
                      </a:solidFill>
                      <a:effectLst>
                        <a:outerShdw blurRad="38100" dist="38100" dir="2700000" algn="tl">
                          <a:srgbClr val="C0C0C0"/>
                        </a:outerShdw>
                      </a:effectLst>
                      <a:highlight>
                        <a:srgbClr val="C0C0C0"/>
                      </a:highlight>
                      <a:uLnTx/>
                      <a:uFillTx/>
                      <a:latin typeface="华文行楷" panose="02010800040101010101" charset="-122"/>
                      <a:ea typeface="华文行楷" panose="02010800040101010101" charset="-122"/>
                      <a:cs typeface="华文行楷" panose="02010800040101010101" charset="-122"/>
                    </a:rPr>
                    <a:t>1-2</a:t>
                  </a:r>
                  <a:r>
                    <a:rPr kumimoji="1" lang="zh-CN" altLang="en-US" sz="1600" b="1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00B050"/>
                      </a:solidFill>
                      <a:effectLst>
                        <a:outerShdw blurRad="38100" dist="38100" dir="2700000" algn="tl">
                          <a:srgbClr val="C0C0C0"/>
                        </a:outerShdw>
                      </a:effectLst>
                      <a:highlight>
                        <a:srgbClr val="C0C0C0"/>
                      </a:highlight>
                      <a:uLnTx/>
                      <a:uFillTx/>
                      <a:latin typeface="华文行楷" panose="02010800040101010101" charset="-122"/>
                      <a:ea typeface="华文行楷" panose="02010800040101010101" charset="-122"/>
                      <a:cs typeface="华文行楷" panose="02010800040101010101" charset="-122"/>
                    </a:rPr>
                    <a:t>章</a:t>
                  </a:r>
                </a:p>
              </p:txBody>
            </p:sp>
            <p:sp>
              <p:nvSpPr>
                <p:cNvPr id="52" name="Rectangle 3">
                  <a:hlinkClick r:id="rId2" action="ppaction://hlinksldjump"/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318" y="5644"/>
                  <a:ext cx="461" cy="3603"/>
                </a:xfrm>
                <a:prstGeom prst="rect">
                  <a:avLst/>
                </a:prstGeom>
                <a:noFill/>
                <a:ln w="12700" cmpd="sng">
                  <a:solidFill>
                    <a:schemeClr val="accent1">
                      <a:shade val="50000"/>
                    </a:schemeClr>
                  </a:solidFill>
                  <a:prstDash val="dashDot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 wrap="square" lIns="0" tIns="36195" rIns="0" bIns="36195">
                  <a:spAutoFit/>
                </a:bodyPr>
                <a:lstStyle/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r>
                    <a:rPr kumimoji="1" lang="zh-CN" altLang="en-US" sz="1600" b="1" i="0" u="none" strike="noStrike" kern="1200" cap="none" spc="0" normalizeH="0" baseline="0" noProof="0" dirty="0">
                      <a:ln>
                        <a:noFill/>
                      </a:ln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C0C0C0"/>
                        </a:outerShdw>
                      </a:effectLst>
                      <a:highlight>
                        <a:srgbClr val="C0C0C0"/>
                      </a:highlight>
                      <a:uLnTx/>
                      <a:uFillTx/>
                      <a:latin typeface="华文行楷" panose="02010800040101010101" charset="-122"/>
                      <a:ea typeface="华文行楷" panose="02010800040101010101" charset="-122"/>
                      <a:cs typeface="华文行楷" panose="02010800040101010101" charset="-122"/>
                    </a:rPr>
                    <a:t>交流电路分析</a:t>
                  </a:r>
                </a:p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1" lang="zh-CN" altLang="en-US" sz="1600" b="1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C0C0C0"/>
                      </a:outerShdw>
                    </a:effectLst>
                    <a:highlight>
                      <a:srgbClr val="C0C0C0"/>
                    </a:highlight>
                    <a:uLnTx/>
                    <a:uFillTx/>
                    <a:latin typeface="华文行楷" panose="02010800040101010101" charset="-122"/>
                    <a:ea typeface="华文行楷" panose="02010800040101010101" charset="-122"/>
                    <a:cs typeface="华文行楷" panose="02010800040101010101" charset="-122"/>
                  </a:endParaRPr>
                </a:p>
                <a:p>
                  <a:pPr algn="ctr">
                    <a:defRPr/>
                  </a:pPr>
                  <a:r>
                    <a:rPr kumimoji="1" lang="en-US" altLang="zh-CN" sz="1600" b="1" dirty="0">
                      <a:solidFill>
                        <a:srgbClr val="00B050"/>
                      </a:solidFill>
                      <a:effectLst>
                        <a:outerShdw blurRad="38100" dist="38100" dir="2700000" algn="tl">
                          <a:srgbClr val="C0C0C0"/>
                        </a:outerShdw>
                      </a:effectLst>
                      <a:highlight>
                        <a:srgbClr val="C0C0C0"/>
                      </a:highlight>
                      <a:latin typeface="华文行楷" panose="02010800040101010101" charset="-122"/>
                      <a:ea typeface="华文行楷" panose="02010800040101010101" charset="-122"/>
                      <a:cs typeface="华文行楷" panose="02010800040101010101" charset="-122"/>
                    </a:rPr>
                    <a:t>4-5</a:t>
                  </a:r>
                  <a:r>
                    <a:rPr kumimoji="1" lang="zh-CN" altLang="en-US" sz="1600" b="1" dirty="0">
                      <a:solidFill>
                        <a:srgbClr val="00B050"/>
                      </a:solidFill>
                      <a:effectLst>
                        <a:outerShdw blurRad="38100" dist="38100" dir="2700000" algn="tl">
                          <a:srgbClr val="C0C0C0"/>
                        </a:outerShdw>
                      </a:effectLst>
                      <a:highlight>
                        <a:srgbClr val="C0C0C0"/>
                      </a:highlight>
                      <a:latin typeface="华文行楷" panose="02010800040101010101" charset="-122"/>
                      <a:ea typeface="华文行楷" panose="02010800040101010101" charset="-122"/>
                      <a:cs typeface="华文行楷" panose="02010800040101010101" charset="-122"/>
                    </a:rPr>
                    <a:t>章</a:t>
                  </a:r>
                </a:p>
              </p:txBody>
            </p:sp>
            <p:sp>
              <p:nvSpPr>
                <p:cNvPr id="53" name="左右箭头 52"/>
                <p:cNvSpPr/>
                <p:nvPr/>
              </p:nvSpPr>
              <p:spPr>
                <a:xfrm>
                  <a:off x="1417" y="7130"/>
                  <a:ext cx="907" cy="311"/>
                </a:xfrm>
                <a:prstGeom prst="leftRightArrow">
                  <a:avLst/>
                </a:prstGeom>
                <a:solidFill>
                  <a:schemeClr val="bg1">
                    <a:lumMod val="75000"/>
                  </a:schemeClr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pPr marL="0" marR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</a:pPr>
                  <a:endParaRPr kumimoji="1" lang="zh-CN" altLang="en-US" sz="24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54" name="Rectangle 3">
                  <a:hlinkClick r:id="rId2" action="ppaction://hlinksldjump"/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544" y="6779"/>
                  <a:ext cx="675" cy="1014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CC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 wrap="square" lIns="91435" tIns="45718" rIns="91435" bIns="45718">
                  <a:spAutoFit/>
                </a:bodyPr>
                <a:lstStyle/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r>
                    <a:rPr kumimoji="1" lang="zh-CN" altLang="en-US" sz="900" b="1" i="0" u="none" strike="noStrike" kern="1200" cap="none" spc="0" normalizeH="0" baseline="0" noProof="0">
                      <a:ln>
                        <a:noFill/>
                      </a:ln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C0C0C0"/>
                        </a:outerShdw>
                      </a:effectLst>
                      <a:highlight>
                        <a:srgbClr val="FFFF00"/>
                      </a:highlight>
                      <a:uLnTx/>
                      <a:uFillTx/>
                      <a:latin typeface="华文彩云" panose="02010800040101010101" charset="-122"/>
                      <a:ea typeface="华文彩云" panose="02010800040101010101" charset="-122"/>
                      <a:cs typeface="华文彩云" panose="02010800040101010101" charset="-122"/>
                    </a:rPr>
                    <a:t>形似</a:t>
                  </a:r>
                  <a:endParaRPr kumimoji="1" lang="zh-CN" altLang="en-US" sz="900" b="1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C0C0C0"/>
                      </a:outerShdw>
                    </a:effectLst>
                    <a:highlight>
                      <a:srgbClr val="C0C0C0"/>
                    </a:highlight>
                    <a:uLnTx/>
                    <a:uFillTx/>
                    <a:latin typeface="华文彩云" panose="02010800040101010101" charset="-122"/>
                    <a:ea typeface="华文彩云" panose="02010800040101010101" charset="-122"/>
                    <a:cs typeface="华文彩云" panose="02010800040101010101" charset="-122"/>
                  </a:endParaRPr>
                </a:p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1" lang="zh-CN" altLang="en-US" sz="900" b="1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C0C0C0"/>
                      </a:outerShdw>
                    </a:effectLst>
                    <a:highlight>
                      <a:srgbClr val="C0C0C0"/>
                    </a:highlight>
                    <a:uLnTx/>
                    <a:uFillTx/>
                    <a:latin typeface="华文彩云" panose="02010800040101010101" charset="-122"/>
                    <a:ea typeface="华文彩云" panose="02010800040101010101" charset="-122"/>
                    <a:cs typeface="华文彩云" panose="02010800040101010101" charset="-122"/>
                  </a:endParaRPr>
                </a:p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1" lang="zh-CN" altLang="en-US" sz="900" b="1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C0C0C0"/>
                      </a:outerShdw>
                    </a:effectLst>
                    <a:highlight>
                      <a:srgbClr val="C0C0C0"/>
                    </a:highlight>
                    <a:uLnTx/>
                    <a:uFillTx/>
                    <a:latin typeface="华文彩云" panose="02010800040101010101" charset="-122"/>
                    <a:ea typeface="华文彩云" panose="02010800040101010101" charset="-122"/>
                    <a:cs typeface="华文彩云" panose="02010800040101010101" charset="-122"/>
                  </a:endParaRPr>
                </a:p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r>
                    <a:rPr kumimoji="1" lang="zh-CN" altLang="en-US" sz="900" b="1" i="0" u="none" strike="noStrike" kern="1200" cap="none" spc="0" normalizeH="0" baseline="0" noProof="0">
                      <a:ln>
                        <a:noFill/>
                      </a:ln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C0C0C0"/>
                        </a:outerShdw>
                      </a:effectLst>
                      <a:highlight>
                        <a:srgbClr val="FF0000"/>
                      </a:highlight>
                      <a:uLnTx/>
                      <a:uFillTx/>
                      <a:latin typeface="华文彩云" panose="02010800040101010101" charset="-122"/>
                      <a:ea typeface="华文彩云" panose="02010800040101010101" charset="-122"/>
                      <a:cs typeface="华文彩云" panose="02010800040101010101" charset="-122"/>
                    </a:rPr>
                    <a:t>神异</a:t>
                  </a:r>
                </a:p>
              </p:txBody>
            </p:sp>
            <p:sp>
              <p:nvSpPr>
                <p:cNvPr id="83" name="Rectangle 3">
                  <a:hlinkClick r:id="rId2" action="ppaction://hlinksldjump"/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498" y="6779"/>
                  <a:ext cx="796" cy="1111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CC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 wrap="square" lIns="0" tIns="45718" rIns="0" bIns="45718">
                  <a:spAutoFit/>
                </a:bodyPr>
                <a:lstStyle/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r>
                    <a:rPr kumimoji="1" lang="zh-CN" altLang="en-US" sz="800" b="1" i="0" u="none" strike="noStrike" kern="1200" cap="none" spc="0" normalizeH="0" baseline="0" noProof="0">
                      <a:ln>
                        <a:noFill/>
                      </a:ln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C0C0C0"/>
                        </a:outerShdw>
                      </a:effectLst>
                      <a:highlight>
                        <a:srgbClr val="FFFF00"/>
                      </a:highlight>
                      <a:uLnTx/>
                      <a:uFillTx/>
                      <a:latin typeface="华文彩云" panose="02010800040101010101" charset="-122"/>
                      <a:ea typeface="华文彩云" panose="02010800040101010101" charset="-122"/>
                      <a:cs typeface="华文彩云" panose="02010800040101010101" charset="-122"/>
                    </a:rPr>
                    <a:t>硬件控制</a:t>
                  </a:r>
                  <a:endParaRPr kumimoji="1" lang="zh-CN" altLang="en-US" sz="800" b="1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C0C0C0"/>
                      </a:outerShdw>
                    </a:effectLst>
                    <a:highlight>
                      <a:srgbClr val="C0C0C0"/>
                    </a:highlight>
                    <a:uLnTx/>
                    <a:uFillTx/>
                    <a:latin typeface="华文彩云" panose="02010800040101010101" charset="-122"/>
                    <a:ea typeface="华文彩云" panose="02010800040101010101" charset="-122"/>
                    <a:cs typeface="华文彩云" panose="02010800040101010101" charset="-122"/>
                  </a:endParaRPr>
                </a:p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1" lang="zh-CN" altLang="en-US" sz="800" b="1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C0C0C0"/>
                      </a:outerShdw>
                    </a:effectLst>
                    <a:highlight>
                      <a:srgbClr val="C0C0C0"/>
                    </a:highlight>
                    <a:uLnTx/>
                    <a:uFillTx/>
                    <a:latin typeface="华文彩云" panose="02010800040101010101" charset="-122"/>
                    <a:ea typeface="华文彩云" panose="02010800040101010101" charset="-122"/>
                    <a:cs typeface="华文彩云" panose="02010800040101010101" charset="-122"/>
                  </a:endParaRPr>
                </a:p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1" lang="zh-CN" altLang="en-US" sz="800" b="1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C0C0C0"/>
                      </a:outerShdw>
                    </a:effectLst>
                    <a:highlight>
                      <a:srgbClr val="C0C0C0"/>
                    </a:highlight>
                    <a:uLnTx/>
                    <a:uFillTx/>
                    <a:latin typeface="华文彩云" panose="02010800040101010101" charset="-122"/>
                    <a:ea typeface="华文彩云" panose="02010800040101010101" charset="-122"/>
                    <a:cs typeface="华文彩云" panose="02010800040101010101" charset="-122"/>
                  </a:endParaRPr>
                </a:p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1" lang="zh-CN" altLang="en-US" sz="800" b="1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C0C0C0"/>
                      </a:outerShdw>
                    </a:effectLst>
                    <a:highlight>
                      <a:srgbClr val="C0C0C0"/>
                    </a:highlight>
                    <a:uLnTx/>
                    <a:uFillTx/>
                    <a:latin typeface="华文彩云" panose="02010800040101010101" charset="-122"/>
                    <a:ea typeface="华文彩云" panose="02010800040101010101" charset="-122"/>
                    <a:cs typeface="华文彩云" panose="02010800040101010101" charset="-122"/>
                  </a:endParaRPr>
                </a:p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r>
                    <a:rPr kumimoji="1" lang="zh-CN" altLang="en-US" sz="800" b="1" i="0" u="none" strike="noStrike" kern="1200" cap="none" spc="0" normalizeH="0" baseline="0" noProof="0">
                      <a:ln>
                        <a:noFill/>
                      </a:ln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C0C0C0"/>
                        </a:outerShdw>
                      </a:effectLst>
                      <a:highlight>
                        <a:srgbClr val="FF0000"/>
                      </a:highlight>
                      <a:uLnTx/>
                      <a:uFillTx/>
                      <a:latin typeface="华文彩云" panose="02010800040101010101" charset="-122"/>
                      <a:ea typeface="华文彩云" panose="02010800040101010101" charset="-122"/>
                      <a:cs typeface="华文彩云" panose="02010800040101010101" charset="-122"/>
                    </a:rPr>
                    <a:t>软件控制</a:t>
                  </a:r>
                </a:p>
              </p:txBody>
            </p:sp>
          </p:grpSp>
          <p:grpSp>
            <p:nvGrpSpPr>
              <p:cNvPr id="70" name="组合 69"/>
              <p:cNvGrpSpPr/>
              <p:nvPr/>
            </p:nvGrpSpPr>
            <p:grpSpPr>
              <a:xfrm>
                <a:off x="3126" y="5230"/>
                <a:ext cx="483" cy="3602"/>
                <a:chOff x="3572" y="5232"/>
                <a:chExt cx="483" cy="3602"/>
              </a:xfrm>
            </p:grpSpPr>
            <p:cxnSp>
              <p:nvCxnSpPr>
                <p:cNvPr id="41" name="直接连接符 40"/>
                <p:cNvCxnSpPr/>
                <p:nvPr/>
              </p:nvCxnSpPr>
              <p:spPr>
                <a:xfrm flipH="1">
                  <a:off x="3788" y="5232"/>
                  <a:ext cx="11" cy="399"/>
                </a:xfrm>
                <a:prstGeom prst="line">
                  <a:avLst/>
                </a:prstGeom>
                <a:solidFill>
                  <a:schemeClr val="accent1"/>
                </a:solidFill>
                <a:ln w="28575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sp>
              <p:nvSpPr>
                <p:cNvPr id="66" name="Rectangle 3">
                  <a:hlinkClick r:id="rId2" action="ppaction://hlinksldjump"/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572" y="5618"/>
                  <a:ext cx="483" cy="3216"/>
                </a:xfrm>
                <a:prstGeom prst="rect">
                  <a:avLst/>
                </a:prstGeom>
                <a:noFill/>
                <a:ln w="12700" cmpd="sng">
                  <a:solidFill>
                    <a:schemeClr val="accent1">
                      <a:shade val="50000"/>
                    </a:schemeClr>
                  </a:solidFill>
                  <a:prstDash val="dashDot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 wrap="square" lIns="0" tIns="36195" rIns="0" bIns="36195">
                  <a:spAutoFit/>
                </a:bodyPr>
                <a:lstStyle/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r>
                    <a:rPr kumimoji="1" lang="zh-CN" altLang="en-US" sz="1600" b="1" i="0" u="none" strike="noStrike" kern="1200" cap="none" spc="0" normalizeH="0" baseline="0" noProof="0">
                      <a:ln>
                        <a:noFill/>
                      </a:ln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C0C0C0"/>
                        </a:outerShdw>
                      </a:effectLst>
                      <a:highlight>
                        <a:srgbClr val="C0C0C0"/>
                      </a:highlight>
                      <a:uLnTx/>
                      <a:uFillTx/>
                      <a:latin typeface="华文行楷" panose="02010800040101010101" charset="-122"/>
                      <a:ea typeface="华文行楷" panose="02010800040101010101" charset="-122"/>
                      <a:cs typeface="华文行楷" panose="02010800040101010101" charset="-122"/>
                    </a:rPr>
                    <a:t>磁路和变压器</a:t>
                  </a:r>
                </a:p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1" lang="zh-CN" altLang="en-US" sz="1600" b="1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C0C0C0"/>
                      </a:outerShdw>
                    </a:effectLst>
                    <a:highlight>
                      <a:srgbClr val="C0C0C0"/>
                    </a:highlight>
                    <a:uLnTx/>
                    <a:uFillTx/>
                    <a:latin typeface="华文行楷" panose="02010800040101010101" charset="-122"/>
                    <a:ea typeface="华文行楷" panose="02010800040101010101" charset="-122"/>
                    <a:cs typeface="华文行楷" panose="02010800040101010101" charset="-122"/>
                  </a:endParaRPr>
                </a:p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r>
                    <a:rPr kumimoji="1" lang="en-US" altLang="zh-CN" sz="1600" b="1" i="0" u="none" strike="noStrike" kern="1200" cap="none" spc="0" normalizeH="0" baseline="0" noProof="0">
                      <a:ln>
                        <a:noFill/>
                      </a:ln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C0C0C0"/>
                        </a:outerShdw>
                      </a:effectLst>
                      <a:highlight>
                        <a:srgbClr val="C0C0C0"/>
                      </a:highlight>
                      <a:uLnTx/>
                      <a:uFillTx/>
                      <a:latin typeface="华文行楷" panose="02010800040101010101" charset="-122"/>
                      <a:ea typeface="华文行楷" panose="02010800040101010101" charset="-122"/>
                      <a:cs typeface="华文行楷" panose="02010800040101010101" charset="-122"/>
                    </a:rPr>
                    <a:t>6</a:t>
                  </a:r>
                  <a:r>
                    <a:rPr kumimoji="1" lang="zh-CN" altLang="en-US" sz="1600" b="1" i="0" u="none" strike="noStrike" kern="1200" cap="none" spc="0" normalizeH="0" baseline="0" noProof="0">
                      <a:ln>
                        <a:noFill/>
                      </a:ln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C0C0C0"/>
                        </a:outerShdw>
                      </a:effectLst>
                      <a:highlight>
                        <a:srgbClr val="C0C0C0"/>
                      </a:highlight>
                      <a:uLnTx/>
                      <a:uFillTx/>
                      <a:latin typeface="华文行楷" panose="02010800040101010101" charset="-122"/>
                      <a:ea typeface="华文行楷" panose="02010800040101010101" charset="-122"/>
                      <a:cs typeface="华文行楷" panose="02010800040101010101" charset="-122"/>
                    </a:rPr>
                    <a:t>章</a:t>
                  </a:r>
                </a:p>
              </p:txBody>
            </p:sp>
          </p:grpSp>
          <p:grpSp>
            <p:nvGrpSpPr>
              <p:cNvPr id="79" name="组合 78"/>
              <p:cNvGrpSpPr/>
              <p:nvPr/>
            </p:nvGrpSpPr>
            <p:grpSpPr>
              <a:xfrm>
                <a:off x="4933" y="5221"/>
                <a:ext cx="461" cy="4013"/>
                <a:chOff x="4933" y="5221"/>
                <a:chExt cx="461" cy="4013"/>
              </a:xfrm>
            </p:grpSpPr>
            <p:cxnSp>
              <p:nvCxnSpPr>
                <p:cNvPr id="65" name="直接连接符 64"/>
                <p:cNvCxnSpPr/>
                <p:nvPr/>
              </p:nvCxnSpPr>
              <p:spPr>
                <a:xfrm flipH="1">
                  <a:off x="5139" y="5221"/>
                  <a:ext cx="11" cy="399"/>
                </a:xfrm>
                <a:prstGeom prst="line">
                  <a:avLst/>
                </a:prstGeom>
                <a:solidFill>
                  <a:schemeClr val="accent1"/>
                </a:solidFill>
                <a:ln w="28575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sp>
              <p:nvSpPr>
                <p:cNvPr id="67" name="Rectangle 3">
                  <a:hlinkClick r:id="rId2" action="ppaction://hlinksldjump"/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933" y="5631"/>
                  <a:ext cx="461" cy="3603"/>
                </a:xfrm>
                <a:prstGeom prst="rect">
                  <a:avLst/>
                </a:prstGeom>
                <a:noFill/>
                <a:ln w="12700" cmpd="sng">
                  <a:solidFill>
                    <a:schemeClr val="accent1">
                      <a:shade val="50000"/>
                    </a:schemeClr>
                  </a:solidFill>
                  <a:prstDash val="dashDot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 wrap="square" lIns="0" tIns="36195" rIns="0" bIns="36195">
                  <a:spAutoFit/>
                </a:bodyPr>
                <a:lstStyle/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r>
                    <a:rPr kumimoji="1" lang="zh-CN" altLang="en-US" sz="1600" b="1" i="0" u="none" strike="noStrike" kern="1200" cap="none" spc="0" normalizeH="0" baseline="0" noProof="0" dirty="0">
                      <a:ln>
                        <a:noFill/>
                      </a:ln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C0C0C0"/>
                        </a:outerShdw>
                      </a:effectLst>
                      <a:highlight>
                        <a:srgbClr val="C0C0C0"/>
                      </a:highlight>
                      <a:uLnTx/>
                      <a:uFillTx/>
                      <a:latin typeface="华文行楷" panose="02010800040101010101" charset="-122"/>
                      <a:ea typeface="华文行楷" panose="02010800040101010101" charset="-122"/>
                      <a:cs typeface="华文行楷" panose="02010800040101010101" charset="-122"/>
                    </a:rPr>
                    <a:t>机电接触器控制</a:t>
                  </a:r>
                </a:p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r>
                    <a:rPr kumimoji="1" lang="en-US" altLang="zh-CN" sz="1600" b="1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00B050"/>
                      </a:solidFill>
                      <a:effectLst>
                        <a:outerShdw blurRad="38100" dist="38100" dir="2700000" algn="tl">
                          <a:srgbClr val="C0C0C0"/>
                        </a:outerShdw>
                      </a:effectLst>
                      <a:highlight>
                        <a:srgbClr val="C0C0C0"/>
                      </a:highlight>
                      <a:uLnTx/>
                      <a:uFillTx/>
                      <a:latin typeface="华文行楷" panose="02010800040101010101" charset="-122"/>
                      <a:ea typeface="华文行楷" panose="02010800040101010101" charset="-122"/>
                      <a:cs typeface="华文行楷" panose="02010800040101010101" charset="-122"/>
                    </a:rPr>
                    <a:t>10</a:t>
                  </a:r>
                  <a:r>
                    <a:rPr kumimoji="1" lang="zh-CN" altLang="en-US" sz="1600" b="1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00B050"/>
                      </a:solidFill>
                      <a:effectLst>
                        <a:outerShdw blurRad="38100" dist="38100" dir="2700000" algn="tl">
                          <a:srgbClr val="C0C0C0"/>
                        </a:outerShdw>
                      </a:effectLst>
                      <a:highlight>
                        <a:srgbClr val="C0C0C0"/>
                      </a:highlight>
                      <a:uLnTx/>
                      <a:uFillTx/>
                      <a:latin typeface="华文行楷" panose="02010800040101010101" charset="-122"/>
                      <a:ea typeface="华文行楷" panose="02010800040101010101" charset="-122"/>
                      <a:cs typeface="华文行楷" panose="02010800040101010101" charset="-122"/>
                    </a:rPr>
                    <a:t>章</a:t>
                  </a:r>
                </a:p>
              </p:txBody>
            </p:sp>
          </p:grpSp>
          <p:grpSp>
            <p:nvGrpSpPr>
              <p:cNvPr id="72" name="组合 71"/>
              <p:cNvGrpSpPr/>
              <p:nvPr/>
            </p:nvGrpSpPr>
            <p:grpSpPr>
              <a:xfrm>
                <a:off x="3492" y="6777"/>
                <a:ext cx="571" cy="662"/>
                <a:chOff x="3568" y="6779"/>
                <a:chExt cx="571" cy="662"/>
              </a:xfrm>
            </p:grpSpPr>
            <p:sp>
              <p:nvSpPr>
                <p:cNvPr id="69" name="Rectangle 3">
                  <a:hlinkClick r:id="rId2" action="ppaction://hlinksldjump"/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679" y="6779"/>
                  <a:ext cx="460" cy="36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CC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 wrap="square" lIns="0" tIns="45718" rIns="0" bIns="45718">
                  <a:spAutoFit/>
                </a:bodyPr>
                <a:lstStyle/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r>
                    <a:rPr kumimoji="1" lang="zh-CN" altLang="en-US" sz="900" b="1" i="0" u="none" strike="noStrike" kern="1200" cap="none" spc="0" normalizeH="0" baseline="0" noProof="0">
                      <a:ln>
                        <a:noFill/>
                      </a:ln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C0C0C0"/>
                        </a:outerShdw>
                      </a:effectLst>
                      <a:highlight>
                        <a:srgbClr val="FFFF00"/>
                      </a:highlight>
                      <a:uLnTx/>
                      <a:uFillTx/>
                      <a:latin typeface="华文彩云" panose="02010800040101010101" charset="-122"/>
                      <a:ea typeface="华文彩云" panose="02010800040101010101" charset="-122"/>
                      <a:cs typeface="华文彩云" panose="02010800040101010101" charset="-122"/>
                    </a:rPr>
                    <a:t>应用</a:t>
                  </a:r>
                  <a:endParaRPr kumimoji="1" lang="zh-CN" altLang="en-US" sz="900" b="1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C0C0C0"/>
                      </a:outerShdw>
                    </a:effectLst>
                    <a:highlight>
                      <a:srgbClr val="FF0000"/>
                    </a:highlight>
                    <a:uLnTx/>
                    <a:uFillTx/>
                    <a:latin typeface="华文彩云" panose="02010800040101010101" charset="-122"/>
                    <a:ea typeface="华文彩云" panose="02010800040101010101" charset="-122"/>
                    <a:cs typeface="华文彩云" panose="02010800040101010101" charset="-122"/>
                  </a:endParaRPr>
                </a:p>
              </p:txBody>
            </p:sp>
            <p:sp>
              <p:nvSpPr>
                <p:cNvPr id="71" name="右箭头 70"/>
                <p:cNvSpPr/>
                <p:nvPr/>
              </p:nvSpPr>
              <p:spPr>
                <a:xfrm>
                  <a:off x="3568" y="7141"/>
                  <a:ext cx="454" cy="300"/>
                </a:xfrm>
                <a:prstGeom prst="rightArrow">
                  <a:avLst/>
                </a:prstGeom>
                <a:solidFill>
                  <a:schemeClr val="bg1">
                    <a:lumMod val="65000"/>
                  </a:schemeClr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pPr marL="0" marR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</a:pPr>
                  <a:endParaRPr kumimoji="1" lang="zh-CN" altLang="en-US" sz="24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</p:grpSp>
          <p:grpSp>
            <p:nvGrpSpPr>
              <p:cNvPr id="73" name="组合 72"/>
              <p:cNvGrpSpPr/>
              <p:nvPr/>
            </p:nvGrpSpPr>
            <p:grpSpPr>
              <a:xfrm>
                <a:off x="4026" y="5230"/>
                <a:ext cx="483" cy="3602"/>
                <a:chOff x="3572" y="5232"/>
                <a:chExt cx="483" cy="3602"/>
              </a:xfrm>
            </p:grpSpPr>
            <p:cxnSp>
              <p:nvCxnSpPr>
                <p:cNvPr id="74" name="直接连接符 73"/>
                <p:cNvCxnSpPr/>
                <p:nvPr/>
              </p:nvCxnSpPr>
              <p:spPr>
                <a:xfrm flipH="1">
                  <a:off x="3788" y="5232"/>
                  <a:ext cx="11" cy="399"/>
                </a:xfrm>
                <a:prstGeom prst="line">
                  <a:avLst/>
                </a:prstGeom>
                <a:solidFill>
                  <a:schemeClr val="accent1"/>
                </a:solidFill>
                <a:ln w="28575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sp>
              <p:nvSpPr>
                <p:cNvPr id="75" name="Rectangle 3">
                  <a:hlinkClick r:id="rId2" action="ppaction://hlinksldjump"/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572" y="5618"/>
                  <a:ext cx="483" cy="3216"/>
                </a:xfrm>
                <a:prstGeom prst="rect">
                  <a:avLst/>
                </a:prstGeom>
                <a:noFill/>
                <a:ln w="12700" cmpd="sng">
                  <a:solidFill>
                    <a:schemeClr val="accent1">
                      <a:shade val="50000"/>
                    </a:schemeClr>
                  </a:solidFill>
                  <a:prstDash val="dashDot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 wrap="square" lIns="0" tIns="36195" rIns="0" bIns="36195">
                  <a:spAutoFit/>
                </a:bodyPr>
                <a:lstStyle/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r>
                    <a:rPr kumimoji="1" lang="zh-CN" altLang="en-US" sz="1600" b="1" i="0" u="none" strike="noStrike" kern="1200" cap="none" spc="0" normalizeH="0" baseline="0" noProof="0" dirty="0">
                      <a:ln>
                        <a:noFill/>
                      </a:ln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C0C0C0"/>
                        </a:outerShdw>
                      </a:effectLst>
                      <a:highlight>
                        <a:srgbClr val="C0C0C0"/>
                      </a:highlight>
                      <a:uLnTx/>
                      <a:uFillTx/>
                      <a:latin typeface="华文行楷" panose="02010800040101010101" charset="-122"/>
                      <a:ea typeface="华文行楷" panose="02010800040101010101" charset="-122"/>
                      <a:cs typeface="华文行楷" panose="02010800040101010101" charset="-122"/>
                    </a:rPr>
                    <a:t>交流电动机</a:t>
                  </a:r>
                </a:p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1" lang="zh-CN" altLang="en-US" sz="1600" b="1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C0C0C0"/>
                      </a:outerShdw>
                    </a:effectLst>
                    <a:highlight>
                      <a:srgbClr val="C0C0C0"/>
                    </a:highlight>
                    <a:uLnTx/>
                    <a:uFillTx/>
                    <a:latin typeface="华文行楷" panose="02010800040101010101" charset="-122"/>
                    <a:ea typeface="华文行楷" panose="02010800040101010101" charset="-122"/>
                    <a:cs typeface="华文行楷" panose="02010800040101010101" charset="-122"/>
                  </a:endParaRPr>
                </a:p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1" lang="zh-CN" altLang="en-US" sz="1600" b="1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C0C0C0"/>
                      </a:outerShdw>
                    </a:effectLst>
                    <a:highlight>
                      <a:srgbClr val="C0C0C0"/>
                    </a:highlight>
                    <a:uLnTx/>
                    <a:uFillTx/>
                    <a:latin typeface="华文行楷" panose="02010800040101010101" charset="-122"/>
                    <a:ea typeface="华文行楷" panose="02010800040101010101" charset="-122"/>
                    <a:cs typeface="华文行楷" panose="02010800040101010101" charset="-122"/>
                  </a:endParaRPr>
                </a:p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r>
                    <a:rPr kumimoji="1" lang="en-US" altLang="zh-CN" sz="1600" b="1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00B050"/>
                      </a:solidFill>
                      <a:effectLst>
                        <a:outerShdw blurRad="38100" dist="38100" dir="2700000" algn="tl">
                          <a:srgbClr val="C0C0C0"/>
                        </a:outerShdw>
                      </a:effectLst>
                      <a:highlight>
                        <a:srgbClr val="C0C0C0"/>
                      </a:highlight>
                      <a:uLnTx/>
                      <a:uFillTx/>
                      <a:latin typeface="华文行楷" panose="02010800040101010101" charset="-122"/>
                      <a:ea typeface="华文行楷" panose="02010800040101010101" charset="-122"/>
                      <a:cs typeface="华文行楷" panose="02010800040101010101" charset="-122"/>
                    </a:rPr>
                    <a:t>7</a:t>
                  </a:r>
                  <a:r>
                    <a:rPr kumimoji="1" lang="zh-CN" altLang="en-US" sz="1600" b="1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00B050"/>
                      </a:solidFill>
                      <a:effectLst>
                        <a:outerShdw blurRad="38100" dist="38100" dir="2700000" algn="tl">
                          <a:srgbClr val="C0C0C0"/>
                        </a:outerShdw>
                      </a:effectLst>
                      <a:highlight>
                        <a:srgbClr val="C0C0C0"/>
                      </a:highlight>
                      <a:uLnTx/>
                      <a:uFillTx/>
                      <a:latin typeface="华文行楷" panose="02010800040101010101" charset="-122"/>
                      <a:ea typeface="华文行楷" panose="02010800040101010101" charset="-122"/>
                      <a:cs typeface="华文行楷" panose="02010800040101010101" charset="-122"/>
                    </a:rPr>
                    <a:t>章</a:t>
                  </a:r>
                </a:p>
              </p:txBody>
            </p:sp>
          </p:grpSp>
          <p:grpSp>
            <p:nvGrpSpPr>
              <p:cNvPr id="76" name="组合 75"/>
              <p:cNvGrpSpPr/>
              <p:nvPr/>
            </p:nvGrpSpPr>
            <p:grpSpPr>
              <a:xfrm>
                <a:off x="4398" y="6791"/>
                <a:ext cx="571" cy="662"/>
                <a:chOff x="3568" y="6779"/>
                <a:chExt cx="571" cy="662"/>
              </a:xfrm>
            </p:grpSpPr>
            <p:sp>
              <p:nvSpPr>
                <p:cNvPr id="77" name="Rectangle 3">
                  <a:hlinkClick r:id="rId2" action="ppaction://hlinksldjump"/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679" y="6779"/>
                  <a:ext cx="460" cy="36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CC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 wrap="square" lIns="0" tIns="45718" rIns="0" bIns="45718">
                  <a:spAutoFit/>
                </a:bodyPr>
                <a:lstStyle/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r>
                    <a:rPr kumimoji="1" lang="zh-CN" altLang="en-US" sz="900" b="1" i="0" u="none" strike="noStrike" kern="1200" cap="none" spc="0" normalizeH="0" baseline="0" noProof="0">
                      <a:ln>
                        <a:noFill/>
                      </a:ln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C0C0C0"/>
                        </a:outerShdw>
                      </a:effectLst>
                      <a:highlight>
                        <a:srgbClr val="FFFF00"/>
                      </a:highlight>
                      <a:uLnTx/>
                      <a:uFillTx/>
                      <a:latin typeface="华文彩云" panose="02010800040101010101" charset="-122"/>
                      <a:ea typeface="华文彩云" panose="02010800040101010101" charset="-122"/>
                      <a:cs typeface="华文彩云" panose="02010800040101010101" charset="-122"/>
                    </a:rPr>
                    <a:t>应用</a:t>
                  </a:r>
                  <a:endParaRPr kumimoji="1" lang="zh-CN" altLang="en-US" sz="900" b="1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C0C0C0"/>
                      </a:outerShdw>
                    </a:effectLst>
                    <a:highlight>
                      <a:srgbClr val="FF0000"/>
                    </a:highlight>
                    <a:uLnTx/>
                    <a:uFillTx/>
                    <a:latin typeface="华文彩云" panose="02010800040101010101" charset="-122"/>
                    <a:ea typeface="华文彩云" panose="02010800040101010101" charset="-122"/>
                    <a:cs typeface="华文彩云" panose="02010800040101010101" charset="-122"/>
                  </a:endParaRPr>
                </a:p>
              </p:txBody>
            </p:sp>
            <p:sp>
              <p:nvSpPr>
                <p:cNvPr id="78" name="右箭头 77"/>
                <p:cNvSpPr/>
                <p:nvPr/>
              </p:nvSpPr>
              <p:spPr>
                <a:xfrm>
                  <a:off x="3568" y="7141"/>
                  <a:ext cx="454" cy="300"/>
                </a:xfrm>
                <a:prstGeom prst="rightArrow">
                  <a:avLst/>
                </a:prstGeom>
                <a:solidFill>
                  <a:schemeClr val="bg1">
                    <a:lumMod val="65000"/>
                  </a:schemeClr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pPr marL="0" marR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</a:pPr>
                  <a:endParaRPr kumimoji="1" lang="zh-CN" altLang="en-US" sz="24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</p:grpSp>
          <p:grpSp>
            <p:nvGrpSpPr>
              <p:cNvPr id="80" name="组合 79"/>
              <p:cNvGrpSpPr/>
              <p:nvPr/>
            </p:nvGrpSpPr>
            <p:grpSpPr>
              <a:xfrm>
                <a:off x="6294" y="5206"/>
                <a:ext cx="461" cy="4789"/>
                <a:chOff x="4933" y="5221"/>
                <a:chExt cx="461" cy="4789"/>
              </a:xfrm>
            </p:grpSpPr>
            <p:cxnSp>
              <p:nvCxnSpPr>
                <p:cNvPr id="81" name="直接连接符 80"/>
                <p:cNvCxnSpPr/>
                <p:nvPr/>
              </p:nvCxnSpPr>
              <p:spPr>
                <a:xfrm flipH="1">
                  <a:off x="5139" y="5221"/>
                  <a:ext cx="11" cy="399"/>
                </a:xfrm>
                <a:prstGeom prst="line">
                  <a:avLst/>
                </a:prstGeom>
                <a:solidFill>
                  <a:schemeClr val="accent1"/>
                </a:solidFill>
                <a:ln w="28575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sp>
              <p:nvSpPr>
                <p:cNvPr id="82" name="Rectangle 3">
                  <a:hlinkClick r:id="rId2" action="ppaction://hlinksldjump"/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933" y="5631"/>
                  <a:ext cx="461" cy="4379"/>
                </a:xfrm>
                <a:prstGeom prst="rect">
                  <a:avLst/>
                </a:prstGeom>
                <a:noFill/>
                <a:ln w="12700" cmpd="sng">
                  <a:solidFill>
                    <a:schemeClr val="accent1">
                      <a:shade val="50000"/>
                    </a:schemeClr>
                  </a:solidFill>
                  <a:prstDash val="dashDot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 wrap="square" lIns="0" tIns="36195" rIns="0" bIns="36195">
                  <a:spAutoFit/>
                </a:bodyPr>
                <a:lstStyle/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r>
                    <a:rPr kumimoji="1" lang="zh-CN" altLang="en-US" sz="1600" b="1" i="0" u="none" strike="noStrike" kern="1200" cap="none" spc="0" normalizeH="0" baseline="0" noProof="0" dirty="0">
                      <a:ln>
                        <a:noFill/>
                      </a:ln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C0C0C0"/>
                        </a:outerShdw>
                      </a:effectLst>
                      <a:highlight>
                        <a:srgbClr val="C0C0C0"/>
                      </a:highlight>
                      <a:uLnTx/>
                      <a:uFillTx/>
                      <a:latin typeface="华文行楷" panose="02010800040101010101" charset="-122"/>
                      <a:ea typeface="华文行楷" panose="02010800040101010101" charset="-122"/>
                      <a:cs typeface="华文行楷" panose="02010800040101010101" charset="-122"/>
                    </a:rPr>
                    <a:t>可编程控制器与应用</a:t>
                  </a:r>
                </a:p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r>
                    <a:rPr kumimoji="1" lang="en-US" altLang="zh-CN" sz="1600" b="1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00B050"/>
                      </a:solidFill>
                      <a:effectLst>
                        <a:outerShdw blurRad="38100" dist="38100" dir="2700000" algn="tl">
                          <a:srgbClr val="C0C0C0"/>
                        </a:outerShdw>
                      </a:effectLst>
                      <a:highlight>
                        <a:srgbClr val="C0C0C0"/>
                      </a:highlight>
                      <a:uLnTx/>
                      <a:uFillTx/>
                      <a:latin typeface="华文行楷" panose="02010800040101010101" charset="-122"/>
                      <a:ea typeface="华文行楷" panose="02010800040101010101" charset="-122"/>
                      <a:cs typeface="华文行楷" panose="02010800040101010101" charset="-122"/>
                    </a:rPr>
                    <a:t>11</a:t>
                  </a:r>
                  <a:r>
                    <a:rPr kumimoji="1" lang="zh-CN" altLang="en-US" sz="1600" b="1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00B050"/>
                      </a:solidFill>
                      <a:effectLst>
                        <a:outerShdw blurRad="38100" dist="38100" dir="2700000" algn="tl">
                          <a:srgbClr val="C0C0C0"/>
                        </a:outerShdw>
                      </a:effectLst>
                      <a:highlight>
                        <a:srgbClr val="C0C0C0"/>
                      </a:highlight>
                      <a:uLnTx/>
                      <a:uFillTx/>
                      <a:latin typeface="华文行楷" panose="02010800040101010101" charset="-122"/>
                      <a:ea typeface="华文行楷" panose="02010800040101010101" charset="-122"/>
                      <a:cs typeface="华文行楷" panose="02010800040101010101" charset="-122"/>
                    </a:rPr>
                    <a:t>章</a:t>
                  </a:r>
                </a:p>
              </p:txBody>
            </p:sp>
          </p:grpSp>
          <p:sp>
            <p:nvSpPr>
              <p:cNvPr id="84" name="左右箭头 83"/>
              <p:cNvSpPr/>
              <p:nvPr/>
            </p:nvSpPr>
            <p:spPr>
              <a:xfrm>
                <a:off x="5387" y="7153"/>
                <a:ext cx="907" cy="311"/>
              </a:xfrm>
              <a:prstGeom prst="leftRightArrow">
                <a:avLst/>
              </a:prstGeom>
              <a:solidFill>
                <a:schemeClr val="bg1">
                  <a:lumMod val="75000"/>
                </a:schemeClr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kumimoji="1" lang="zh-CN" altLang="en-US" sz="24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</p:grpSp>
      </p:grpSp>
      <p:grpSp>
        <p:nvGrpSpPr>
          <p:cNvPr id="86" name="组合 85"/>
          <p:cNvGrpSpPr/>
          <p:nvPr/>
        </p:nvGrpSpPr>
        <p:grpSpPr>
          <a:xfrm>
            <a:off x="4128135" y="2819400"/>
            <a:ext cx="3104515" cy="2812415"/>
            <a:chOff x="2318" y="5206"/>
            <a:chExt cx="4889" cy="4429"/>
          </a:xfrm>
        </p:grpSpPr>
        <p:grpSp>
          <p:nvGrpSpPr>
            <p:cNvPr id="87" name="组合 86"/>
            <p:cNvGrpSpPr/>
            <p:nvPr/>
          </p:nvGrpSpPr>
          <p:grpSpPr>
            <a:xfrm>
              <a:off x="2318" y="5232"/>
              <a:ext cx="461" cy="4403"/>
              <a:chOff x="2318" y="5232"/>
              <a:chExt cx="461" cy="4403"/>
            </a:xfrm>
          </p:grpSpPr>
          <p:cxnSp>
            <p:nvCxnSpPr>
              <p:cNvPr id="89" name="直接连接符 88"/>
              <p:cNvCxnSpPr/>
              <p:nvPr/>
            </p:nvCxnSpPr>
            <p:spPr>
              <a:xfrm flipH="1">
                <a:off x="2529" y="5232"/>
                <a:ext cx="11" cy="399"/>
              </a:xfrm>
              <a:prstGeom prst="line">
                <a:avLst/>
              </a:prstGeom>
              <a:solidFill>
                <a:schemeClr val="accent1"/>
              </a:solidFill>
              <a:ln w="28575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91" name="Rectangle 3">
                <a:hlinkClick r:id="rId2" action="ppaction://hlinksldjump"/>
              </p:cNvPr>
              <p:cNvSpPr>
                <a:spLocks noChangeArrowheads="1"/>
              </p:cNvSpPr>
              <p:nvPr/>
            </p:nvSpPr>
            <p:spPr bwMode="auto">
              <a:xfrm>
                <a:off x="2318" y="5644"/>
                <a:ext cx="461" cy="3991"/>
              </a:xfrm>
              <a:prstGeom prst="rect">
                <a:avLst/>
              </a:prstGeom>
              <a:noFill/>
              <a:ln w="12700" cmpd="sng">
                <a:solidFill>
                  <a:schemeClr val="accent1">
                    <a:shade val="50000"/>
                  </a:schemeClr>
                </a:solidFill>
                <a:prstDash val="dashDot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square" lIns="0" tIns="36195" rIns="0" bIns="36195">
                <a:spAutoFit/>
              </a:bodyPr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kumimoji="1" lang="zh-CN" altLang="en-US" sz="1600" b="1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C0C0C0"/>
                      </a:outerShdw>
                    </a:effectLst>
                    <a:highlight>
                      <a:srgbClr val="C0C0C0"/>
                    </a:highlight>
                    <a:uLnTx/>
                    <a:uFillTx/>
                    <a:latin typeface="华文行楷" panose="02010800040101010101" charset="-122"/>
                    <a:ea typeface="华文行楷" panose="02010800040101010101" charset="-122"/>
                    <a:cs typeface="华文行楷" panose="02010800040101010101" charset="-122"/>
                  </a:rPr>
                  <a:t>二极管和晶体管</a:t>
                </a:r>
              </a:p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1600" b="1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highlight>
                    <a:srgbClr val="C0C0C0"/>
                  </a:highlight>
                  <a:uLnTx/>
                  <a:uFillTx/>
                  <a:latin typeface="华文行楷" panose="02010800040101010101" charset="-122"/>
                  <a:ea typeface="华文行楷" panose="02010800040101010101" charset="-122"/>
                  <a:cs typeface="华文行楷" panose="02010800040101010101" charset="-122"/>
                </a:endParaRPr>
              </a:p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kumimoji="1" lang="en-US" altLang="zh-CN" sz="16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B050"/>
                    </a:solidFill>
                    <a:effectLst>
                      <a:outerShdw blurRad="38100" dist="38100" dir="2700000" algn="tl">
                        <a:srgbClr val="C0C0C0"/>
                      </a:outerShdw>
                    </a:effectLst>
                    <a:highlight>
                      <a:srgbClr val="C0C0C0"/>
                    </a:highlight>
                    <a:uLnTx/>
                    <a:uFillTx/>
                    <a:latin typeface="华文行楷" panose="02010800040101010101" charset="-122"/>
                    <a:ea typeface="华文行楷" panose="02010800040101010101" charset="-122"/>
                    <a:cs typeface="华文行楷" panose="02010800040101010101" charset="-122"/>
                  </a:rPr>
                  <a:t>14</a:t>
                </a:r>
                <a:r>
                  <a:rPr kumimoji="1" lang="zh-CN" altLang="en-US" sz="16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B050"/>
                    </a:solidFill>
                    <a:effectLst>
                      <a:outerShdw blurRad="38100" dist="38100" dir="2700000" algn="tl">
                        <a:srgbClr val="C0C0C0"/>
                      </a:outerShdw>
                    </a:effectLst>
                    <a:highlight>
                      <a:srgbClr val="C0C0C0"/>
                    </a:highlight>
                    <a:uLnTx/>
                    <a:uFillTx/>
                    <a:latin typeface="华文行楷" panose="02010800040101010101" charset="-122"/>
                    <a:ea typeface="华文行楷" panose="02010800040101010101" charset="-122"/>
                    <a:cs typeface="华文行楷" panose="02010800040101010101" charset="-122"/>
                  </a:rPr>
                  <a:t>章</a:t>
                </a:r>
              </a:p>
            </p:txBody>
          </p:sp>
        </p:grpSp>
        <p:grpSp>
          <p:nvGrpSpPr>
            <p:cNvPr id="95" name="组合 94"/>
            <p:cNvGrpSpPr/>
            <p:nvPr/>
          </p:nvGrpSpPr>
          <p:grpSpPr>
            <a:xfrm>
              <a:off x="3445" y="5230"/>
              <a:ext cx="483" cy="4377"/>
              <a:chOff x="3891" y="5232"/>
              <a:chExt cx="483" cy="4377"/>
            </a:xfrm>
          </p:grpSpPr>
          <p:cxnSp>
            <p:nvCxnSpPr>
              <p:cNvPr id="96" name="直接连接符 95"/>
              <p:cNvCxnSpPr/>
              <p:nvPr/>
            </p:nvCxnSpPr>
            <p:spPr>
              <a:xfrm flipH="1">
                <a:off x="4127" y="5232"/>
                <a:ext cx="11" cy="399"/>
              </a:xfrm>
              <a:prstGeom prst="line">
                <a:avLst/>
              </a:prstGeom>
              <a:solidFill>
                <a:schemeClr val="accent1"/>
              </a:solidFill>
              <a:ln w="28575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97" name="Rectangle 3">
                <a:hlinkClick r:id="rId2" action="ppaction://hlinksldjump"/>
              </p:cNvPr>
              <p:cNvSpPr>
                <a:spLocks noChangeArrowheads="1"/>
              </p:cNvSpPr>
              <p:nvPr/>
            </p:nvSpPr>
            <p:spPr bwMode="auto">
              <a:xfrm>
                <a:off x="3891" y="5618"/>
                <a:ext cx="483" cy="3991"/>
              </a:xfrm>
              <a:prstGeom prst="rect">
                <a:avLst/>
              </a:prstGeom>
              <a:noFill/>
              <a:ln w="12700" cmpd="sng">
                <a:solidFill>
                  <a:schemeClr val="accent1">
                    <a:shade val="50000"/>
                  </a:schemeClr>
                </a:solidFill>
                <a:prstDash val="dashDot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square" lIns="0" tIns="36195" rIns="0" bIns="36195">
                <a:spAutoFit/>
              </a:bodyPr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kumimoji="1" lang="zh-CN" altLang="en-US" sz="1600" b="1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C0C0C0"/>
                      </a:outerShdw>
                    </a:effectLst>
                    <a:highlight>
                      <a:srgbClr val="C0C0C0"/>
                    </a:highlight>
                    <a:uLnTx/>
                    <a:uFillTx/>
                    <a:latin typeface="华文行楷" panose="02010800040101010101" charset="-122"/>
                    <a:ea typeface="华文行楷" panose="02010800040101010101" charset="-122"/>
                    <a:cs typeface="华文行楷" panose="02010800040101010101" charset="-122"/>
                  </a:rPr>
                  <a:t>基本放大电路</a:t>
                </a:r>
              </a:p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16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highlight>
                    <a:srgbClr val="C0C0C0"/>
                  </a:highlight>
                  <a:uLnTx/>
                  <a:uFillTx/>
                  <a:latin typeface="华文行楷" panose="02010800040101010101" charset="-122"/>
                  <a:ea typeface="华文行楷" panose="02010800040101010101" charset="-122"/>
                  <a:cs typeface="华文行楷" panose="02010800040101010101" charset="-122"/>
                </a:endParaRPr>
              </a:p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16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highlight>
                    <a:srgbClr val="C0C0C0"/>
                  </a:highlight>
                  <a:uLnTx/>
                  <a:uFillTx/>
                  <a:latin typeface="华文行楷" panose="02010800040101010101" charset="-122"/>
                  <a:ea typeface="华文行楷" panose="02010800040101010101" charset="-122"/>
                  <a:cs typeface="华文行楷" panose="02010800040101010101" charset="-122"/>
                </a:endParaRPr>
              </a:p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kumimoji="1" lang="en-US" altLang="zh-CN" sz="1600" b="1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C0C0C0"/>
                      </a:outerShdw>
                    </a:effectLst>
                    <a:highlight>
                      <a:srgbClr val="C0C0C0"/>
                    </a:highlight>
                    <a:uLnTx/>
                    <a:uFillTx/>
                    <a:latin typeface="华文行楷" panose="02010800040101010101" charset="-122"/>
                    <a:ea typeface="华文行楷" panose="02010800040101010101" charset="-122"/>
                    <a:cs typeface="华文行楷" panose="02010800040101010101" charset="-122"/>
                  </a:rPr>
                  <a:t>15</a:t>
                </a:r>
                <a:r>
                  <a:rPr kumimoji="1" lang="zh-CN" altLang="en-US" sz="1600" b="1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C0C0C0"/>
                      </a:outerShdw>
                    </a:effectLst>
                    <a:highlight>
                      <a:srgbClr val="C0C0C0"/>
                    </a:highlight>
                    <a:uLnTx/>
                    <a:uFillTx/>
                    <a:latin typeface="华文行楷" panose="02010800040101010101" charset="-122"/>
                    <a:ea typeface="华文行楷" panose="02010800040101010101" charset="-122"/>
                    <a:cs typeface="华文行楷" panose="02010800040101010101" charset="-122"/>
                  </a:rPr>
                  <a:t>章</a:t>
                </a:r>
              </a:p>
            </p:txBody>
          </p:sp>
        </p:grpSp>
        <p:grpSp>
          <p:nvGrpSpPr>
            <p:cNvPr id="98" name="组合 97"/>
            <p:cNvGrpSpPr/>
            <p:nvPr/>
          </p:nvGrpSpPr>
          <p:grpSpPr>
            <a:xfrm>
              <a:off x="5723" y="5221"/>
              <a:ext cx="461" cy="4401"/>
              <a:chOff x="5723" y="5221"/>
              <a:chExt cx="461" cy="4401"/>
            </a:xfrm>
          </p:grpSpPr>
          <p:cxnSp>
            <p:nvCxnSpPr>
              <p:cNvPr id="99" name="直接连接符 98"/>
              <p:cNvCxnSpPr/>
              <p:nvPr/>
            </p:nvCxnSpPr>
            <p:spPr>
              <a:xfrm flipH="1">
                <a:off x="5930" y="5221"/>
                <a:ext cx="11" cy="399"/>
              </a:xfrm>
              <a:prstGeom prst="line">
                <a:avLst/>
              </a:prstGeom>
              <a:solidFill>
                <a:schemeClr val="accent1"/>
              </a:solidFill>
              <a:ln w="28575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100" name="Rectangle 3">
                <a:hlinkClick r:id="rId2" action="ppaction://hlinksldjump"/>
              </p:cNvPr>
              <p:cNvSpPr>
                <a:spLocks noChangeArrowheads="1"/>
              </p:cNvSpPr>
              <p:nvPr/>
            </p:nvSpPr>
            <p:spPr bwMode="auto">
              <a:xfrm>
                <a:off x="5723" y="5631"/>
                <a:ext cx="461" cy="3991"/>
              </a:xfrm>
              <a:prstGeom prst="rect">
                <a:avLst/>
              </a:prstGeom>
              <a:noFill/>
              <a:ln w="12700" cmpd="sng">
                <a:solidFill>
                  <a:schemeClr val="accent1">
                    <a:shade val="50000"/>
                  </a:schemeClr>
                </a:solidFill>
                <a:prstDash val="dashDot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square" lIns="0" tIns="36195" rIns="0" bIns="36195">
                <a:spAutoFit/>
              </a:bodyPr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kumimoji="1" lang="zh-CN" altLang="en-US" sz="1600" b="1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C0C0C0"/>
                      </a:outerShdw>
                    </a:effectLst>
                    <a:highlight>
                      <a:srgbClr val="C0C0C0"/>
                    </a:highlight>
                    <a:uLnTx/>
                    <a:uFillTx/>
                    <a:latin typeface="华文行楷" panose="02010800040101010101" charset="-122"/>
                    <a:ea typeface="华文行楷" panose="02010800040101010101" charset="-122"/>
                    <a:cs typeface="华文行楷" panose="02010800040101010101" charset="-122"/>
                  </a:rPr>
                  <a:t>电子电路中的反馈</a:t>
                </a:r>
              </a:p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kumimoji="1" lang="en-US" altLang="zh-CN" sz="1600" b="1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C0C0C0"/>
                      </a:outerShdw>
                    </a:effectLst>
                    <a:highlight>
                      <a:srgbClr val="C0C0C0"/>
                    </a:highlight>
                    <a:uLnTx/>
                    <a:uFillTx/>
                    <a:latin typeface="华文行楷" panose="02010800040101010101" charset="-122"/>
                    <a:ea typeface="华文行楷" panose="02010800040101010101" charset="-122"/>
                    <a:cs typeface="华文行楷" panose="02010800040101010101" charset="-122"/>
                  </a:rPr>
                  <a:t>17</a:t>
                </a:r>
                <a:r>
                  <a:rPr kumimoji="1" lang="zh-CN" altLang="en-US" sz="1600" b="1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C0C0C0"/>
                      </a:outerShdw>
                    </a:effectLst>
                    <a:highlight>
                      <a:srgbClr val="C0C0C0"/>
                    </a:highlight>
                    <a:uLnTx/>
                    <a:uFillTx/>
                    <a:latin typeface="华文行楷" panose="02010800040101010101" charset="-122"/>
                    <a:ea typeface="华文行楷" panose="02010800040101010101" charset="-122"/>
                    <a:cs typeface="华文行楷" panose="02010800040101010101" charset="-122"/>
                  </a:rPr>
                  <a:t>章</a:t>
                </a:r>
              </a:p>
            </p:txBody>
          </p:sp>
        </p:grpSp>
        <p:grpSp>
          <p:nvGrpSpPr>
            <p:cNvPr id="104" name="组合 103"/>
            <p:cNvGrpSpPr/>
            <p:nvPr/>
          </p:nvGrpSpPr>
          <p:grpSpPr>
            <a:xfrm>
              <a:off x="4604" y="5245"/>
              <a:ext cx="483" cy="4390"/>
              <a:chOff x="4150" y="5247"/>
              <a:chExt cx="483" cy="4390"/>
            </a:xfrm>
          </p:grpSpPr>
          <p:cxnSp>
            <p:nvCxnSpPr>
              <p:cNvPr id="105" name="直接连接符 104"/>
              <p:cNvCxnSpPr/>
              <p:nvPr/>
            </p:nvCxnSpPr>
            <p:spPr>
              <a:xfrm flipH="1">
                <a:off x="4366" y="5247"/>
                <a:ext cx="11" cy="399"/>
              </a:xfrm>
              <a:prstGeom prst="line">
                <a:avLst/>
              </a:prstGeom>
              <a:solidFill>
                <a:schemeClr val="accent1"/>
              </a:solidFill>
              <a:ln w="28575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106" name="Rectangle 3">
                <a:hlinkClick r:id="rId2" action="ppaction://hlinksldjump"/>
              </p:cNvPr>
              <p:cNvSpPr>
                <a:spLocks noChangeArrowheads="1"/>
              </p:cNvSpPr>
              <p:nvPr/>
            </p:nvSpPr>
            <p:spPr bwMode="auto">
              <a:xfrm>
                <a:off x="4150" y="5646"/>
                <a:ext cx="483" cy="3991"/>
              </a:xfrm>
              <a:prstGeom prst="rect">
                <a:avLst/>
              </a:prstGeom>
              <a:noFill/>
              <a:ln w="12700" cmpd="sng">
                <a:solidFill>
                  <a:schemeClr val="accent1">
                    <a:shade val="50000"/>
                  </a:schemeClr>
                </a:solidFill>
                <a:prstDash val="dashDot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square" lIns="0" tIns="36195" rIns="0" bIns="36195">
                <a:spAutoFit/>
              </a:bodyPr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kumimoji="1" lang="zh-CN" altLang="en-US" sz="1600" b="1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C0C0C0"/>
                      </a:outerShdw>
                    </a:effectLst>
                    <a:highlight>
                      <a:srgbClr val="C0C0C0"/>
                    </a:highlight>
                    <a:uLnTx/>
                    <a:uFillTx/>
                    <a:latin typeface="华文行楷" panose="02010800040101010101" charset="-122"/>
                    <a:ea typeface="华文行楷" panose="02010800040101010101" charset="-122"/>
                    <a:cs typeface="华文行楷" panose="02010800040101010101" charset="-122"/>
                  </a:rPr>
                  <a:t>集成运算放大器</a:t>
                </a:r>
              </a:p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16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highlight>
                    <a:srgbClr val="C0C0C0"/>
                  </a:highlight>
                  <a:uLnTx/>
                  <a:uFillTx/>
                  <a:latin typeface="华文行楷" panose="02010800040101010101" charset="-122"/>
                  <a:ea typeface="华文行楷" panose="02010800040101010101" charset="-122"/>
                  <a:cs typeface="华文行楷" panose="02010800040101010101" charset="-122"/>
                </a:endParaRPr>
              </a:p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kumimoji="1" lang="en-US" altLang="zh-CN" sz="1600" b="1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C0C0C0"/>
                      </a:outerShdw>
                    </a:effectLst>
                    <a:highlight>
                      <a:srgbClr val="C0C0C0"/>
                    </a:highlight>
                    <a:uLnTx/>
                    <a:uFillTx/>
                    <a:latin typeface="华文行楷" panose="02010800040101010101" charset="-122"/>
                    <a:ea typeface="华文行楷" panose="02010800040101010101" charset="-122"/>
                    <a:cs typeface="华文行楷" panose="02010800040101010101" charset="-122"/>
                  </a:rPr>
                  <a:t>16</a:t>
                </a:r>
                <a:r>
                  <a:rPr kumimoji="1" lang="zh-CN" altLang="en-US" sz="1600" b="1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C0C0C0"/>
                      </a:outerShdw>
                    </a:effectLst>
                    <a:highlight>
                      <a:srgbClr val="C0C0C0"/>
                    </a:highlight>
                    <a:uLnTx/>
                    <a:uFillTx/>
                    <a:latin typeface="华文行楷" panose="02010800040101010101" charset="-122"/>
                    <a:ea typeface="华文行楷" panose="02010800040101010101" charset="-122"/>
                    <a:cs typeface="华文行楷" panose="02010800040101010101" charset="-122"/>
                  </a:rPr>
                  <a:t>章</a:t>
                </a:r>
              </a:p>
            </p:txBody>
          </p:sp>
        </p:grpSp>
        <p:grpSp>
          <p:nvGrpSpPr>
            <p:cNvPr id="110" name="组合 109"/>
            <p:cNvGrpSpPr/>
            <p:nvPr/>
          </p:nvGrpSpPr>
          <p:grpSpPr>
            <a:xfrm>
              <a:off x="6746" y="5206"/>
              <a:ext cx="461" cy="4401"/>
              <a:chOff x="5385" y="5221"/>
              <a:chExt cx="461" cy="4401"/>
            </a:xfrm>
          </p:grpSpPr>
          <p:cxnSp>
            <p:nvCxnSpPr>
              <p:cNvPr id="111" name="直接连接符 110"/>
              <p:cNvCxnSpPr/>
              <p:nvPr/>
            </p:nvCxnSpPr>
            <p:spPr>
              <a:xfrm flipH="1">
                <a:off x="5591" y="5221"/>
                <a:ext cx="11" cy="399"/>
              </a:xfrm>
              <a:prstGeom prst="line">
                <a:avLst/>
              </a:prstGeom>
              <a:solidFill>
                <a:schemeClr val="accent1"/>
              </a:solidFill>
              <a:ln w="28575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112" name="Rectangle 3">
                <a:hlinkClick r:id="rId2" action="ppaction://hlinksldjump"/>
              </p:cNvPr>
              <p:cNvSpPr>
                <a:spLocks noChangeArrowheads="1"/>
              </p:cNvSpPr>
              <p:nvPr/>
            </p:nvSpPr>
            <p:spPr bwMode="auto">
              <a:xfrm>
                <a:off x="5385" y="5631"/>
                <a:ext cx="461" cy="3991"/>
              </a:xfrm>
              <a:prstGeom prst="rect">
                <a:avLst/>
              </a:prstGeom>
              <a:noFill/>
              <a:ln w="12700" cmpd="sng">
                <a:solidFill>
                  <a:schemeClr val="accent1">
                    <a:shade val="50000"/>
                  </a:schemeClr>
                </a:solidFill>
                <a:prstDash val="dashDot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square" lIns="0" tIns="36195" rIns="0" bIns="36195">
                <a:spAutoFit/>
              </a:bodyPr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kumimoji="1" lang="zh-CN" altLang="en-US" sz="1600" b="1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C0C0C0"/>
                      </a:outerShdw>
                    </a:effectLst>
                    <a:highlight>
                      <a:srgbClr val="C0C0C0"/>
                    </a:highlight>
                    <a:uLnTx/>
                    <a:uFillTx/>
                    <a:latin typeface="华文行楷" panose="02010800040101010101" charset="-122"/>
                    <a:ea typeface="华文行楷" panose="02010800040101010101" charset="-122"/>
                    <a:cs typeface="华文行楷" panose="02010800040101010101" charset="-122"/>
                  </a:rPr>
                  <a:t>直流稳压电源</a:t>
                </a:r>
              </a:p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1600" b="1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highlight>
                    <a:srgbClr val="C0C0C0"/>
                  </a:highlight>
                  <a:uLnTx/>
                  <a:uFillTx/>
                  <a:latin typeface="华文行楷" panose="02010800040101010101" charset="-122"/>
                  <a:ea typeface="华文行楷" panose="02010800040101010101" charset="-122"/>
                  <a:cs typeface="华文行楷" panose="02010800040101010101" charset="-122"/>
                </a:endParaRPr>
              </a:p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1600" b="1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highlight>
                    <a:srgbClr val="C0C0C0"/>
                  </a:highlight>
                  <a:uLnTx/>
                  <a:uFillTx/>
                  <a:latin typeface="华文行楷" panose="02010800040101010101" charset="-122"/>
                  <a:ea typeface="华文行楷" panose="02010800040101010101" charset="-122"/>
                  <a:cs typeface="华文行楷" panose="02010800040101010101" charset="-122"/>
                </a:endParaRPr>
              </a:p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kumimoji="1" lang="en-US" altLang="zh-CN" sz="16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B050"/>
                    </a:solidFill>
                    <a:effectLst>
                      <a:outerShdw blurRad="38100" dist="38100" dir="2700000" algn="tl">
                        <a:srgbClr val="C0C0C0"/>
                      </a:outerShdw>
                    </a:effectLst>
                    <a:highlight>
                      <a:srgbClr val="C0C0C0"/>
                    </a:highlight>
                    <a:uLnTx/>
                    <a:uFillTx/>
                    <a:latin typeface="华文行楷" panose="02010800040101010101" charset="-122"/>
                    <a:ea typeface="华文行楷" panose="02010800040101010101" charset="-122"/>
                    <a:cs typeface="华文行楷" panose="02010800040101010101" charset="-122"/>
                  </a:rPr>
                  <a:t>18</a:t>
                </a:r>
                <a:r>
                  <a:rPr kumimoji="1" lang="zh-CN" altLang="en-US" sz="16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B050"/>
                    </a:solidFill>
                    <a:effectLst>
                      <a:outerShdw blurRad="38100" dist="38100" dir="2700000" algn="tl">
                        <a:srgbClr val="C0C0C0"/>
                      </a:outerShdw>
                    </a:effectLst>
                    <a:highlight>
                      <a:srgbClr val="C0C0C0"/>
                    </a:highlight>
                    <a:uLnTx/>
                    <a:uFillTx/>
                    <a:latin typeface="华文行楷" panose="02010800040101010101" charset="-122"/>
                    <a:ea typeface="华文行楷" panose="02010800040101010101" charset="-122"/>
                    <a:cs typeface="华文行楷" panose="02010800040101010101" charset="-122"/>
                  </a:rPr>
                  <a:t>章</a:t>
                </a:r>
              </a:p>
            </p:txBody>
          </p:sp>
        </p:grpSp>
      </p:grpSp>
      <p:sp>
        <p:nvSpPr>
          <p:cNvPr id="115" name="Rectangle 3">
            <a:hlinkClick r:id="rId2" action="ppaction://hlinksldjump"/>
          </p:cNvPr>
          <p:cNvSpPr>
            <a:spLocks noChangeArrowheads="1"/>
          </p:cNvSpPr>
          <p:nvPr/>
        </p:nvSpPr>
        <p:spPr bwMode="auto">
          <a:xfrm>
            <a:off x="179705" y="5805805"/>
            <a:ext cx="4040505" cy="7823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CC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 lIns="91435" tIns="45718" rIns="91435" bIns="45718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sz="12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highlight>
                  <a:srgbClr val="C0C0C0"/>
                </a:highlight>
                <a:uLnTx/>
                <a:uFillTx/>
                <a:latin typeface="华文行楷" panose="02010800040101010101" charset="-122"/>
                <a:ea typeface="华文行楷" panose="02010800040101010101" charset="-122"/>
                <a:cs typeface="华文行楷" panose="02010800040101010101" charset="-122"/>
              </a:rPr>
              <a:t>电工电子技术</a:t>
            </a:r>
          </a:p>
          <a:p>
            <a:pPr marL="171450" marR="0" lvl="0" indent="-171450" algn="l" defTabSz="914400" rtl="0" eaLnBrk="1" fontAlgn="base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charset="0"/>
              <a:buChar char="l"/>
              <a:defRPr/>
            </a:pPr>
            <a:r>
              <a:rPr kumimoji="1" lang="zh-CN" altLang="en-US" sz="12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highlight>
                  <a:srgbClr val="C0C0C0"/>
                </a:highlight>
                <a:uLnTx/>
                <a:uFillTx/>
                <a:latin typeface="华文行楷" panose="02010800040101010101" charset="-122"/>
                <a:ea typeface="华文行楷" panose="02010800040101010101" charset="-122"/>
                <a:cs typeface="华文行楷" panose="02010800040101010101" charset="-122"/>
              </a:rPr>
              <a:t>快速发展的</a:t>
            </a:r>
            <a:r>
              <a:rPr kumimoji="1" lang="zh-CN" altLang="en-US" sz="12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highlight>
                  <a:srgbClr val="FFFF00"/>
                </a:highlight>
                <a:uLnTx/>
                <a:uFillTx/>
                <a:latin typeface="华文行楷" panose="02010800040101010101" charset="-122"/>
                <a:ea typeface="华文行楷" panose="02010800040101010101" charset="-122"/>
                <a:cs typeface="华文行楷" panose="02010800040101010101" charset="-122"/>
              </a:rPr>
              <a:t>原因</a:t>
            </a:r>
            <a:r>
              <a:rPr kumimoji="1" lang="zh-CN" altLang="en-US" sz="12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highlight>
                  <a:srgbClr val="C0C0C0"/>
                </a:highlight>
                <a:uLnTx/>
                <a:uFillTx/>
                <a:latin typeface="华文行楷" panose="02010800040101010101" charset="-122"/>
                <a:ea typeface="华文行楷" panose="02010800040101010101" charset="-122"/>
                <a:cs typeface="华文行楷" panose="02010800040101010101" charset="-122"/>
              </a:rPr>
              <a:t>：电能</a:t>
            </a:r>
            <a:r>
              <a:rPr kumimoji="1" lang="zh-CN" altLang="en-US" sz="1200" b="1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highlight>
                  <a:srgbClr val="C0C0C0"/>
                </a:highlight>
                <a:uLnTx/>
                <a:uFillTx/>
                <a:latin typeface="华文行楷" panose="02010800040101010101" charset="-122"/>
                <a:ea typeface="华文行楷" panose="02010800040101010101" charset="-122"/>
                <a:cs typeface="华文行楷" panose="02010800040101010101" charset="-122"/>
              </a:rPr>
              <a:t>易转换、传输、控制</a:t>
            </a:r>
            <a:r>
              <a:rPr kumimoji="1" lang="zh-CN" altLang="en-US" sz="12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highlight>
                  <a:srgbClr val="C0C0C0"/>
                </a:highlight>
                <a:uLnTx/>
                <a:uFillTx/>
                <a:latin typeface="华文行楷" panose="02010800040101010101" charset="-122"/>
                <a:ea typeface="华文行楷" panose="02010800040101010101" charset="-122"/>
                <a:cs typeface="华文行楷" panose="02010800040101010101" charset="-122"/>
              </a:rPr>
              <a:t>。</a:t>
            </a:r>
          </a:p>
          <a:p>
            <a:pPr marL="171450" marR="0" lvl="0" indent="-171450" algn="l" defTabSz="914400" rtl="0" eaLnBrk="1" fontAlgn="base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charset="0"/>
              <a:buChar char="l"/>
              <a:defRPr/>
            </a:pPr>
            <a:r>
              <a:rPr kumimoji="1" lang="zh-CN" altLang="en-US" sz="12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highlight>
                  <a:srgbClr val="C0C0C0"/>
                </a:highlight>
                <a:uLnTx/>
                <a:uFillTx/>
                <a:latin typeface="华文行楷" panose="02010800040101010101" charset="-122"/>
                <a:ea typeface="华文行楷" panose="02010800040101010101" charset="-122"/>
                <a:cs typeface="华文行楷" panose="02010800040101010101" charset="-122"/>
              </a:rPr>
              <a:t>发展</a:t>
            </a:r>
            <a:r>
              <a:rPr kumimoji="1" lang="zh-CN" altLang="en-US" sz="12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highlight>
                  <a:srgbClr val="FFFF00"/>
                </a:highlight>
                <a:uLnTx/>
                <a:uFillTx/>
                <a:latin typeface="华文行楷" panose="02010800040101010101" charset="-122"/>
                <a:ea typeface="华文行楷" panose="02010800040101010101" charset="-122"/>
                <a:cs typeface="华文行楷" panose="02010800040101010101" charset="-122"/>
              </a:rPr>
              <a:t>现状与趋势</a:t>
            </a:r>
            <a:r>
              <a:rPr kumimoji="1" lang="zh-CN" altLang="en-US" sz="12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highlight>
                  <a:srgbClr val="C0C0C0"/>
                </a:highlight>
                <a:uLnTx/>
                <a:uFillTx/>
                <a:latin typeface="华文行楷" panose="02010800040101010101" charset="-122"/>
                <a:ea typeface="华文行楷" panose="02010800040101010101" charset="-122"/>
                <a:cs typeface="华文行楷" panose="02010800040101010101" charset="-122"/>
              </a:rPr>
              <a:t>：</a:t>
            </a:r>
          </a:p>
        </p:txBody>
      </p:sp>
      <p:graphicFrame>
        <p:nvGraphicFramePr>
          <p:cNvPr id="116" name="对象 115"/>
          <p:cNvGraphicFramePr/>
          <p:nvPr/>
        </p:nvGraphicFramePr>
        <p:xfrm>
          <a:off x="1697990" y="6346825"/>
          <a:ext cx="2167255" cy="511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3" imgW="2165350" imgH="425450" progId="PBrush">
                  <p:embed/>
                </p:oleObj>
              </mc:Choice>
              <mc:Fallback>
                <p:oleObj r:id="rId3" imgW="2165350" imgH="425450" progId="PBrush">
                  <p:embed/>
                  <p:pic>
                    <p:nvPicPr>
                      <p:cNvPr id="0" name="图片 1024" descr="image2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697990" y="6346825"/>
                        <a:ext cx="2167255" cy="51117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3" name="Picture 4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449263" y="447675"/>
            <a:ext cx="8247062" cy="596265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2"/>
          <p:cNvSpPr>
            <a:spLocks noChangeArrowheads="1"/>
          </p:cNvSpPr>
          <p:nvPr/>
        </p:nvSpPr>
        <p:spPr bwMode="auto">
          <a:xfrm>
            <a:off x="539750" y="0"/>
            <a:ext cx="8129588" cy="914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1435" tIns="45718" rIns="91435" bIns="45718" anchor="ctr"/>
          <a:lstStyle>
            <a:lvl1pPr algn="ctr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algn="ctr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algn="ctr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algn="ctr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algn="ctr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457200" algn="ctr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914400" algn="ctr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1371600" algn="ctr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1828800" algn="ctr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4000" b="1" i="0" u="none" strike="noStrike" kern="1200" cap="none" spc="0" normalizeH="0" baseline="0" noProof="0">
                <a:ln>
                  <a:noFill/>
                </a:ln>
                <a:solidFill>
                  <a:srgbClr val="CC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rPr>
              <a:t>  </a:t>
            </a:r>
            <a:r>
              <a:rPr kumimoji="1" lang="zh-CN" altLang="en-US" sz="4000" b="1" i="0" u="none" strike="noStrike" kern="1200" cap="none" spc="0" normalizeH="0" baseline="0" noProof="0">
                <a:ln>
                  <a:noFill/>
                </a:ln>
                <a:solidFill>
                  <a:srgbClr val="CC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rPr>
              <a:t>第</a:t>
            </a:r>
            <a:r>
              <a:rPr kumimoji="1" lang="en-US" altLang="zh-CN" sz="4000" b="1" i="0" u="none" strike="noStrike" kern="1200" cap="none" spc="0" normalizeH="0" baseline="0" noProof="0">
                <a:ln>
                  <a:noFill/>
                </a:ln>
                <a:solidFill>
                  <a:srgbClr val="CC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华文新魏" panose="02010800040101010101" pitchFamily="2" charset="-122"/>
                <a:cs typeface="+mn-cs"/>
              </a:rPr>
              <a:t>1</a:t>
            </a:r>
            <a:r>
              <a:rPr kumimoji="1" lang="zh-CN" altLang="en-US" sz="4000" b="1" i="0" u="none" strike="noStrike" kern="1200" cap="none" spc="0" normalizeH="0" baseline="0" noProof="0">
                <a:ln>
                  <a:noFill/>
                </a:ln>
                <a:solidFill>
                  <a:srgbClr val="CC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rPr>
              <a:t>章  电路的基本概念与基本定律</a:t>
            </a:r>
            <a:endParaRPr kumimoji="1" lang="zh-CN" altLang="en-US" sz="4000" b="0" i="0" u="none" strike="noStrike" kern="1200" cap="none" spc="0" normalizeH="0" baseline="0" noProof="0">
              <a:ln>
                <a:noFill/>
              </a:ln>
              <a:solidFill>
                <a:srgbClr val="CC0000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华文新魏" panose="02010800040101010101" pitchFamily="2" charset="-122"/>
              <a:ea typeface="华文新魏" panose="02010800040101010101" pitchFamily="2" charset="-122"/>
              <a:cs typeface="+mn-cs"/>
            </a:endParaRPr>
          </a:p>
        </p:txBody>
      </p:sp>
      <p:sp>
        <p:nvSpPr>
          <p:cNvPr id="51203" name="Rectangle 3">
            <a:hlinkClick r:id="rId2" action="ppaction://hlinksldjump"/>
          </p:cNvPr>
          <p:cNvSpPr>
            <a:spLocks noChangeArrowheads="1"/>
          </p:cNvSpPr>
          <p:nvPr/>
        </p:nvSpPr>
        <p:spPr bwMode="auto">
          <a:xfrm>
            <a:off x="1374775" y="1413828"/>
            <a:ext cx="7007225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CC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1435" tIns="45718" rIns="91435" bIns="45718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srgbClr val="00B05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1.1</a:t>
            </a:r>
            <a:r>
              <a:rPr kumimoji="1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 </a:t>
            </a:r>
            <a:r>
              <a: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电路的作用与组成部分</a:t>
            </a:r>
          </a:p>
        </p:txBody>
      </p:sp>
      <p:sp>
        <p:nvSpPr>
          <p:cNvPr id="51204" name="Rectangle 4">
            <a:hlinkClick r:id="" action="ppaction://noaction"/>
          </p:cNvPr>
          <p:cNvSpPr>
            <a:spLocks noChangeArrowheads="1"/>
          </p:cNvSpPr>
          <p:nvPr/>
        </p:nvSpPr>
        <p:spPr bwMode="auto">
          <a:xfrm>
            <a:off x="1371600" y="2023428"/>
            <a:ext cx="38100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CC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1435" tIns="45718" rIns="91435" bIns="45718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srgbClr val="00B05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1.2</a:t>
            </a:r>
            <a:r>
              <a:rPr kumimoji="1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srgbClr val="00B05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 </a:t>
            </a:r>
            <a:r>
              <a: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电路模型</a:t>
            </a:r>
          </a:p>
        </p:txBody>
      </p:sp>
      <p:sp>
        <p:nvSpPr>
          <p:cNvPr id="51205" name="Rectangle 5">
            <a:hlinkClick r:id="" action="ppaction://noaction"/>
          </p:cNvPr>
          <p:cNvSpPr>
            <a:spLocks noChangeArrowheads="1"/>
          </p:cNvSpPr>
          <p:nvPr/>
        </p:nvSpPr>
        <p:spPr bwMode="auto">
          <a:xfrm>
            <a:off x="1371600" y="2577465"/>
            <a:ext cx="4919663" cy="520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CC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1435" tIns="45718" rIns="91435" bIns="45718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srgbClr val="00B05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1.3</a:t>
            </a:r>
            <a:r>
              <a:rPr kumimoji="1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 </a:t>
            </a:r>
            <a:r>
              <a: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电压和电流的</a:t>
            </a:r>
            <a:r>
              <a: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参考方向</a:t>
            </a:r>
            <a:r>
              <a:rPr kumimoji="1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   </a:t>
            </a:r>
          </a:p>
        </p:txBody>
      </p:sp>
      <p:sp>
        <p:nvSpPr>
          <p:cNvPr id="51206" name="Rectangle 6">
            <a:hlinkClick r:id="rId3" action="ppaction://hlinksldjump"/>
          </p:cNvPr>
          <p:cNvSpPr>
            <a:spLocks noChangeArrowheads="1"/>
          </p:cNvSpPr>
          <p:nvPr/>
        </p:nvSpPr>
        <p:spPr bwMode="auto">
          <a:xfrm>
            <a:off x="1371600" y="3145790"/>
            <a:ext cx="31242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CC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1435" tIns="45718" rIns="91435" bIns="45718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srgbClr val="00B05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1.4</a:t>
            </a:r>
            <a:r>
              <a:rPr kumimoji="1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 </a:t>
            </a:r>
            <a:r>
              <a: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欧姆定律</a:t>
            </a:r>
          </a:p>
        </p:txBody>
      </p:sp>
      <p:sp>
        <p:nvSpPr>
          <p:cNvPr id="51207" name="Rectangle 7">
            <a:hlinkClick r:id="rId3" action="ppaction://hlinksldjump"/>
          </p:cNvPr>
          <p:cNvSpPr>
            <a:spLocks noChangeArrowheads="1"/>
          </p:cNvSpPr>
          <p:nvPr/>
        </p:nvSpPr>
        <p:spPr bwMode="auto">
          <a:xfrm>
            <a:off x="1371600" y="3766503"/>
            <a:ext cx="7586663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CC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1435" tIns="45718" rIns="91435" bIns="45718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srgbClr val="00B05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1.5</a:t>
            </a:r>
            <a:r>
              <a:rPr kumimoji="1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 </a:t>
            </a:r>
            <a:r>
              <a: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电源有载工作、开路与短路（</a:t>
            </a:r>
            <a:r>
              <a:rPr kumimoji="1" lang="zh-CN" altLang="en-US" sz="20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电源的工作状态</a:t>
            </a:r>
            <a:r>
              <a: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）</a:t>
            </a:r>
          </a:p>
        </p:txBody>
      </p:sp>
      <p:sp>
        <p:nvSpPr>
          <p:cNvPr id="51208" name="Rectangle 8">
            <a:hlinkClick r:id="rId3" action="ppaction://hlinksldjump"/>
          </p:cNvPr>
          <p:cNvSpPr>
            <a:spLocks noChangeArrowheads="1"/>
          </p:cNvSpPr>
          <p:nvPr/>
        </p:nvSpPr>
        <p:spPr bwMode="auto">
          <a:xfrm>
            <a:off x="1376363" y="4328478"/>
            <a:ext cx="45720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CC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1435" tIns="45718" rIns="91435" bIns="45718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1.6</a:t>
            </a:r>
            <a:r>
              <a:rPr kumimoji="1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 </a:t>
            </a:r>
            <a:r>
              <a: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基尔霍夫定律</a:t>
            </a:r>
          </a:p>
        </p:txBody>
      </p:sp>
      <p:sp>
        <p:nvSpPr>
          <p:cNvPr id="51209" name="Rectangle 9">
            <a:hlinkClick r:id="rId3" action="ppaction://hlinksldjump"/>
          </p:cNvPr>
          <p:cNvSpPr>
            <a:spLocks noChangeArrowheads="1"/>
          </p:cNvSpPr>
          <p:nvPr/>
        </p:nvSpPr>
        <p:spPr bwMode="auto">
          <a:xfrm>
            <a:off x="1371600" y="4938078"/>
            <a:ext cx="61722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CC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1435" tIns="45718" rIns="91435" bIns="45718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1.7</a:t>
            </a:r>
            <a:r>
              <a:rPr kumimoji="1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 </a:t>
            </a:r>
            <a:r>
              <a: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电路中</a:t>
            </a:r>
            <a:r>
              <a: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电位</a:t>
            </a:r>
            <a:r>
              <a: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的概念及计算</a:t>
            </a:r>
          </a:p>
        </p:txBody>
      </p:sp>
      <p:sp>
        <p:nvSpPr>
          <p:cNvPr id="51210" name="Rectangle 10">
            <a:hlinkClick r:id="rId4" action="ppaction://hlinksldjump"/>
          </p:cNvPr>
          <p:cNvSpPr>
            <a:spLocks noChangeArrowheads="1"/>
          </p:cNvSpPr>
          <p:nvPr/>
        </p:nvSpPr>
        <p:spPr bwMode="auto">
          <a:xfrm>
            <a:off x="416878" y="5805170"/>
            <a:ext cx="8375650" cy="3359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CC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1435" tIns="45718" rIns="91435" bIns="45718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16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行楷" panose="02010800040101010101" charset="-122"/>
                <a:ea typeface="华文行楷" panose="02010800040101010101" charset="-122"/>
                <a:cs typeface="华文行楷" panose="02010800040101010101" charset="-122"/>
              </a:rPr>
              <a:t>电路</a:t>
            </a:r>
            <a:r>
              <a:rPr kumimoji="1" lang="zh-CN" altLang="en-US" sz="1600" b="1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行楷" panose="02010800040101010101" charset="-122"/>
                <a:ea typeface="华文行楷" panose="02010800040101010101" charset="-122"/>
                <a:cs typeface="华文行楷" panose="02010800040101010101" charset="-122"/>
              </a:rPr>
              <a:t>：</a:t>
            </a:r>
            <a:r>
              <a:rPr kumimoji="1" lang="zh-CN" altLang="en-US" sz="1600" b="1" i="0" u="none" strike="noStrike" kern="1200" cap="none" spc="0" normalizeH="0" baseline="0" noProof="0">
                <a:ln>
                  <a:noFill/>
                </a:ln>
                <a:solidFill>
                  <a:srgbClr val="CC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行楷" panose="02010800040101010101" charset="-122"/>
                <a:ea typeface="华文行楷" panose="02010800040101010101" charset="-122"/>
                <a:cs typeface="华文行楷" panose="02010800040101010101" charset="-122"/>
              </a:rPr>
              <a:t>电工技术</a:t>
            </a:r>
            <a:r>
              <a:rPr kumimoji="1" lang="zh-CN" altLang="en-US" sz="16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行楷" panose="02010800040101010101" charset="-122"/>
                <a:ea typeface="华文行楷" panose="02010800040101010101" charset="-122"/>
                <a:cs typeface="华文行楷" panose="02010800040101010101" charset="-122"/>
              </a:rPr>
              <a:t>和</a:t>
            </a:r>
            <a:r>
              <a:rPr kumimoji="1" lang="zh-CN" altLang="en-US" sz="1600" b="1" i="0" u="none" strike="noStrike" kern="1200" cap="none" spc="0" normalizeH="0" baseline="0" noProof="0">
                <a:ln>
                  <a:noFill/>
                </a:ln>
                <a:solidFill>
                  <a:srgbClr val="CC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行楷" panose="02010800040101010101" charset="-122"/>
                <a:ea typeface="华文行楷" panose="02010800040101010101" charset="-122"/>
                <a:cs typeface="华文行楷" panose="02010800040101010101" charset="-122"/>
              </a:rPr>
              <a:t>电子技术</a:t>
            </a:r>
            <a:r>
              <a:rPr kumimoji="1" lang="zh-CN" altLang="en-US" sz="16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行楷" panose="02010800040101010101" charset="-122"/>
                <a:ea typeface="华文行楷" panose="02010800040101010101" charset="-122"/>
                <a:cs typeface="华文行楷" panose="02010800040101010101" charset="-122"/>
              </a:rPr>
              <a:t>的基础；为学习</a:t>
            </a:r>
            <a:r>
              <a:rPr kumimoji="1" lang="zh-CN" altLang="en-US" sz="1600" b="1" i="0" u="none" strike="noStrike" kern="1200" cap="none" spc="0" normalizeH="0" baseline="0" noProof="0">
                <a:ln>
                  <a:noFill/>
                </a:ln>
                <a:solidFill>
                  <a:srgbClr val="CC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行楷" panose="02010800040101010101" charset="-122"/>
                <a:ea typeface="华文行楷" panose="02010800040101010101" charset="-122"/>
                <a:cs typeface="华文行楷" panose="02010800040101010101" charset="-122"/>
              </a:rPr>
              <a:t>电子电路</a:t>
            </a:r>
            <a:r>
              <a:rPr kumimoji="1" lang="zh-CN" altLang="en-US" sz="16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行楷" panose="02010800040101010101" charset="-122"/>
                <a:ea typeface="华文行楷" panose="02010800040101010101" charset="-122"/>
                <a:cs typeface="华文行楷" panose="02010800040101010101" charset="-122"/>
              </a:rPr>
              <a:t>、</a:t>
            </a:r>
            <a:r>
              <a:rPr kumimoji="1" lang="zh-CN" altLang="en-US" sz="1600" b="1" i="0" u="none" strike="noStrike" kern="1200" cap="none" spc="0" normalizeH="0" baseline="0" noProof="0">
                <a:ln>
                  <a:noFill/>
                </a:ln>
                <a:solidFill>
                  <a:srgbClr val="CC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行楷" panose="02010800040101010101" charset="-122"/>
                <a:ea typeface="华文行楷" panose="02010800040101010101" charset="-122"/>
                <a:cs typeface="华文行楷" panose="02010800040101010101" charset="-122"/>
              </a:rPr>
              <a:t>电机电路</a:t>
            </a:r>
            <a:r>
              <a:rPr kumimoji="1" lang="zh-CN" altLang="en-US" sz="16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行楷" panose="02010800040101010101" charset="-122"/>
                <a:ea typeface="华文行楷" panose="02010800040101010101" charset="-122"/>
                <a:cs typeface="华文行楷" panose="02010800040101010101" charset="-122"/>
              </a:rPr>
              <a:t>及</a:t>
            </a:r>
            <a:r>
              <a:rPr kumimoji="1" lang="zh-CN" altLang="en-US" sz="1600" b="1" i="0" u="none" strike="noStrike" kern="1200" cap="none" spc="0" normalizeH="0" baseline="0" noProof="0">
                <a:ln>
                  <a:noFill/>
                </a:ln>
                <a:solidFill>
                  <a:srgbClr val="CC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行楷" panose="02010800040101010101" charset="-122"/>
                <a:ea typeface="华文行楷" panose="02010800040101010101" charset="-122"/>
                <a:cs typeface="华文行楷" panose="02010800040101010101" charset="-122"/>
              </a:rPr>
              <a:t>控制与测量电路</a:t>
            </a:r>
            <a:r>
              <a:rPr kumimoji="1" lang="zh-CN" altLang="en-US" sz="16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行楷" panose="02010800040101010101" charset="-122"/>
                <a:ea typeface="华文行楷" panose="02010800040101010101" charset="-122"/>
                <a:cs typeface="华文行楷" panose="02010800040101010101" charset="-122"/>
              </a:rPr>
              <a:t>打基础。</a:t>
            </a:r>
          </a:p>
        </p:txBody>
      </p:sp>
      <p:sp>
        <p:nvSpPr>
          <p:cNvPr id="51211" name="Rectangle 11">
            <a:hlinkClick r:id="rId4" action="ppaction://hlinksldjump"/>
          </p:cNvPr>
          <p:cNvSpPr>
            <a:spLocks noChangeArrowheads="1"/>
          </p:cNvSpPr>
          <p:nvPr/>
        </p:nvSpPr>
        <p:spPr bwMode="auto">
          <a:xfrm>
            <a:off x="396240" y="6253163"/>
            <a:ext cx="8375650" cy="582295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CC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1435" tIns="45718" rIns="91435" bIns="45718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16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行楷" panose="02010800040101010101" charset="-122"/>
                <a:ea typeface="华文行楷" panose="02010800040101010101" charset="-122"/>
                <a:cs typeface="华文行楷" panose="02010800040101010101" charset="-122"/>
              </a:rPr>
              <a:t>本章内容：</a:t>
            </a:r>
            <a:r>
              <a:rPr kumimoji="1" lang="zh-CN" altLang="en-US" sz="1600" b="1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行楷" panose="02010800040101010101" charset="-122"/>
                <a:ea typeface="华文行楷" panose="02010800040101010101" charset="-122"/>
                <a:cs typeface="华文行楷" panose="02010800040101010101" charset="-122"/>
              </a:rPr>
              <a:t>分析与设计电路</a:t>
            </a:r>
            <a:r>
              <a:rPr kumimoji="1" lang="zh-CN" altLang="en-US" sz="16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行楷" panose="02010800040101010101" charset="-122"/>
                <a:ea typeface="华文行楷" panose="02010800040101010101" charset="-122"/>
                <a:cs typeface="华文行楷" panose="02010800040101010101" charset="-122"/>
              </a:rPr>
              <a:t>的基础；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16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行楷" panose="02010800040101010101" charset="-122"/>
                <a:ea typeface="华文行楷" panose="02010800040101010101" charset="-122"/>
                <a:cs typeface="华文行楷" panose="02010800040101010101" charset="-122"/>
              </a:rPr>
              <a:t> </a:t>
            </a:r>
            <a:r>
              <a:rPr kumimoji="1" lang="en-US" altLang="zh-CN" sz="16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行楷" panose="02010800040101010101" charset="-122"/>
                <a:ea typeface="华文行楷" panose="02010800040101010101" charset="-122"/>
                <a:cs typeface="华文行楷" panose="02010800040101010101" charset="-122"/>
              </a:rPr>
              <a:t>                   </a:t>
            </a:r>
            <a:r>
              <a:rPr kumimoji="1" lang="zh-CN" altLang="en-US" sz="1600" b="1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行楷" panose="02010800040101010101" charset="-122"/>
                <a:ea typeface="华文行楷" panose="02010800040101010101" charset="-122"/>
                <a:cs typeface="华文行楷" panose="02010800040101010101" charset="-122"/>
              </a:rPr>
              <a:t>部分内容</a:t>
            </a:r>
            <a:r>
              <a:rPr kumimoji="1" lang="zh-CN" altLang="en-US" sz="16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行楷" panose="02010800040101010101" charset="-122"/>
                <a:ea typeface="华文行楷" panose="02010800040101010101" charset="-122"/>
                <a:cs typeface="华文行楷" panose="02010800040101010101" charset="-122"/>
              </a:rPr>
              <a:t>物理课中讲过，列入本书是为了进一步</a:t>
            </a:r>
            <a:r>
              <a:rPr kumimoji="1" lang="zh-CN" altLang="en-US" sz="1600" b="1" i="0" u="none" strike="noStrike" kern="1200" cap="none" spc="0" normalizeH="0" baseline="0" noProof="0">
                <a:ln>
                  <a:noFill/>
                </a:ln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行楷" panose="02010800040101010101" charset="-122"/>
                <a:ea typeface="华文行楷" panose="02010800040101010101" charset="-122"/>
                <a:cs typeface="华文行楷" panose="02010800040101010101" charset="-122"/>
              </a:rPr>
              <a:t>巩固加深</a:t>
            </a:r>
            <a:r>
              <a:rPr kumimoji="1" lang="zh-CN" altLang="en-US" sz="16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行楷" panose="02010800040101010101" charset="-122"/>
                <a:ea typeface="华文行楷" panose="02010800040101010101" charset="-122"/>
                <a:cs typeface="华文行楷" panose="02010800040101010101" charset="-122"/>
              </a:rPr>
              <a:t>，</a:t>
            </a:r>
            <a:r>
              <a:rPr kumimoji="1" lang="zh-CN" altLang="en-US" sz="1600" b="1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行楷" panose="02010800040101010101" charset="-122"/>
                <a:ea typeface="华文行楷" panose="02010800040101010101" charset="-122"/>
                <a:cs typeface="华文行楷" panose="02010800040101010101" charset="-122"/>
              </a:rPr>
              <a:t>充分应用和扩展</a:t>
            </a:r>
            <a:r>
              <a:rPr kumimoji="1" lang="zh-CN" altLang="en-US" sz="16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行楷" panose="02010800040101010101" charset="-122"/>
                <a:ea typeface="华文行楷" panose="02010800040101010101" charset="-122"/>
                <a:cs typeface="华文行楷" panose="02010800040101010101" charset="-122"/>
              </a:rPr>
              <a:t>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1" name="Rectangle 2"/>
          <p:cNvSpPr/>
          <p:nvPr/>
        </p:nvSpPr>
        <p:spPr>
          <a:xfrm>
            <a:off x="1828800" y="1981200"/>
            <a:ext cx="7086600" cy="2971800"/>
          </a:xfrm>
          <a:prstGeom prst="rect">
            <a:avLst/>
          </a:prstGeom>
          <a:noFill/>
          <a:ln w="9525">
            <a:noFill/>
          </a:ln>
        </p:spPr>
        <p:txBody>
          <a:bodyPr lIns="91435" tIns="45718" rIns="91435" bIns="45718" anchor="t" anchorCtr="0"/>
          <a:lstStyle/>
          <a:p>
            <a:pPr marL="342900" indent="-342900">
              <a:spcBef>
                <a:spcPct val="20000"/>
              </a:spcBef>
              <a:buChar char="•"/>
            </a:pPr>
            <a:endParaRPr lang="en-US" altLang="zh-CN" sz="4100" b="1" dirty="0">
              <a:latin typeface="楷体_GB2312" pitchFamily="49" charset="-122"/>
              <a:ea typeface="楷体_GB2312" pitchFamily="49" charset="-122"/>
            </a:endParaRPr>
          </a:p>
          <a:p>
            <a:pPr marL="342900" indent="-342900">
              <a:spcBef>
                <a:spcPct val="20000"/>
              </a:spcBef>
              <a:buChar char="•"/>
            </a:pPr>
            <a:endParaRPr lang="en-US" altLang="zh-CN" sz="4100" b="1" i="1" dirty="0">
              <a:latin typeface="楷体_GB2312" pitchFamily="49" charset="-122"/>
              <a:ea typeface="楷体_GB2312" pitchFamily="49" charset="-122"/>
            </a:endParaRPr>
          </a:p>
          <a:p>
            <a:pPr marL="342900" indent="-342900">
              <a:spcBef>
                <a:spcPct val="20000"/>
              </a:spcBef>
              <a:buChar char="•"/>
            </a:pPr>
            <a:endParaRPr lang="en-US" altLang="zh-CN" sz="4100" b="1" dirty="0"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4099" name="Rectangle 3"/>
          <p:cNvSpPr>
            <a:spLocks noChangeArrowheads="1"/>
          </p:cNvSpPr>
          <p:nvPr/>
        </p:nvSpPr>
        <p:spPr bwMode="auto">
          <a:xfrm>
            <a:off x="539750" y="1447800"/>
            <a:ext cx="8382000" cy="44811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FF33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1435" tIns="45718" rIns="91435" bIns="45718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本章要求</a:t>
            </a: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:</a:t>
            </a:r>
          </a:p>
          <a:p>
            <a:pPr marL="0" marR="0" lvl="0" indent="0" algn="l" defTabSz="914400" rtl="0" eaLnBrk="1" fontAlgn="base" latinLnBrk="0" hangingPunct="1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    1.</a:t>
            </a: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理解</a:t>
            </a: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电压与电流参考方向的意义；</a:t>
            </a:r>
          </a:p>
          <a:p>
            <a:pPr marL="0" marR="0" lvl="0" indent="0" algn="l" defTabSz="914400" rtl="0" eaLnBrk="1" fontAlgn="base" latinLnBrk="0" hangingPunct="1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         (</a:t>
            </a:r>
            <a:r>
              <a:rPr kumimoji="1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参考方向与实际方向的关系</a:t>
            </a:r>
            <a:r>
              <a:rPr kumimoji="1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:</a:t>
            </a:r>
            <a:r>
              <a:rPr kumimoji="1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一致</a:t>
            </a:r>
            <a:r>
              <a:rPr kumimoji="1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;</a:t>
            </a:r>
            <a:r>
              <a:rPr kumimoji="1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相反</a:t>
            </a:r>
            <a:r>
              <a:rPr kumimoji="1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)</a:t>
            </a:r>
            <a:endParaRPr kumimoji="1" lang="en-US" altLang="zh-CN" sz="1800" b="1" i="1" u="none" strike="noStrike" kern="1200" cap="none" spc="0" normalizeH="0" baseline="0" noProof="0" dirty="0">
              <a:ln>
                <a:noFill/>
              </a:ln>
              <a:solidFill>
                <a:srgbClr val="CC0000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宋体" panose="02010600030101010101" pitchFamily="2" charset="-122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       2. </a:t>
            </a: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理解</a:t>
            </a: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电路的基本定律并能正确应用；</a:t>
            </a:r>
          </a:p>
          <a:p>
            <a:pPr marL="0" marR="0" lvl="0" indent="0" algn="l" defTabSz="914400" rtl="0" eaLnBrk="1" fontAlgn="base" latinLnBrk="0" hangingPunct="1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         (</a:t>
            </a:r>
            <a:r>
              <a:rPr kumimoji="1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欧姆定律；基尔霍夫定律</a:t>
            </a:r>
            <a:r>
              <a:rPr kumimoji="1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)</a:t>
            </a:r>
          </a:p>
          <a:p>
            <a:pPr marL="0" marR="0" lvl="0" indent="0" algn="l" defTabSz="914400" rtl="0" eaLnBrk="1" fontAlgn="base" latinLnBrk="0" hangingPunct="1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       3. </a:t>
            </a: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了解</a:t>
            </a: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电路的有载工作、开路与短路状态，</a:t>
            </a:r>
          </a:p>
          <a:p>
            <a:pPr marL="0" marR="0" lvl="0" indent="0" algn="l" defTabSz="914400" rtl="0" eaLnBrk="1" fontAlgn="base" latinLnBrk="0" hangingPunct="1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  </a:t>
            </a: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    </a:t>
            </a: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理解</a:t>
            </a: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电功率和额定值的意义；</a:t>
            </a:r>
          </a:p>
          <a:p>
            <a:pPr marL="0" marR="0" lvl="0" indent="0" algn="l" defTabSz="914400" rtl="0" eaLnBrk="1" fontAlgn="base" latinLnBrk="0" hangingPunct="1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       4. </a:t>
            </a: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会</a:t>
            </a: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计算电路中各点的电位。</a:t>
            </a:r>
          </a:p>
        </p:txBody>
      </p:sp>
      <p:graphicFrame>
        <p:nvGraphicFramePr>
          <p:cNvPr id="5123" name="Object 4"/>
          <p:cNvGraphicFramePr/>
          <p:nvPr/>
        </p:nvGraphicFramePr>
        <p:xfrm>
          <a:off x="7010400" y="4519613"/>
          <a:ext cx="1447800" cy="11953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11868150" imgH="9801225" progId="">
                  <p:embed/>
                </p:oleObj>
              </mc:Choice>
              <mc:Fallback>
                <p:oleObj r:id="rId2" imgW="11868150" imgH="9801225" progId="">
                  <p:embed/>
                  <p:pic>
                    <p:nvPicPr>
                      <p:cNvPr id="0" name="图片 2048" descr="image4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7010400" y="4519613"/>
                        <a:ext cx="1447800" cy="1195387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124" name="Object 5"/>
          <p:cNvGraphicFramePr/>
          <p:nvPr/>
        </p:nvGraphicFramePr>
        <p:xfrm>
          <a:off x="5508625" y="5589588"/>
          <a:ext cx="1262063" cy="10461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4" imgW="24279225" imgH="20116800" progId="">
                  <p:embed/>
                </p:oleObj>
              </mc:Choice>
              <mc:Fallback>
                <p:oleObj r:id="rId4" imgW="24279225" imgH="20116800" progId="">
                  <p:embed/>
                  <p:pic>
                    <p:nvPicPr>
                      <p:cNvPr id="0" name="图片 2049" descr="image5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5508625" y="5589588"/>
                        <a:ext cx="1262063" cy="1046162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4102" name="Rectangle 6"/>
          <p:cNvSpPr>
            <a:spLocks noChangeArrowheads="1"/>
          </p:cNvSpPr>
          <p:nvPr/>
        </p:nvSpPr>
        <p:spPr bwMode="auto">
          <a:xfrm>
            <a:off x="327025" y="441325"/>
            <a:ext cx="8435975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FF33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1435" tIns="45718" rIns="91435" bIns="45718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4000" b="1" i="0" u="none" strike="noStrike" kern="1200" cap="none" spc="0" normalizeH="0" baseline="0" noProof="0">
                <a:ln>
                  <a:noFill/>
                </a:ln>
                <a:solidFill>
                  <a:srgbClr val="CC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rPr>
              <a:t>第</a:t>
            </a:r>
            <a:r>
              <a:rPr kumimoji="1" lang="en-US" altLang="zh-CN" sz="4000" b="1" i="0" u="none" strike="noStrike" kern="1200" cap="none" spc="0" normalizeH="0" baseline="0" noProof="0">
                <a:ln>
                  <a:noFill/>
                </a:ln>
                <a:solidFill>
                  <a:srgbClr val="CC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华文新魏" panose="02010800040101010101" pitchFamily="2" charset="-122"/>
                <a:cs typeface="+mn-cs"/>
              </a:rPr>
              <a:t>1</a:t>
            </a:r>
            <a:r>
              <a:rPr kumimoji="1" lang="zh-CN" altLang="en-US" sz="4000" b="1" i="0" u="none" strike="noStrike" kern="1200" cap="none" spc="0" normalizeH="0" baseline="0" noProof="0">
                <a:ln>
                  <a:noFill/>
                </a:ln>
                <a:solidFill>
                  <a:srgbClr val="CC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rPr>
              <a:t>章  电路的基本概念与基本定律</a:t>
            </a:r>
          </a:p>
        </p:txBody>
      </p:sp>
      <p:grpSp>
        <p:nvGrpSpPr>
          <p:cNvPr id="5126" name="Group 7"/>
          <p:cNvGrpSpPr/>
          <p:nvPr/>
        </p:nvGrpSpPr>
        <p:grpSpPr>
          <a:xfrm>
            <a:off x="457200" y="1200150"/>
            <a:ext cx="8275638" cy="171450"/>
            <a:chOff x="395" y="624"/>
            <a:chExt cx="5213" cy="108"/>
          </a:xfrm>
        </p:grpSpPr>
        <p:pic>
          <p:nvPicPr>
            <p:cNvPr id="5127" name="Picture 8" descr="Green and Black Diamond"/>
            <p:cNvPicPr>
              <a:picLocks noChangeAspect="1"/>
            </p:cNvPicPr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447" y="624"/>
              <a:ext cx="120" cy="108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5128" name="Picture 9" descr="Green and Black Diamond"/>
            <p:cNvPicPr>
              <a:picLocks noChangeAspect="1"/>
            </p:cNvPicPr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560" y="624"/>
              <a:ext cx="119" cy="108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5129" name="Picture 10" descr="Green and Black Diamond"/>
            <p:cNvPicPr>
              <a:picLocks noChangeAspect="1"/>
            </p:cNvPicPr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666" y="624"/>
              <a:ext cx="119" cy="108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5130" name="Picture 11" descr="Green and Black Diamond"/>
            <p:cNvPicPr>
              <a:picLocks noChangeAspect="1"/>
            </p:cNvPicPr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765" y="624"/>
              <a:ext cx="119" cy="108"/>
            </a:xfrm>
            <a:prstGeom prst="rect">
              <a:avLst/>
            </a:prstGeom>
            <a:noFill/>
            <a:ln w="9525">
              <a:noFill/>
            </a:ln>
          </p:spPr>
        </p:pic>
        <p:grpSp>
          <p:nvGrpSpPr>
            <p:cNvPr id="5131" name="Group 12"/>
            <p:cNvGrpSpPr/>
            <p:nvPr/>
          </p:nvGrpSpPr>
          <p:grpSpPr>
            <a:xfrm>
              <a:off x="395" y="624"/>
              <a:ext cx="331" cy="108"/>
              <a:chOff x="395" y="624"/>
              <a:chExt cx="331" cy="108"/>
            </a:xfrm>
          </p:grpSpPr>
          <p:pic>
            <p:nvPicPr>
              <p:cNvPr id="5132" name="Picture 13" descr="Green and Black Diamond"/>
              <p:cNvPicPr>
                <a:picLocks noChangeAspect="1"/>
              </p:cNvPicPr>
              <p:nvPr/>
            </p:nvPicPr>
            <p:blipFill>
              <a:blip r:embed="rId6" cstate="print"/>
              <a:stretch>
                <a:fillRect/>
              </a:stretch>
            </p:blipFill>
            <p:spPr>
              <a:xfrm>
                <a:off x="395" y="624"/>
                <a:ext cx="119" cy="108"/>
              </a:xfrm>
              <a:prstGeom prst="rect">
                <a:avLst/>
              </a:prstGeom>
              <a:noFill/>
              <a:ln w="9525">
                <a:noFill/>
              </a:ln>
            </p:spPr>
          </p:pic>
          <p:pic>
            <p:nvPicPr>
              <p:cNvPr id="5133" name="Picture 14" descr="Green and Black Diamond"/>
              <p:cNvPicPr>
                <a:picLocks noChangeAspect="1"/>
              </p:cNvPicPr>
              <p:nvPr/>
            </p:nvPicPr>
            <p:blipFill>
              <a:blip r:embed="rId6" cstate="print"/>
              <a:stretch>
                <a:fillRect/>
              </a:stretch>
            </p:blipFill>
            <p:spPr>
              <a:xfrm>
                <a:off x="494" y="624"/>
                <a:ext cx="119" cy="108"/>
              </a:xfrm>
              <a:prstGeom prst="rect">
                <a:avLst/>
              </a:prstGeom>
              <a:noFill/>
              <a:ln w="9525">
                <a:noFill/>
              </a:ln>
            </p:spPr>
          </p:pic>
          <p:pic>
            <p:nvPicPr>
              <p:cNvPr id="5134" name="Picture 15" descr="Green and Black Diamond"/>
              <p:cNvPicPr>
                <a:picLocks noChangeAspect="1"/>
              </p:cNvPicPr>
              <p:nvPr/>
            </p:nvPicPr>
            <p:blipFill>
              <a:blip r:embed="rId6" cstate="print"/>
              <a:stretch>
                <a:fillRect/>
              </a:stretch>
            </p:blipFill>
            <p:spPr>
              <a:xfrm>
                <a:off x="607" y="624"/>
                <a:ext cx="119" cy="108"/>
              </a:xfrm>
              <a:prstGeom prst="rect">
                <a:avLst/>
              </a:prstGeom>
              <a:noFill/>
              <a:ln w="9525">
                <a:noFill/>
              </a:ln>
            </p:spPr>
          </p:pic>
        </p:grpSp>
        <p:pic>
          <p:nvPicPr>
            <p:cNvPr id="5135" name="Picture 16" descr="Green and Black Diamond"/>
            <p:cNvPicPr>
              <a:picLocks noChangeAspect="1"/>
            </p:cNvPicPr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812" y="624"/>
              <a:ext cx="119" cy="108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5136" name="Picture 17" descr="Green and Black Diamond"/>
            <p:cNvPicPr>
              <a:picLocks noChangeAspect="1"/>
            </p:cNvPicPr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924" y="624"/>
              <a:ext cx="119" cy="108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5137" name="Picture 18" descr="Green and Black Diamond"/>
            <p:cNvPicPr>
              <a:picLocks noChangeAspect="1"/>
            </p:cNvPicPr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030" y="624"/>
              <a:ext cx="119" cy="108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5138" name="Picture 19" descr="Green and Black Diamond"/>
            <p:cNvPicPr>
              <a:picLocks noChangeAspect="1"/>
            </p:cNvPicPr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129" y="624"/>
              <a:ext cx="120" cy="108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5139" name="Picture 20" descr="Green and Black Diamond"/>
            <p:cNvPicPr>
              <a:picLocks noChangeAspect="1"/>
            </p:cNvPicPr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242" y="624"/>
              <a:ext cx="119" cy="108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5140" name="Picture 21" descr="Green and Black Diamond"/>
            <p:cNvPicPr>
              <a:picLocks noChangeAspect="1"/>
            </p:cNvPicPr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713" y="624"/>
              <a:ext cx="119" cy="108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5141" name="Picture 22" descr="Green and Black Diamond"/>
            <p:cNvPicPr>
              <a:picLocks noChangeAspect="1"/>
            </p:cNvPicPr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348" y="624"/>
              <a:ext cx="119" cy="108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5142" name="Picture 23" descr="Green and Black Diamond"/>
            <p:cNvPicPr>
              <a:picLocks noChangeAspect="1"/>
            </p:cNvPicPr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878" y="624"/>
              <a:ext cx="112" cy="102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5143" name="Picture 24" descr="Green and Black Diamond"/>
            <p:cNvPicPr>
              <a:picLocks noChangeAspect="1"/>
            </p:cNvPicPr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984" y="624"/>
              <a:ext cx="112" cy="102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5144" name="Picture 25" descr="Green and Black Diamond"/>
            <p:cNvPicPr>
              <a:picLocks noChangeAspect="1"/>
            </p:cNvPicPr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083" y="624"/>
              <a:ext cx="112" cy="102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5145" name="Picture 26" descr="Green and Black Diamond"/>
            <p:cNvPicPr>
              <a:picLocks noChangeAspect="1"/>
            </p:cNvPicPr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195" y="624"/>
              <a:ext cx="113" cy="102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5146" name="Picture 27" descr="Green and Black Diamond"/>
            <p:cNvPicPr>
              <a:picLocks noChangeAspect="1"/>
            </p:cNvPicPr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301" y="624"/>
              <a:ext cx="113" cy="102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5147" name="Picture 28" descr="Green and Black Diamond"/>
            <p:cNvPicPr>
              <a:picLocks noChangeAspect="1"/>
            </p:cNvPicPr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401" y="624"/>
              <a:ext cx="112" cy="102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5148" name="Picture 29" descr="Green and Black Diamond"/>
            <p:cNvPicPr>
              <a:picLocks noChangeAspect="1"/>
            </p:cNvPicPr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513" y="624"/>
              <a:ext cx="113" cy="102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5149" name="Picture 30" descr="Green and Black Diamond"/>
            <p:cNvPicPr>
              <a:picLocks noChangeAspect="1"/>
            </p:cNvPicPr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718" y="624"/>
              <a:ext cx="113" cy="102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5150" name="Picture 31" descr="Green and Black Diamond"/>
            <p:cNvPicPr>
              <a:picLocks noChangeAspect="1"/>
            </p:cNvPicPr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831" y="624"/>
              <a:ext cx="112" cy="102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5151" name="Picture 32" descr="Green and Black Diamond"/>
            <p:cNvPicPr>
              <a:picLocks noChangeAspect="1"/>
            </p:cNvPicPr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937" y="624"/>
              <a:ext cx="112" cy="102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5152" name="Picture 33" descr="Green and Black Diamond"/>
            <p:cNvPicPr>
              <a:picLocks noChangeAspect="1"/>
            </p:cNvPicPr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3036" y="624"/>
              <a:ext cx="113" cy="102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5153" name="Picture 34" descr="Green and Black Diamond"/>
            <p:cNvPicPr>
              <a:picLocks noChangeAspect="1"/>
            </p:cNvPicPr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3149" y="624"/>
              <a:ext cx="112" cy="102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5154" name="Picture 35" descr="Green and Black Diamond"/>
            <p:cNvPicPr>
              <a:picLocks noChangeAspect="1"/>
            </p:cNvPicPr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3354" y="624"/>
              <a:ext cx="112" cy="102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5155" name="Picture 36" descr="Green and Black Diamond"/>
            <p:cNvPicPr>
              <a:picLocks noChangeAspect="1"/>
            </p:cNvPicPr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3466" y="624"/>
              <a:ext cx="113" cy="102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5156" name="Picture 37" descr="Green and Black Diamond"/>
            <p:cNvPicPr>
              <a:picLocks noChangeAspect="1"/>
            </p:cNvPicPr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3572" y="624"/>
              <a:ext cx="113" cy="102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5157" name="Picture 38" descr="Green and Black Diamond"/>
            <p:cNvPicPr>
              <a:picLocks noChangeAspect="1"/>
            </p:cNvPicPr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3672" y="624"/>
              <a:ext cx="112" cy="102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5158" name="Picture 39" descr="Green and Black Diamond"/>
            <p:cNvPicPr>
              <a:picLocks noChangeAspect="1"/>
            </p:cNvPicPr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619" y="624"/>
              <a:ext cx="113" cy="102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5159" name="Picture 40" descr="Green and Black Diamond"/>
            <p:cNvPicPr>
              <a:picLocks noChangeAspect="1"/>
            </p:cNvPicPr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3255" y="624"/>
              <a:ext cx="112" cy="102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5160" name="Picture 41" descr="Green and Black Diamond"/>
            <p:cNvPicPr>
              <a:picLocks noChangeAspect="1"/>
            </p:cNvPicPr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3784" y="624"/>
              <a:ext cx="113" cy="102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5161" name="Picture 42" descr="Green and Black Diamond"/>
            <p:cNvPicPr>
              <a:picLocks noChangeAspect="1"/>
            </p:cNvPicPr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3890" y="624"/>
              <a:ext cx="112" cy="102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5162" name="Picture 43" descr="Green and Black Diamond"/>
            <p:cNvPicPr>
              <a:picLocks noChangeAspect="1"/>
            </p:cNvPicPr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3989" y="624"/>
              <a:ext cx="113" cy="102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5163" name="Picture 44" descr="Green and Black Diamond"/>
            <p:cNvPicPr>
              <a:picLocks noChangeAspect="1"/>
            </p:cNvPicPr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4102" y="624"/>
              <a:ext cx="112" cy="102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5164" name="Picture 45" descr="Green and Black Diamond"/>
            <p:cNvPicPr>
              <a:picLocks noChangeAspect="1"/>
            </p:cNvPicPr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4208" y="624"/>
              <a:ext cx="112" cy="102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5165" name="Picture 46" descr="Green and Black Diamond"/>
            <p:cNvPicPr>
              <a:picLocks noChangeAspect="1"/>
            </p:cNvPicPr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4307" y="624"/>
              <a:ext cx="112" cy="102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5166" name="Picture 47" descr="Green and Black Diamond"/>
            <p:cNvPicPr>
              <a:picLocks noChangeAspect="1"/>
            </p:cNvPicPr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4419" y="624"/>
              <a:ext cx="113" cy="102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5167" name="Picture 48" descr="Green and Black Diamond"/>
            <p:cNvPicPr>
              <a:picLocks noChangeAspect="1"/>
            </p:cNvPicPr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4625" y="624"/>
              <a:ext cx="112" cy="102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5168" name="Picture 49" descr="Green and Black Diamond"/>
            <p:cNvPicPr>
              <a:picLocks noChangeAspect="1"/>
            </p:cNvPicPr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4737" y="624"/>
              <a:ext cx="113" cy="102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5169" name="Picture 50" descr="Green and Black Diamond"/>
            <p:cNvPicPr>
              <a:picLocks noChangeAspect="1"/>
            </p:cNvPicPr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4843" y="624"/>
              <a:ext cx="113" cy="102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5170" name="Picture 51" descr="Green and Black Diamond"/>
            <p:cNvPicPr>
              <a:picLocks noChangeAspect="1"/>
            </p:cNvPicPr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4942" y="624"/>
              <a:ext cx="113" cy="102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5171" name="Picture 52" descr="Green and Black Diamond"/>
            <p:cNvPicPr>
              <a:picLocks noChangeAspect="1"/>
            </p:cNvPicPr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5055" y="624"/>
              <a:ext cx="112" cy="102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5172" name="Picture 53" descr="Green and Black Diamond"/>
            <p:cNvPicPr>
              <a:picLocks noChangeAspect="1"/>
            </p:cNvPicPr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4525" y="624"/>
              <a:ext cx="113" cy="102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5173" name="Picture 54" descr="Green and Black Diamond"/>
            <p:cNvPicPr>
              <a:picLocks noChangeAspect="1"/>
            </p:cNvPicPr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5161" y="624"/>
              <a:ext cx="119" cy="108"/>
            </a:xfrm>
            <a:prstGeom prst="rect">
              <a:avLst/>
            </a:prstGeom>
            <a:noFill/>
            <a:ln w="9525">
              <a:noFill/>
            </a:ln>
          </p:spPr>
        </p:pic>
        <p:grpSp>
          <p:nvGrpSpPr>
            <p:cNvPr id="5174" name="Group 55"/>
            <p:cNvGrpSpPr/>
            <p:nvPr/>
          </p:nvGrpSpPr>
          <p:grpSpPr>
            <a:xfrm>
              <a:off x="5277" y="624"/>
              <a:ext cx="331" cy="108"/>
              <a:chOff x="395" y="624"/>
              <a:chExt cx="331" cy="108"/>
            </a:xfrm>
          </p:grpSpPr>
          <p:pic>
            <p:nvPicPr>
              <p:cNvPr id="5175" name="Picture 56" descr="Green and Black Diamond"/>
              <p:cNvPicPr>
                <a:picLocks noChangeAspect="1"/>
              </p:cNvPicPr>
              <p:nvPr/>
            </p:nvPicPr>
            <p:blipFill>
              <a:blip r:embed="rId6" cstate="print"/>
              <a:stretch>
                <a:fillRect/>
              </a:stretch>
            </p:blipFill>
            <p:spPr>
              <a:xfrm>
                <a:off x="395" y="624"/>
                <a:ext cx="119" cy="108"/>
              </a:xfrm>
              <a:prstGeom prst="rect">
                <a:avLst/>
              </a:prstGeom>
              <a:noFill/>
              <a:ln w="9525">
                <a:noFill/>
              </a:ln>
            </p:spPr>
          </p:pic>
          <p:pic>
            <p:nvPicPr>
              <p:cNvPr id="5176" name="Picture 57" descr="Green and Black Diamond"/>
              <p:cNvPicPr>
                <a:picLocks noChangeAspect="1"/>
              </p:cNvPicPr>
              <p:nvPr/>
            </p:nvPicPr>
            <p:blipFill>
              <a:blip r:embed="rId6" cstate="print"/>
              <a:stretch>
                <a:fillRect/>
              </a:stretch>
            </p:blipFill>
            <p:spPr>
              <a:xfrm>
                <a:off x="494" y="624"/>
                <a:ext cx="119" cy="108"/>
              </a:xfrm>
              <a:prstGeom prst="rect">
                <a:avLst/>
              </a:prstGeom>
              <a:noFill/>
              <a:ln w="9525">
                <a:noFill/>
              </a:ln>
            </p:spPr>
          </p:pic>
          <p:pic>
            <p:nvPicPr>
              <p:cNvPr id="5177" name="Picture 58" descr="Green and Black Diamond"/>
              <p:cNvPicPr>
                <a:picLocks noChangeAspect="1"/>
              </p:cNvPicPr>
              <p:nvPr/>
            </p:nvPicPr>
            <p:blipFill>
              <a:blip r:embed="rId6" cstate="print"/>
              <a:stretch>
                <a:fillRect/>
              </a:stretch>
            </p:blipFill>
            <p:spPr>
              <a:xfrm>
                <a:off x="607" y="624"/>
                <a:ext cx="119" cy="108"/>
              </a:xfrm>
              <a:prstGeom prst="rect">
                <a:avLst/>
              </a:prstGeom>
              <a:noFill/>
              <a:ln w="9525">
                <a:noFill/>
              </a:ln>
            </p:spPr>
          </p:pic>
        </p:grp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ChangeArrowheads="1"/>
          </p:cNvSpPr>
          <p:nvPr/>
        </p:nvSpPr>
        <p:spPr bwMode="auto">
          <a:xfrm>
            <a:off x="1447800" y="457200"/>
            <a:ext cx="61722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0" tIns="46035" rIns="92070" bIns="46035" anchor="ctr"/>
          <a:lstStyle>
            <a:lvl1pPr algn="ctr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algn="ctr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algn="ctr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algn="ctr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algn="ctr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457200" algn="ctr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914400" algn="ctr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1371600" algn="ctr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1828800" algn="ctr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3600" b="1" i="0" u="none" strike="noStrike" kern="1200" cap="none" spc="0" normalizeH="0" baseline="0" noProof="0">
                <a:ln>
                  <a:noFill/>
                </a:ln>
                <a:solidFill>
                  <a:srgbClr val="CC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华文新魏" panose="02010800040101010101" pitchFamily="2" charset="-122"/>
                <a:cs typeface="+mn-cs"/>
              </a:rPr>
              <a:t>1.1</a:t>
            </a:r>
            <a:r>
              <a:rPr kumimoji="1" lang="en-US" altLang="zh-CN" sz="3600" b="1" i="0" u="none" strike="noStrike" kern="1200" cap="none" spc="0" normalizeH="0" baseline="0" noProof="0">
                <a:ln>
                  <a:noFill/>
                </a:ln>
                <a:solidFill>
                  <a:srgbClr val="CC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rPr>
              <a:t>   </a:t>
            </a:r>
            <a:r>
              <a:rPr kumimoji="1" lang="zh-CN" altLang="en-US" sz="3600" b="1" i="0" u="none" strike="noStrike" kern="1200" cap="none" spc="0" normalizeH="0" baseline="0" noProof="0">
                <a:ln>
                  <a:noFill/>
                </a:ln>
                <a:solidFill>
                  <a:srgbClr val="CC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rPr>
              <a:t>电路的作用与组成部分</a:t>
            </a:r>
          </a:p>
        </p:txBody>
      </p:sp>
      <p:sp>
        <p:nvSpPr>
          <p:cNvPr id="5123" name="Rectangle 3"/>
          <p:cNvSpPr>
            <a:spLocks noChangeArrowheads="1"/>
          </p:cNvSpPr>
          <p:nvPr/>
        </p:nvSpPr>
        <p:spPr bwMode="auto">
          <a:xfrm>
            <a:off x="457200" y="2495550"/>
            <a:ext cx="8218488" cy="47688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accent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81320" dir="2319588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1435" tIns="45718" rIns="91435" bIns="45718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90000"/>
              </a:lnSpc>
              <a:spcBef>
                <a:spcPct val="25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 </a:t>
            </a:r>
            <a:r>
              <a:rPr kumimoji="1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(1) </a:t>
            </a:r>
            <a:r>
              <a: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实现电能的传输、分配与转换 </a:t>
            </a:r>
            <a:r>
              <a:rPr kumimoji="1" lang="en-US" altLang="zh-CN" sz="1800" b="1" i="0" u="none" strike="noStrike" kern="1200" cap="none" spc="0" normalizeH="0" baseline="0" noProof="0">
                <a:ln>
                  <a:noFill/>
                </a:ln>
                <a:solidFill>
                  <a:srgbClr val="CC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(</a:t>
            </a:r>
            <a:r>
              <a:rPr kumimoji="1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CC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电力系统</a:t>
            </a:r>
            <a:r>
              <a:rPr kumimoji="1" lang="en-US" altLang="zh-CN" sz="1800" b="1" i="0" u="none" strike="noStrike" kern="1200" cap="none" spc="0" normalizeH="0" baseline="0" noProof="0">
                <a:ln>
                  <a:noFill/>
                </a:ln>
                <a:solidFill>
                  <a:srgbClr val="CC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)</a:t>
            </a:r>
            <a:r>
              <a:rPr kumimoji="1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            </a:t>
            </a:r>
          </a:p>
        </p:txBody>
      </p:sp>
      <p:sp>
        <p:nvSpPr>
          <p:cNvPr id="5124" name="Rectangle 4"/>
          <p:cNvSpPr>
            <a:spLocks noChangeArrowheads="1"/>
          </p:cNvSpPr>
          <p:nvPr/>
        </p:nvSpPr>
        <p:spPr bwMode="auto">
          <a:xfrm>
            <a:off x="762000" y="4205288"/>
            <a:ext cx="50800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accent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81320" dir="2319588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1435" tIns="45718" rIns="91435" bIns="45718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(2)</a:t>
            </a:r>
            <a:r>
              <a: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实现信号的传递与处理</a:t>
            </a:r>
          </a:p>
        </p:txBody>
      </p:sp>
      <p:grpSp>
        <p:nvGrpSpPr>
          <p:cNvPr id="5125" name="Group 5"/>
          <p:cNvGrpSpPr/>
          <p:nvPr/>
        </p:nvGrpSpPr>
        <p:grpSpPr>
          <a:xfrm>
            <a:off x="2362200" y="4724400"/>
            <a:ext cx="3948113" cy="1638300"/>
            <a:chOff x="624" y="2880"/>
            <a:chExt cx="2487" cy="1032"/>
          </a:xfrm>
        </p:grpSpPr>
        <p:grpSp>
          <p:nvGrpSpPr>
            <p:cNvPr id="6149" name="Group 6"/>
            <p:cNvGrpSpPr/>
            <p:nvPr/>
          </p:nvGrpSpPr>
          <p:grpSpPr>
            <a:xfrm>
              <a:off x="873" y="3256"/>
              <a:ext cx="307" cy="295"/>
              <a:chOff x="3648" y="2824"/>
              <a:chExt cx="384" cy="369"/>
            </a:xfrm>
          </p:grpSpPr>
          <p:sp>
            <p:nvSpPr>
              <p:cNvPr id="6150" name="Oval 7"/>
              <p:cNvSpPr/>
              <p:nvPr/>
            </p:nvSpPr>
            <p:spPr>
              <a:xfrm>
                <a:off x="3696" y="2832"/>
                <a:ext cx="336" cy="336"/>
              </a:xfrm>
              <a:prstGeom prst="ellipse">
                <a:avLst/>
              </a:prstGeom>
              <a:noFill/>
              <a:ln w="38100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wrap="none" anchor="ctr" anchorCtr="0"/>
              <a:lstStyle/>
              <a:p>
                <a:endParaRPr lang="zh-CN" altLang="en-US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6151" name="Rectangle 8"/>
              <p:cNvSpPr/>
              <p:nvPr/>
            </p:nvSpPr>
            <p:spPr>
              <a:xfrm>
                <a:off x="3648" y="2824"/>
                <a:ext cx="48" cy="369"/>
              </a:xfrm>
              <a:prstGeom prst="rect">
                <a:avLst/>
              </a:prstGeom>
              <a:noFill/>
              <a:ln w="38100" cap="flat" cmpd="sng">
                <a:solidFill>
                  <a:srgbClr val="000000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lstStyle/>
              <a:p>
                <a:endParaRPr lang="zh-CN" altLang="en-US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</p:grpSp>
        <p:grpSp>
          <p:nvGrpSpPr>
            <p:cNvPr id="6152" name="Group 9"/>
            <p:cNvGrpSpPr/>
            <p:nvPr/>
          </p:nvGrpSpPr>
          <p:grpSpPr>
            <a:xfrm>
              <a:off x="2496" y="3216"/>
              <a:ext cx="217" cy="356"/>
              <a:chOff x="2496" y="3216"/>
              <a:chExt cx="217" cy="356"/>
            </a:xfrm>
          </p:grpSpPr>
          <p:sp>
            <p:nvSpPr>
              <p:cNvPr id="6153" name="Rectangle 10"/>
              <p:cNvSpPr/>
              <p:nvPr/>
            </p:nvSpPr>
            <p:spPr>
              <a:xfrm>
                <a:off x="2496" y="3291"/>
                <a:ext cx="55" cy="210"/>
              </a:xfrm>
              <a:prstGeom prst="rect">
                <a:avLst/>
              </a:prstGeom>
              <a:noFill/>
              <a:ln w="38100" cap="flat" cmpd="sng">
                <a:solidFill>
                  <a:srgbClr val="000000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lstStyle/>
              <a:p>
                <a:endParaRPr lang="zh-CN" altLang="en-US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6154" name="AutoShape 11"/>
              <p:cNvSpPr/>
              <p:nvPr/>
            </p:nvSpPr>
            <p:spPr>
              <a:xfrm rot="5400000">
                <a:off x="2461" y="3320"/>
                <a:ext cx="356" cy="148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0" b="0"/>
                <a:pathLst>
                  <a:path w="21600" h="21600">
                    <a:moveTo>
                      <a:pt x="0" y="0"/>
                    </a:moveTo>
                    <a:lnTo>
                      <a:pt x="5400" y="21600"/>
                    </a:lnTo>
                    <a:lnTo>
                      <a:pt x="16200" y="21600"/>
                    </a:lnTo>
                    <a:lnTo>
                      <a:pt x="21600" y="0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 w="38100" cap="flat" cmpd="sng">
                <a:solidFill>
                  <a:srgbClr val="000000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6155" name="Line 12"/>
            <p:cNvSpPr/>
            <p:nvPr/>
          </p:nvSpPr>
          <p:spPr>
            <a:xfrm>
              <a:off x="1180" y="3389"/>
              <a:ext cx="318" cy="0"/>
            </a:xfrm>
            <a:prstGeom prst="line">
              <a:avLst/>
            </a:prstGeom>
            <a:ln w="57150" cap="flat" cmpd="sng">
              <a:solidFill>
                <a:srgbClr val="000000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6156" name="Line 13"/>
            <p:cNvSpPr/>
            <p:nvPr/>
          </p:nvSpPr>
          <p:spPr>
            <a:xfrm>
              <a:off x="2112" y="3389"/>
              <a:ext cx="404" cy="0"/>
            </a:xfrm>
            <a:prstGeom prst="line">
              <a:avLst/>
            </a:prstGeom>
            <a:ln w="57150" cap="flat" cmpd="sng">
              <a:solidFill>
                <a:srgbClr val="000000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6157" name="Text Box 14"/>
            <p:cNvSpPr txBox="1"/>
            <p:nvPr/>
          </p:nvSpPr>
          <p:spPr>
            <a:xfrm>
              <a:off x="1488" y="3002"/>
              <a:ext cx="624" cy="910"/>
            </a:xfrm>
            <a:prstGeom prst="rect">
              <a:avLst/>
            </a:prstGeom>
            <a:noFill/>
            <a:ln w="381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lIns="91435" tIns="45718" rIns="91435" bIns="45718" anchor="t" anchorCtr="0">
              <a:spAutoFit/>
            </a:bodyPr>
            <a:lstStyle/>
            <a:p>
              <a:pPr algn="ctr">
                <a:lnSpc>
                  <a:spcPct val="90000"/>
                </a:lnSpc>
              </a:pPr>
              <a:r>
                <a:rPr lang="zh-CN" altLang="en-US" sz="3200" b="1" dirty="0">
                  <a:solidFill>
                    <a:srgbClr val="FF33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放大器</a:t>
              </a:r>
            </a:p>
          </p:txBody>
        </p:sp>
        <p:sp>
          <p:nvSpPr>
            <p:cNvPr id="6158" name="Text Box 15"/>
            <p:cNvSpPr txBox="1"/>
            <p:nvPr/>
          </p:nvSpPr>
          <p:spPr>
            <a:xfrm>
              <a:off x="2104" y="2880"/>
              <a:ext cx="1007" cy="327"/>
            </a:xfrm>
            <a:prstGeom prst="rect">
              <a:avLst/>
            </a:prstGeom>
            <a:noFill/>
            <a:ln w="38100">
              <a:noFill/>
            </a:ln>
          </p:spPr>
          <p:txBody>
            <a:bodyPr lIns="91435" tIns="45718" rIns="91435" bIns="45718" anchor="t" anchorCtr="0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zh-CN" altLang="en-US" sz="2800" b="1" dirty="0">
                  <a:solidFill>
                    <a:srgbClr val="0000CC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扬声器</a:t>
              </a:r>
            </a:p>
          </p:txBody>
        </p:sp>
        <p:sp>
          <p:nvSpPr>
            <p:cNvPr id="6159" name="Text Box 16"/>
            <p:cNvSpPr txBox="1"/>
            <p:nvPr/>
          </p:nvSpPr>
          <p:spPr>
            <a:xfrm>
              <a:off x="624" y="2880"/>
              <a:ext cx="759" cy="327"/>
            </a:xfrm>
            <a:prstGeom prst="rect">
              <a:avLst/>
            </a:prstGeom>
            <a:noFill/>
            <a:ln w="38100">
              <a:noFill/>
            </a:ln>
          </p:spPr>
          <p:txBody>
            <a:bodyPr lIns="91435" tIns="45718" rIns="91435" bIns="45718" anchor="t" anchorCtr="0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zh-CN" altLang="en-US" sz="2800" b="1" dirty="0">
                  <a:solidFill>
                    <a:srgbClr val="0000CC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话筒</a:t>
              </a:r>
              <a:endParaRPr lang="zh-CN" altLang="en-US" sz="3200" b="1" dirty="0">
                <a:solidFill>
                  <a:srgbClr val="0000CC"/>
                </a:solidFill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</p:grpSp>
      <p:graphicFrame>
        <p:nvGraphicFramePr>
          <p:cNvPr id="6160" name="Object 17"/>
          <p:cNvGraphicFramePr/>
          <p:nvPr/>
        </p:nvGraphicFramePr>
        <p:xfrm>
          <a:off x="7010400" y="5029200"/>
          <a:ext cx="1582738" cy="1136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23812500" imgH="20383500" progId="">
                  <p:embed/>
                </p:oleObj>
              </mc:Choice>
              <mc:Fallback>
                <p:oleObj r:id="rId2" imgW="23812500" imgH="20383500" progId="">
                  <p:embed/>
                  <p:pic>
                    <p:nvPicPr>
                      <p:cNvPr id="0" name="图片 3072" descr="image7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7010400" y="5029200"/>
                        <a:ext cx="1582738" cy="11366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5138" name="Rectangle 18"/>
          <p:cNvSpPr>
            <a:spLocks noChangeArrowheads="1"/>
          </p:cNvSpPr>
          <p:nvPr/>
        </p:nvSpPr>
        <p:spPr bwMode="auto">
          <a:xfrm>
            <a:off x="685800" y="1981200"/>
            <a:ext cx="7415213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1435" tIns="45718" rIns="91435" bIns="45718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1. </a:t>
            </a:r>
            <a:r>
              <a: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电路的作用</a:t>
            </a:r>
            <a:r>
              <a:rPr kumimoji="1" lang="en-US" altLang="zh-CN" sz="1800" b="1" i="0" u="none" strike="noStrike" kern="1200" cap="none" spc="0" normalizeH="0" baseline="0" noProof="0">
                <a:ln>
                  <a:noFill/>
                </a:ln>
                <a:solidFill>
                  <a:srgbClr val="CC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(</a:t>
            </a:r>
            <a:r>
              <a:rPr kumimoji="1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CC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电路的结构形式和所完成的任务多种多样</a:t>
            </a:r>
            <a:r>
              <a:rPr kumimoji="1" lang="en-US" altLang="zh-CN" sz="1800" b="1" i="0" u="none" strike="noStrike" kern="1200" cap="none" spc="0" normalizeH="0" baseline="0" noProof="0">
                <a:ln>
                  <a:noFill/>
                </a:ln>
                <a:solidFill>
                  <a:srgbClr val="CC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)</a:t>
            </a:r>
            <a:endParaRPr kumimoji="1" lang="en-US" altLang="zh-CN" sz="2800" b="1" i="0" u="none" strike="noStrike" kern="1200" cap="none" spc="0" normalizeH="0" baseline="0" noProof="0">
              <a:ln>
                <a:noFill/>
              </a:ln>
              <a:solidFill>
                <a:srgbClr val="CC0000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139" name="Rectangle 19"/>
          <p:cNvSpPr/>
          <p:nvPr/>
        </p:nvSpPr>
        <p:spPr>
          <a:xfrm>
            <a:off x="609600" y="990600"/>
            <a:ext cx="7910513" cy="843915"/>
          </a:xfrm>
          <a:prstGeom prst="rect">
            <a:avLst/>
          </a:prstGeom>
          <a:noFill/>
          <a:ln w="9525">
            <a:noFill/>
          </a:ln>
        </p:spPr>
        <p:txBody>
          <a:bodyPr lIns="91435" tIns="45718" rIns="91435" bIns="45718" anchor="t" anchorCtr="0">
            <a:spAutoFit/>
          </a:bodyPr>
          <a:lstStyle/>
          <a:p>
            <a:pPr>
              <a:lnSpc>
                <a:spcPct val="110000"/>
              </a:lnSpc>
              <a:spcBef>
                <a:spcPct val="25000"/>
              </a:spcBef>
            </a:pPr>
            <a:r>
              <a:rPr lang="en-US" altLang="zh-CN" sz="2000" b="1" dirty="0">
                <a:latin typeface="华文行楷" panose="02010800040101010101" charset="-122"/>
                <a:ea typeface="华文行楷" panose="02010800040101010101" charset="-122"/>
                <a:cs typeface="华文行楷" panose="02010800040101010101" charset="-122"/>
              </a:rPr>
              <a:t> </a:t>
            </a:r>
            <a:r>
              <a:rPr lang="zh-CN" altLang="en-US" sz="2000" b="1" dirty="0">
                <a:latin typeface="华文行楷" panose="02010800040101010101" charset="-122"/>
                <a:ea typeface="华文行楷" panose="02010800040101010101" charset="-122"/>
                <a:cs typeface="华文行楷" panose="02010800040101010101" charset="-122"/>
              </a:rPr>
              <a:t>电路：</a:t>
            </a:r>
            <a:r>
              <a:rPr lang="zh-CN" altLang="en-US" sz="2000" b="1" dirty="0">
                <a:solidFill>
                  <a:srgbClr val="00B050"/>
                </a:solidFill>
                <a:latin typeface="华文行楷" panose="02010800040101010101" charset="-122"/>
                <a:ea typeface="华文行楷" panose="02010800040101010101" charset="-122"/>
                <a:cs typeface="华文行楷" panose="02010800040101010101" charset="-122"/>
              </a:rPr>
              <a:t>电流的通路</a:t>
            </a:r>
            <a:r>
              <a:rPr lang="zh-CN" altLang="en-US" sz="2000" b="1" dirty="0">
                <a:latin typeface="华文行楷" panose="02010800040101010101" charset="-122"/>
                <a:ea typeface="华文行楷" panose="02010800040101010101" charset="-122"/>
                <a:cs typeface="华文行楷" panose="02010800040101010101" charset="-122"/>
              </a:rPr>
              <a:t>，</a:t>
            </a:r>
          </a:p>
          <a:p>
            <a:pPr>
              <a:lnSpc>
                <a:spcPct val="110000"/>
              </a:lnSpc>
              <a:spcBef>
                <a:spcPct val="25000"/>
              </a:spcBef>
            </a:pPr>
            <a:r>
              <a:rPr lang="zh-CN" altLang="en-US" sz="2000" b="1" dirty="0">
                <a:latin typeface="华文行楷" panose="02010800040101010101" charset="-122"/>
                <a:ea typeface="华文行楷" panose="02010800040101010101" charset="-122"/>
                <a:cs typeface="华文行楷" panose="02010800040101010101" charset="-122"/>
              </a:rPr>
              <a:t> </a:t>
            </a:r>
            <a:r>
              <a:rPr lang="en-US" altLang="zh-CN" sz="2000" b="1" dirty="0">
                <a:latin typeface="华文行楷" panose="02010800040101010101" charset="-122"/>
                <a:ea typeface="华文行楷" panose="02010800040101010101" charset="-122"/>
                <a:cs typeface="华文行楷" panose="02010800040101010101" charset="-122"/>
              </a:rPr>
              <a:t>            </a:t>
            </a:r>
            <a:r>
              <a:rPr lang="zh-CN" altLang="en-US" sz="2000" b="1" dirty="0">
                <a:latin typeface="华文行楷" panose="02010800040101010101" charset="-122"/>
                <a:ea typeface="华文行楷" panose="02010800040101010101" charset="-122"/>
                <a:cs typeface="华文行楷" panose="02010800040101010101" charset="-122"/>
              </a:rPr>
              <a:t>为某种需要，由电工设备或电路元件按</a:t>
            </a:r>
            <a:r>
              <a:rPr lang="zh-CN" altLang="en-US" sz="2000" b="1" dirty="0">
                <a:solidFill>
                  <a:srgbClr val="00B050"/>
                </a:solidFill>
                <a:latin typeface="华文行楷" panose="02010800040101010101" charset="-122"/>
                <a:ea typeface="华文行楷" panose="02010800040101010101" charset="-122"/>
                <a:cs typeface="华文行楷" panose="02010800040101010101" charset="-122"/>
              </a:rPr>
              <a:t>一定方式组合而成</a:t>
            </a:r>
            <a:r>
              <a:rPr lang="zh-CN" altLang="en-US" sz="2000" b="1" dirty="0">
                <a:latin typeface="华文行楷" panose="02010800040101010101" charset="-122"/>
                <a:ea typeface="华文行楷" panose="02010800040101010101" charset="-122"/>
                <a:cs typeface="华文行楷" panose="02010800040101010101" charset="-122"/>
              </a:rPr>
              <a:t>。                </a:t>
            </a:r>
          </a:p>
        </p:txBody>
      </p:sp>
      <p:grpSp>
        <p:nvGrpSpPr>
          <p:cNvPr id="5140" name="Group 20"/>
          <p:cNvGrpSpPr/>
          <p:nvPr/>
        </p:nvGrpSpPr>
        <p:grpSpPr>
          <a:xfrm>
            <a:off x="990600" y="2828925"/>
            <a:ext cx="7239000" cy="1590675"/>
            <a:chOff x="624" y="1584"/>
            <a:chExt cx="4560" cy="1002"/>
          </a:xfrm>
        </p:grpSpPr>
        <p:sp>
          <p:nvSpPr>
            <p:cNvPr id="6164" name="Oval 21"/>
            <p:cNvSpPr/>
            <p:nvPr/>
          </p:nvSpPr>
          <p:spPr>
            <a:xfrm>
              <a:off x="672" y="1824"/>
              <a:ext cx="576" cy="576"/>
            </a:xfrm>
            <a:prstGeom prst="ellipse">
              <a:avLst/>
            </a:prstGeom>
            <a:noFill/>
            <a:ln w="3810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lstStyle/>
            <a:p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6165" name="Text Box 22"/>
            <p:cNvSpPr txBox="1"/>
            <p:nvPr/>
          </p:nvSpPr>
          <p:spPr>
            <a:xfrm>
              <a:off x="624" y="1968"/>
              <a:ext cx="694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91435" tIns="45718" rIns="91435" bIns="45718" anchor="t" anchorCtr="0">
              <a:spAutoFit/>
            </a:bodyPr>
            <a:lstStyle/>
            <a:p>
              <a:pPr algn="ctr"/>
              <a:r>
                <a:rPr lang="zh-CN" altLang="en-US" b="1" dirty="0">
                  <a:solidFill>
                    <a:srgbClr val="003399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发电机</a:t>
              </a:r>
            </a:p>
          </p:txBody>
        </p:sp>
        <p:sp>
          <p:nvSpPr>
            <p:cNvPr id="6166" name="Text Box 23"/>
            <p:cNvSpPr txBox="1"/>
            <p:nvPr/>
          </p:nvSpPr>
          <p:spPr>
            <a:xfrm>
              <a:off x="1525" y="1824"/>
              <a:ext cx="875" cy="542"/>
            </a:xfrm>
            <a:prstGeom prst="rect">
              <a:avLst/>
            </a:prstGeom>
            <a:noFill/>
            <a:ln w="381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lIns="91435" tIns="45718" rIns="91435" bIns="45718" anchor="t" anchorCtr="0">
              <a:spAutoFit/>
            </a:bodyPr>
            <a:lstStyle/>
            <a:p>
              <a:pPr algn="ctr"/>
              <a:r>
                <a:rPr lang="zh-CN" altLang="en-US" b="1" dirty="0">
                  <a:solidFill>
                    <a:srgbClr val="CC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升压</a:t>
              </a:r>
            </a:p>
            <a:p>
              <a:pPr algn="ctr"/>
              <a:r>
                <a:rPr lang="zh-CN" altLang="en-US" b="1" dirty="0">
                  <a:solidFill>
                    <a:srgbClr val="CC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变压器</a:t>
              </a:r>
            </a:p>
          </p:txBody>
        </p:sp>
        <p:sp>
          <p:nvSpPr>
            <p:cNvPr id="6167" name="Text Box 24"/>
            <p:cNvSpPr txBox="1"/>
            <p:nvPr/>
          </p:nvSpPr>
          <p:spPr>
            <a:xfrm>
              <a:off x="3349" y="1824"/>
              <a:ext cx="875" cy="542"/>
            </a:xfrm>
            <a:prstGeom prst="rect">
              <a:avLst/>
            </a:prstGeom>
            <a:noFill/>
            <a:ln w="381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lIns="91435" tIns="45718" rIns="91435" bIns="45718" anchor="t" anchorCtr="0">
              <a:spAutoFit/>
            </a:bodyPr>
            <a:lstStyle/>
            <a:p>
              <a:pPr algn="ctr"/>
              <a:r>
                <a:rPr lang="zh-CN" altLang="en-US" b="1" dirty="0">
                  <a:solidFill>
                    <a:srgbClr val="CC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降压</a:t>
              </a:r>
            </a:p>
            <a:p>
              <a:pPr algn="ctr"/>
              <a:r>
                <a:rPr lang="zh-CN" altLang="en-US" b="1" dirty="0">
                  <a:solidFill>
                    <a:srgbClr val="CC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变压器</a:t>
              </a:r>
            </a:p>
          </p:txBody>
        </p:sp>
        <p:sp>
          <p:nvSpPr>
            <p:cNvPr id="6168" name="Text Box 25"/>
            <p:cNvSpPr txBox="1"/>
            <p:nvPr/>
          </p:nvSpPr>
          <p:spPr>
            <a:xfrm>
              <a:off x="4464" y="1584"/>
              <a:ext cx="720" cy="1002"/>
            </a:xfrm>
            <a:prstGeom prst="rect">
              <a:avLst/>
            </a:prstGeom>
            <a:noFill/>
            <a:ln w="381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lIns="91435" tIns="45718" rIns="91435" bIns="45718" anchor="t" anchorCtr="0">
              <a:spAutoFit/>
            </a:bodyPr>
            <a:lstStyle/>
            <a:p>
              <a:pPr algn="ctr"/>
              <a:r>
                <a:rPr lang="zh-CN" altLang="en-US" b="1" dirty="0">
                  <a:solidFill>
                    <a:srgbClr val="003399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电灯</a:t>
              </a:r>
            </a:p>
            <a:p>
              <a:pPr algn="ctr"/>
              <a:r>
                <a:rPr lang="zh-CN" altLang="en-US" b="1" dirty="0">
                  <a:solidFill>
                    <a:srgbClr val="003399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电动机电炉</a:t>
              </a:r>
            </a:p>
            <a:p>
              <a:pPr algn="ctr"/>
              <a:r>
                <a:rPr lang="en-US" altLang="zh-CN" b="1" dirty="0">
                  <a:solidFill>
                    <a:srgbClr val="003399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...</a:t>
              </a:r>
            </a:p>
          </p:txBody>
        </p:sp>
        <p:sp>
          <p:nvSpPr>
            <p:cNvPr id="6169" name="Line 26"/>
            <p:cNvSpPr/>
            <p:nvPr/>
          </p:nvSpPr>
          <p:spPr>
            <a:xfrm>
              <a:off x="1248" y="2112"/>
              <a:ext cx="288" cy="0"/>
            </a:xfrm>
            <a:prstGeom prst="line">
              <a:avLst/>
            </a:prstGeom>
            <a:ln w="38100" cap="flat" cmpd="sng">
              <a:solidFill>
                <a:srgbClr val="000000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6170" name="Line 27"/>
            <p:cNvSpPr/>
            <p:nvPr/>
          </p:nvSpPr>
          <p:spPr>
            <a:xfrm>
              <a:off x="2400" y="2112"/>
              <a:ext cx="240" cy="0"/>
            </a:xfrm>
            <a:prstGeom prst="line">
              <a:avLst/>
            </a:prstGeom>
            <a:ln w="38100" cap="flat" cmpd="sng">
              <a:solidFill>
                <a:srgbClr val="000000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6171" name="Line 28"/>
            <p:cNvSpPr/>
            <p:nvPr/>
          </p:nvSpPr>
          <p:spPr>
            <a:xfrm>
              <a:off x="3120" y="2112"/>
              <a:ext cx="240" cy="0"/>
            </a:xfrm>
            <a:prstGeom prst="line">
              <a:avLst/>
            </a:prstGeom>
            <a:ln w="38100" cap="flat" cmpd="sng">
              <a:solidFill>
                <a:srgbClr val="000000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6172" name="Line 29"/>
            <p:cNvSpPr/>
            <p:nvPr/>
          </p:nvSpPr>
          <p:spPr>
            <a:xfrm>
              <a:off x="2688" y="2112"/>
              <a:ext cx="432" cy="0"/>
            </a:xfrm>
            <a:prstGeom prst="line">
              <a:avLst/>
            </a:prstGeom>
            <a:ln w="38100" cap="flat" cmpd="sng">
              <a:solidFill>
                <a:srgbClr val="000000"/>
              </a:solidFill>
              <a:prstDash val="dash"/>
              <a:round/>
              <a:headEnd type="none" w="med" len="med"/>
              <a:tailEnd type="none" w="med" len="med"/>
            </a:ln>
          </p:spPr>
        </p:sp>
        <p:sp>
          <p:nvSpPr>
            <p:cNvPr id="6173" name="Line 30"/>
            <p:cNvSpPr/>
            <p:nvPr/>
          </p:nvSpPr>
          <p:spPr>
            <a:xfrm>
              <a:off x="4224" y="2112"/>
              <a:ext cx="240" cy="0"/>
            </a:xfrm>
            <a:prstGeom prst="line">
              <a:avLst/>
            </a:prstGeom>
            <a:ln w="38100" cap="flat" cmpd="sng">
              <a:solidFill>
                <a:srgbClr val="000000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6174" name="Text Box 31"/>
            <p:cNvSpPr txBox="1"/>
            <p:nvPr/>
          </p:nvSpPr>
          <p:spPr>
            <a:xfrm>
              <a:off x="2522" y="1824"/>
              <a:ext cx="694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91435" tIns="45718" rIns="91435" bIns="45718" anchor="t" anchorCtr="0">
              <a:spAutoFit/>
            </a:bodyPr>
            <a:lstStyle/>
            <a:p>
              <a:pPr algn="ctr"/>
              <a:r>
                <a:rPr lang="zh-CN" altLang="en-US" b="1" dirty="0">
                  <a:latin typeface="Times New Roman" panose="02020603050405020304" pitchFamily="18" charset="0"/>
                  <a:ea typeface="宋体" panose="02010600030101010101" pitchFamily="2" charset="-122"/>
                </a:rPr>
                <a:t>输电线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1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1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51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51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51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51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23" grpId="0" bldLvl="0" animBg="1"/>
      <p:bldP spid="5124" grpId="0"/>
      <p:bldP spid="5138" grpId="0"/>
      <p:bldP spid="5139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ChangeArrowheads="1"/>
          </p:cNvSpPr>
          <p:nvPr/>
        </p:nvSpPr>
        <p:spPr bwMode="auto">
          <a:xfrm>
            <a:off x="457200" y="404813"/>
            <a:ext cx="5627688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lIns="91435" tIns="45718" rIns="91435" bIns="45718" anchor="ctr"/>
          <a:lstStyle>
            <a:lvl1pPr algn="ctr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algn="ctr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algn="ctr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algn="ctr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algn="ctr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457200" algn="ctr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914400" algn="ctr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1371600" algn="ctr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1828800" algn="ctr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2. </a:t>
            </a:r>
            <a:r>
              <a: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电路的</a:t>
            </a:r>
            <a:r>
              <a: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组成部分</a:t>
            </a:r>
            <a:r>
              <a:rPr kumimoji="1" lang="en-US" altLang="zh-CN" sz="1800" b="1" i="0" u="none" strike="noStrike" kern="1200" cap="none" spc="0" normalizeH="0" baseline="0" noProof="0">
                <a:ln>
                  <a:noFill/>
                </a:ln>
                <a:solidFill>
                  <a:srgbClr val="CC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(</a:t>
            </a:r>
            <a:r>
              <a:rPr kumimoji="1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CC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三个组成部分</a:t>
            </a:r>
            <a:r>
              <a:rPr kumimoji="1" lang="en-US" altLang="zh-CN" sz="1800" b="1" i="0" u="none" strike="noStrike" kern="1200" cap="none" spc="0" normalizeH="0" baseline="0" noProof="0">
                <a:ln>
                  <a:noFill/>
                </a:ln>
                <a:solidFill>
                  <a:srgbClr val="CC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)</a:t>
            </a:r>
            <a:endParaRPr kumimoji="1" lang="en-US" altLang="zh-CN" sz="2800" b="1" i="0" u="none" strike="noStrike" kern="1200" cap="none" spc="0" normalizeH="0" baseline="0" noProof="0">
              <a:ln>
                <a:noFill/>
              </a:ln>
              <a:solidFill>
                <a:srgbClr val="000099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170" name="Rectangle 3"/>
          <p:cNvSpPr/>
          <p:nvPr/>
        </p:nvSpPr>
        <p:spPr>
          <a:xfrm>
            <a:off x="4030663" y="1417638"/>
            <a:ext cx="1071562" cy="676275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lstStyle/>
          <a:p>
            <a:endParaRPr lang="zh-CN" altLang="en-US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6148" name="AutoShape 4"/>
          <p:cNvSpPr/>
          <p:nvPr/>
        </p:nvSpPr>
        <p:spPr>
          <a:xfrm>
            <a:off x="914400" y="1395413"/>
            <a:ext cx="2505075" cy="1136650"/>
          </a:xfrm>
          <a:prstGeom prst="wedgeRoundRectCallout">
            <a:avLst>
              <a:gd name="adj1" fmla="val -21671"/>
              <a:gd name="adj2" fmla="val 112708"/>
              <a:gd name="adj3" fmla="val 16667"/>
            </a:avLst>
          </a:prstGeom>
          <a:noFill/>
          <a:ln w="38100" cap="flat" cmpd="sng">
            <a:solidFill>
              <a:schemeClr val="accent2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91435" tIns="45718" rIns="91435" bIns="45718" anchor="ctr" anchorCtr="0"/>
          <a:lstStyle/>
          <a:p>
            <a:pPr algn="ctr">
              <a:spcBef>
                <a:spcPct val="2000"/>
              </a:spcBef>
            </a:pPr>
            <a:r>
              <a:rPr lang="zh-CN" altLang="en-US" sz="2800" b="1" dirty="0">
                <a:solidFill>
                  <a:srgbClr val="CC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电源</a:t>
            </a:r>
            <a:r>
              <a:rPr lang="en-US" altLang="zh-CN" sz="2800" b="1" dirty="0">
                <a:solidFill>
                  <a:srgbClr val="CC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:</a:t>
            </a:r>
            <a:r>
              <a:rPr lang="en-US" altLang="zh-CN" sz="2800" b="1" dirty="0">
                <a:latin typeface="Times New Roman" panose="02020603050405020304" pitchFamily="18" charset="0"/>
                <a:ea typeface="宋体" panose="02010600030101010101" pitchFamily="2" charset="-122"/>
              </a:rPr>
              <a:t>  </a:t>
            </a:r>
            <a:r>
              <a:rPr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提供</a:t>
            </a:r>
          </a:p>
          <a:p>
            <a:pPr algn="ctr">
              <a:spcBef>
                <a:spcPct val="2000"/>
              </a:spcBef>
            </a:pPr>
            <a:r>
              <a:rPr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电能的装置</a:t>
            </a:r>
          </a:p>
        </p:txBody>
      </p:sp>
      <p:sp>
        <p:nvSpPr>
          <p:cNvPr id="6149" name="AutoShape 5"/>
          <p:cNvSpPr/>
          <p:nvPr/>
        </p:nvSpPr>
        <p:spPr>
          <a:xfrm>
            <a:off x="6248400" y="1114425"/>
            <a:ext cx="2133600" cy="1042988"/>
          </a:xfrm>
          <a:prstGeom prst="wedgeRoundRectCallout">
            <a:avLst>
              <a:gd name="adj1" fmla="val 8407"/>
              <a:gd name="adj2" fmla="val 105556"/>
              <a:gd name="adj3" fmla="val 16667"/>
            </a:avLst>
          </a:prstGeom>
          <a:noFill/>
          <a:ln w="38100" cap="flat" cmpd="sng">
            <a:solidFill>
              <a:schemeClr val="accent2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91435" tIns="45718" rIns="91435" bIns="45718" anchor="ctr" anchorCtr="0"/>
          <a:lstStyle/>
          <a:p>
            <a:pPr algn="ctr">
              <a:spcBef>
                <a:spcPct val="2000"/>
              </a:spcBef>
            </a:pPr>
            <a:r>
              <a:rPr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负载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:  </a:t>
            </a:r>
            <a:r>
              <a:rPr lang="zh-CN" altLang="en-US" sz="2800" b="1" dirty="0">
                <a:solidFill>
                  <a:srgbClr val="CC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取用</a:t>
            </a:r>
          </a:p>
          <a:p>
            <a:pPr algn="ctr">
              <a:spcBef>
                <a:spcPct val="2000"/>
              </a:spcBef>
            </a:pPr>
            <a:r>
              <a:rPr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电能的装置</a:t>
            </a:r>
          </a:p>
        </p:txBody>
      </p:sp>
      <p:sp>
        <p:nvSpPr>
          <p:cNvPr id="6150" name="AutoShape 6"/>
          <p:cNvSpPr/>
          <p:nvPr/>
        </p:nvSpPr>
        <p:spPr>
          <a:xfrm>
            <a:off x="3048000" y="4672013"/>
            <a:ext cx="3505200" cy="1347787"/>
          </a:xfrm>
          <a:prstGeom prst="wedgeRoundRectCallout">
            <a:avLst>
              <a:gd name="adj1" fmla="val -8060"/>
              <a:gd name="adj2" fmla="val -78032"/>
              <a:gd name="adj3" fmla="val 16667"/>
            </a:avLst>
          </a:prstGeom>
          <a:noFill/>
          <a:ln w="38100" cap="flat" cmpd="sng">
            <a:solidFill>
              <a:schemeClr val="accent2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91435" tIns="45718" rIns="91435" bIns="45718" anchor="ctr" anchorCtr="0"/>
          <a:lstStyle/>
          <a:p>
            <a:pPr algn="ctr">
              <a:spcBef>
                <a:spcPct val="2000"/>
              </a:spcBef>
            </a:pPr>
            <a:r>
              <a:rPr lang="zh-CN" altLang="en-US" sz="2800" b="1" dirty="0">
                <a:solidFill>
                  <a:srgbClr val="CC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中间环节：</a:t>
            </a:r>
            <a:r>
              <a:rPr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传递、分</a:t>
            </a:r>
          </a:p>
          <a:p>
            <a:pPr algn="ctr">
              <a:spcBef>
                <a:spcPct val="2000"/>
              </a:spcBef>
            </a:pPr>
            <a:r>
              <a:rPr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配和控制电能的作用</a:t>
            </a:r>
          </a:p>
        </p:txBody>
      </p:sp>
      <p:grpSp>
        <p:nvGrpSpPr>
          <p:cNvPr id="7174" name="Group 7"/>
          <p:cNvGrpSpPr/>
          <p:nvPr/>
        </p:nvGrpSpPr>
        <p:grpSpPr>
          <a:xfrm>
            <a:off x="533400" y="919163"/>
            <a:ext cx="4718050" cy="171450"/>
            <a:chOff x="288" y="576"/>
            <a:chExt cx="2972" cy="108"/>
          </a:xfrm>
        </p:grpSpPr>
        <p:pic>
          <p:nvPicPr>
            <p:cNvPr id="7175" name="Picture 8" descr="Green and Black Diamond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340" y="576"/>
              <a:ext cx="120" cy="108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7176" name="Picture 9" descr="Green and Black Diamond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453" y="576"/>
              <a:ext cx="119" cy="108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7177" name="Picture 10" descr="Green and Black Diamond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559" y="576"/>
              <a:ext cx="119" cy="108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7178" name="Picture 11" descr="Green and Black Diamond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658" y="576"/>
              <a:ext cx="119" cy="108"/>
            </a:xfrm>
            <a:prstGeom prst="rect">
              <a:avLst/>
            </a:prstGeom>
            <a:noFill/>
            <a:ln w="9525">
              <a:noFill/>
            </a:ln>
          </p:spPr>
        </p:pic>
        <p:grpSp>
          <p:nvGrpSpPr>
            <p:cNvPr id="7179" name="Group 12"/>
            <p:cNvGrpSpPr/>
            <p:nvPr/>
          </p:nvGrpSpPr>
          <p:grpSpPr>
            <a:xfrm>
              <a:off x="288" y="576"/>
              <a:ext cx="331" cy="108"/>
              <a:chOff x="395" y="624"/>
              <a:chExt cx="331" cy="108"/>
            </a:xfrm>
          </p:grpSpPr>
          <p:pic>
            <p:nvPicPr>
              <p:cNvPr id="7180" name="Picture 13" descr="Green and Black Diamond"/>
              <p:cNvPicPr>
                <a:picLocks noChangeAspect="1"/>
              </p:cNvPicPr>
              <p:nvPr/>
            </p:nvPicPr>
            <p:blipFill>
              <a:blip r:embed="rId2" cstate="print"/>
              <a:stretch>
                <a:fillRect/>
              </a:stretch>
            </p:blipFill>
            <p:spPr>
              <a:xfrm>
                <a:off x="395" y="624"/>
                <a:ext cx="119" cy="108"/>
              </a:xfrm>
              <a:prstGeom prst="rect">
                <a:avLst/>
              </a:prstGeom>
              <a:noFill/>
              <a:ln w="9525">
                <a:noFill/>
              </a:ln>
            </p:spPr>
          </p:pic>
          <p:pic>
            <p:nvPicPr>
              <p:cNvPr id="7181" name="Picture 14" descr="Green and Black Diamond"/>
              <p:cNvPicPr>
                <a:picLocks noChangeAspect="1"/>
              </p:cNvPicPr>
              <p:nvPr/>
            </p:nvPicPr>
            <p:blipFill>
              <a:blip r:embed="rId2" cstate="print"/>
              <a:stretch>
                <a:fillRect/>
              </a:stretch>
            </p:blipFill>
            <p:spPr>
              <a:xfrm>
                <a:off x="494" y="624"/>
                <a:ext cx="119" cy="108"/>
              </a:xfrm>
              <a:prstGeom prst="rect">
                <a:avLst/>
              </a:prstGeom>
              <a:noFill/>
              <a:ln w="9525">
                <a:noFill/>
              </a:ln>
            </p:spPr>
          </p:pic>
          <p:pic>
            <p:nvPicPr>
              <p:cNvPr id="7182" name="Picture 15" descr="Green and Black Diamond"/>
              <p:cNvPicPr>
                <a:picLocks noChangeAspect="1"/>
              </p:cNvPicPr>
              <p:nvPr/>
            </p:nvPicPr>
            <p:blipFill>
              <a:blip r:embed="rId2" cstate="print"/>
              <a:stretch>
                <a:fillRect/>
              </a:stretch>
            </p:blipFill>
            <p:spPr>
              <a:xfrm>
                <a:off x="607" y="624"/>
                <a:ext cx="119" cy="108"/>
              </a:xfrm>
              <a:prstGeom prst="rect">
                <a:avLst/>
              </a:prstGeom>
              <a:noFill/>
              <a:ln w="9525">
                <a:noFill/>
              </a:ln>
            </p:spPr>
          </p:pic>
        </p:grpSp>
        <p:pic>
          <p:nvPicPr>
            <p:cNvPr id="7183" name="Picture 16" descr="Green and Black Diamond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05" y="576"/>
              <a:ext cx="119" cy="108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7184" name="Picture 17" descr="Green and Black Diamond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17" y="576"/>
              <a:ext cx="119" cy="108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7185" name="Picture 18" descr="Green and Black Diamond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23" y="576"/>
              <a:ext cx="119" cy="108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7186" name="Picture 19" descr="Green and Black Diamond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022" y="576"/>
              <a:ext cx="120" cy="108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7187" name="Picture 20" descr="Green and Black Diamond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135" y="576"/>
              <a:ext cx="119" cy="108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7188" name="Picture 21" descr="Green and Black Diamond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06" y="576"/>
              <a:ext cx="119" cy="108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7189" name="Picture 22" descr="Green and Black Diamond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241" y="576"/>
              <a:ext cx="119" cy="108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7190" name="Picture 23" descr="Green and Black Diamond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771" y="576"/>
              <a:ext cx="112" cy="102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7191" name="Picture 24" descr="Green and Black Diamond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877" y="576"/>
              <a:ext cx="112" cy="102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7192" name="Picture 25" descr="Green and Black Diamond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976" y="576"/>
              <a:ext cx="112" cy="102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7193" name="Picture 26" descr="Green and Black Diamond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088" y="576"/>
              <a:ext cx="113" cy="102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7194" name="Picture 27" descr="Green and Black Diamond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194" y="576"/>
              <a:ext cx="113" cy="102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7195" name="Picture 28" descr="Green and Black Diamond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294" y="576"/>
              <a:ext cx="112" cy="102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7196" name="Picture 29" descr="Green and Black Diamond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406" y="576"/>
              <a:ext cx="113" cy="102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7197" name="Picture 30" descr="Green and Black Diamond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611" y="576"/>
              <a:ext cx="113" cy="102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7198" name="Picture 31" descr="Green and Black Diamond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724" y="576"/>
              <a:ext cx="112" cy="102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7199" name="Picture 32" descr="Green and Black Diamond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830" y="576"/>
              <a:ext cx="112" cy="102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7200" name="Picture 33" descr="Green and Black Diamond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929" y="576"/>
              <a:ext cx="113" cy="102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7201" name="Picture 34" descr="Green and Black Diamond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042" y="576"/>
              <a:ext cx="112" cy="102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7202" name="Picture 35" descr="Green and Black Diamond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512" y="576"/>
              <a:ext cx="113" cy="102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7203" name="Picture 36" descr="Green and Black Diamond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148" y="576"/>
              <a:ext cx="112" cy="102"/>
            </a:xfrm>
            <a:prstGeom prst="rect">
              <a:avLst/>
            </a:prstGeom>
            <a:noFill/>
            <a:ln w="9525">
              <a:noFill/>
            </a:ln>
          </p:spPr>
        </p:pic>
      </p:grpSp>
      <p:grpSp>
        <p:nvGrpSpPr>
          <p:cNvPr id="7204" name="Group 37"/>
          <p:cNvGrpSpPr/>
          <p:nvPr/>
        </p:nvGrpSpPr>
        <p:grpSpPr>
          <a:xfrm>
            <a:off x="1069975" y="2624138"/>
            <a:ext cx="7312025" cy="1590675"/>
            <a:chOff x="626" y="1584"/>
            <a:chExt cx="4558" cy="1002"/>
          </a:xfrm>
        </p:grpSpPr>
        <p:sp>
          <p:nvSpPr>
            <p:cNvPr id="7205" name="Oval 38"/>
            <p:cNvSpPr/>
            <p:nvPr/>
          </p:nvSpPr>
          <p:spPr>
            <a:xfrm>
              <a:off x="672" y="1824"/>
              <a:ext cx="576" cy="576"/>
            </a:xfrm>
            <a:prstGeom prst="ellipse">
              <a:avLst/>
            </a:prstGeom>
            <a:noFill/>
            <a:ln w="3810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lstStyle/>
            <a:p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7206" name="Text Box 39"/>
            <p:cNvSpPr txBox="1"/>
            <p:nvPr/>
          </p:nvSpPr>
          <p:spPr>
            <a:xfrm>
              <a:off x="626" y="1968"/>
              <a:ext cx="688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91435" tIns="45718" rIns="91435" bIns="45718" anchor="t" anchorCtr="0">
              <a:spAutoFit/>
            </a:bodyPr>
            <a:lstStyle/>
            <a:p>
              <a:pPr algn="ctr"/>
              <a:r>
                <a:rPr lang="zh-CN" altLang="en-US" b="1" dirty="0">
                  <a:solidFill>
                    <a:srgbClr val="003399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发电机</a:t>
              </a:r>
            </a:p>
          </p:txBody>
        </p:sp>
        <p:sp>
          <p:nvSpPr>
            <p:cNvPr id="7207" name="Text Box 40"/>
            <p:cNvSpPr txBox="1"/>
            <p:nvPr/>
          </p:nvSpPr>
          <p:spPr>
            <a:xfrm>
              <a:off x="1525" y="1824"/>
              <a:ext cx="875" cy="542"/>
            </a:xfrm>
            <a:prstGeom prst="rect">
              <a:avLst/>
            </a:prstGeom>
            <a:noFill/>
            <a:ln w="381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lIns="91435" tIns="45718" rIns="91435" bIns="45718" anchor="t" anchorCtr="0">
              <a:spAutoFit/>
            </a:bodyPr>
            <a:lstStyle/>
            <a:p>
              <a:pPr algn="ctr"/>
              <a:r>
                <a:rPr lang="zh-CN" altLang="en-US" b="1" dirty="0">
                  <a:solidFill>
                    <a:srgbClr val="CC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升压</a:t>
              </a:r>
            </a:p>
            <a:p>
              <a:pPr algn="ctr"/>
              <a:r>
                <a:rPr lang="zh-CN" altLang="en-US" b="1" dirty="0">
                  <a:solidFill>
                    <a:srgbClr val="CC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变压器</a:t>
              </a:r>
            </a:p>
          </p:txBody>
        </p:sp>
        <p:sp>
          <p:nvSpPr>
            <p:cNvPr id="7208" name="Text Box 41"/>
            <p:cNvSpPr txBox="1"/>
            <p:nvPr/>
          </p:nvSpPr>
          <p:spPr>
            <a:xfrm>
              <a:off x="3349" y="1824"/>
              <a:ext cx="875" cy="542"/>
            </a:xfrm>
            <a:prstGeom prst="rect">
              <a:avLst/>
            </a:prstGeom>
            <a:noFill/>
            <a:ln w="381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lIns="91435" tIns="45718" rIns="91435" bIns="45718" anchor="t" anchorCtr="0">
              <a:spAutoFit/>
            </a:bodyPr>
            <a:lstStyle/>
            <a:p>
              <a:pPr algn="ctr"/>
              <a:r>
                <a:rPr lang="zh-CN" altLang="en-US" b="1" dirty="0">
                  <a:solidFill>
                    <a:srgbClr val="CC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降压</a:t>
              </a:r>
            </a:p>
            <a:p>
              <a:pPr algn="ctr"/>
              <a:r>
                <a:rPr lang="zh-CN" altLang="en-US" b="1" dirty="0">
                  <a:solidFill>
                    <a:srgbClr val="CC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变压器</a:t>
              </a:r>
            </a:p>
          </p:txBody>
        </p:sp>
        <p:sp>
          <p:nvSpPr>
            <p:cNvPr id="7209" name="Text Box 42"/>
            <p:cNvSpPr txBox="1"/>
            <p:nvPr/>
          </p:nvSpPr>
          <p:spPr>
            <a:xfrm>
              <a:off x="4464" y="1584"/>
              <a:ext cx="720" cy="1002"/>
            </a:xfrm>
            <a:prstGeom prst="rect">
              <a:avLst/>
            </a:prstGeom>
            <a:noFill/>
            <a:ln w="381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lIns="91435" tIns="45718" rIns="91435" bIns="45718" anchor="t" anchorCtr="0">
              <a:spAutoFit/>
            </a:bodyPr>
            <a:lstStyle/>
            <a:p>
              <a:pPr algn="ctr"/>
              <a:r>
                <a:rPr lang="zh-CN" altLang="en-US" b="1" dirty="0">
                  <a:solidFill>
                    <a:srgbClr val="003399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电灯</a:t>
              </a:r>
            </a:p>
            <a:p>
              <a:pPr algn="ctr"/>
              <a:r>
                <a:rPr lang="zh-CN" altLang="en-US" b="1" dirty="0">
                  <a:solidFill>
                    <a:srgbClr val="003399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电动机电炉</a:t>
              </a:r>
            </a:p>
            <a:p>
              <a:pPr algn="ctr"/>
              <a:r>
                <a:rPr lang="en-US" altLang="zh-CN" b="1" dirty="0">
                  <a:solidFill>
                    <a:srgbClr val="003399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...</a:t>
              </a:r>
            </a:p>
          </p:txBody>
        </p:sp>
        <p:sp>
          <p:nvSpPr>
            <p:cNvPr id="7210" name="Line 43"/>
            <p:cNvSpPr/>
            <p:nvPr/>
          </p:nvSpPr>
          <p:spPr>
            <a:xfrm>
              <a:off x="1248" y="2112"/>
              <a:ext cx="288" cy="0"/>
            </a:xfrm>
            <a:prstGeom prst="line">
              <a:avLst/>
            </a:prstGeom>
            <a:ln w="38100" cap="flat" cmpd="sng">
              <a:solidFill>
                <a:srgbClr val="000000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7211" name="Line 44"/>
            <p:cNvSpPr/>
            <p:nvPr/>
          </p:nvSpPr>
          <p:spPr>
            <a:xfrm>
              <a:off x="2400" y="2112"/>
              <a:ext cx="240" cy="0"/>
            </a:xfrm>
            <a:prstGeom prst="line">
              <a:avLst/>
            </a:prstGeom>
            <a:ln w="38100" cap="flat" cmpd="sng">
              <a:solidFill>
                <a:srgbClr val="000000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7212" name="Line 45"/>
            <p:cNvSpPr/>
            <p:nvPr/>
          </p:nvSpPr>
          <p:spPr>
            <a:xfrm>
              <a:off x="3120" y="2112"/>
              <a:ext cx="240" cy="0"/>
            </a:xfrm>
            <a:prstGeom prst="line">
              <a:avLst/>
            </a:prstGeom>
            <a:ln w="38100" cap="flat" cmpd="sng">
              <a:solidFill>
                <a:srgbClr val="000000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7213" name="Line 46"/>
            <p:cNvSpPr/>
            <p:nvPr/>
          </p:nvSpPr>
          <p:spPr>
            <a:xfrm>
              <a:off x="2688" y="2112"/>
              <a:ext cx="432" cy="0"/>
            </a:xfrm>
            <a:prstGeom prst="line">
              <a:avLst/>
            </a:prstGeom>
            <a:ln w="38100" cap="flat" cmpd="sng">
              <a:solidFill>
                <a:srgbClr val="000000"/>
              </a:solidFill>
              <a:prstDash val="dash"/>
              <a:round/>
              <a:headEnd type="none" w="med" len="med"/>
              <a:tailEnd type="none" w="med" len="med"/>
            </a:ln>
          </p:spPr>
        </p:sp>
        <p:sp>
          <p:nvSpPr>
            <p:cNvPr id="7214" name="Line 47"/>
            <p:cNvSpPr/>
            <p:nvPr/>
          </p:nvSpPr>
          <p:spPr>
            <a:xfrm>
              <a:off x="4224" y="2112"/>
              <a:ext cx="240" cy="0"/>
            </a:xfrm>
            <a:prstGeom prst="line">
              <a:avLst/>
            </a:prstGeom>
            <a:ln w="38100" cap="flat" cmpd="sng">
              <a:solidFill>
                <a:srgbClr val="000000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7215" name="Text Box 48"/>
            <p:cNvSpPr txBox="1"/>
            <p:nvPr/>
          </p:nvSpPr>
          <p:spPr>
            <a:xfrm>
              <a:off x="2525" y="1824"/>
              <a:ext cx="687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91435" tIns="45718" rIns="91435" bIns="45718" anchor="t" anchorCtr="0">
              <a:spAutoFit/>
            </a:bodyPr>
            <a:lstStyle/>
            <a:p>
              <a:pPr algn="ctr"/>
              <a:r>
                <a:rPr lang="zh-CN" altLang="en-US" b="1" dirty="0">
                  <a:latin typeface="Times New Roman" panose="02020603050405020304" pitchFamily="18" charset="0"/>
                  <a:ea typeface="宋体" panose="02010600030101010101" pitchFamily="2" charset="-122"/>
                </a:rPr>
                <a:t>输电线</a:t>
              </a:r>
            </a:p>
          </p:txBody>
        </p:sp>
      </p:grpSp>
      <p:sp>
        <p:nvSpPr>
          <p:cNvPr id="6193" name="AutoShape 49"/>
          <p:cNvSpPr/>
          <p:nvPr/>
        </p:nvSpPr>
        <p:spPr>
          <a:xfrm rot="-5400000">
            <a:off x="4381500" y="2881313"/>
            <a:ext cx="381000" cy="2438400"/>
          </a:xfrm>
          <a:prstGeom prst="leftBrace">
            <a:avLst>
              <a:gd name="adj1" fmla="val 53244"/>
              <a:gd name="adj2" fmla="val 50000"/>
            </a:avLst>
          </a:prstGeom>
          <a:noFill/>
          <a:ln w="38100" cap="flat" cmpd="sng">
            <a:solidFill>
              <a:srgbClr val="003399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none" anchor="ctr" anchorCtr="0"/>
          <a:lstStyle/>
          <a:p>
            <a:endParaRPr lang="zh-CN" altLang="en-US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6194" name="AutoShape 50"/>
          <p:cNvSpPr/>
          <p:nvPr/>
        </p:nvSpPr>
        <p:spPr>
          <a:xfrm>
            <a:off x="0" y="4292600"/>
            <a:ext cx="2555875" cy="1223963"/>
          </a:xfrm>
          <a:prstGeom prst="wedgeRoundRectCallout">
            <a:avLst>
              <a:gd name="adj1" fmla="val 7514"/>
              <a:gd name="adj2" fmla="val -80870"/>
              <a:gd name="adj3" fmla="val 16667"/>
            </a:avLst>
          </a:prstGeom>
          <a:noFill/>
          <a:ln w="38100" cap="flat" cmpd="sng">
            <a:solidFill>
              <a:schemeClr val="accent2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91435" tIns="45718" rIns="91435" bIns="45718" anchor="ctr" anchorCtr="0"/>
          <a:lstStyle/>
          <a:p>
            <a:pPr algn="ctr">
              <a:spcBef>
                <a:spcPct val="2000"/>
              </a:spcBef>
            </a:pPr>
            <a:r>
              <a:rPr lang="zh-CN" altLang="en-US" sz="1800" b="1" dirty="0">
                <a:latin typeface="Times New Roman" panose="02020603050405020304" pitchFamily="18" charset="0"/>
                <a:ea typeface="宋体" panose="02010600030101010101" pitchFamily="2" charset="-122"/>
              </a:rPr>
              <a:t>热能</a:t>
            </a:r>
            <a:r>
              <a:rPr lang="en-US" altLang="zh-CN" sz="1800" b="1" dirty="0">
                <a:latin typeface="Times New Roman" panose="02020603050405020304" pitchFamily="18" charset="0"/>
                <a:ea typeface="宋体" panose="02010600030101010101" pitchFamily="2" charset="-122"/>
              </a:rPr>
              <a:t>/</a:t>
            </a:r>
            <a:r>
              <a:rPr lang="zh-CN" altLang="en-US" sz="1800" b="1" dirty="0">
                <a:latin typeface="Times New Roman" panose="02020603050405020304" pitchFamily="18" charset="0"/>
                <a:ea typeface="宋体" panose="02010600030101010101" pitchFamily="2" charset="-122"/>
              </a:rPr>
              <a:t>水能</a:t>
            </a:r>
            <a:r>
              <a:rPr lang="en-US" altLang="zh-CN" sz="1800" b="1" dirty="0">
                <a:latin typeface="Times New Roman" panose="02020603050405020304" pitchFamily="18" charset="0"/>
                <a:ea typeface="宋体" panose="02010600030101010101" pitchFamily="2" charset="-122"/>
              </a:rPr>
              <a:t>/</a:t>
            </a:r>
          </a:p>
          <a:p>
            <a:pPr algn="ctr">
              <a:spcBef>
                <a:spcPct val="2000"/>
              </a:spcBef>
            </a:pPr>
            <a:r>
              <a:rPr lang="zh-CN" altLang="en-US" sz="1800" b="1" dirty="0">
                <a:latin typeface="Times New Roman" panose="02020603050405020304" pitchFamily="18" charset="0"/>
                <a:ea typeface="宋体" panose="02010600030101010101" pitchFamily="2" charset="-122"/>
              </a:rPr>
              <a:t>风能</a:t>
            </a:r>
            <a:r>
              <a:rPr lang="en-US" altLang="zh-CN" sz="1800" b="1" dirty="0">
                <a:latin typeface="Times New Roman" panose="02020603050405020304" pitchFamily="18" charset="0"/>
                <a:ea typeface="宋体" panose="02010600030101010101" pitchFamily="2" charset="-122"/>
              </a:rPr>
              <a:t>/</a:t>
            </a:r>
            <a:r>
              <a:rPr lang="zh-CN" altLang="en-US" sz="1800" b="1" dirty="0">
                <a:latin typeface="Times New Roman" panose="02020603050405020304" pitchFamily="18" charset="0"/>
                <a:ea typeface="宋体" panose="02010600030101010101" pitchFamily="2" charset="-122"/>
              </a:rPr>
              <a:t>核能</a:t>
            </a:r>
            <a:r>
              <a:rPr lang="en-US" altLang="zh-CN" sz="1800" b="1" dirty="0">
                <a:latin typeface="Times New Roman" panose="02020603050405020304" pitchFamily="18" charset="0"/>
                <a:ea typeface="宋体" panose="02010600030101010101" pitchFamily="2" charset="-122"/>
              </a:rPr>
              <a:t>-----</a:t>
            </a:r>
            <a:r>
              <a:rPr lang="zh-CN" altLang="en-US" sz="1800" b="1" dirty="0">
                <a:solidFill>
                  <a:srgbClr val="CC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电能</a:t>
            </a:r>
          </a:p>
          <a:p>
            <a:pPr algn="ctr">
              <a:spcBef>
                <a:spcPct val="2000"/>
              </a:spcBef>
            </a:pPr>
            <a:r>
              <a:rPr lang="en-US" altLang="zh-CN" sz="1800" b="1" dirty="0">
                <a:latin typeface="Times New Roman" panose="02020603050405020304" pitchFamily="18" charset="0"/>
                <a:ea typeface="宋体" panose="02010600030101010101" pitchFamily="2" charset="-122"/>
              </a:rPr>
              <a:t>(</a:t>
            </a:r>
            <a:r>
              <a:rPr lang="zh-CN" altLang="en-US" sz="1800" b="1" dirty="0">
                <a:latin typeface="Times New Roman" panose="02020603050405020304" pitchFamily="18" charset="0"/>
                <a:ea typeface="宋体" panose="02010600030101010101" pitchFamily="2" charset="-122"/>
              </a:rPr>
              <a:t>电池也是常用电源</a:t>
            </a:r>
            <a:r>
              <a:rPr lang="en-US" altLang="zh-CN" sz="1800" b="1" dirty="0">
                <a:latin typeface="Times New Roman" panose="02020603050405020304" pitchFamily="18" charset="0"/>
                <a:ea typeface="宋体" panose="02010600030101010101" pitchFamily="2" charset="-122"/>
              </a:rPr>
              <a:t>)</a:t>
            </a:r>
          </a:p>
        </p:txBody>
      </p:sp>
      <p:sp>
        <p:nvSpPr>
          <p:cNvPr id="6195" name="AutoShape 51"/>
          <p:cNvSpPr/>
          <p:nvPr/>
        </p:nvSpPr>
        <p:spPr>
          <a:xfrm>
            <a:off x="6588125" y="4581525"/>
            <a:ext cx="2555875" cy="865188"/>
          </a:xfrm>
          <a:prstGeom prst="wedgeRoundRectCallout">
            <a:avLst>
              <a:gd name="adj1" fmla="val 7514"/>
              <a:gd name="adj2" fmla="val -93671"/>
              <a:gd name="adj3" fmla="val 16667"/>
            </a:avLst>
          </a:prstGeom>
          <a:noFill/>
          <a:ln w="38100" cap="flat" cmpd="sng">
            <a:solidFill>
              <a:schemeClr val="accent2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91435" tIns="45718" rIns="91435" bIns="45718" anchor="ctr" anchorCtr="0"/>
          <a:lstStyle/>
          <a:p>
            <a:pPr algn="ctr">
              <a:spcBef>
                <a:spcPct val="2000"/>
              </a:spcBef>
            </a:pPr>
            <a:r>
              <a:rPr lang="zh-CN" altLang="en-US" sz="1800" b="1" dirty="0">
                <a:solidFill>
                  <a:srgbClr val="CC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电能</a:t>
            </a:r>
            <a:r>
              <a:rPr lang="en-US" altLang="zh-CN" sz="1800" b="1" dirty="0">
                <a:latin typeface="Times New Roman" panose="02020603050405020304" pitchFamily="18" charset="0"/>
                <a:ea typeface="宋体" panose="02010600030101010101" pitchFamily="2" charset="-122"/>
              </a:rPr>
              <a:t>-----</a:t>
            </a:r>
          </a:p>
          <a:p>
            <a:pPr algn="ctr">
              <a:spcBef>
                <a:spcPct val="2000"/>
              </a:spcBef>
            </a:pPr>
            <a:r>
              <a:rPr lang="zh-CN" altLang="en-US" sz="1800" b="1" dirty="0">
                <a:latin typeface="Times New Roman" panose="02020603050405020304" pitchFamily="18" charset="0"/>
                <a:ea typeface="宋体" panose="02010600030101010101" pitchFamily="2" charset="-122"/>
              </a:rPr>
              <a:t>光能</a:t>
            </a:r>
            <a:r>
              <a:rPr lang="en-US" altLang="zh-CN" sz="1800" b="1" dirty="0">
                <a:latin typeface="Times New Roman" panose="02020603050405020304" pitchFamily="18" charset="0"/>
                <a:ea typeface="宋体" panose="02010600030101010101" pitchFamily="2" charset="-122"/>
              </a:rPr>
              <a:t>/</a:t>
            </a:r>
            <a:r>
              <a:rPr lang="zh-CN" altLang="en-US" sz="1800" b="1" dirty="0">
                <a:latin typeface="Times New Roman" panose="02020603050405020304" pitchFamily="18" charset="0"/>
                <a:ea typeface="宋体" panose="02010600030101010101" pitchFamily="2" charset="-122"/>
              </a:rPr>
              <a:t>机械能</a:t>
            </a:r>
            <a:r>
              <a:rPr lang="en-US" altLang="zh-CN" sz="1800" b="1" dirty="0">
                <a:latin typeface="Times New Roman" panose="02020603050405020304" pitchFamily="18" charset="0"/>
                <a:ea typeface="宋体" panose="02010600030101010101" pitchFamily="2" charset="-122"/>
              </a:rPr>
              <a:t>/</a:t>
            </a:r>
            <a:r>
              <a:rPr lang="zh-CN" altLang="en-US" sz="1800" b="1" dirty="0">
                <a:latin typeface="Times New Roman" panose="02020603050405020304" pitchFamily="18" charset="0"/>
                <a:ea typeface="宋体" panose="02010600030101010101" pitchFamily="2" charset="-122"/>
              </a:rPr>
              <a:t>热能等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61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61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61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" dur="500"/>
                                        <p:tgtEl>
                                          <p:spTgt spid="61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000"/>
                            </p:stCondLst>
                            <p:childTnLst>
                              <p:par>
                                <p:cTn id="23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5" dur="500"/>
                                        <p:tgtEl>
                                          <p:spTgt spid="61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1500"/>
                            </p:stCondLst>
                            <p:childTnLst>
                              <p:par>
                                <p:cTn id="27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9" dur="500"/>
                                        <p:tgtEl>
                                          <p:spTgt spid="61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148" grpId="0" animBg="1"/>
      <p:bldP spid="6149" grpId="0" animBg="1"/>
      <p:bldP spid="6150" grpId="0" animBg="1"/>
      <p:bldP spid="6193" grpId="0" animBg="1"/>
      <p:bldP spid="6194" grpId="0" animBg="1"/>
      <p:bldP spid="6195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3" name="Picture 52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7740650" y="4221163"/>
            <a:ext cx="1325563" cy="1338262"/>
          </a:xfrm>
          <a:prstGeom prst="rect">
            <a:avLst/>
          </a:prstGeom>
          <a:noFill/>
          <a:ln w="9525">
            <a:noFill/>
          </a:ln>
        </p:spPr>
      </p:pic>
      <p:grpSp>
        <p:nvGrpSpPr>
          <p:cNvPr id="2" name="Group 2"/>
          <p:cNvGrpSpPr/>
          <p:nvPr/>
        </p:nvGrpSpPr>
        <p:grpSpPr>
          <a:xfrm>
            <a:off x="3429000" y="3810000"/>
            <a:ext cx="2136775" cy="1219200"/>
            <a:chOff x="2308" y="2592"/>
            <a:chExt cx="1346" cy="768"/>
          </a:xfrm>
        </p:grpSpPr>
        <p:sp>
          <p:nvSpPr>
            <p:cNvPr id="8195" name="Rectangle 3"/>
            <p:cNvSpPr/>
            <p:nvPr/>
          </p:nvSpPr>
          <p:spPr>
            <a:xfrm>
              <a:off x="2308" y="2926"/>
              <a:ext cx="1346" cy="434"/>
            </a:xfrm>
            <a:prstGeom prst="rect">
              <a:avLst/>
            </a:prstGeom>
            <a:noFill/>
            <a:ln w="38100" cap="flat" cmpd="sng">
              <a:solidFill>
                <a:srgbClr val="00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/>
            <a:p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7172" name="Text Box 4"/>
            <p:cNvSpPr txBox="1">
              <a:spLocks noChangeArrowheads="1"/>
            </p:cNvSpPr>
            <p:nvPr/>
          </p:nvSpPr>
          <p:spPr bwMode="auto">
            <a:xfrm>
              <a:off x="2396" y="2947"/>
              <a:ext cx="1165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FF33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91435" tIns="45718" rIns="91435" bIns="45718">
              <a:spAutoFit/>
            </a:bodyPr>
            <a:lstStyle/>
            <a:p>
              <a:pPr marR="0" algn="ctr" defTabSz="914400">
                <a:spcBef>
                  <a:spcPct val="50000"/>
                </a:spcBef>
                <a:buClrTx/>
                <a:buSzTx/>
                <a:buFontTx/>
                <a:buNone/>
                <a:defRPr/>
              </a:pPr>
              <a:r>
                <a:rPr kumimoji="1" lang="zh-CN" altLang="en-US" sz="2800" b="1" kern="1200" cap="none" spc="0" normalizeH="0" baseline="0" noProof="0">
                  <a:solidFill>
                    <a:srgbClr val="000099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pitchFamily="18" charset="0"/>
                  <a:ea typeface="楷体_GB2312" pitchFamily="49" charset="-122"/>
                  <a:cs typeface="+mn-cs"/>
                </a:rPr>
                <a:t>直流电源</a:t>
              </a:r>
            </a:p>
          </p:txBody>
        </p:sp>
        <p:sp>
          <p:nvSpPr>
            <p:cNvPr id="8197" name="Line 5"/>
            <p:cNvSpPr/>
            <p:nvPr/>
          </p:nvSpPr>
          <p:spPr>
            <a:xfrm rot="-5400000">
              <a:off x="2813" y="2759"/>
              <a:ext cx="334" cy="0"/>
            </a:xfrm>
            <a:prstGeom prst="line">
              <a:avLst/>
            </a:prstGeom>
            <a:ln w="57150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</p:sp>
      </p:grpSp>
      <p:sp>
        <p:nvSpPr>
          <p:cNvPr id="7174" name="AutoShape 6"/>
          <p:cNvSpPr/>
          <p:nvPr/>
        </p:nvSpPr>
        <p:spPr>
          <a:xfrm>
            <a:off x="1219200" y="3657600"/>
            <a:ext cx="1876425" cy="1063625"/>
          </a:xfrm>
          <a:prstGeom prst="wedgeRoundRectCallout">
            <a:avLst>
              <a:gd name="adj1" fmla="val 80542"/>
              <a:gd name="adj2" fmla="val 42838"/>
              <a:gd name="adj3" fmla="val 16667"/>
            </a:avLst>
          </a:prstGeom>
          <a:noFill/>
          <a:ln w="38100" cap="flat" cmpd="sng">
            <a:solidFill>
              <a:srgbClr val="006600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91435" tIns="45718" rIns="91435" bIns="45718" anchor="ctr" anchorCtr="0"/>
          <a:lstStyle/>
          <a:p>
            <a:pPr>
              <a:spcBef>
                <a:spcPct val="2000"/>
              </a:spcBef>
            </a:pPr>
            <a:r>
              <a:rPr lang="zh-CN" altLang="en-US" sz="28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直流电源</a:t>
            </a:r>
            <a:r>
              <a:rPr lang="en-US" altLang="zh-CN" sz="28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:</a:t>
            </a:r>
            <a:r>
              <a:rPr lang="en-US" altLang="zh-CN" sz="2800" b="1" dirty="0">
                <a:latin typeface="Times New Roman" panose="02020603050405020304" pitchFamily="18" charset="0"/>
                <a:ea typeface="宋体" panose="02010600030101010101" pitchFamily="2" charset="-122"/>
              </a:rPr>
              <a:t>  </a:t>
            </a:r>
          </a:p>
          <a:p>
            <a:pPr>
              <a:spcBef>
                <a:spcPct val="2000"/>
              </a:spcBef>
            </a:pPr>
            <a:r>
              <a:rPr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提供能源</a:t>
            </a:r>
          </a:p>
        </p:txBody>
      </p:sp>
      <p:sp>
        <p:nvSpPr>
          <p:cNvPr id="7175" name="AutoShape 7"/>
          <p:cNvSpPr/>
          <p:nvPr/>
        </p:nvSpPr>
        <p:spPr>
          <a:xfrm>
            <a:off x="4572000" y="762000"/>
            <a:ext cx="3429000" cy="990600"/>
          </a:xfrm>
          <a:prstGeom prst="wedgeRoundRectCallout">
            <a:avLst>
              <a:gd name="adj1" fmla="val -47546"/>
              <a:gd name="adj2" fmla="val 126120"/>
              <a:gd name="adj3" fmla="val 16667"/>
            </a:avLst>
          </a:prstGeom>
          <a:noFill/>
          <a:ln w="38100" cap="flat" cmpd="sng">
            <a:solidFill>
              <a:srgbClr val="006600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91435" tIns="45718" rIns="91435" bIns="45718" anchor="ctr" anchorCtr="0"/>
          <a:lstStyle/>
          <a:p>
            <a:pPr algn="ctr">
              <a:spcBef>
                <a:spcPct val="2000"/>
              </a:spcBef>
            </a:pPr>
            <a:r>
              <a:rPr lang="zh-CN" altLang="en-US" sz="28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信号处理：</a:t>
            </a:r>
          </a:p>
          <a:p>
            <a:pPr algn="ctr">
              <a:spcBef>
                <a:spcPct val="2000"/>
              </a:spcBef>
            </a:pPr>
            <a:r>
              <a:rPr lang="zh-CN" altLang="en-US" sz="2000" b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放大、调谐、检波、变频等</a:t>
            </a:r>
          </a:p>
        </p:txBody>
      </p:sp>
      <p:sp>
        <p:nvSpPr>
          <p:cNvPr id="7176" name="AutoShape 8"/>
          <p:cNvSpPr/>
          <p:nvPr/>
        </p:nvSpPr>
        <p:spPr>
          <a:xfrm>
            <a:off x="5724525" y="3733800"/>
            <a:ext cx="3168650" cy="457200"/>
          </a:xfrm>
          <a:prstGeom prst="wedgeRoundRectCallout">
            <a:avLst>
              <a:gd name="adj1" fmla="val -46491"/>
              <a:gd name="adj2" fmla="val -196875"/>
              <a:gd name="adj3" fmla="val 16667"/>
            </a:avLst>
          </a:prstGeom>
          <a:noFill/>
          <a:ln w="38100" cap="flat" cmpd="sng">
            <a:solidFill>
              <a:srgbClr val="006600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91435" tIns="45718" rIns="91435" bIns="45718" anchor="ctr" anchorCtr="0"/>
          <a:lstStyle/>
          <a:p>
            <a:pPr algn="ctr">
              <a:spcBef>
                <a:spcPct val="20000"/>
              </a:spcBef>
            </a:pPr>
            <a:r>
              <a:rPr lang="zh-CN" altLang="en-US" sz="28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负载</a:t>
            </a:r>
            <a:r>
              <a:rPr lang="en-US" altLang="zh-CN" sz="1800" b="1" dirty="0">
                <a:latin typeface="Times New Roman" panose="02020603050405020304" pitchFamily="18" charset="0"/>
                <a:ea typeface="宋体" panose="02010600030101010101" pitchFamily="2" charset="-122"/>
              </a:rPr>
              <a:t>(</a:t>
            </a:r>
            <a:r>
              <a:rPr lang="zh-CN" altLang="en-US" sz="1800" b="1" dirty="0">
                <a:latin typeface="Times New Roman" panose="02020603050405020304" pitchFamily="18" charset="0"/>
                <a:ea typeface="宋体" panose="02010600030101010101" pitchFamily="2" charset="-122"/>
              </a:rPr>
              <a:t>接收和转换信号的设备</a:t>
            </a:r>
            <a:r>
              <a:rPr lang="en-US" altLang="zh-CN" sz="1800" b="1" dirty="0">
                <a:latin typeface="Times New Roman" panose="02020603050405020304" pitchFamily="18" charset="0"/>
                <a:ea typeface="宋体" panose="02010600030101010101" pitchFamily="2" charset="-122"/>
              </a:rPr>
              <a:t>)</a:t>
            </a:r>
            <a:endParaRPr lang="en-US" altLang="zh-CN" sz="2800" b="1" dirty="0">
              <a:solidFill>
                <a:srgbClr val="FF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7177" name="AutoShape 9"/>
          <p:cNvSpPr/>
          <p:nvPr/>
        </p:nvSpPr>
        <p:spPr>
          <a:xfrm>
            <a:off x="762000" y="1524000"/>
            <a:ext cx="1768475" cy="1042988"/>
          </a:xfrm>
          <a:prstGeom prst="wedgeRoundRectCallout">
            <a:avLst>
              <a:gd name="adj1" fmla="val 87255"/>
              <a:gd name="adj2" fmla="val 92921"/>
              <a:gd name="adj3" fmla="val 16667"/>
            </a:avLst>
          </a:prstGeom>
          <a:noFill/>
          <a:ln w="38100" cap="flat" cmpd="sng">
            <a:solidFill>
              <a:srgbClr val="006600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91435" tIns="45718" rIns="91435" bIns="45718" anchor="ctr" anchorCtr="0"/>
          <a:lstStyle/>
          <a:p>
            <a:pPr algn="ctr">
              <a:spcBef>
                <a:spcPct val="2000"/>
              </a:spcBef>
            </a:pPr>
            <a:r>
              <a:rPr lang="zh-CN" altLang="en-US" sz="28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信号源</a:t>
            </a:r>
            <a:r>
              <a:rPr lang="en-US" altLang="zh-CN" sz="28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:</a:t>
            </a:r>
            <a:r>
              <a:rPr lang="en-US" altLang="zh-CN" sz="2800" b="1" dirty="0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</a:p>
          <a:p>
            <a:pPr algn="ctr">
              <a:spcBef>
                <a:spcPct val="2000"/>
              </a:spcBef>
            </a:pPr>
            <a:r>
              <a:rPr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提供信息</a:t>
            </a:r>
          </a:p>
        </p:txBody>
      </p:sp>
      <p:sp>
        <p:nvSpPr>
          <p:cNvPr id="7178" name="Rectangle 10"/>
          <p:cNvSpPr>
            <a:spLocks noChangeArrowheads="1"/>
          </p:cNvSpPr>
          <p:nvPr/>
        </p:nvSpPr>
        <p:spPr bwMode="auto">
          <a:xfrm>
            <a:off x="609600" y="471488"/>
            <a:ext cx="2951163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FF33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1435" tIns="45718" rIns="91435" bIns="45718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2.</a:t>
            </a:r>
            <a:r>
              <a: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电路的</a:t>
            </a:r>
            <a:r>
              <a: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组成部分</a:t>
            </a:r>
          </a:p>
        </p:txBody>
      </p:sp>
      <p:grpSp>
        <p:nvGrpSpPr>
          <p:cNvPr id="8203" name="Group 11"/>
          <p:cNvGrpSpPr/>
          <p:nvPr/>
        </p:nvGrpSpPr>
        <p:grpSpPr>
          <a:xfrm>
            <a:off x="463550" y="1047750"/>
            <a:ext cx="4044950" cy="171450"/>
            <a:chOff x="192" y="576"/>
            <a:chExt cx="2548" cy="108"/>
          </a:xfrm>
        </p:grpSpPr>
        <p:pic>
          <p:nvPicPr>
            <p:cNvPr id="8204" name="Picture 12" descr="Green and Black Diamond"/>
            <p:cNvPicPr>
              <a:picLocks noChangeAspect="1"/>
            </p:cNvPicPr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244" y="576"/>
              <a:ext cx="120" cy="108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8205" name="Picture 13" descr="Green and Black Diamond"/>
            <p:cNvPicPr>
              <a:picLocks noChangeAspect="1"/>
            </p:cNvPicPr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357" y="576"/>
              <a:ext cx="119" cy="108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8206" name="Picture 14" descr="Green and Black Diamond"/>
            <p:cNvPicPr>
              <a:picLocks noChangeAspect="1"/>
            </p:cNvPicPr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463" y="576"/>
              <a:ext cx="119" cy="108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8207" name="Picture 15" descr="Green and Black Diamond"/>
            <p:cNvPicPr>
              <a:picLocks noChangeAspect="1"/>
            </p:cNvPicPr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562" y="576"/>
              <a:ext cx="119" cy="108"/>
            </a:xfrm>
            <a:prstGeom prst="rect">
              <a:avLst/>
            </a:prstGeom>
            <a:noFill/>
            <a:ln w="9525">
              <a:noFill/>
            </a:ln>
          </p:spPr>
        </p:pic>
        <p:grpSp>
          <p:nvGrpSpPr>
            <p:cNvPr id="8208" name="Group 16"/>
            <p:cNvGrpSpPr/>
            <p:nvPr/>
          </p:nvGrpSpPr>
          <p:grpSpPr>
            <a:xfrm>
              <a:off x="192" y="576"/>
              <a:ext cx="331" cy="108"/>
              <a:chOff x="395" y="624"/>
              <a:chExt cx="331" cy="108"/>
            </a:xfrm>
          </p:grpSpPr>
          <p:pic>
            <p:nvPicPr>
              <p:cNvPr id="8209" name="Picture 17" descr="Green and Black Diamond"/>
              <p:cNvPicPr>
                <a:picLocks noChangeAspect="1"/>
              </p:cNvPicPr>
              <p:nvPr/>
            </p:nvPicPr>
            <p:blipFill>
              <a:blip r:embed="rId3" cstate="print"/>
              <a:stretch>
                <a:fillRect/>
              </a:stretch>
            </p:blipFill>
            <p:spPr>
              <a:xfrm>
                <a:off x="395" y="624"/>
                <a:ext cx="119" cy="108"/>
              </a:xfrm>
              <a:prstGeom prst="rect">
                <a:avLst/>
              </a:prstGeom>
              <a:noFill/>
              <a:ln w="9525">
                <a:noFill/>
              </a:ln>
            </p:spPr>
          </p:pic>
          <p:pic>
            <p:nvPicPr>
              <p:cNvPr id="8210" name="Picture 18" descr="Green and Black Diamond"/>
              <p:cNvPicPr>
                <a:picLocks noChangeAspect="1"/>
              </p:cNvPicPr>
              <p:nvPr/>
            </p:nvPicPr>
            <p:blipFill>
              <a:blip r:embed="rId3" cstate="print"/>
              <a:stretch>
                <a:fillRect/>
              </a:stretch>
            </p:blipFill>
            <p:spPr>
              <a:xfrm>
                <a:off x="494" y="624"/>
                <a:ext cx="119" cy="108"/>
              </a:xfrm>
              <a:prstGeom prst="rect">
                <a:avLst/>
              </a:prstGeom>
              <a:noFill/>
              <a:ln w="9525">
                <a:noFill/>
              </a:ln>
            </p:spPr>
          </p:pic>
          <p:pic>
            <p:nvPicPr>
              <p:cNvPr id="8211" name="Picture 19" descr="Green and Black Diamond"/>
              <p:cNvPicPr>
                <a:picLocks noChangeAspect="1"/>
              </p:cNvPicPr>
              <p:nvPr/>
            </p:nvPicPr>
            <p:blipFill>
              <a:blip r:embed="rId3" cstate="print"/>
              <a:stretch>
                <a:fillRect/>
              </a:stretch>
            </p:blipFill>
            <p:spPr>
              <a:xfrm>
                <a:off x="607" y="624"/>
                <a:ext cx="119" cy="108"/>
              </a:xfrm>
              <a:prstGeom prst="rect">
                <a:avLst/>
              </a:prstGeom>
              <a:noFill/>
              <a:ln w="9525">
                <a:noFill/>
              </a:ln>
            </p:spPr>
          </p:pic>
        </p:grpSp>
        <p:pic>
          <p:nvPicPr>
            <p:cNvPr id="8212" name="Picture 20" descr="Green and Black Diamond"/>
            <p:cNvPicPr>
              <a:picLocks noChangeAspect="1"/>
            </p:cNvPicPr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09" y="576"/>
              <a:ext cx="119" cy="108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8213" name="Picture 21" descr="Green and Black Diamond"/>
            <p:cNvPicPr>
              <a:picLocks noChangeAspect="1"/>
            </p:cNvPicPr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21" y="576"/>
              <a:ext cx="119" cy="108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8214" name="Picture 22" descr="Green and Black Diamond"/>
            <p:cNvPicPr>
              <a:picLocks noChangeAspect="1"/>
            </p:cNvPicPr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27" y="576"/>
              <a:ext cx="119" cy="108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8215" name="Picture 23" descr="Green and Black Diamond"/>
            <p:cNvPicPr>
              <a:picLocks noChangeAspect="1"/>
            </p:cNvPicPr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26" y="576"/>
              <a:ext cx="120" cy="108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8216" name="Picture 24" descr="Green and Black Diamond"/>
            <p:cNvPicPr>
              <a:picLocks noChangeAspect="1"/>
            </p:cNvPicPr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039" y="576"/>
              <a:ext cx="119" cy="108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8217" name="Picture 25" descr="Green and Black Diamond"/>
            <p:cNvPicPr>
              <a:picLocks noChangeAspect="1"/>
            </p:cNvPicPr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10" y="576"/>
              <a:ext cx="119" cy="108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8218" name="Picture 26" descr="Green and Black Diamond"/>
            <p:cNvPicPr>
              <a:picLocks noChangeAspect="1"/>
            </p:cNvPicPr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145" y="576"/>
              <a:ext cx="119" cy="108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8219" name="Picture 27" descr="Green and Black Diamond"/>
            <p:cNvPicPr>
              <a:picLocks noChangeAspect="1"/>
            </p:cNvPicPr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675" y="576"/>
              <a:ext cx="112" cy="102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8220" name="Picture 28" descr="Green and Black Diamond"/>
            <p:cNvPicPr>
              <a:picLocks noChangeAspect="1"/>
            </p:cNvPicPr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781" y="576"/>
              <a:ext cx="112" cy="102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8221" name="Picture 29" descr="Green and Black Diamond"/>
            <p:cNvPicPr>
              <a:picLocks noChangeAspect="1"/>
            </p:cNvPicPr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880" y="576"/>
              <a:ext cx="112" cy="102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8222" name="Picture 30" descr="Green and Black Diamond"/>
            <p:cNvPicPr>
              <a:picLocks noChangeAspect="1"/>
            </p:cNvPicPr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992" y="576"/>
              <a:ext cx="113" cy="102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8223" name="Picture 31" descr="Green and Black Diamond"/>
            <p:cNvPicPr>
              <a:picLocks noChangeAspect="1"/>
            </p:cNvPicPr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098" y="576"/>
              <a:ext cx="113" cy="102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8224" name="Picture 32" descr="Green and Black Diamond"/>
            <p:cNvPicPr>
              <a:picLocks noChangeAspect="1"/>
            </p:cNvPicPr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198" y="576"/>
              <a:ext cx="112" cy="102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8225" name="Picture 33" descr="Green and Black Diamond"/>
            <p:cNvPicPr>
              <a:picLocks noChangeAspect="1"/>
            </p:cNvPicPr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310" y="576"/>
              <a:ext cx="113" cy="102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8226" name="Picture 34" descr="Green and Black Diamond"/>
            <p:cNvPicPr>
              <a:picLocks noChangeAspect="1"/>
            </p:cNvPicPr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515" y="576"/>
              <a:ext cx="113" cy="102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8227" name="Picture 35" descr="Green and Black Diamond"/>
            <p:cNvPicPr>
              <a:picLocks noChangeAspect="1"/>
            </p:cNvPicPr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628" y="576"/>
              <a:ext cx="112" cy="102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8228" name="Picture 36" descr="Green and Black Diamond"/>
            <p:cNvPicPr>
              <a:picLocks noChangeAspect="1"/>
            </p:cNvPicPr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416" y="576"/>
              <a:ext cx="113" cy="102"/>
            </a:xfrm>
            <a:prstGeom prst="rect">
              <a:avLst/>
            </a:prstGeom>
            <a:noFill/>
            <a:ln w="9525">
              <a:noFill/>
            </a:ln>
          </p:spPr>
        </p:pic>
      </p:grpSp>
      <p:grpSp>
        <p:nvGrpSpPr>
          <p:cNvPr id="8229" name="Group 37"/>
          <p:cNvGrpSpPr/>
          <p:nvPr/>
        </p:nvGrpSpPr>
        <p:grpSpPr>
          <a:xfrm>
            <a:off x="2590800" y="2209800"/>
            <a:ext cx="3948113" cy="1638300"/>
            <a:chOff x="624" y="2880"/>
            <a:chExt cx="2487" cy="1032"/>
          </a:xfrm>
        </p:grpSpPr>
        <p:grpSp>
          <p:nvGrpSpPr>
            <p:cNvPr id="8230" name="Group 38"/>
            <p:cNvGrpSpPr/>
            <p:nvPr/>
          </p:nvGrpSpPr>
          <p:grpSpPr>
            <a:xfrm>
              <a:off x="873" y="3256"/>
              <a:ext cx="307" cy="295"/>
              <a:chOff x="3648" y="2824"/>
              <a:chExt cx="384" cy="369"/>
            </a:xfrm>
          </p:grpSpPr>
          <p:sp>
            <p:nvSpPr>
              <p:cNvPr id="8231" name="Oval 39"/>
              <p:cNvSpPr/>
              <p:nvPr/>
            </p:nvSpPr>
            <p:spPr>
              <a:xfrm>
                <a:off x="3696" y="2832"/>
                <a:ext cx="336" cy="336"/>
              </a:xfrm>
              <a:prstGeom prst="ellipse">
                <a:avLst/>
              </a:prstGeom>
              <a:noFill/>
              <a:ln w="38100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wrap="none" anchor="ctr" anchorCtr="0"/>
              <a:lstStyle/>
              <a:p>
                <a:endParaRPr lang="zh-CN" altLang="en-US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8232" name="Rectangle 40"/>
              <p:cNvSpPr/>
              <p:nvPr/>
            </p:nvSpPr>
            <p:spPr>
              <a:xfrm>
                <a:off x="3648" y="2824"/>
                <a:ext cx="48" cy="369"/>
              </a:xfrm>
              <a:prstGeom prst="rect">
                <a:avLst/>
              </a:prstGeom>
              <a:noFill/>
              <a:ln w="38100" cap="flat" cmpd="sng">
                <a:solidFill>
                  <a:srgbClr val="000000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lstStyle/>
              <a:p>
                <a:endParaRPr lang="zh-CN" altLang="en-US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</p:grpSp>
        <p:grpSp>
          <p:nvGrpSpPr>
            <p:cNvPr id="8233" name="Group 41"/>
            <p:cNvGrpSpPr/>
            <p:nvPr/>
          </p:nvGrpSpPr>
          <p:grpSpPr>
            <a:xfrm>
              <a:off x="2496" y="3216"/>
              <a:ext cx="217" cy="356"/>
              <a:chOff x="2496" y="3216"/>
              <a:chExt cx="217" cy="356"/>
            </a:xfrm>
          </p:grpSpPr>
          <p:sp>
            <p:nvSpPr>
              <p:cNvPr id="8234" name="Rectangle 42"/>
              <p:cNvSpPr/>
              <p:nvPr/>
            </p:nvSpPr>
            <p:spPr>
              <a:xfrm>
                <a:off x="2496" y="3291"/>
                <a:ext cx="55" cy="210"/>
              </a:xfrm>
              <a:prstGeom prst="rect">
                <a:avLst/>
              </a:prstGeom>
              <a:noFill/>
              <a:ln w="38100" cap="flat" cmpd="sng">
                <a:solidFill>
                  <a:srgbClr val="000000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lstStyle/>
              <a:p>
                <a:endParaRPr lang="zh-CN" altLang="en-US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8235" name="AutoShape 43"/>
              <p:cNvSpPr/>
              <p:nvPr/>
            </p:nvSpPr>
            <p:spPr>
              <a:xfrm rot="5400000">
                <a:off x="2461" y="3320"/>
                <a:ext cx="356" cy="148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0" b="0"/>
                <a:pathLst>
                  <a:path w="21600" h="21600">
                    <a:moveTo>
                      <a:pt x="0" y="0"/>
                    </a:moveTo>
                    <a:lnTo>
                      <a:pt x="5400" y="21600"/>
                    </a:lnTo>
                    <a:lnTo>
                      <a:pt x="16200" y="21600"/>
                    </a:lnTo>
                    <a:lnTo>
                      <a:pt x="21600" y="0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 w="38100" cap="flat" cmpd="sng">
                <a:solidFill>
                  <a:srgbClr val="000000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8236" name="Line 44"/>
            <p:cNvSpPr/>
            <p:nvPr/>
          </p:nvSpPr>
          <p:spPr>
            <a:xfrm>
              <a:off x="1180" y="3389"/>
              <a:ext cx="318" cy="0"/>
            </a:xfrm>
            <a:prstGeom prst="line">
              <a:avLst/>
            </a:prstGeom>
            <a:ln w="57150" cap="flat" cmpd="sng">
              <a:solidFill>
                <a:srgbClr val="000000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8237" name="Line 45"/>
            <p:cNvSpPr/>
            <p:nvPr/>
          </p:nvSpPr>
          <p:spPr>
            <a:xfrm>
              <a:off x="2112" y="3389"/>
              <a:ext cx="404" cy="0"/>
            </a:xfrm>
            <a:prstGeom prst="line">
              <a:avLst/>
            </a:prstGeom>
            <a:ln w="57150" cap="flat" cmpd="sng">
              <a:solidFill>
                <a:srgbClr val="000000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8238" name="Text Box 46"/>
            <p:cNvSpPr txBox="1"/>
            <p:nvPr/>
          </p:nvSpPr>
          <p:spPr>
            <a:xfrm>
              <a:off x="1488" y="3002"/>
              <a:ext cx="624" cy="910"/>
            </a:xfrm>
            <a:prstGeom prst="rect">
              <a:avLst/>
            </a:prstGeom>
            <a:noFill/>
            <a:ln w="381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lIns="91435" tIns="45718" rIns="91435" bIns="45718" anchor="t" anchorCtr="0">
              <a:spAutoFit/>
            </a:bodyPr>
            <a:lstStyle/>
            <a:p>
              <a:pPr algn="ctr">
                <a:lnSpc>
                  <a:spcPct val="90000"/>
                </a:lnSpc>
              </a:pPr>
              <a:r>
                <a:rPr lang="zh-CN" altLang="en-US" sz="3200" b="1" dirty="0">
                  <a:solidFill>
                    <a:srgbClr val="FF33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放大器</a:t>
              </a:r>
            </a:p>
          </p:txBody>
        </p:sp>
        <p:sp>
          <p:nvSpPr>
            <p:cNvPr id="8239" name="Text Box 47"/>
            <p:cNvSpPr txBox="1"/>
            <p:nvPr/>
          </p:nvSpPr>
          <p:spPr>
            <a:xfrm>
              <a:off x="2104" y="2880"/>
              <a:ext cx="1007" cy="327"/>
            </a:xfrm>
            <a:prstGeom prst="rect">
              <a:avLst/>
            </a:prstGeom>
            <a:noFill/>
            <a:ln w="38100">
              <a:noFill/>
            </a:ln>
          </p:spPr>
          <p:txBody>
            <a:bodyPr lIns="91435" tIns="45718" rIns="91435" bIns="45718" anchor="t" anchorCtr="0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zh-CN" altLang="en-US" sz="2800" b="1" dirty="0">
                  <a:solidFill>
                    <a:srgbClr val="000099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扬声器</a:t>
              </a:r>
            </a:p>
          </p:txBody>
        </p:sp>
        <p:sp>
          <p:nvSpPr>
            <p:cNvPr id="8240" name="Text Box 48"/>
            <p:cNvSpPr txBox="1"/>
            <p:nvPr/>
          </p:nvSpPr>
          <p:spPr>
            <a:xfrm>
              <a:off x="624" y="2880"/>
              <a:ext cx="759" cy="327"/>
            </a:xfrm>
            <a:prstGeom prst="rect">
              <a:avLst/>
            </a:prstGeom>
            <a:noFill/>
            <a:ln w="38100">
              <a:noFill/>
            </a:ln>
          </p:spPr>
          <p:txBody>
            <a:bodyPr lIns="91435" tIns="45718" rIns="91435" bIns="45718" anchor="t" anchorCtr="0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zh-CN" altLang="en-US" sz="2800" b="1" dirty="0">
                  <a:solidFill>
                    <a:srgbClr val="000099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话筒</a:t>
              </a:r>
              <a:endParaRPr lang="zh-CN" altLang="en-US" sz="3200" b="1" dirty="0">
                <a:solidFill>
                  <a:srgbClr val="000099"/>
                </a:solidFill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</p:grpSp>
      <p:sp>
        <p:nvSpPr>
          <p:cNvPr id="7217" name="Rectangle 49"/>
          <p:cNvSpPr/>
          <p:nvPr/>
        </p:nvSpPr>
        <p:spPr>
          <a:xfrm>
            <a:off x="323850" y="5660390"/>
            <a:ext cx="8610600" cy="769620"/>
          </a:xfrm>
          <a:prstGeom prst="rect">
            <a:avLst/>
          </a:prstGeom>
          <a:noFill/>
          <a:ln w="9525">
            <a:noFill/>
          </a:ln>
        </p:spPr>
        <p:txBody>
          <a:bodyPr lIns="91435" tIns="45718" rIns="91435" bIns="45718" anchor="t" anchorCtr="0">
            <a:spAutoFit/>
          </a:bodyPr>
          <a:lstStyle/>
          <a:p>
            <a:pPr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</a:pPr>
            <a:r>
              <a:rPr lang="zh-CN" altLang="en-US" sz="2000" b="1" dirty="0">
                <a:solidFill>
                  <a:srgbClr val="00B050"/>
                </a:solidFill>
                <a:latin typeface="华文行楷" panose="02010800040101010101" charset="-122"/>
                <a:ea typeface="华文行楷" panose="02010800040101010101" charset="-122"/>
                <a:cs typeface="华文行楷" panose="02010800040101010101" charset="-122"/>
                <a:sym typeface="+mn-ea"/>
              </a:rPr>
              <a:t>激励：</a:t>
            </a:r>
            <a:r>
              <a:rPr lang="zh-CN" altLang="en-US" sz="2000" b="1" dirty="0">
                <a:latin typeface="华文行楷" panose="02010800040101010101" charset="-122"/>
                <a:ea typeface="华文行楷" panose="02010800040101010101" charset="-122"/>
                <a:cs typeface="华文行楷" panose="02010800040101010101" charset="-122"/>
              </a:rPr>
              <a:t>电源或信号源的电压或电流，它推动电路工作；</a:t>
            </a:r>
          </a:p>
          <a:p>
            <a:pPr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</a:pPr>
            <a:r>
              <a:rPr lang="zh-CN" altLang="en-US" sz="2000" b="1" dirty="0">
                <a:solidFill>
                  <a:srgbClr val="00B050"/>
                </a:solidFill>
                <a:latin typeface="华文行楷" panose="02010800040101010101" charset="-122"/>
                <a:ea typeface="华文行楷" panose="02010800040101010101" charset="-122"/>
                <a:cs typeface="华文行楷" panose="02010800040101010101" charset="-122"/>
                <a:sym typeface="+mn-ea"/>
              </a:rPr>
              <a:t>响应：</a:t>
            </a:r>
            <a:r>
              <a:rPr lang="zh-CN" altLang="en-US" sz="2000" b="1" dirty="0">
                <a:latin typeface="华文行楷" panose="02010800040101010101" charset="-122"/>
                <a:ea typeface="华文行楷" panose="02010800040101010101" charset="-122"/>
                <a:cs typeface="华文行楷" panose="02010800040101010101" charset="-122"/>
              </a:rPr>
              <a:t>由激励所产生的电压和电流。</a:t>
            </a:r>
          </a:p>
        </p:txBody>
      </p:sp>
      <p:sp>
        <p:nvSpPr>
          <p:cNvPr id="7218" name="Rectangle 50"/>
          <p:cNvSpPr/>
          <p:nvPr/>
        </p:nvSpPr>
        <p:spPr>
          <a:xfrm>
            <a:off x="1908175" y="4941888"/>
            <a:ext cx="5111750" cy="519112"/>
          </a:xfrm>
          <a:prstGeom prst="rect">
            <a:avLst/>
          </a:prstGeom>
          <a:noFill/>
          <a:ln w="9525">
            <a:noFill/>
          </a:ln>
        </p:spPr>
        <p:txBody>
          <a:bodyPr lIns="91435" tIns="45718" rIns="91435" bIns="45718" anchor="t" anchorCtr="0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800" b="1" dirty="0">
                <a:latin typeface="Times New Roman" panose="02020603050405020304" pitchFamily="18" charset="0"/>
                <a:ea typeface="宋体" panose="02010600030101010101" pitchFamily="2" charset="-122"/>
              </a:rPr>
              <a:t>    </a:t>
            </a:r>
            <a:r>
              <a:rPr lang="zh-CN" altLang="en-US" sz="1800" b="1" dirty="0">
                <a:latin typeface="Times New Roman" panose="02020603050405020304" pitchFamily="18" charset="0"/>
                <a:ea typeface="宋体" panose="02010600030101010101" pitchFamily="2" charset="-122"/>
              </a:rPr>
              <a:t>信息</a:t>
            </a:r>
            <a:r>
              <a:rPr lang="en-US" altLang="zh-CN" sz="1800" b="1" dirty="0">
                <a:latin typeface="Times New Roman" panose="02020603050405020304" pitchFamily="18" charset="0"/>
                <a:ea typeface="宋体" panose="02010600030101010101" pitchFamily="2" charset="-122"/>
              </a:rPr>
              <a:t>(</a:t>
            </a:r>
            <a:r>
              <a:rPr lang="zh-CN" altLang="en-US" sz="1800" b="1" dirty="0">
                <a:latin typeface="Times New Roman" panose="02020603050405020304" pitchFamily="18" charset="0"/>
                <a:ea typeface="宋体" panose="02010600030101010101" pitchFamily="2" charset="-122"/>
              </a:rPr>
              <a:t>转换成</a:t>
            </a:r>
            <a:r>
              <a:rPr lang="en-US" altLang="zh-CN" sz="1800" b="1" dirty="0">
                <a:latin typeface="Times New Roman" panose="02020603050405020304" pitchFamily="18" charset="0"/>
                <a:ea typeface="宋体" panose="02010600030101010101" pitchFamily="2" charset="-122"/>
              </a:rPr>
              <a:t>)------</a:t>
            </a:r>
            <a:r>
              <a:rPr lang="zh-CN" altLang="en-US" sz="1800" b="1" dirty="0">
                <a:latin typeface="Times New Roman" panose="02020603050405020304" pitchFamily="18" charset="0"/>
                <a:ea typeface="宋体" panose="02010600030101010101" pitchFamily="2" charset="-122"/>
              </a:rPr>
              <a:t>电信号</a:t>
            </a:r>
            <a:r>
              <a:rPr lang="en-US" altLang="zh-CN" sz="1800" b="1" dirty="0">
                <a:latin typeface="Times New Roman" panose="02020603050405020304" pitchFamily="18" charset="0"/>
                <a:ea typeface="宋体" panose="02010600030101010101" pitchFamily="2" charset="-122"/>
              </a:rPr>
              <a:t>------(</a:t>
            </a:r>
            <a:r>
              <a:rPr lang="zh-CN" altLang="en-US" sz="1800" b="1" dirty="0">
                <a:latin typeface="Times New Roman" panose="02020603050405020304" pitchFamily="18" charset="0"/>
                <a:ea typeface="宋体" panose="02010600030101010101" pitchFamily="2" charset="-122"/>
              </a:rPr>
              <a:t>还原为</a:t>
            </a:r>
            <a:r>
              <a:rPr lang="en-US" altLang="zh-CN" sz="1800" b="1" dirty="0">
                <a:latin typeface="Times New Roman" panose="02020603050405020304" pitchFamily="18" charset="0"/>
                <a:ea typeface="宋体" panose="02010600030101010101" pitchFamily="2" charset="-122"/>
              </a:rPr>
              <a:t>)</a:t>
            </a:r>
            <a:r>
              <a:rPr lang="zh-CN" altLang="en-US" sz="1800" b="1" dirty="0">
                <a:latin typeface="Times New Roman" panose="02020603050405020304" pitchFamily="18" charset="0"/>
                <a:ea typeface="宋体" panose="02010600030101010101" pitchFamily="2" charset="-122"/>
              </a:rPr>
              <a:t>信息</a:t>
            </a:r>
          </a:p>
        </p:txBody>
      </p:sp>
      <p:sp>
        <p:nvSpPr>
          <p:cNvPr id="7219" name="Rectangle 51"/>
          <p:cNvSpPr/>
          <p:nvPr/>
        </p:nvSpPr>
        <p:spPr>
          <a:xfrm>
            <a:off x="37783" y="6410643"/>
            <a:ext cx="8066087" cy="397510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  <p:txBody>
          <a:bodyPr lIns="91435" tIns="45718" rIns="91435" bIns="45718" anchor="t" anchorCtr="0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000" b="1" dirty="0">
                <a:latin typeface="华文行楷" panose="02010800040101010101" charset="-122"/>
                <a:ea typeface="华文行楷" panose="02010800040101010101" charset="-122"/>
                <a:cs typeface="华文行楷" panose="02010800040101010101" charset="-122"/>
              </a:rPr>
              <a:t>    </a:t>
            </a:r>
            <a:r>
              <a:rPr lang="zh-CN" altLang="en-US" sz="2000" b="1" dirty="0">
                <a:solidFill>
                  <a:srgbClr val="00B050"/>
                </a:solidFill>
                <a:latin typeface="华文行楷" panose="02010800040101010101" charset="-122"/>
                <a:ea typeface="华文行楷" panose="02010800040101010101" charset="-122"/>
                <a:cs typeface="华文行楷" panose="02010800040101010101" charset="-122"/>
              </a:rPr>
              <a:t>电路分析</a:t>
            </a:r>
            <a:r>
              <a:rPr lang="en-US" altLang="zh-CN" sz="2000" b="1" dirty="0">
                <a:solidFill>
                  <a:srgbClr val="00B050"/>
                </a:solidFill>
                <a:latin typeface="华文行楷" panose="02010800040101010101" charset="-122"/>
                <a:ea typeface="华文行楷" panose="02010800040101010101" charset="-122"/>
                <a:cs typeface="华文行楷" panose="02010800040101010101" charset="-122"/>
              </a:rPr>
              <a:t>:  </a:t>
            </a:r>
            <a:r>
              <a:rPr lang="zh-CN" altLang="en-US" sz="2000" b="1" dirty="0">
                <a:latin typeface="华文行楷" panose="02010800040101010101" charset="-122"/>
                <a:ea typeface="华文行楷" panose="02010800040101010101" charset="-122"/>
                <a:cs typeface="华文行楷" panose="02010800040101010101" charset="-122"/>
              </a:rPr>
              <a:t>已知电路结构</a:t>
            </a:r>
            <a:r>
              <a:rPr lang="en-US" altLang="zh-CN" sz="2000" b="1" dirty="0">
                <a:latin typeface="华文行楷" panose="02010800040101010101" charset="-122"/>
                <a:ea typeface="华文行楷" panose="02010800040101010101" charset="-122"/>
                <a:cs typeface="华文行楷" panose="02010800040101010101" charset="-122"/>
              </a:rPr>
              <a:t>\</a:t>
            </a:r>
            <a:r>
              <a:rPr lang="zh-CN" altLang="en-US" sz="2000" b="1" dirty="0">
                <a:latin typeface="华文行楷" panose="02010800040101010101" charset="-122"/>
                <a:ea typeface="华文行楷" panose="02010800040101010101" charset="-122"/>
                <a:cs typeface="华文行楷" panose="02010800040101010101" charset="-122"/>
              </a:rPr>
              <a:t>元件参数，求电路的</a:t>
            </a:r>
            <a:r>
              <a:rPr lang="zh-CN" altLang="en-US" sz="2000" b="1" dirty="0">
                <a:solidFill>
                  <a:srgbClr val="FF0000"/>
                </a:solidFill>
                <a:latin typeface="华文行楷" panose="02010800040101010101" charset="-122"/>
                <a:ea typeface="华文行楷" panose="02010800040101010101" charset="-122"/>
                <a:cs typeface="华文行楷" panose="02010800040101010101" charset="-122"/>
              </a:rPr>
              <a:t>激励与响应</a:t>
            </a:r>
            <a:r>
              <a:rPr lang="zh-CN" altLang="en-US" sz="2000" b="1" dirty="0">
                <a:latin typeface="华文行楷" panose="02010800040101010101" charset="-122"/>
                <a:ea typeface="华文行楷" panose="02010800040101010101" charset="-122"/>
                <a:cs typeface="华文行楷" panose="02010800040101010101" charset="-122"/>
              </a:rPr>
              <a:t>间关系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7" dur="500"/>
                                        <p:tgtEl>
                                          <p:spTgt spid="71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8" presetClass="entr" presetSubtype="9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Left)">
                                      <p:cBhvr>
                                        <p:cTn id="12" dur="500"/>
                                        <p:tgtEl>
                                          <p:spTgt spid="71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7" dur="500"/>
                                        <p:tgtEl>
                                          <p:spTgt spid="71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500"/>
                            </p:stCondLst>
                            <p:childTnLst>
                              <p:par>
                                <p:cTn id="24" presetID="18" presetClass="entr" presetSubtype="3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26" dur="500"/>
                                        <p:tgtEl>
                                          <p:spTgt spid="71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72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72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72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174" grpId="0" animBg="1"/>
      <p:bldP spid="7175" grpId="0" animBg="1"/>
      <p:bldP spid="7176" grpId="0" animBg="1"/>
      <p:bldP spid="7177" grpId="0" animBg="1"/>
      <p:bldP spid="7217" grpId="0"/>
      <p:bldP spid="7218" grpId="0"/>
      <p:bldP spid="7219" grpId="0" bldLvl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17" name="Picture 3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3" cstate="print"/>
          <a:stretch>
            <a:fillRect/>
          </a:stretch>
        </p:blipFill>
        <p:spPr>
          <a:xfrm>
            <a:off x="250825" y="4873625"/>
            <a:ext cx="8714105" cy="195453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4" name="Text Box 38"/>
          <p:cNvSpPr txBox="1"/>
          <p:nvPr/>
        </p:nvSpPr>
        <p:spPr>
          <a:xfrm>
            <a:off x="322580" y="3888105"/>
            <a:ext cx="7764145" cy="1013460"/>
          </a:xfrm>
          <a:prstGeom prst="rect">
            <a:avLst/>
          </a:prstGeom>
          <a:noFill/>
          <a:ln w="9525">
            <a:noFill/>
          </a:ln>
        </p:spPr>
        <p:txBody>
          <a:bodyPr wrap="square" lIns="91435" tIns="45718" rIns="91435" bIns="45718" anchor="t" anchorCtr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altLang="zh-CN" sz="2000" b="1" dirty="0">
                <a:solidFill>
                  <a:srgbClr val="000099"/>
                </a:solidFill>
                <a:latin typeface="华文行楷" panose="02010800040101010101" charset="-122"/>
                <a:ea typeface="华文行楷" panose="02010800040101010101" charset="-122"/>
                <a:cs typeface="华文行楷" panose="02010800040101010101" charset="-122"/>
              </a:rPr>
              <a:t>      </a:t>
            </a:r>
            <a:r>
              <a:rPr lang="zh-CN" altLang="en-US" sz="2000" b="1" dirty="0">
                <a:solidFill>
                  <a:srgbClr val="00B050"/>
                </a:solidFill>
                <a:latin typeface="华文行楷" panose="02010800040101010101" charset="-122"/>
                <a:ea typeface="华文行楷" panose="02010800040101010101" charset="-122"/>
                <a:cs typeface="华文行楷" panose="02010800040101010101" charset="-122"/>
              </a:rPr>
              <a:t>理想电路元件：</a:t>
            </a:r>
            <a:r>
              <a:rPr lang="zh-CN" altLang="en-US" sz="2000" b="1" dirty="0">
                <a:solidFill>
                  <a:srgbClr val="000099"/>
                </a:solidFill>
                <a:latin typeface="华文行楷" panose="02010800040101010101" charset="-122"/>
                <a:ea typeface="华文行楷" panose="02010800040101010101" charset="-122"/>
                <a:cs typeface="华文行楷" panose="02010800040101010101" charset="-122"/>
              </a:rPr>
              <a:t>电阻元件、电感元件、电容元件和电源元件等。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altLang="zh-CN" sz="2000" b="1" dirty="0">
                <a:solidFill>
                  <a:srgbClr val="CC0000"/>
                </a:solidFill>
                <a:latin typeface="华文行楷" panose="02010800040101010101" charset="-122"/>
                <a:ea typeface="华文行楷" panose="02010800040101010101" charset="-122"/>
                <a:cs typeface="华文行楷" panose="02010800040101010101" charset="-122"/>
              </a:rPr>
              <a:t>                                  </a:t>
            </a:r>
            <a:r>
              <a:rPr lang="zh-CN" altLang="en-US" sz="2000" b="1" dirty="0">
                <a:solidFill>
                  <a:schemeClr val="tx1"/>
                </a:solidFill>
                <a:latin typeface="华文行楷" panose="02010800040101010101" charset="-122"/>
                <a:ea typeface="华文行楷" panose="02010800040101010101" charset="-122"/>
                <a:cs typeface="华文行楷" panose="02010800040101010101" charset="-122"/>
              </a:rPr>
              <a:t>分别由相应的</a:t>
            </a:r>
            <a:r>
              <a:rPr lang="zh-CN" altLang="en-US" sz="2000" b="1" dirty="0">
                <a:solidFill>
                  <a:srgbClr val="FF0000"/>
                </a:solidFill>
                <a:latin typeface="华文行楷" panose="02010800040101010101" charset="-122"/>
                <a:ea typeface="华文行楷" panose="02010800040101010101" charset="-122"/>
                <a:cs typeface="华文行楷" panose="02010800040101010101" charset="-122"/>
              </a:rPr>
              <a:t>参数</a:t>
            </a:r>
            <a:r>
              <a:rPr lang="zh-CN" altLang="en-US" sz="2000" b="1" dirty="0">
                <a:solidFill>
                  <a:schemeClr val="tx1"/>
                </a:solidFill>
                <a:latin typeface="华文行楷" panose="02010800040101010101" charset="-122"/>
                <a:ea typeface="华文行楷" panose="02010800040101010101" charset="-122"/>
                <a:cs typeface="华文行楷" panose="02010800040101010101" charset="-122"/>
              </a:rPr>
              <a:t>来表征。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altLang="zh-CN" sz="2000" b="1" dirty="0">
                <a:solidFill>
                  <a:schemeClr val="tx1"/>
                </a:solidFill>
                <a:latin typeface="华文行楷" panose="02010800040101010101" charset="-122"/>
                <a:ea typeface="华文行楷" panose="02010800040101010101" charset="-122"/>
                <a:cs typeface="华文行楷" panose="02010800040101010101" charset="-122"/>
              </a:rPr>
              <a:t>       </a:t>
            </a:r>
            <a:r>
              <a:rPr kumimoji="1" lang="zh-CN" altLang="en-US" sz="2000" b="1" noProof="0" dirty="0">
                <a:solidFill>
                  <a:srgbClr val="00B05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华文行楷" panose="02010800040101010101" charset="-122"/>
                <a:ea typeface="华文行楷" panose="02010800040101010101" charset="-122"/>
                <a:cs typeface="华文行楷" panose="02010800040101010101" charset="-122"/>
                <a:sym typeface="+mn-ea"/>
              </a:rPr>
              <a:t>电路图中：</a:t>
            </a:r>
            <a:r>
              <a:rPr kumimoji="1" lang="zh-CN" altLang="en-US" sz="2000" b="1" noProof="0" dirty="0">
                <a:effectLst>
                  <a:outerShdw blurRad="38100" dist="38100" dir="2700000" algn="tl">
                    <a:srgbClr val="C0C0C0"/>
                  </a:outerShdw>
                </a:effectLst>
                <a:latin typeface="华文行楷" panose="02010800040101010101" charset="-122"/>
                <a:ea typeface="华文行楷" panose="02010800040101010101" charset="-122"/>
                <a:cs typeface="华文行楷" panose="02010800040101010101" charset="-122"/>
                <a:sym typeface="+mn-ea"/>
              </a:rPr>
              <a:t>各种电路元件都用规定的</a:t>
            </a:r>
            <a:r>
              <a:rPr kumimoji="1" lang="zh-CN" altLang="en-US" sz="2000" b="1" noProof="0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华文行楷" panose="02010800040101010101" charset="-122"/>
                <a:ea typeface="华文行楷" panose="02010800040101010101" charset="-122"/>
                <a:cs typeface="华文行楷" panose="02010800040101010101" charset="-122"/>
                <a:sym typeface="+mn-ea"/>
              </a:rPr>
              <a:t>图形符号</a:t>
            </a:r>
            <a:r>
              <a:rPr kumimoji="1" lang="zh-CN" altLang="en-US" sz="2000" b="1" noProof="0" dirty="0">
                <a:effectLst>
                  <a:outerShdw blurRad="38100" dist="38100" dir="2700000" algn="tl">
                    <a:srgbClr val="C0C0C0"/>
                  </a:outerShdw>
                </a:effectLst>
                <a:latin typeface="华文行楷" panose="02010800040101010101" charset="-122"/>
                <a:ea typeface="华文行楷" panose="02010800040101010101" charset="-122"/>
                <a:cs typeface="华文行楷" panose="02010800040101010101" charset="-122"/>
                <a:sym typeface="+mn-ea"/>
              </a:rPr>
              <a:t>表示。</a:t>
            </a:r>
            <a:endParaRPr lang="en-US" altLang="zh-CN" sz="2000" b="1" dirty="0">
              <a:solidFill>
                <a:schemeClr val="tx1"/>
              </a:solidFill>
              <a:latin typeface="华文行楷" panose="02010800040101010101" charset="-122"/>
              <a:ea typeface="华文行楷" panose="02010800040101010101" charset="-122"/>
              <a:cs typeface="华文行楷" panose="02010800040101010101" charset="-122"/>
            </a:endParaRPr>
          </a:p>
        </p:txBody>
      </p:sp>
      <p:sp>
        <p:nvSpPr>
          <p:cNvPr id="5122" name="Rectangle 2"/>
          <p:cNvSpPr>
            <a:spLocks noChangeArrowheads="1"/>
          </p:cNvSpPr>
          <p:nvPr/>
        </p:nvSpPr>
        <p:spPr bwMode="auto">
          <a:xfrm>
            <a:off x="2882900" y="241935"/>
            <a:ext cx="322326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0" tIns="46035" rIns="92070" bIns="46035" anchor="ctr"/>
          <a:lstStyle>
            <a:lvl1pPr algn="ctr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algn="ctr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algn="ctr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algn="ctr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algn="ctr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457200" algn="ctr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914400" algn="ctr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1371600" algn="ctr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1828800" algn="ctr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3600" b="1" i="0" u="none" strike="noStrike" kern="1200" cap="none" spc="0" normalizeH="0" baseline="0" noProof="0">
                <a:ln>
                  <a:noFill/>
                </a:ln>
                <a:solidFill>
                  <a:srgbClr val="CC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华文新魏" panose="02010800040101010101" pitchFamily="2" charset="-122"/>
                <a:cs typeface="+mn-cs"/>
              </a:rPr>
              <a:t>1.2</a:t>
            </a:r>
            <a:r>
              <a:rPr kumimoji="1" lang="en-US" altLang="zh-CN" sz="3600" b="1" i="0" u="none" strike="noStrike" kern="1200" cap="none" spc="0" normalizeH="0" baseline="0" noProof="0">
                <a:ln>
                  <a:noFill/>
                </a:ln>
                <a:solidFill>
                  <a:srgbClr val="CC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rPr>
              <a:t>   </a:t>
            </a:r>
            <a:r>
              <a:rPr kumimoji="1" lang="zh-CN" altLang="en-US" sz="3600" b="1" i="0" u="none" strike="noStrike" kern="1200" cap="none" spc="0" normalizeH="0" baseline="0" noProof="0">
                <a:ln>
                  <a:noFill/>
                </a:ln>
                <a:solidFill>
                  <a:srgbClr val="CC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rPr>
              <a:t>电路模型</a:t>
            </a:r>
          </a:p>
        </p:txBody>
      </p:sp>
      <p:sp>
        <p:nvSpPr>
          <p:cNvPr id="2" name="文本框 1"/>
          <p:cNvSpPr txBox="1"/>
          <p:nvPr/>
        </p:nvSpPr>
        <p:spPr>
          <a:xfrm>
            <a:off x="395605" y="764540"/>
            <a:ext cx="5541645" cy="39878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pPr algn="l"/>
            <a:r>
              <a:rPr lang="zh-CN" altLang="en-US" sz="2000" b="1" dirty="0">
                <a:solidFill>
                  <a:srgbClr val="00B050"/>
                </a:solidFill>
                <a:latin typeface="华文行楷" panose="02010800040101010101" charset="-122"/>
                <a:ea typeface="华文行楷" panose="02010800040101010101" charset="-122"/>
                <a:cs typeface="华文行楷" panose="02010800040101010101" charset="-122"/>
                <a:sym typeface="+mn-ea"/>
              </a:rPr>
              <a:t>实际电路分析：</a:t>
            </a:r>
            <a:r>
              <a:rPr lang="en-US" altLang="zh-CN" sz="2000" b="1" dirty="0">
                <a:solidFill>
                  <a:srgbClr val="00B050"/>
                </a:solidFill>
                <a:latin typeface="华文行楷" panose="02010800040101010101" charset="-122"/>
                <a:ea typeface="华文行楷" panose="02010800040101010101" charset="-122"/>
                <a:cs typeface="华文行楷" panose="02010800040101010101" charset="-122"/>
                <a:sym typeface="+mn-ea"/>
              </a:rPr>
              <a:t>----</a:t>
            </a:r>
            <a:r>
              <a:rPr lang="zh-CN" altLang="en-US" sz="2000" b="1" dirty="0">
                <a:solidFill>
                  <a:srgbClr val="00B050"/>
                </a:solidFill>
                <a:latin typeface="华文行楷" panose="02010800040101010101" charset="-122"/>
                <a:ea typeface="华文行楷" panose="02010800040101010101" charset="-122"/>
                <a:cs typeface="华文行楷" panose="02010800040101010101" charset="-122"/>
                <a:sym typeface="+mn-ea"/>
              </a:rPr>
              <a:t>分析电路模型（简称电路）</a:t>
            </a:r>
          </a:p>
        </p:txBody>
      </p:sp>
      <p:grpSp>
        <p:nvGrpSpPr>
          <p:cNvPr id="12" name="组合 11"/>
          <p:cNvGrpSpPr/>
          <p:nvPr/>
        </p:nvGrpSpPr>
        <p:grpSpPr>
          <a:xfrm>
            <a:off x="1186815" y="1101090"/>
            <a:ext cx="6163310" cy="1051560"/>
            <a:chOff x="1869" y="2023"/>
            <a:chExt cx="9706" cy="1656"/>
          </a:xfrm>
        </p:grpSpPr>
        <p:sp>
          <p:nvSpPr>
            <p:cNvPr id="3" name="文本框 2"/>
            <p:cNvSpPr txBox="1"/>
            <p:nvPr/>
          </p:nvSpPr>
          <p:spPr>
            <a:xfrm>
              <a:off x="1869" y="2564"/>
              <a:ext cx="1896" cy="628"/>
            </a:xfrm>
            <a:prstGeom prst="rect">
              <a:avLst/>
            </a:prstGeom>
            <a:noFill/>
          </p:spPr>
          <p:txBody>
            <a:bodyPr wrap="none" rtlCol="0" anchor="t">
              <a:spAutoFit/>
            </a:bodyPr>
            <a:lstStyle/>
            <a:p>
              <a:r>
                <a:rPr lang="zh-CN" altLang="en-US" sz="2000" b="1" dirty="0">
                  <a:sym typeface="+mn-ea"/>
                </a:rPr>
                <a:t>实际电路</a:t>
              </a:r>
            </a:p>
          </p:txBody>
        </p:sp>
        <p:sp>
          <p:nvSpPr>
            <p:cNvPr id="6" name="文本框 5"/>
            <p:cNvSpPr txBox="1"/>
            <p:nvPr/>
          </p:nvSpPr>
          <p:spPr>
            <a:xfrm>
              <a:off x="7992" y="2534"/>
              <a:ext cx="3583" cy="628"/>
            </a:xfrm>
            <a:prstGeom prst="rect">
              <a:avLst/>
            </a:prstGeom>
            <a:noFill/>
          </p:spPr>
          <p:txBody>
            <a:bodyPr wrap="none" rtlCol="0" anchor="t">
              <a:spAutoFit/>
            </a:bodyPr>
            <a:lstStyle/>
            <a:p>
              <a:r>
                <a:rPr lang="zh-CN" altLang="en-US" sz="2000" b="1" dirty="0">
                  <a:sym typeface="+mn-ea"/>
                </a:rPr>
                <a:t>电路模型</a:t>
              </a:r>
              <a:r>
                <a:rPr lang="zh-CN" altLang="en-US" sz="1200" b="1" dirty="0">
                  <a:solidFill>
                    <a:srgbClr val="FF0000"/>
                  </a:solidFill>
                  <a:sym typeface="+mn-ea"/>
                </a:rPr>
                <a:t>（理想化电路）</a:t>
              </a:r>
            </a:p>
          </p:txBody>
        </p:sp>
        <p:grpSp>
          <p:nvGrpSpPr>
            <p:cNvPr id="11" name="组合 10"/>
            <p:cNvGrpSpPr/>
            <p:nvPr/>
          </p:nvGrpSpPr>
          <p:grpSpPr>
            <a:xfrm>
              <a:off x="3765" y="2023"/>
              <a:ext cx="4058" cy="1656"/>
              <a:chOff x="3765" y="2023"/>
              <a:chExt cx="4058" cy="1656"/>
            </a:xfrm>
          </p:grpSpPr>
          <p:sp>
            <p:nvSpPr>
              <p:cNvPr id="7" name="文本框 6"/>
              <p:cNvSpPr txBox="1"/>
              <p:nvPr/>
            </p:nvSpPr>
            <p:spPr>
              <a:xfrm>
                <a:off x="4025" y="2023"/>
                <a:ext cx="2939" cy="434"/>
              </a:xfrm>
              <a:prstGeom prst="rect">
                <a:avLst/>
              </a:prstGeom>
              <a:noFill/>
            </p:spPr>
            <p:txBody>
              <a:bodyPr wrap="none" rtlCol="0" anchor="t">
                <a:spAutoFit/>
              </a:bodyPr>
              <a:lstStyle/>
              <a:p>
                <a:r>
                  <a:rPr lang="zh-CN" altLang="en-US" sz="1200" b="1" dirty="0">
                    <a:sym typeface="+mn-ea"/>
                  </a:rPr>
                  <a:t>突出元件</a:t>
                </a:r>
                <a:r>
                  <a:rPr lang="zh-CN" altLang="en-US" sz="1200" b="1" dirty="0">
                    <a:solidFill>
                      <a:srgbClr val="FF0000"/>
                    </a:solidFill>
                    <a:sym typeface="+mn-ea"/>
                  </a:rPr>
                  <a:t>主要的电磁性质</a:t>
                </a:r>
              </a:p>
            </p:txBody>
          </p:sp>
          <p:sp>
            <p:nvSpPr>
              <p:cNvPr id="8" name="文本框 7"/>
              <p:cNvSpPr txBox="1"/>
              <p:nvPr/>
            </p:nvSpPr>
            <p:spPr>
              <a:xfrm>
                <a:off x="4025" y="3245"/>
                <a:ext cx="2939" cy="434"/>
              </a:xfrm>
              <a:prstGeom prst="rect">
                <a:avLst/>
              </a:prstGeom>
              <a:noFill/>
            </p:spPr>
            <p:txBody>
              <a:bodyPr wrap="none" rtlCol="0" anchor="t">
                <a:spAutoFit/>
              </a:bodyPr>
              <a:lstStyle/>
              <a:p>
                <a:pPr algn="l"/>
                <a:r>
                  <a:rPr lang="zh-CN" altLang="en-US" sz="1200" b="1" dirty="0">
                    <a:sym typeface="+mn-ea"/>
                  </a:rPr>
                  <a:t>忽略元件次要</a:t>
                </a:r>
                <a:r>
                  <a:rPr lang="zh-CN" altLang="en-US" sz="1200" b="1" dirty="0">
                    <a:solidFill>
                      <a:schemeClr val="tx1"/>
                    </a:solidFill>
                    <a:sym typeface="+mn-ea"/>
                  </a:rPr>
                  <a:t>的电磁性质</a:t>
                </a:r>
              </a:p>
            </p:txBody>
          </p:sp>
          <p:grpSp>
            <p:nvGrpSpPr>
              <p:cNvPr id="10" name="组合 9"/>
              <p:cNvGrpSpPr/>
              <p:nvPr/>
            </p:nvGrpSpPr>
            <p:grpSpPr>
              <a:xfrm>
                <a:off x="3765" y="2299"/>
                <a:ext cx="4058" cy="1071"/>
                <a:chOff x="3765" y="2299"/>
                <a:chExt cx="4058" cy="1071"/>
              </a:xfrm>
            </p:grpSpPr>
            <p:sp>
              <p:nvSpPr>
                <p:cNvPr id="5" name="右箭头 4"/>
                <p:cNvSpPr/>
                <p:nvPr/>
              </p:nvSpPr>
              <p:spPr>
                <a:xfrm>
                  <a:off x="3765" y="2299"/>
                  <a:ext cx="4058" cy="1071"/>
                </a:xfrm>
                <a:prstGeom prst="rightArrow">
                  <a:avLst/>
                </a:prstGeom>
                <a:solidFill>
                  <a:schemeClr val="bg1">
                    <a:lumMod val="75000"/>
                  </a:schemeClr>
                </a:solidFill>
                <a:ln w="19050" cap="flat" cmpd="tri" algn="ctr">
                  <a:solidFill>
                    <a:srgbClr val="00B050"/>
                  </a:solidFill>
                  <a:prstDash val="lgDashDotDot"/>
                  <a:round/>
                  <a:headEnd type="none" w="med" len="med"/>
                  <a:tailEnd type="none" w="med" len="med"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pPr marL="0" marR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</a:pPr>
                  <a:endParaRPr kumimoji="1" lang="zh-CN" altLang="en-US" sz="24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9" name="文本框 8"/>
                <p:cNvSpPr txBox="1"/>
                <p:nvPr/>
              </p:nvSpPr>
              <p:spPr>
                <a:xfrm>
                  <a:off x="4025" y="2569"/>
                  <a:ext cx="3352" cy="531"/>
                </a:xfrm>
                <a:prstGeom prst="rect">
                  <a:avLst/>
                </a:prstGeom>
                <a:noFill/>
              </p:spPr>
              <p:txBody>
                <a:bodyPr wrap="none" rtlCol="0" anchor="t">
                  <a:spAutoFit/>
                </a:bodyPr>
                <a:lstStyle/>
                <a:p>
                  <a:pPr algn="l"/>
                  <a:r>
                    <a:rPr lang="zh-CN" altLang="en-US" sz="1400" b="1" dirty="0">
                      <a:latin typeface="华文彩云" panose="02010800040101010101" charset="-122"/>
                      <a:ea typeface="华文彩云" panose="02010800040101010101" charset="-122"/>
                      <a:sym typeface="+mn-ea"/>
                    </a:rPr>
                    <a:t>由一些</a:t>
                  </a:r>
                  <a:r>
                    <a:rPr lang="en-US" altLang="zh-CN" sz="1400" b="1" dirty="0">
                      <a:latin typeface="华文彩云" panose="02010800040101010101" charset="-122"/>
                      <a:ea typeface="华文彩云" panose="02010800040101010101" charset="-122"/>
                      <a:sym typeface="+mn-ea"/>
                    </a:rPr>
                    <a:t> </a:t>
                  </a:r>
                  <a:r>
                    <a:rPr lang="zh-CN" altLang="en-US" sz="1600" b="1" dirty="0">
                      <a:solidFill>
                        <a:srgbClr val="7030A0"/>
                      </a:solidFill>
                      <a:effectLst>
                        <a:outerShdw blurRad="38100" dist="38100" dir="2700000" algn="tl">
                          <a:srgbClr val="000000">
                            <a:alpha val="43137"/>
                          </a:srgbClr>
                        </a:outerShdw>
                      </a:effectLst>
                      <a:latin typeface="华文行楷" panose="02010800040101010101" charset="-122"/>
                      <a:ea typeface="华文行楷" panose="02010800040101010101" charset="-122"/>
                      <a:cs typeface="华文行楷" panose="02010800040101010101" charset="-122"/>
                      <a:sym typeface="+mn-ea"/>
                    </a:rPr>
                    <a:t>理</a:t>
                  </a:r>
                  <a:r>
                    <a:rPr lang="en-US" altLang="zh-CN" sz="1600" b="1" dirty="0">
                      <a:solidFill>
                        <a:srgbClr val="7030A0"/>
                      </a:solidFill>
                      <a:effectLst>
                        <a:outerShdw blurRad="38100" dist="38100" dir="2700000" algn="tl">
                          <a:srgbClr val="000000">
                            <a:alpha val="43137"/>
                          </a:srgbClr>
                        </a:outerShdw>
                      </a:effectLst>
                      <a:latin typeface="华文行楷" panose="02010800040101010101" charset="-122"/>
                      <a:ea typeface="华文行楷" panose="02010800040101010101" charset="-122"/>
                      <a:cs typeface="华文行楷" panose="02010800040101010101" charset="-122"/>
                      <a:sym typeface="+mn-ea"/>
                    </a:rPr>
                    <a:t> </a:t>
                  </a:r>
                  <a:r>
                    <a:rPr lang="zh-CN" altLang="en-US" sz="1600" b="1" dirty="0">
                      <a:solidFill>
                        <a:srgbClr val="7030A0"/>
                      </a:solidFill>
                      <a:effectLst>
                        <a:outerShdw blurRad="38100" dist="38100" dir="2700000" algn="tl">
                          <a:srgbClr val="000000">
                            <a:alpha val="43137"/>
                          </a:srgbClr>
                        </a:outerShdw>
                      </a:effectLst>
                      <a:latin typeface="华文行楷" panose="02010800040101010101" charset="-122"/>
                      <a:ea typeface="华文行楷" panose="02010800040101010101" charset="-122"/>
                      <a:cs typeface="华文行楷" panose="02010800040101010101" charset="-122"/>
                      <a:sym typeface="+mn-ea"/>
                    </a:rPr>
                    <a:t>想</a:t>
                  </a:r>
                  <a:r>
                    <a:rPr lang="en-US" altLang="zh-CN" sz="1600" b="1" dirty="0">
                      <a:solidFill>
                        <a:srgbClr val="7030A0"/>
                      </a:solidFill>
                      <a:effectLst>
                        <a:outerShdw blurRad="38100" dist="38100" dir="2700000" algn="tl">
                          <a:srgbClr val="000000">
                            <a:alpha val="43137"/>
                          </a:srgbClr>
                        </a:outerShdw>
                      </a:effectLst>
                      <a:latin typeface="华文行楷" panose="02010800040101010101" charset="-122"/>
                      <a:ea typeface="华文行楷" panose="02010800040101010101" charset="-122"/>
                      <a:cs typeface="华文行楷" panose="02010800040101010101" charset="-122"/>
                      <a:sym typeface="+mn-ea"/>
                    </a:rPr>
                    <a:t> </a:t>
                  </a:r>
                  <a:r>
                    <a:rPr lang="zh-CN" altLang="en-US" sz="1600" b="1" dirty="0">
                      <a:solidFill>
                        <a:srgbClr val="7030A0"/>
                      </a:solidFill>
                      <a:effectLst>
                        <a:outerShdw blurRad="38100" dist="38100" dir="2700000" algn="tl">
                          <a:srgbClr val="000000">
                            <a:alpha val="43137"/>
                          </a:srgbClr>
                        </a:outerShdw>
                      </a:effectLst>
                      <a:latin typeface="华文行楷" panose="02010800040101010101" charset="-122"/>
                      <a:ea typeface="华文行楷" panose="02010800040101010101" charset="-122"/>
                      <a:cs typeface="华文行楷" panose="02010800040101010101" charset="-122"/>
                      <a:sym typeface="+mn-ea"/>
                    </a:rPr>
                    <a:t>元</a:t>
                  </a:r>
                  <a:r>
                    <a:rPr lang="en-US" altLang="zh-CN" sz="1600" b="1" dirty="0">
                      <a:solidFill>
                        <a:srgbClr val="7030A0"/>
                      </a:solidFill>
                      <a:effectLst>
                        <a:outerShdw blurRad="38100" dist="38100" dir="2700000" algn="tl">
                          <a:srgbClr val="000000">
                            <a:alpha val="43137"/>
                          </a:srgbClr>
                        </a:outerShdw>
                      </a:effectLst>
                      <a:latin typeface="华文行楷" panose="02010800040101010101" charset="-122"/>
                      <a:ea typeface="华文行楷" panose="02010800040101010101" charset="-122"/>
                      <a:cs typeface="华文行楷" panose="02010800040101010101" charset="-122"/>
                      <a:sym typeface="+mn-ea"/>
                    </a:rPr>
                    <a:t> </a:t>
                  </a:r>
                  <a:r>
                    <a:rPr lang="zh-CN" altLang="en-US" sz="1600" b="1" dirty="0">
                      <a:solidFill>
                        <a:srgbClr val="7030A0"/>
                      </a:solidFill>
                      <a:effectLst>
                        <a:outerShdw blurRad="38100" dist="38100" dir="2700000" algn="tl">
                          <a:srgbClr val="000000">
                            <a:alpha val="43137"/>
                          </a:srgbClr>
                        </a:outerShdw>
                      </a:effectLst>
                      <a:latin typeface="华文行楷" panose="02010800040101010101" charset="-122"/>
                      <a:ea typeface="华文行楷" panose="02010800040101010101" charset="-122"/>
                      <a:cs typeface="华文行楷" panose="02010800040101010101" charset="-122"/>
                      <a:sym typeface="+mn-ea"/>
                    </a:rPr>
                    <a:t>件</a:t>
                  </a:r>
                  <a:r>
                    <a:rPr lang="en-US" altLang="zh-CN" sz="1400" b="1" dirty="0">
                      <a:solidFill>
                        <a:srgbClr val="7030A0"/>
                      </a:solidFill>
                      <a:latin typeface="华文彩云" panose="02010800040101010101" charset="-122"/>
                      <a:ea typeface="华文彩云" panose="02010800040101010101" charset="-122"/>
                      <a:sym typeface="+mn-ea"/>
                    </a:rPr>
                    <a:t> </a:t>
                  </a:r>
                  <a:r>
                    <a:rPr lang="zh-CN" altLang="en-US" sz="1400" b="1" dirty="0">
                      <a:latin typeface="华文彩云" panose="02010800040101010101" charset="-122"/>
                      <a:ea typeface="华文彩云" panose="02010800040101010101" charset="-122"/>
                      <a:sym typeface="+mn-ea"/>
                    </a:rPr>
                    <a:t>组成</a:t>
                  </a:r>
                  <a:endParaRPr lang="zh-CN" altLang="en-US" sz="1400" b="1" dirty="0">
                    <a:solidFill>
                      <a:schemeClr val="tx1"/>
                    </a:solidFill>
                    <a:latin typeface="华文彩云" panose="02010800040101010101" charset="-122"/>
                    <a:ea typeface="华文彩云" panose="02010800040101010101" charset="-122"/>
                    <a:sym typeface="+mn-ea"/>
                  </a:endParaRPr>
                </a:p>
              </p:txBody>
            </p:sp>
          </p:grpSp>
        </p:grpSp>
      </p:grpSp>
      <p:graphicFrame>
        <p:nvGraphicFramePr>
          <p:cNvPr id="14" name="对象 13"/>
          <p:cNvGraphicFramePr/>
          <p:nvPr/>
        </p:nvGraphicFramePr>
        <p:xfrm>
          <a:off x="816610" y="2256155"/>
          <a:ext cx="7572375" cy="150431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4" imgW="8058150" imgH="1809750" progId="PBrush">
                  <p:embed/>
                </p:oleObj>
              </mc:Choice>
              <mc:Fallback>
                <p:oleObj r:id="rId4" imgW="8058150" imgH="1809750" progId="PBrush">
                  <p:embed/>
                  <p:pic>
                    <p:nvPicPr>
                      <p:cNvPr id="0" name="图片 4096" descr="image10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816610" y="2256155"/>
                        <a:ext cx="7572375" cy="150431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ChangeArrowheads="1"/>
          </p:cNvSpPr>
          <p:nvPr/>
        </p:nvSpPr>
        <p:spPr bwMode="auto">
          <a:xfrm>
            <a:off x="2422525" y="68263"/>
            <a:ext cx="4191000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lIns="91435" tIns="45718" rIns="91435" bIns="45718" anchor="ctr"/>
          <a:lstStyle>
            <a:lvl1pPr algn="ctr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algn="ctr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algn="ctr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algn="ctr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algn="ctr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457200" algn="ctr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914400" algn="ctr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1371600" algn="ctr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1828800" algn="ctr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3600" b="1" i="0" u="none" strike="noStrike" kern="120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华文新魏" panose="02010800040101010101" pitchFamily="2" charset="-122"/>
                <a:cs typeface="+mn-cs"/>
              </a:rPr>
              <a:t>1. 2</a:t>
            </a:r>
            <a:r>
              <a:rPr kumimoji="1" lang="en-US" altLang="zh-CN" sz="3600" b="1" i="0" u="none" strike="noStrike" kern="120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rPr>
              <a:t>  </a:t>
            </a:r>
            <a:r>
              <a:rPr kumimoji="1" lang="zh-CN" alt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rPr>
              <a:t>电路模型</a:t>
            </a:r>
          </a:p>
        </p:txBody>
      </p:sp>
      <p:sp>
        <p:nvSpPr>
          <p:cNvPr id="8195" name="Rectangle 3"/>
          <p:cNvSpPr/>
          <p:nvPr/>
        </p:nvSpPr>
        <p:spPr>
          <a:xfrm>
            <a:off x="5084763" y="2375535"/>
            <a:ext cx="3357562" cy="519113"/>
          </a:xfrm>
          <a:prstGeom prst="rect">
            <a:avLst/>
          </a:prstGeom>
          <a:noFill/>
          <a:ln w="9525">
            <a:noFill/>
          </a:ln>
        </p:spPr>
        <p:txBody>
          <a:bodyPr lIns="91435" tIns="45718" rIns="91435" bIns="45718" anchor="t" anchorCtr="0">
            <a:spAutoFit/>
          </a:bodyPr>
          <a:lstStyle/>
          <a:p>
            <a:r>
              <a:rPr lang="zh-CN" altLang="en-US" sz="2800" b="1" dirty="0">
                <a:solidFill>
                  <a:srgbClr val="000099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手电筒的电路模型</a:t>
            </a:r>
            <a:endParaRPr lang="zh-CN" altLang="en-US" sz="3200" b="1" dirty="0">
              <a:solidFill>
                <a:srgbClr val="000099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0244" name="Line 5"/>
          <p:cNvSpPr/>
          <p:nvPr/>
        </p:nvSpPr>
        <p:spPr>
          <a:xfrm>
            <a:off x="5867400" y="4356735"/>
            <a:ext cx="0" cy="0"/>
          </a:xfrm>
          <a:prstGeom prst="line">
            <a:avLst/>
          </a:prstGeom>
          <a:ln w="12700">
            <a:noFill/>
          </a:ln>
        </p:spPr>
      </p:sp>
      <p:sp>
        <p:nvSpPr>
          <p:cNvPr id="8198" name="Rectangle 6"/>
          <p:cNvSpPr>
            <a:spLocks noChangeArrowheads="1"/>
          </p:cNvSpPr>
          <p:nvPr/>
        </p:nvSpPr>
        <p:spPr bwMode="auto">
          <a:xfrm>
            <a:off x="487363" y="905193"/>
            <a:ext cx="1971675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accent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81320" dir="2319588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1435" tIns="45718" rIns="91435" bIns="45718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例：手电筒</a:t>
            </a:r>
            <a:endParaRPr kumimoji="1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8199" name="Group 7"/>
          <p:cNvGrpSpPr/>
          <p:nvPr/>
        </p:nvGrpSpPr>
        <p:grpSpPr>
          <a:xfrm>
            <a:off x="4556125" y="2908935"/>
            <a:ext cx="3736975" cy="2590800"/>
            <a:chOff x="3075" y="1920"/>
            <a:chExt cx="2354" cy="1632"/>
          </a:xfrm>
        </p:grpSpPr>
        <p:sp>
          <p:nvSpPr>
            <p:cNvPr id="10247" name="Rectangle 8"/>
            <p:cNvSpPr/>
            <p:nvPr/>
          </p:nvSpPr>
          <p:spPr>
            <a:xfrm>
              <a:off x="5283" y="2758"/>
              <a:ext cx="146" cy="288"/>
            </a:xfrm>
            <a:prstGeom prst="rect">
              <a:avLst/>
            </a:prstGeom>
            <a:noFill/>
            <a:ln w="38100" cap="flat" cmpd="sng">
              <a:solidFill>
                <a:srgbClr val="00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/>
            <a:p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0248" name="Text Box 9"/>
            <p:cNvSpPr txBox="1"/>
            <p:nvPr/>
          </p:nvSpPr>
          <p:spPr>
            <a:xfrm>
              <a:off x="5005" y="2719"/>
              <a:ext cx="265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91435" tIns="45718" rIns="91435" bIns="45718" anchor="t" anchorCtr="0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800" b="1" i="1" dirty="0">
                  <a:latin typeface="Times New Roman" panose="02020603050405020304" pitchFamily="18" charset="0"/>
                  <a:ea typeface="宋体" panose="02010600030101010101" pitchFamily="2" charset="-122"/>
                </a:rPr>
                <a:t>R</a:t>
              </a:r>
              <a:endParaRPr lang="en-US" altLang="zh-CN" sz="4000" dirty="0">
                <a:solidFill>
                  <a:srgbClr val="6633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0249" name="Text Box 10"/>
            <p:cNvSpPr txBox="1"/>
            <p:nvPr/>
          </p:nvSpPr>
          <p:spPr>
            <a:xfrm>
              <a:off x="3216" y="2208"/>
              <a:ext cx="278" cy="404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lIns="91435" tIns="45718" rIns="91435" bIns="45718" anchor="t" anchorCtr="0">
              <a:spAutoFit/>
            </a:bodyPr>
            <a:lstStyle/>
            <a:p>
              <a:pPr algn="ctr"/>
              <a:r>
                <a:rPr lang="en-US" altLang="zh-CN" sz="3600" dirty="0">
                  <a:solidFill>
                    <a:srgbClr val="FF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+</a:t>
              </a:r>
            </a:p>
          </p:txBody>
        </p:sp>
        <p:sp>
          <p:nvSpPr>
            <p:cNvPr id="10250" name="Oval 11"/>
            <p:cNvSpPr/>
            <p:nvPr/>
          </p:nvSpPr>
          <p:spPr>
            <a:xfrm>
              <a:off x="3350" y="2525"/>
              <a:ext cx="272" cy="272"/>
            </a:xfrm>
            <a:prstGeom prst="ellipse">
              <a:avLst/>
            </a:prstGeom>
            <a:noFill/>
            <a:ln w="381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/>
            <a:p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0251" name="Line 12"/>
            <p:cNvSpPr/>
            <p:nvPr/>
          </p:nvSpPr>
          <p:spPr>
            <a:xfrm flipV="1">
              <a:off x="3478" y="2273"/>
              <a:ext cx="2" cy="703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</p:sp>
        <p:sp>
          <p:nvSpPr>
            <p:cNvPr id="10252" name="Rectangle 13"/>
            <p:cNvSpPr/>
            <p:nvPr/>
          </p:nvSpPr>
          <p:spPr>
            <a:xfrm>
              <a:off x="3408" y="2976"/>
              <a:ext cx="146" cy="287"/>
            </a:xfrm>
            <a:prstGeom prst="rect">
              <a:avLst/>
            </a:prstGeom>
            <a:noFill/>
            <a:ln w="381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/>
            <a:p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0253" name="Line 14"/>
            <p:cNvSpPr/>
            <p:nvPr/>
          </p:nvSpPr>
          <p:spPr>
            <a:xfrm>
              <a:off x="3482" y="3264"/>
              <a:ext cx="0" cy="287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</p:sp>
        <p:sp>
          <p:nvSpPr>
            <p:cNvPr id="10254" name="Text Box 15"/>
            <p:cNvSpPr txBox="1"/>
            <p:nvPr/>
          </p:nvSpPr>
          <p:spPr>
            <a:xfrm>
              <a:off x="3075" y="2928"/>
              <a:ext cx="381" cy="500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91435" tIns="45718" rIns="91435" bIns="45718" anchor="t" anchorCtr="0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800" b="1" i="1" dirty="0">
                  <a:latin typeface="Times New Roman" panose="02020603050405020304" pitchFamily="18" charset="0"/>
                  <a:ea typeface="宋体" panose="02010600030101010101" pitchFamily="2" charset="-122"/>
                </a:rPr>
                <a:t>R</a:t>
              </a:r>
              <a:r>
                <a:rPr lang="en-US" altLang="zh-CN" sz="2800" b="1" baseline="-250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o</a:t>
              </a:r>
            </a:p>
            <a:p>
              <a:pPr>
                <a:spcBef>
                  <a:spcPct val="50000"/>
                </a:spcBef>
              </a:pPr>
              <a:r>
                <a:rPr lang="en-US" altLang="zh-CN" sz="1800" b="1" baseline="-25000" dirty="0">
                  <a:solidFill>
                    <a:srgbClr val="CC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(</a:t>
              </a:r>
              <a:r>
                <a:rPr lang="zh-CN" altLang="en-US" sz="1800" b="1" baseline="-25000" dirty="0">
                  <a:solidFill>
                    <a:srgbClr val="CC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内阻</a:t>
              </a:r>
              <a:r>
                <a:rPr lang="en-US" altLang="zh-CN" sz="1800" b="1" baseline="-25000" dirty="0">
                  <a:solidFill>
                    <a:srgbClr val="CC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)</a:t>
              </a:r>
            </a:p>
          </p:txBody>
        </p:sp>
        <p:sp>
          <p:nvSpPr>
            <p:cNvPr id="10255" name="Text Box 16"/>
            <p:cNvSpPr txBox="1"/>
            <p:nvPr/>
          </p:nvSpPr>
          <p:spPr>
            <a:xfrm>
              <a:off x="3106" y="2471"/>
              <a:ext cx="265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91435" tIns="45718" rIns="91435" bIns="45718" anchor="t" anchorCtr="0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800" b="1" i="1" dirty="0">
                  <a:solidFill>
                    <a:srgbClr val="FF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E</a:t>
              </a:r>
              <a:endParaRPr lang="en-US" altLang="zh-CN" sz="4000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0256" name="Text Box 17"/>
            <p:cNvSpPr txBox="1"/>
            <p:nvPr/>
          </p:nvSpPr>
          <p:spPr>
            <a:xfrm>
              <a:off x="3201" y="2640"/>
              <a:ext cx="303" cy="365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91435" tIns="45718" rIns="91435" bIns="45718" anchor="t" anchorCtr="0">
              <a:spAutoFit/>
            </a:bodyPr>
            <a:lstStyle/>
            <a:p>
              <a:pPr algn="ctr"/>
              <a:r>
                <a:rPr lang="en-US" altLang="zh-CN" sz="3200" dirty="0">
                  <a:solidFill>
                    <a:srgbClr val="FF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–</a:t>
              </a:r>
            </a:p>
          </p:txBody>
        </p:sp>
        <p:sp>
          <p:nvSpPr>
            <p:cNvPr id="10257" name="Line 18"/>
            <p:cNvSpPr/>
            <p:nvPr/>
          </p:nvSpPr>
          <p:spPr>
            <a:xfrm>
              <a:off x="3475" y="3536"/>
              <a:ext cx="1889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</p:sp>
        <p:sp>
          <p:nvSpPr>
            <p:cNvPr id="10258" name="Line 19"/>
            <p:cNvSpPr/>
            <p:nvPr/>
          </p:nvSpPr>
          <p:spPr>
            <a:xfrm>
              <a:off x="5356" y="2278"/>
              <a:ext cx="0" cy="478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</p:sp>
        <p:sp>
          <p:nvSpPr>
            <p:cNvPr id="10259" name="Line 20"/>
            <p:cNvSpPr/>
            <p:nvPr/>
          </p:nvSpPr>
          <p:spPr>
            <a:xfrm>
              <a:off x="5356" y="3046"/>
              <a:ext cx="0" cy="487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</p:sp>
        <p:sp>
          <p:nvSpPr>
            <p:cNvPr id="10260" name="Line 21"/>
            <p:cNvSpPr/>
            <p:nvPr/>
          </p:nvSpPr>
          <p:spPr>
            <a:xfrm flipV="1">
              <a:off x="3504" y="2284"/>
              <a:ext cx="669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</p:sp>
        <p:sp>
          <p:nvSpPr>
            <p:cNvPr id="10261" name="Line 22"/>
            <p:cNvSpPr/>
            <p:nvPr/>
          </p:nvSpPr>
          <p:spPr>
            <a:xfrm>
              <a:off x="4484" y="2284"/>
              <a:ext cx="892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0262" name="Line 23"/>
            <p:cNvSpPr/>
            <p:nvPr/>
          </p:nvSpPr>
          <p:spPr>
            <a:xfrm rot="7451413" flipH="1" flipV="1">
              <a:off x="4093" y="2284"/>
              <a:ext cx="337" cy="178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0263" name="Text Box 24"/>
            <p:cNvSpPr txBox="1"/>
            <p:nvPr/>
          </p:nvSpPr>
          <p:spPr>
            <a:xfrm>
              <a:off x="4223" y="1977"/>
              <a:ext cx="337" cy="327"/>
            </a:xfrm>
            <a:prstGeom prst="rect">
              <a:avLst/>
            </a:prstGeom>
            <a:noFill/>
            <a:ln w="38100">
              <a:noFill/>
            </a:ln>
          </p:spPr>
          <p:txBody>
            <a:bodyPr lIns="91435" tIns="45718" rIns="91435" bIns="45718" anchor="t" anchorCtr="0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800" b="1" dirty="0">
                  <a:latin typeface="Times New Roman" panose="02020603050405020304" pitchFamily="18" charset="0"/>
                  <a:ea typeface="宋体" panose="02010600030101010101" pitchFamily="2" charset="-122"/>
                </a:rPr>
                <a:t>S</a:t>
              </a:r>
            </a:p>
          </p:txBody>
        </p:sp>
        <p:sp>
          <p:nvSpPr>
            <p:cNvPr id="10264" name="Line 25"/>
            <p:cNvSpPr/>
            <p:nvPr/>
          </p:nvSpPr>
          <p:spPr>
            <a:xfrm rot="5400000" flipV="1">
              <a:off x="3816" y="1992"/>
              <a:ext cx="0" cy="432"/>
            </a:xfrm>
            <a:prstGeom prst="line">
              <a:avLst/>
            </a:prstGeom>
            <a:ln w="38100" cap="flat" cmpd="sng">
              <a:solidFill>
                <a:srgbClr val="FF0000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10265" name="Text Box 26"/>
            <p:cNvSpPr txBox="1"/>
            <p:nvPr/>
          </p:nvSpPr>
          <p:spPr>
            <a:xfrm>
              <a:off x="3648" y="2188"/>
              <a:ext cx="278" cy="404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lIns="91435" tIns="45718" rIns="91435" bIns="45718" anchor="t" anchorCtr="0">
              <a:spAutoFit/>
            </a:bodyPr>
            <a:lstStyle/>
            <a:p>
              <a:pPr algn="ctr"/>
              <a:r>
                <a:rPr lang="en-US" altLang="zh-CN" sz="3600" dirty="0">
                  <a:solidFill>
                    <a:srgbClr val="FF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+</a:t>
              </a:r>
            </a:p>
          </p:txBody>
        </p:sp>
        <p:sp>
          <p:nvSpPr>
            <p:cNvPr id="10266" name="Text Box 27"/>
            <p:cNvSpPr txBox="1"/>
            <p:nvPr/>
          </p:nvSpPr>
          <p:spPr>
            <a:xfrm>
              <a:off x="3648" y="2688"/>
              <a:ext cx="278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91435" tIns="45718" rIns="91435" bIns="45718" anchor="t" anchorCtr="0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800" b="1" i="1" dirty="0">
                  <a:solidFill>
                    <a:srgbClr val="FF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U</a:t>
              </a:r>
              <a:endParaRPr lang="en-US" altLang="zh-CN" sz="4000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0267" name="Text Box 28"/>
            <p:cNvSpPr txBox="1"/>
            <p:nvPr/>
          </p:nvSpPr>
          <p:spPr>
            <a:xfrm>
              <a:off x="3648" y="3187"/>
              <a:ext cx="303" cy="365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91435" tIns="45718" rIns="91435" bIns="45718" anchor="t" anchorCtr="0">
              <a:spAutoFit/>
            </a:bodyPr>
            <a:lstStyle/>
            <a:p>
              <a:pPr algn="ctr"/>
              <a:r>
                <a:rPr lang="en-US" altLang="zh-CN" sz="3200" dirty="0">
                  <a:solidFill>
                    <a:srgbClr val="FF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–</a:t>
              </a:r>
            </a:p>
          </p:txBody>
        </p:sp>
        <p:sp>
          <p:nvSpPr>
            <p:cNvPr id="10268" name="Text Box 29"/>
            <p:cNvSpPr txBox="1"/>
            <p:nvPr/>
          </p:nvSpPr>
          <p:spPr>
            <a:xfrm>
              <a:off x="3696" y="1920"/>
              <a:ext cx="384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91435" tIns="45718" rIns="91435" bIns="45718" anchor="t" anchorCtr="0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800" b="1" i="1" dirty="0">
                  <a:solidFill>
                    <a:srgbClr val="FF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I</a:t>
              </a:r>
              <a:endParaRPr lang="en-US" altLang="zh-CN" sz="4000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0269" name="Oval 30"/>
            <p:cNvSpPr/>
            <p:nvPr/>
          </p:nvSpPr>
          <p:spPr>
            <a:xfrm>
              <a:off x="4416" y="2267"/>
              <a:ext cx="54" cy="54"/>
            </a:xfrm>
            <a:prstGeom prst="ellipse">
              <a:avLst/>
            </a:prstGeom>
            <a:noFill/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lstStyle/>
            <a:p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sp>
        <p:nvSpPr>
          <p:cNvPr id="8223" name="Text Box 31"/>
          <p:cNvSpPr txBox="1"/>
          <p:nvPr/>
        </p:nvSpPr>
        <p:spPr>
          <a:xfrm>
            <a:off x="4868863" y="5514023"/>
            <a:ext cx="1058862" cy="519112"/>
          </a:xfrm>
          <a:prstGeom prst="rect">
            <a:avLst/>
          </a:prstGeom>
          <a:noFill/>
          <a:ln w="9525">
            <a:noFill/>
          </a:ln>
        </p:spPr>
        <p:txBody>
          <a:bodyPr lIns="91435" tIns="45718" rIns="91435" bIns="45718" anchor="t" anchorCtr="0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b="1" dirty="0">
                <a:latin typeface="Times New Roman" panose="02020603050405020304" pitchFamily="18" charset="0"/>
                <a:ea typeface="宋体" panose="02010600030101010101" pitchFamily="2" charset="-122"/>
              </a:rPr>
              <a:t>电池</a:t>
            </a:r>
            <a:endParaRPr lang="zh-CN" altLang="en-US" sz="28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8224" name="Text Box 32"/>
          <p:cNvSpPr txBox="1"/>
          <p:nvPr/>
        </p:nvSpPr>
        <p:spPr>
          <a:xfrm>
            <a:off x="6303963" y="5499735"/>
            <a:ext cx="1223962" cy="519113"/>
          </a:xfrm>
          <a:prstGeom prst="rect">
            <a:avLst/>
          </a:prstGeom>
          <a:noFill/>
          <a:ln w="9525">
            <a:noFill/>
          </a:ln>
        </p:spPr>
        <p:txBody>
          <a:bodyPr lIns="91435" tIns="45718" rIns="91435" bIns="45718" anchor="t" anchorCtr="0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b="1" dirty="0">
                <a:latin typeface="Times New Roman" panose="02020603050405020304" pitchFamily="18" charset="0"/>
                <a:ea typeface="宋体" panose="02010600030101010101" pitchFamily="2" charset="-122"/>
              </a:rPr>
              <a:t>导线</a:t>
            </a:r>
            <a:endParaRPr lang="zh-CN" altLang="en-US" sz="28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8225" name="Rectangle 33"/>
          <p:cNvSpPr/>
          <p:nvPr/>
        </p:nvSpPr>
        <p:spPr>
          <a:xfrm>
            <a:off x="7688263" y="5575935"/>
            <a:ext cx="901700" cy="390525"/>
          </a:xfrm>
          <a:prstGeom prst="rect">
            <a:avLst/>
          </a:prstGeom>
          <a:noFill/>
          <a:ln w="9525">
            <a:noFill/>
          </a:ln>
        </p:spPr>
        <p:txBody>
          <a:bodyPr lIns="91435" tIns="45718" rIns="91435" bIns="45718" anchor="t" anchorCtr="0">
            <a:spAutoFit/>
          </a:bodyPr>
          <a:lstStyle/>
          <a:p>
            <a:pPr>
              <a:lnSpc>
                <a:spcPct val="70000"/>
              </a:lnSpc>
              <a:spcBef>
                <a:spcPct val="50000"/>
              </a:spcBef>
              <a:buClr>
                <a:schemeClr val="tx1"/>
              </a:buClr>
            </a:pPr>
            <a:r>
              <a:rPr lang="zh-CN" altLang="en-US" sz="2800" b="1" dirty="0">
                <a:latin typeface="Times New Roman" panose="02020603050405020304" pitchFamily="18" charset="0"/>
                <a:ea typeface="宋体" panose="02010600030101010101" pitchFamily="2" charset="-122"/>
              </a:rPr>
              <a:t>灯泡</a:t>
            </a:r>
          </a:p>
        </p:txBody>
      </p:sp>
      <p:sp>
        <p:nvSpPr>
          <p:cNvPr id="8226" name="Line 34"/>
          <p:cNvSpPr/>
          <p:nvPr/>
        </p:nvSpPr>
        <p:spPr>
          <a:xfrm>
            <a:off x="5922963" y="2993073"/>
            <a:ext cx="0" cy="2855912"/>
          </a:xfrm>
          <a:prstGeom prst="line">
            <a:avLst/>
          </a:prstGeom>
          <a:ln w="38100" cap="flat" cmpd="sng">
            <a:solidFill>
              <a:srgbClr val="003399"/>
            </a:solidFill>
            <a:prstDash val="dash"/>
            <a:round/>
            <a:headEnd type="none" w="med" len="med"/>
            <a:tailEnd type="none" w="med" len="med"/>
          </a:ln>
        </p:spPr>
      </p:sp>
      <p:sp>
        <p:nvSpPr>
          <p:cNvPr id="8227" name="Line 35"/>
          <p:cNvSpPr/>
          <p:nvPr/>
        </p:nvSpPr>
        <p:spPr>
          <a:xfrm>
            <a:off x="7624763" y="2975610"/>
            <a:ext cx="0" cy="2855913"/>
          </a:xfrm>
          <a:prstGeom prst="line">
            <a:avLst/>
          </a:prstGeom>
          <a:ln w="38100" cap="flat" cmpd="sng">
            <a:solidFill>
              <a:srgbClr val="003399"/>
            </a:solidFill>
            <a:prstDash val="dash"/>
            <a:round/>
            <a:headEnd type="none" w="med" len="med"/>
            <a:tailEnd type="none" w="med" len="med"/>
          </a:ln>
        </p:spPr>
      </p:sp>
      <p:sp>
        <p:nvSpPr>
          <p:cNvPr id="8228" name="Text Box 36"/>
          <p:cNvSpPr txBox="1"/>
          <p:nvPr/>
        </p:nvSpPr>
        <p:spPr>
          <a:xfrm>
            <a:off x="6227763" y="3670935"/>
            <a:ext cx="898525" cy="519113"/>
          </a:xfrm>
          <a:prstGeom prst="rect">
            <a:avLst/>
          </a:prstGeom>
          <a:noFill/>
          <a:ln w="9525">
            <a:noFill/>
          </a:ln>
        </p:spPr>
        <p:txBody>
          <a:bodyPr wrap="none" lIns="91435" tIns="45718" rIns="91435" bIns="45718" anchor="t" anchorCtr="0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b="1" dirty="0">
                <a:latin typeface="Times New Roman" panose="02020603050405020304" pitchFamily="18" charset="0"/>
                <a:ea typeface="宋体" panose="02010600030101010101" pitchFamily="2" charset="-122"/>
              </a:rPr>
              <a:t>开关</a:t>
            </a:r>
            <a:endParaRPr lang="zh-CN" altLang="en-US" sz="28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8229" name="Text Box 37"/>
          <p:cNvSpPr txBox="1"/>
          <p:nvPr/>
        </p:nvSpPr>
        <p:spPr>
          <a:xfrm>
            <a:off x="401638" y="1424305"/>
            <a:ext cx="8634412" cy="566738"/>
          </a:xfrm>
          <a:prstGeom prst="rect">
            <a:avLst/>
          </a:prstGeom>
          <a:noFill/>
          <a:ln w="9525">
            <a:noFill/>
          </a:ln>
        </p:spPr>
        <p:txBody>
          <a:bodyPr lIns="91435" tIns="45718" rIns="91435" bIns="45718" anchor="t" anchorCtr="0">
            <a:spAutoFit/>
          </a:bodyPr>
          <a:lstStyle/>
          <a:p>
            <a:pPr>
              <a:lnSpc>
                <a:spcPct val="110000"/>
              </a:lnSpc>
              <a:spcBef>
                <a:spcPct val="10000"/>
              </a:spcBef>
            </a:pPr>
            <a:r>
              <a:rPr lang="en-US" altLang="zh-CN" sz="2800" b="1" dirty="0">
                <a:latin typeface="Times New Roman" panose="02020603050405020304" pitchFamily="18" charset="0"/>
                <a:ea typeface="宋体" panose="02010600030101010101" pitchFamily="2" charset="-122"/>
              </a:rPr>
              <a:t>    </a:t>
            </a:r>
            <a:r>
              <a:rPr lang="zh-CN" altLang="en-US" sz="2800" b="1" dirty="0">
                <a:latin typeface="Times New Roman" panose="02020603050405020304" pitchFamily="18" charset="0"/>
                <a:ea typeface="宋体" panose="02010600030101010101" pitchFamily="2" charset="-122"/>
              </a:rPr>
              <a:t>     手电筒由电池、灯泡、开关和筒体组成。</a:t>
            </a:r>
          </a:p>
        </p:txBody>
      </p:sp>
      <p:pic>
        <p:nvPicPr>
          <p:cNvPr id="10277" name="Picture 42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250825" y="2518093"/>
            <a:ext cx="4279900" cy="3433762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1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82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7" dur="500"/>
                                        <p:tgtEl>
                                          <p:spTgt spid="81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4" presetClass="entr" presetSubtype="3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1" dur="500"/>
                                        <p:tgtEl>
                                          <p:spTgt spid="81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6" dur="500"/>
                                        <p:tgtEl>
                                          <p:spTgt spid="82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500"/>
                            </p:stCondLst>
                            <p:childTnLst>
                              <p:par>
                                <p:cTn id="2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0" dur="500"/>
                                        <p:tgtEl>
                                          <p:spTgt spid="82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5" dur="500"/>
                                        <p:tgtEl>
                                          <p:spTgt spid="82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500"/>
                            </p:stCondLst>
                            <p:childTnLst>
                              <p:par>
                                <p:cTn id="37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9" dur="500"/>
                                        <p:tgtEl>
                                          <p:spTgt spid="82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1000"/>
                            </p:stCondLst>
                            <p:childTnLst>
                              <p:par>
                                <p:cTn id="41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3" dur="500"/>
                                        <p:tgtEl>
                                          <p:spTgt spid="82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1500"/>
                            </p:stCondLst>
                            <p:childTnLst>
                              <p:par>
                                <p:cTn id="4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7" dur="500"/>
                                        <p:tgtEl>
                                          <p:spTgt spid="82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195" grpId="0"/>
      <p:bldP spid="8198" grpId="0" bldLvl="0" animBg="1"/>
      <p:bldP spid="8223" grpId="0"/>
      <p:bldP spid="8224" grpId="0"/>
      <p:bldP spid="8225" grpId="0"/>
      <p:bldP spid="8228" grpId="0"/>
      <p:bldP spid="8229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ChangeArrowheads="1"/>
          </p:cNvSpPr>
          <p:nvPr/>
        </p:nvSpPr>
        <p:spPr bwMode="auto">
          <a:xfrm>
            <a:off x="909638" y="228600"/>
            <a:ext cx="304165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accent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81320" dir="2319588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1435" tIns="45718" rIns="91435" bIns="45718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手电筒的电路模型</a:t>
            </a:r>
            <a:endParaRPr kumimoji="1" lang="zh-CN" altLang="en-US" sz="3200" b="1" i="0" u="none" strike="noStrike" kern="1200" cap="none" spc="0" normalizeH="0" baseline="0" noProof="0">
              <a:ln>
                <a:noFill/>
              </a:ln>
              <a:solidFill>
                <a:srgbClr val="000099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宋体" panose="02010600030101010101" pitchFamily="2" charset="-122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11266" name="Group 3"/>
          <p:cNvGrpSpPr/>
          <p:nvPr/>
        </p:nvGrpSpPr>
        <p:grpSpPr>
          <a:xfrm>
            <a:off x="381000" y="762000"/>
            <a:ext cx="3736975" cy="2590800"/>
            <a:chOff x="3075" y="1920"/>
            <a:chExt cx="2354" cy="1632"/>
          </a:xfrm>
        </p:grpSpPr>
        <p:sp>
          <p:nvSpPr>
            <p:cNvPr id="11267" name="Rectangle 4"/>
            <p:cNvSpPr/>
            <p:nvPr/>
          </p:nvSpPr>
          <p:spPr>
            <a:xfrm>
              <a:off x="5283" y="2758"/>
              <a:ext cx="146" cy="288"/>
            </a:xfrm>
            <a:prstGeom prst="rect">
              <a:avLst/>
            </a:prstGeom>
            <a:noFill/>
            <a:ln w="38100" cap="flat" cmpd="sng">
              <a:solidFill>
                <a:srgbClr val="00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/>
            <a:p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1268" name="Text Box 5"/>
            <p:cNvSpPr txBox="1"/>
            <p:nvPr/>
          </p:nvSpPr>
          <p:spPr>
            <a:xfrm>
              <a:off x="5005" y="2719"/>
              <a:ext cx="265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91435" tIns="45718" rIns="91435" bIns="45718" anchor="t" anchorCtr="0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800" b="1" i="1" dirty="0">
                  <a:latin typeface="Times New Roman" panose="02020603050405020304" pitchFamily="18" charset="0"/>
                  <a:ea typeface="宋体" panose="02010600030101010101" pitchFamily="2" charset="-122"/>
                </a:rPr>
                <a:t>R</a:t>
              </a:r>
              <a:endParaRPr lang="en-US" altLang="zh-CN" sz="4000" dirty="0">
                <a:solidFill>
                  <a:srgbClr val="6633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1269" name="Text Box 6"/>
            <p:cNvSpPr txBox="1"/>
            <p:nvPr/>
          </p:nvSpPr>
          <p:spPr>
            <a:xfrm>
              <a:off x="3216" y="2208"/>
              <a:ext cx="278" cy="404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lIns="91435" tIns="45718" rIns="91435" bIns="45718" anchor="t" anchorCtr="0">
              <a:spAutoFit/>
            </a:bodyPr>
            <a:lstStyle/>
            <a:p>
              <a:pPr algn="ctr"/>
              <a:r>
                <a:rPr lang="en-US" altLang="zh-CN" sz="3600" dirty="0">
                  <a:solidFill>
                    <a:srgbClr val="FF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+</a:t>
              </a:r>
            </a:p>
          </p:txBody>
        </p:sp>
        <p:sp>
          <p:nvSpPr>
            <p:cNvPr id="11270" name="Oval 7"/>
            <p:cNvSpPr/>
            <p:nvPr/>
          </p:nvSpPr>
          <p:spPr>
            <a:xfrm>
              <a:off x="3350" y="2525"/>
              <a:ext cx="272" cy="272"/>
            </a:xfrm>
            <a:prstGeom prst="ellipse">
              <a:avLst/>
            </a:prstGeom>
            <a:noFill/>
            <a:ln w="381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/>
            <a:p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1271" name="Line 8"/>
            <p:cNvSpPr/>
            <p:nvPr/>
          </p:nvSpPr>
          <p:spPr>
            <a:xfrm flipV="1">
              <a:off x="3478" y="2273"/>
              <a:ext cx="2" cy="703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</p:sp>
        <p:sp>
          <p:nvSpPr>
            <p:cNvPr id="11272" name="Rectangle 9"/>
            <p:cNvSpPr/>
            <p:nvPr/>
          </p:nvSpPr>
          <p:spPr>
            <a:xfrm>
              <a:off x="3408" y="2976"/>
              <a:ext cx="146" cy="287"/>
            </a:xfrm>
            <a:prstGeom prst="rect">
              <a:avLst/>
            </a:prstGeom>
            <a:noFill/>
            <a:ln w="381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/>
            <a:p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1273" name="Line 10"/>
            <p:cNvSpPr/>
            <p:nvPr/>
          </p:nvSpPr>
          <p:spPr>
            <a:xfrm>
              <a:off x="3482" y="3264"/>
              <a:ext cx="0" cy="287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</p:sp>
        <p:sp>
          <p:nvSpPr>
            <p:cNvPr id="11274" name="Text Box 11"/>
            <p:cNvSpPr txBox="1"/>
            <p:nvPr/>
          </p:nvSpPr>
          <p:spPr>
            <a:xfrm>
              <a:off x="3075" y="2928"/>
              <a:ext cx="381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91435" tIns="45718" rIns="91435" bIns="45718" anchor="t" anchorCtr="0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800" b="1" i="1" dirty="0">
                  <a:latin typeface="Times New Roman" panose="02020603050405020304" pitchFamily="18" charset="0"/>
                  <a:ea typeface="宋体" panose="02010600030101010101" pitchFamily="2" charset="-122"/>
                </a:rPr>
                <a:t>R</a:t>
              </a:r>
              <a:r>
                <a:rPr lang="en-US" altLang="zh-CN" sz="2800" b="1" baseline="-250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o</a:t>
              </a:r>
              <a:endParaRPr lang="en-US" altLang="zh-CN" sz="4000" dirty="0">
                <a:solidFill>
                  <a:srgbClr val="6633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1275" name="Text Box 12"/>
            <p:cNvSpPr txBox="1"/>
            <p:nvPr/>
          </p:nvSpPr>
          <p:spPr>
            <a:xfrm>
              <a:off x="3106" y="2471"/>
              <a:ext cx="265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91435" tIns="45718" rIns="91435" bIns="45718" anchor="t" anchorCtr="0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800" b="1" i="1" dirty="0">
                  <a:solidFill>
                    <a:srgbClr val="FF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E</a:t>
              </a:r>
              <a:endParaRPr lang="en-US" altLang="zh-CN" sz="4000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1276" name="Text Box 13"/>
            <p:cNvSpPr txBox="1"/>
            <p:nvPr/>
          </p:nvSpPr>
          <p:spPr>
            <a:xfrm>
              <a:off x="3201" y="2640"/>
              <a:ext cx="303" cy="365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91435" tIns="45718" rIns="91435" bIns="45718" anchor="t" anchorCtr="0">
              <a:spAutoFit/>
            </a:bodyPr>
            <a:lstStyle/>
            <a:p>
              <a:pPr algn="ctr"/>
              <a:r>
                <a:rPr lang="en-US" altLang="zh-CN" sz="3200" dirty="0">
                  <a:solidFill>
                    <a:srgbClr val="FF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–</a:t>
              </a:r>
            </a:p>
          </p:txBody>
        </p:sp>
        <p:sp>
          <p:nvSpPr>
            <p:cNvPr id="11277" name="Line 14"/>
            <p:cNvSpPr/>
            <p:nvPr/>
          </p:nvSpPr>
          <p:spPr>
            <a:xfrm>
              <a:off x="3475" y="3536"/>
              <a:ext cx="1889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</p:sp>
        <p:sp>
          <p:nvSpPr>
            <p:cNvPr id="11278" name="Line 15"/>
            <p:cNvSpPr/>
            <p:nvPr/>
          </p:nvSpPr>
          <p:spPr>
            <a:xfrm>
              <a:off x="5356" y="2278"/>
              <a:ext cx="0" cy="478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</p:sp>
        <p:sp>
          <p:nvSpPr>
            <p:cNvPr id="11279" name="Line 16"/>
            <p:cNvSpPr/>
            <p:nvPr/>
          </p:nvSpPr>
          <p:spPr>
            <a:xfrm>
              <a:off x="5356" y="3046"/>
              <a:ext cx="0" cy="487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</p:sp>
        <p:sp>
          <p:nvSpPr>
            <p:cNvPr id="11280" name="Line 17"/>
            <p:cNvSpPr/>
            <p:nvPr/>
          </p:nvSpPr>
          <p:spPr>
            <a:xfrm flipV="1">
              <a:off x="3504" y="2284"/>
              <a:ext cx="669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</p:sp>
        <p:sp>
          <p:nvSpPr>
            <p:cNvPr id="11281" name="Line 18"/>
            <p:cNvSpPr/>
            <p:nvPr/>
          </p:nvSpPr>
          <p:spPr>
            <a:xfrm>
              <a:off x="4484" y="2284"/>
              <a:ext cx="892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1282" name="Line 19"/>
            <p:cNvSpPr/>
            <p:nvPr/>
          </p:nvSpPr>
          <p:spPr>
            <a:xfrm rot="7451413" flipH="1" flipV="1">
              <a:off x="4093" y="2284"/>
              <a:ext cx="337" cy="178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1283" name="Text Box 20"/>
            <p:cNvSpPr txBox="1"/>
            <p:nvPr/>
          </p:nvSpPr>
          <p:spPr>
            <a:xfrm>
              <a:off x="4223" y="1977"/>
              <a:ext cx="337" cy="327"/>
            </a:xfrm>
            <a:prstGeom prst="rect">
              <a:avLst/>
            </a:prstGeom>
            <a:noFill/>
            <a:ln w="38100">
              <a:noFill/>
            </a:ln>
          </p:spPr>
          <p:txBody>
            <a:bodyPr lIns="91435" tIns="45718" rIns="91435" bIns="45718" anchor="t" anchorCtr="0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800" b="1" dirty="0">
                  <a:latin typeface="Times New Roman" panose="02020603050405020304" pitchFamily="18" charset="0"/>
                  <a:ea typeface="宋体" panose="02010600030101010101" pitchFamily="2" charset="-122"/>
                </a:rPr>
                <a:t>S</a:t>
              </a:r>
            </a:p>
          </p:txBody>
        </p:sp>
        <p:sp>
          <p:nvSpPr>
            <p:cNvPr id="11284" name="Line 21"/>
            <p:cNvSpPr/>
            <p:nvPr/>
          </p:nvSpPr>
          <p:spPr>
            <a:xfrm rot="5400000" flipV="1">
              <a:off x="3816" y="1992"/>
              <a:ext cx="0" cy="432"/>
            </a:xfrm>
            <a:prstGeom prst="line">
              <a:avLst/>
            </a:prstGeom>
            <a:ln w="38100" cap="flat" cmpd="sng">
              <a:solidFill>
                <a:srgbClr val="FF0000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11285" name="Text Box 22"/>
            <p:cNvSpPr txBox="1"/>
            <p:nvPr/>
          </p:nvSpPr>
          <p:spPr>
            <a:xfrm>
              <a:off x="3648" y="2188"/>
              <a:ext cx="278" cy="404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lIns="91435" tIns="45718" rIns="91435" bIns="45718" anchor="t" anchorCtr="0">
              <a:spAutoFit/>
            </a:bodyPr>
            <a:lstStyle/>
            <a:p>
              <a:pPr algn="ctr"/>
              <a:r>
                <a:rPr lang="en-US" altLang="zh-CN" sz="3600" dirty="0">
                  <a:solidFill>
                    <a:srgbClr val="FF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+</a:t>
              </a:r>
            </a:p>
          </p:txBody>
        </p:sp>
        <p:sp>
          <p:nvSpPr>
            <p:cNvPr id="11286" name="Text Box 23"/>
            <p:cNvSpPr txBox="1"/>
            <p:nvPr/>
          </p:nvSpPr>
          <p:spPr>
            <a:xfrm>
              <a:off x="3648" y="2688"/>
              <a:ext cx="278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91435" tIns="45718" rIns="91435" bIns="45718" anchor="t" anchorCtr="0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800" b="1" i="1" dirty="0">
                  <a:solidFill>
                    <a:srgbClr val="FF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U</a:t>
              </a:r>
              <a:endParaRPr lang="en-US" altLang="zh-CN" sz="4000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1287" name="Text Box 24"/>
            <p:cNvSpPr txBox="1"/>
            <p:nvPr/>
          </p:nvSpPr>
          <p:spPr>
            <a:xfrm>
              <a:off x="3648" y="3187"/>
              <a:ext cx="303" cy="365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91435" tIns="45718" rIns="91435" bIns="45718" anchor="t" anchorCtr="0">
              <a:spAutoFit/>
            </a:bodyPr>
            <a:lstStyle/>
            <a:p>
              <a:pPr algn="ctr"/>
              <a:r>
                <a:rPr lang="en-US" altLang="zh-CN" sz="3200" dirty="0">
                  <a:solidFill>
                    <a:srgbClr val="FF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–</a:t>
              </a:r>
            </a:p>
          </p:txBody>
        </p:sp>
        <p:sp>
          <p:nvSpPr>
            <p:cNvPr id="11288" name="Text Box 25"/>
            <p:cNvSpPr txBox="1"/>
            <p:nvPr/>
          </p:nvSpPr>
          <p:spPr>
            <a:xfrm>
              <a:off x="3696" y="1920"/>
              <a:ext cx="384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91435" tIns="45718" rIns="91435" bIns="45718" anchor="t" anchorCtr="0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800" b="1" i="1" dirty="0">
                  <a:solidFill>
                    <a:srgbClr val="FF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I</a:t>
              </a:r>
              <a:endParaRPr lang="en-US" altLang="zh-CN" sz="4000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1289" name="Oval 26"/>
            <p:cNvSpPr/>
            <p:nvPr/>
          </p:nvSpPr>
          <p:spPr>
            <a:xfrm>
              <a:off x="4416" y="2267"/>
              <a:ext cx="54" cy="54"/>
            </a:xfrm>
            <a:prstGeom prst="ellipse">
              <a:avLst/>
            </a:prstGeom>
            <a:noFill/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lstStyle/>
            <a:p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sp>
        <p:nvSpPr>
          <p:cNvPr id="11290" name="Text Box 27"/>
          <p:cNvSpPr txBox="1"/>
          <p:nvPr/>
        </p:nvSpPr>
        <p:spPr>
          <a:xfrm>
            <a:off x="693738" y="3367088"/>
            <a:ext cx="901700" cy="519112"/>
          </a:xfrm>
          <a:prstGeom prst="rect">
            <a:avLst/>
          </a:prstGeom>
          <a:noFill/>
          <a:ln w="9525">
            <a:noFill/>
          </a:ln>
        </p:spPr>
        <p:txBody>
          <a:bodyPr wrap="none" lIns="91435" tIns="45718" rIns="91435" bIns="45718" anchor="t" anchorCtr="0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b="1" dirty="0">
                <a:latin typeface="Times New Roman" panose="02020603050405020304" pitchFamily="18" charset="0"/>
                <a:ea typeface="宋体" panose="02010600030101010101" pitchFamily="2" charset="-122"/>
              </a:rPr>
              <a:t>电池</a:t>
            </a:r>
            <a:endParaRPr lang="zh-CN" altLang="en-US" sz="28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1291" name="Text Box 28"/>
          <p:cNvSpPr txBox="1"/>
          <p:nvPr/>
        </p:nvSpPr>
        <p:spPr>
          <a:xfrm>
            <a:off x="2128838" y="3352800"/>
            <a:ext cx="893762" cy="519113"/>
          </a:xfrm>
          <a:prstGeom prst="rect">
            <a:avLst/>
          </a:prstGeom>
          <a:noFill/>
          <a:ln w="9525">
            <a:noFill/>
          </a:ln>
        </p:spPr>
        <p:txBody>
          <a:bodyPr wrap="none" lIns="91435" tIns="45718" rIns="91435" bIns="45718" anchor="t" anchorCtr="0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b="1" dirty="0">
                <a:latin typeface="Times New Roman" panose="02020603050405020304" pitchFamily="18" charset="0"/>
                <a:ea typeface="宋体" panose="02010600030101010101" pitchFamily="2" charset="-122"/>
              </a:rPr>
              <a:t>导线</a:t>
            </a:r>
            <a:endParaRPr lang="zh-CN" altLang="en-US" sz="28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1292" name="Rectangle 29"/>
          <p:cNvSpPr/>
          <p:nvPr/>
        </p:nvSpPr>
        <p:spPr>
          <a:xfrm>
            <a:off x="3513138" y="3429000"/>
            <a:ext cx="901700" cy="390525"/>
          </a:xfrm>
          <a:prstGeom prst="rect">
            <a:avLst/>
          </a:prstGeom>
          <a:noFill/>
          <a:ln w="9525">
            <a:noFill/>
          </a:ln>
        </p:spPr>
        <p:txBody>
          <a:bodyPr lIns="91435" tIns="45718" rIns="91435" bIns="45718" anchor="t" anchorCtr="0">
            <a:spAutoFit/>
          </a:bodyPr>
          <a:lstStyle/>
          <a:p>
            <a:pPr>
              <a:lnSpc>
                <a:spcPct val="70000"/>
              </a:lnSpc>
              <a:spcBef>
                <a:spcPct val="50000"/>
              </a:spcBef>
              <a:buClr>
                <a:schemeClr val="tx1"/>
              </a:buClr>
            </a:pPr>
            <a:r>
              <a:rPr lang="zh-CN" altLang="en-US" sz="2800" b="1" dirty="0">
                <a:latin typeface="Times New Roman" panose="02020603050405020304" pitchFamily="18" charset="0"/>
                <a:ea typeface="宋体" panose="02010600030101010101" pitchFamily="2" charset="-122"/>
              </a:rPr>
              <a:t>灯泡</a:t>
            </a:r>
          </a:p>
        </p:txBody>
      </p:sp>
      <p:sp>
        <p:nvSpPr>
          <p:cNvPr id="11293" name="Line 30"/>
          <p:cNvSpPr/>
          <p:nvPr/>
        </p:nvSpPr>
        <p:spPr>
          <a:xfrm>
            <a:off x="1747838" y="846138"/>
            <a:ext cx="0" cy="2855912"/>
          </a:xfrm>
          <a:prstGeom prst="line">
            <a:avLst/>
          </a:prstGeom>
          <a:ln w="38100" cap="flat" cmpd="sng">
            <a:solidFill>
              <a:srgbClr val="003399"/>
            </a:solidFill>
            <a:prstDash val="dash"/>
            <a:round/>
            <a:headEnd type="none" w="med" len="med"/>
            <a:tailEnd type="none" w="med" len="med"/>
          </a:ln>
        </p:spPr>
      </p:sp>
      <p:sp>
        <p:nvSpPr>
          <p:cNvPr id="11294" name="Line 31"/>
          <p:cNvSpPr/>
          <p:nvPr/>
        </p:nvSpPr>
        <p:spPr>
          <a:xfrm>
            <a:off x="3449638" y="828675"/>
            <a:ext cx="0" cy="2855913"/>
          </a:xfrm>
          <a:prstGeom prst="line">
            <a:avLst/>
          </a:prstGeom>
          <a:ln w="38100" cap="flat" cmpd="sng">
            <a:solidFill>
              <a:srgbClr val="003399"/>
            </a:solidFill>
            <a:prstDash val="dash"/>
            <a:round/>
            <a:headEnd type="none" w="med" len="med"/>
            <a:tailEnd type="none" w="med" len="med"/>
          </a:ln>
        </p:spPr>
      </p:sp>
      <p:sp>
        <p:nvSpPr>
          <p:cNvPr id="11295" name="Text Box 32"/>
          <p:cNvSpPr txBox="1"/>
          <p:nvPr/>
        </p:nvSpPr>
        <p:spPr>
          <a:xfrm>
            <a:off x="2052638" y="1524000"/>
            <a:ext cx="901700" cy="519113"/>
          </a:xfrm>
          <a:prstGeom prst="rect">
            <a:avLst/>
          </a:prstGeom>
          <a:noFill/>
          <a:ln w="9525">
            <a:noFill/>
          </a:ln>
        </p:spPr>
        <p:txBody>
          <a:bodyPr wrap="none" lIns="91435" tIns="45718" rIns="91435" bIns="45718" anchor="t" anchorCtr="0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b="1" dirty="0">
                <a:latin typeface="Times New Roman" panose="02020603050405020304" pitchFamily="18" charset="0"/>
                <a:ea typeface="宋体" panose="02010600030101010101" pitchFamily="2" charset="-122"/>
              </a:rPr>
              <a:t>开关</a:t>
            </a:r>
            <a:endParaRPr lang="zh-CN" altLang="en-US" sz="28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9249" name="Text Box 33"/>
          <p:cNvSpPr txBox="1"/>
          <p:nvPr/>
        </p:nvSpPr>
        <p:spPr>
          <a:xfrm>
            <a:off x="4648200" y="708025"/>
            <a:ext cx="4038600" cy="1038225"/>
          </a:xfrm>
          <a:prstGeom prst="rect">
            <a:avLst/>
          </a:prstGeom>
          <a:noFill/>
          <a:ln w="9525">
            <a:noFill/>
          </a:ln>
        </p:spPr>
        <p:txBody>
          <a:bodyPr lIns="91435" tIns="45718" rIns="91435" bIns="45718" anchor="t" anchorCtr="0">
            <a:spAutoFit/>
          </a:bodyPr>
          <a:lstStyle/>
          <a:p>
            <a:pPr>
              <a:lnSpc>
                <a:spcPct val="110000"/>
              </a:lnSpc>
              <a:spcBef>
                <a:spcPct val="10000"/>
              </a:spcBef>
            </a:pPr>
            <a:r>
              <a:rPr lang="en-US" altLang="zh-CN" sz="2800" b="1" dirty="0">
                <a:solidFill>
                  <a:srgbClr val="CC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   </a:t>
            </a:r>
            <a:r>
              <a:rPr lang="zh-CN" altLang="en-US" sz="2800" b="1" dirty="0">
                <a:solidFill>
                  <a:srgbClr val="CC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电池</a:t>
            </a:r>
            <a:r>
              <a:rPr lang="en-US" altLang="zh-CN" sz="2800" b="1" dirty="0">
                <a:solidFill>
                  <a:srgbClr val="CC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:</a:t>
            </a:r>
            <a:r>
              <a:rPr lang="zh-CN" altLang="en-US" sz="2800" b="1" dirty="0">
                <a:solidFill>
                  <a:srgbClr val="0070C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电源元件</a:t>
            </a:r>
            <a:r>
              <a:rPr lang="zh-CN" altLang="en-US" sz="2800" b="1" dirty="0">
                <a:latin typeface="Times New Roman" panose="02020603050405020304" pitchFamily="18" charset="0"/>
                <a:ea typeface="宋体" panose="02010600030101010101" pitchFamily="2" charset="-122"/>
              </a:rPr>
              <a:t>，其参数为</a:t>
            </a:r>
            <a:r>
              <a:rPr lang="zh-CN" altLang="en-US" sz="2800" b="1" dirty="0">
                <a:solidFill>
                  <a:srgbClr val="00B05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电动势</a:t>
            </a:r>
            <a:r>
              <a:rPr lang="zh-CN" altLang="en-US" sz="2800" b="1" dirty="0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altLang="zh-CN" sz="2800" b="1" i="1" dirty="0">
                <a:solidFill>
                  <a:srgbClr val="00B05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E </a:t>
            </a:r>
            <a:r>
              <a:rPr lang="zh-CN" altLang="en-US" sz="2800" b="1" dirty="0">
                <a:latin typeface="Times New Roman" panose="02020603050405020304" pitchFamily="18" charset="0"/>
                <a:ea typeface="宋体" panose="02010600030101010101" pitchFamily="2" charset="-122"/>
              </a:rPr>
              <a:t>和</a:t>
            </a:r>
            <a:r>
              <a:rPr lang="zh-CN" altLang="en-US" sz="2800" b="1" dirty="0">
                <a:solidFill>
                  <a:srgbClr val="00B05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内阻</a:t>
            </a:r>
            <a:r>
              <a:rPr lang="en-US" altLang="zh-CN" sz="2800" b="1" i="1" dirty="0">
                <a:solidFill>
                  <a:srgbClr val="00B05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R</a:t>
            </a:r>
            <a:r>
              <a:rPr lang="en-US" altLang="zh-CN" sz="2800" b="1" baseline="-25000" dirty="0">
                <a:solidFill>
                  <a:srgbClr val="00B05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o</a:t>
            </a:r>
            <a:r>
              <a:rPr lang="zh-CN" altLang="en-US" sz="2800" b="1" dirty="0">
                <a:latin typeface="Times New Roman" panose="02020603050405020304" pitchFamily="18" charset="0"/>
                <a:ea typeface="宋体" panose="02010600030101010101" pitchFamily="2" charset="-122"/>
              </a:rPr>
              <a:t>；</a:t>
            </a:r>
          </a:p>
        </p:txBody>
      </p:sp>
      <p:sp>
        <p:nvSpPr>
          <p:cNvPr id="9250" name="Text Box 34"/>
          <p:cNvSpPr txBox="1"/>
          <p:nvPr/>
        </p:nvSpPr>
        <p:spPr>
          <a:xfrm>
            <a:off x="4648200" y="2155825"/>
            <a:ext cx="4114800" cy="1038225"/>
          </a:xfrm>
          <a:prstGeom prst="rect">
            <a:avLst/>
          </a:prstGeom>
          <a:noFill/>
          <a:ln w="9525">
            <a:noFill/>
          </a:ln>
        </p:spPr>
        <p:txBody>
          <a:bodyPr lIns="91435" tIns="45718" rIns="91435" bIns="45718" anchor="t" anchorCtr="0">
            <a:spAutoFit/>
          </a:bodyPr>
          <a:lstStyle/>
          <a:p>
            <a:pPr>
              <a:lnSpc>
                <a:spcPct val="110000"/>
              </a:lnSpc>
              <a:spcBef>
                <a:spcPct val="10000"/>
              </a:spcBef>
            </a:pPr>
            <a:r>
              <a:rPr lang="en-US" altLang="zh-CN" sz="2800" b="1" dirty="0">
                <a:latin typeface="Times New Roman" panose="02020603050405020304" pitchFamily="18" charset="0"/>
                <a:ea typeface="宋体" panose="02010600030101010101" pitchFamily="2" charset="-122"/>
              </a:rPr>
              <a:t>    </a:t>
            </a:r>
            <a:r>
              <a:rPr lang="zh-CN" altLang="en-US" sz="2800" b="1" dirty="0">
                <a:solidFill>
                  <a:srgbClr val="CC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灯泡</a:t>
            </a:r>
            <a:r>
              <a:rPr lang="en-US" altLang="zh-CN" sz="2800" b="1" dirty="0">
                <a:solidFill>
                  <a:srgbClr val="CC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: </a:t>
            </a:r>
            <a:r>
              <a:rPr lang="zh-CN" altLang="en-US" sz="2800" b="1" dirty="0">
                <a:solidFill>
                  <a:srgbClr val="0070C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消耗电能</a:t>
            </a:r>
            <a:r>
              <a:rPr lang="zh-CN" altLang="en-US" sz="2800" b="1" dirty="0">
                <a:latin typeface="Times New Roman" panose="02020603050405020304" pitchFamily="18" charset="0"/>
                <a:ea typeface="宋体" panose="02010600030101010101" pitchFamily="2" charset="-122"/>
              </a:rPr>
              <a:t>，是电阻元件，其参数为</a:t>
            </a:r>
            <a:r>
              <a:rPr lang="zh-CN" altLang="en-US" sz="2800" b="1" dirty="0">
                <a:solidFill>
                  <a:srgbClr val="00B05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电阻</a:t>
            </a:r>
            <a:r>
              <a:rPr lang="en-US" altLang="zh-CN" sz="2800" b="1" i="1" dirty="0">
                <a:solidFill>
                  <a:srgbClr val="00B05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R</a:t>
            </a:r>
            <a:r>
              <a:rPr lang="zh-CN" altLang="en-US" sz="2800" b="1" dirty="0">
                <a:latin typeface="Times New Roman" panose="02020603050405020304" pitchFamily="18" charset="0"/>
                <a:ea typeface="宋体" panose="02010600030101010101" pitchFamily="2" charset="-122"/>
              </a:rPr>
              <a:t>；</a:t>
            </a:r>
          </a:p>
        </p:txBody>
      </p:sp>
      <p:sp>
        <p:nvSpPr>
          <p:cNvPr id="9251" name="Text Box 35"/>
          <p:cNvSpPr txBox="1"/>
          <p:nvPr/>
        </p:nvSpPr>
        <p:spPr>
          <a:xfrm>
            <a:off x="4648200" y="3603625"/>
            <a:ext cx="4267200" cy="1511300"/>
          </a:xfrm>
          <a:prstGeom prst="rect">
            <a:avLst/>
          </a:prstGeom>
          <a:noFill/>
          <a:ln w="9525">
            <a:noFill/>
          </a:ln>
        </p:spPr>
        <p:txBody>
          <a:bodyPr lIns="91435" tIns="45718" rIns="91435" bIns="45718" anchor="t" anchorCtr="0">
            <a:spAutoFit/>
          </a:bodyPr>
          <a:lstStyle/>
          <a:p>
            <a:pPr>
              <a:lnSpc>
                <a:spcPct val="110000"/>
              </a:lnSpc>
              <a:spcBef>
                <a:spcPct val="10000"/>
              </a:spcBef>
            </a:pPr>
            <a:r>
              <a:rPr lang="en-US" altLang="zh-CN" sz="2800" b="1" dirty="0">
                <a:latin typeface="Times New Roman" panose="02020603050405020304" pitchFamily="18" charset="0"/>
                <a:ea typeface="宋体" panose="02010600030101010101" pitchFamily="2" charset="-122"/>
              </a:rPr>
              <a:t>    </a:t>
            </a:r>
            <a:r>
              <a:rPr lang="zh-CN" altLang="en-US" sz="2800" b="1" dirty="0">
                <a:solidFill>
                  <a:srgbClr val="CC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筒体</a:t>
            </a:r>
            <a:r>
              <a:rPr lang="en-US" altLang="zh-CN" sz="2800" b="1" dirty="0">
                <a:solidFill>
                  <a:srgbClr val="CC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:</a:t>
            </a:r>
            <a:r>
              <a:rPr lang="zh-CN" altLang="en-US" sz="2800" b="1" dirty="0">
                <a:solidFill>
                  <a:srgbClr val="0070C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连接</a:t>
            </a:r>
            <a:r>
              <a:rPr lang="zh-CN" altLang="en-US" sz="2800" b="1" dirty="0">
                <a:latin typeface="Times New Roman" panose="02020603050405020304" pitchFamily="18" charset="0"/>
                <a:ea typeface="宋体" panose="02010600030101010101" pitchFamily="2" charset="-122"/>
              </a:rPr>
              <a:t>电池和灯泡，其电阻忽略不计，视为是</a:t>
            </a:r>
            <a:r>
              <a:rPr lang="zh-CN" altLang="en-US" sz="2800" b="1" dirty="0">
                <a:solidFill>
                  <a:srgbClr val="00B05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无电阻</a:t>
            </a:r>
            <a:r>
              <a:rPr lang="zh-CN" altLang="en-US" sz="2800" b="1" dirty="0">
                <a:latin typeface="Times New Roman" panose="02020603050405020304" pitchFamily="18" charset="0"/>
                <a:ea typeface="宋体" panose="02010600030101010101" pitchFamily="2" charset="-122"/>
              </a:rPr>
              <a:t>的理想导体。</a:t>
            </a:r>
          </a:p>
        </p:txBody>
      </p:sp>
      <p:sp>
        <p:nvSpPr>
          <p:cNvPr id="9252" name="Text Box 36"/>
          <p:cNvSpPr txBox="1"/>
          <p:nvPr/>
        </p:nvSpPr>
        <p:spPr>
          <a:xfrm>
            <a:off x="4648200" y="5321300"/>
            <a:ext cx="4114800" cy="563563"/>
          </a:xfrm>
          <a:prstGeom prst="rect">
            <a:avLst/>
          </a:prstGeom>
          <a:noFill/>
          <a:ln w="9525">
            <a:noFill/>
          </a:ln>
        </p:spPr>
        <p:txBody>
          <a:bodyPr lIns="91435" tIns="45718" rIns="91435" bIns="45718" anchor="t" anchorCtr="0">
            <a:spAutoFit/>
          </a:bodyPr>
          <a:lstStyle/>
          <a:p>
            <a:pPr>
              <a:lnSpc>
                <a:spcPct val="110000"/>
              </a:lnSpc>
              <a:spcBef>
                <a:spcPct val="10000"/>
              </a:spcBef>
            </a:pPr>
            <a:r>
              <a:rPr lang="en-US" altLang="zh-CN" sz="2800" b="1" dirty="0">
                <a:latin typeface="Times New Roman" panose="02020603050405020304" pitchFamily="18" charset="0"/>
                <a:ea typeface="宋体" panose="02010600030101010101" pitchFamily="2" charset="-122"/>
              </a:rPr>
              <a:t>    </a:t>
            </a:r>
            <a:r>
              <a:rPr lang="zh-CN" altLang="en-US" sz="2800" b="1" dirty="0">
                <a:solidFill>
                  <a:srgbClr val="CC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开关：</a:t>
            </a:r>
            <a:r>
              <a:rPr lang="zh-CN" altLang="en-US" sz="2800" b="1" dirty="0">
                <a:solidFill>
                  <a:srgbClr val="0070C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控制</a:t>
            </a:r>
            <a:r>
              <a:rPr lang="zh-CN" altLang="en-US" sz="2800" b="1" dirty="0">
                <a:latin typeface="Times New Roman" panose="02020603050405020304" pitchFamily="18" charset="0"/>
                <a:ea typeface="宋体" panose="02010600030101010101" pitchFamily="2" charset="-122"/>
              </a:rPr>
              <a:t>电路的</a:t>
            </a:r>
            <a:r>
              <a:rPr lang="zh-CN" altLang="en-US" sz="2800" b="1" dirty="0">
                <a:solidFill>
                  <a:srgbClr val="00B05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通断</a:t>
            </a:r>
            <a:r>
              <a:rPr lang="zh-CN" altLang="en-US" sz="2800" b="1" dirty="0">
                <a:latin typeface="Times New Roman" panose="02020603050405020304" pitchFamily="18" charset="0"/>
                <a:ea typeface="宋体" panose="02010600030101010101" pitchFamily="2" charset="-122"/>
              </a:rPr>
              <a:t>。</a:t>
            </a:r>
          </a:p>
        </p:txBody>
      </p:sp>
      <p:sp>
        <p:nvSpPr>
          <p:cNvPr id="9253" name="Text Box 37"/>
          <p:cNvSpPr txBox="1">
            <a:spLocks noChangeArrowheads="1"/>
          </p:cNvSpPr>
          <p:nvPr/>
        </p:nvSpPr>
        <p:spPr bwMode="auto">
          <a:xfrm>
            <a:off x="533400" y="4437063"/>
            <a:ext cx="4038600" cy="1514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1435" tIns="45718" rIns="91435" bIns="45718">
            <a:spAutoFit/>
          </a:bodyPr>
          <a:lstStyle/>
          <a:p>
            <a:pPr marR="0" defTabSz="914400">
              <a:lnSpc>
                <a:spcPct val="110000"/>
              </a:lnSpc>
              <a:spcBef>
                <a:spcPct val="10000"/>
              </a:spcBef>
              <a:buClrTx/>
              <a:buSzTx/>
              <a:buFontTx/>
              <a:buNone/>
              <a:defRPr/>
            </a:pPr>
            <a:r>
              <a:rPr kumimoji="1" lang="en-US" altLang="zh-CN" sz="2800" b="1" kern="1200" cap="none" spc="0" normalizeH="0" baseline="0" noProof="0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   </a:t>
            </a:r>
            <a:r>
              <a:rPr kumimoji="1" lang="zh-CN" altLang="en-US" sz="2800" b="1" kern="1200" cap="none" spc="0" normalizeH="0" baseline="0" noProof="0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</a:t>
            </a:r>
            <a:r>
              <a:rPr kumimoji="1" lang="zh-CN" altLang="en-US" sz="2800" b="1" kern="1200" cap="none" spc="0" normalizeH="0" baseline="0" noProof="0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电路分析</a:t>
            </a:r>
            <a:r>
              <a:rPr kumimoji="1" lang="zh-CN" altLang="en-US" sz="2800" b="1" kern="1200" cap="none" spc="0" normalizeH="0" baseline="0" noProof="0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是在</a:t>
            </a:r>
            <a:r>
              <a:rPr kumimoji="1" lang="zh-CN" altLang="en-US" sz="2800" b="1" kern="1200" cap="none" spc="0" normalizeH="0" baseline="0" noProof="0" dirty="0">
                <a:solidFill>
                  <a:srgbClr val="00B05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已知电路结构和参数</a:t>
            </a:r>
            <a:r>
              <a:rPr kumimoji="1" lang="zh-CN" altLang="en-US" sz="2800" b="1" kern="1200" cap="none" spc="0" normalizeH="0" baseline="0" noProof="0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的条件下，讨论</a:t>
            </a:r>
            <a:r>
              <a:rPr kumimoji="1" lang="zh-CN" altLang="en-US" sz="2800" b="1" kern="1200" cap="none" spc="0" normalizeH="0" baseline="0" noProof="0" dirty="0">
                <a:solidFill>
                  <a:srgbClr val="0070C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激励与响应</a:t>
            </a:r>
            <a:r>
              <a:rPr kumimoji="1" lang="zh-CN" altLang="en-US" sz="2800" b="1" kern="1200" cap="none" spc="0" normalizeH="0" baseline="0" noProof="0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的关系。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92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92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92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92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92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249" grpId="0"/>
      <p:bldP spid="9250" grpId="0"/>
      <p:bldP spid="9251" grpId="0"/>
      <p:bldP spid="9252" grpId="0"/>
      <p:bldP spid="9253" grpId="0" bldLvl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ChangeArrowheads="1"/>
          </p:cNvSpPr>
          <p:nvPr/>
        </p:nvSpPr>
        <p:spPr bwMode="auto">
          <a:xfrm>
            <a:off x="685800" y="-26987"/>
            <a:ext cx="7772400" cy="914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lIns="91435" tIns="45718" rIns="91435" bIns="45718" anchor="ctr"/>
          <a:lstStyle>
            <a:lvl1pPr algn="ctr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algn="ctr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algn="ctr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algn="ctr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algn="ctr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457200" algn="ctr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914400" algn="ctr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1371600" algn="ctr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1828800" algn="ctr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3600" b="1" i="0" u="none" strike="noStrike" kern="120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华文新魏" panose="02010800040101010101" pitchFamily="2" charset="-122"/>
                <a:cs typeface="+mn-cs"/>
              </a:rPr>
              <a:t>1.3</a:t>
            </a:r>
            <a:r>
              <a:rPr kumimoji="1" lang="en-US" altLang="zh-CN" sz="3600" b="1" i="0" u="none" strike="noStrike" kern="120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rPr>
              <a:t>  </a:t>
            </a:r>
            <a:r>
              <a:rPr kumimoji="1" lang="zh-CN" alt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rPr>
              <a:t>电压和电流的参考方向</a:t>
            </a:r>
          </a:p>
        </p:txBody>
      </p:sp>
      <p:sp>
        <p:nvSpPr>
          <p:cNvPr id="12290" name="Rectangle 3"/>
          <p:cNvSpPr/>
          <p:nvPr/>
        </p:nvSpPr>
        <p:spPr>
          <a:xfrm>
            <a:off x="381000" y="1036638"/>
            <a:ext cx="4953000" cy="792162"/>
          </a:xfrm>
          <a:prstGeom prst="rect">
            <a:avLst/>
          </a:prstGeom>
          <a:noFill/>
          <a:ln w="9525">
            <a:noFill/>
          </a:ln>
        </p:spPr>
        <p:txBody>
          <a:bodyPr lIns="91435" tIns="45718" rIns="91435" bIns="45718" anchor="t" anchorCtr="0"/>
          <a:lstStyle/>
          <a:p>
            <a:pPr marL="342900" indent="-342900">
              <a:spcBef>
                <a:spcPct val="30000"/>
              </a:spcBef>
              <a:buChar char="•"/>
            </a:pPr>
            <a:endParaRPr lang="zh-CN" altLang="zh-CN" sz="3700" b="1" dirty="0">
              <a:solidFill>
                <a:srgbClr val="00FF00"/>
              </a:solidFill>
              <a:latin typeface="Times New Roman" panose="02020603050405020304" pitchFamily="18" charset="0"/>
              <a:ea typeface="隶书" panose="02010509060101010101" pitchFamily="49" charset="-122"/>
            </a:endParaRPr>
          </a:p>
        </p:txBody>
      </p:sp>
      <p:sp>
        <p:nvSpPr>
          <p:cNvPr id="10244" name="Text Box 4"/>
          <p:cNvSpPr txBox="1">
            <a:spLocks noChangeArrowheads="1"/>
          </p:cNvSpPr>
          <p:nvPr/>
        </p:nvSpPr>
        <p:spPr bwMode="auto">
          <a:xfrm>
            <a:off x="381000" y="2333625"/>
            <a:ext cx="7816215" cy="490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35" tIns="45718" rIns="91435" bIns="45718">
            <a:spAutoFit/>
          </a:bodyPr>
          <a:lstStyle/>
          <a:p>
            <a:pPr marR="0" defTabSz="914400">
              <a:spcBef>
                <a:spcPct val="30000"/>
              </a:spcBef>
              <a:buClrTx/>
              <a:buSzTx/>
              <a:buFontTx/>
              <a:buNone/>
              <a:defRPr/>
            </a:pPr>
            <a:r>
              <a:rPr kumimoji="1" lang="en-US" altLang="zh-CN" sz="2600" b="1" kern="1200" cap="none" spc="0" normalizeH="0" baseline="0" noProof="0" dirty="0">
                <a:solidFill>
                  <a:srgbClr val="A5002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       </a:t>
            </a:r>
            <a:r>
              <a:rPr kumimoji="1" lang="zh-CN" altLang="en-US" sz="2600" b="1" kern="1200" cap="none" spc="0" normalizeH="0" baseline="0" noProof="0" dirty="0">
                <a:solidFill>
                  <a:srgbClr val="A5002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物理中对基本物理量规定的方向（</a:t>
            </a:r>
            <a:r>
              <a:rPr kumimoji="1" lang="zh-CN" altLang="en-US" sz="2600" b="1" kern="1200" cap="none" spc="0" normalizeH="0" baseline="0" noProof="0" dirty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习惯上规定</a:t>
            </a:r>
            <a:r>
              <a:rPr kumimoji="1" lang="zh-CN" altLang="en-US" sz="2600" b="1" kern="1200" cap="none" spc="0" normalizeH="0" baseline="0" noProof="0" dirty="0">
                <a:solidFill>
                  <a:srgbClr val="A5002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）</a:t>
            </a:r>
          </a:p>
        </p:txBody>
      </p:sp>
      <p:grpSp>
        <p:nvGrpSpPr>
          <p:cNvPr id="12292" name="Group 5"/>
          <p:cNvGrpSpPr/>
          <p:nvPr/>
        </p:nvGrpSpPr>
        <p:grpSpPr>
          <a:xfrm>
            <a:off x="457200" y="792163"/>
            <a:ext cx="8275638" cy="171450"/>
            <a:chOff x="395" y="624"/>
            <a:chExt cx="5213" cy="108"/>
          </a:xfrm>
        </p:grpSpPr>
        <p:pic>
          <p:nvPicPr>
            <p:cNvPr id="12293" name="Picture 6" descr="Green and Black Diamond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447" y="624"/>
              <a:ext cx="120" cy="108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12294" name="Picture 7" descr="Green and Black Diamond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560" y="624"/>
              <a:ext cx="119" cy="108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12295" name="Picture 8" descr="Green and Black Diamond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666" y="624"/>
              <a:ext cx="119" cy="108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12296" name="Picture 9" descr="Green and Black Diamond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765" y="624"/>
              <a:ext cx="119" cy="108"/>
            </a:xfrm>
            <a:prstGeom prst="rect">
              <a:avLst/>
            </a:prstGeom>
            <a:noFill/>
            <a:ln w="9525">
              <a:noFill/>
            </a:ln>
          </p:spPr>
        </p:pic>
        <p:grpSp>
          <p:nvGrpSpPr>
            <p:cNvPr id="12297" name="Group 10"/>
            <p:cNvGrpSpPr/>
            <p:nvPr/>
          </p:nvGrpSpPr>
          <p:grpSpPr>
            <a:xfrm>
              <a:off x="395" y="624"/>
              <a:ext cx="331" cy="108"/>
              <a:chOff x="395" y="624"/>
              <a:chExt cx="331" cy="108"/>
            </a:xfrm>
          </p:grpSpPr>
          <p:pic>
            <p:nvPicPr>
              <p:cNvPr id="12298" name="Picture 11" descr="Green and Black Diamond"/>
              <p:cNvPicPr>
                <a:picLocks noChangeAspect="1"/>
              </p:cNvPicPr>
              <p:nvPr/>
            </p:nvPicPr>
            <p:blipFill>
              <a:blip r:embed="rId2" cstate="print"/>
              <a:stretch>
                <a:fillRect/>
              </a:stretch>
            </p:blipFill>
            <p:spPr>
              <a:xfrm>
                <a:off x="395" y="624"/>
                <a:ext cx="119" cy="108"/>
              </a:xfrm>
              <a:prstGeom prst="rect">
                <a:avLst/>
              </a:prstGeom>
              <a:noFill/>
              <a:ln w="9525">
                <a:noFill/>
              </a:ln>
            </p:spPr>
          </p:pic>
          <p:pic>
            <p:nvPicPr>
              <p:cNvPr id="12299" name="Picture 12" descr="Green and Black Diamond"/>
              <p:cNvPicPr>
                <a:picLocks noChangeAspect="1"/>
              </p:cNvPicPr>
              <p:nvPr/>
            </p:nvPicPr>
            <p:blipFill>
              <a:blip r:embed="rId2" cstate="print"/>
              <a:stretch>
                <a:fillRect/>
              </a:stretch>
            </p:blipFill>
            <p:spPr>
              <a:xfrm>
                <a:off x="494" y="624"/>
                <a:ext cx="119" cy="108"/>
              </a:xfrm>
              <a:prstGeom prst="rect">
                <a:avLst/>
              </a:prstGeom>
              <a:noFill/>
              <a:ln w="9525">
                <a:noFill/>
              </a:ln>
            </p:spPr>
          </p:pic>
          <p:pic>
            <p:nvPicPr>
              <p:cNvPr id="12300" name="Picture 13" descr="Green and Black Diamond"/>
              <p:cNvPicPr>
                <a:picLocks noChangeAspect="1"/>
              </p:cNvPicPr>
              <p:nvPr/>
            </p:nvPicPr>
            <p:blipFill>
              <a:blip r:embed="rId2" cstate="print"/>
              <a:stretch>
                <a:fillRect/>
              </a:stretch>
            </p:blipFill>
            <p:spPr>
              <a:xfrm>
                <a:off x="607" y="624"/>
                <a:ext cx="119" cy="108"/>
              </a:xfrm>
              <a:prstGeom prst="rect">
                <a:avLst/>
              </a:prstGeom>
              <a:noFill/>
              <a:ln w="9525">
                <a:noFill/>
              </a:ln>
            </p:spPr>
          </p:pic>
        </p:grpSp>
        <p:pic>
          <p:nvPicPr>
            <p:cNvPr id="12301" name="Picture 14" descr="Green and Black Diamond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12" y="624"/>
              <a:ext cx="119" cy="108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12302" name="Picture 15" descr="Green and Black Diamond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24" y="624"/>
              <a:ext cx="119" cy="108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12303" name="Picture 16" descr="Green and Black Diamond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030" y="624"/>
              <a:ext cx="119" cy="108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12304" name="Picture 17" descr="Green and Black Diamond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129" y="624"/>
              <a:ext cx="120" cy="108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12305" name="Picture 18" descr="Green and Black Diamond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242" y="624"/>
              <a:ext cx="119" cy="108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12306" name="Picture 19" descr="Green and Black Diamond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13" y="624"/>
              <a:ext cx="119" cy="108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12307" name="Picture 20" descr="Green and Black Diamond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348" y="624"/>
              <a:ext cx="119" cy="108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12308" name="Picture 21" descr="Green and Black Diamond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878" y="624"/>
              <a:ext cx="112" cy="102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12309" name="Picture 22" descr="Green and Black Diamond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984" y="624"/>
              <a:ext cx="112" cy="102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12310" name="Picture 23" descr="Green and Black Diamond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083" y="624"/>
              <a:ext cx="112" cy="102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12311" name="Picture 24" descr="Green and Black Diamond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195" y="624"/>
              <a:ext cx="113" cy="102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12312" name="Picture 25" descr="Green and Black Diamond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301" y="624"/>
              <a:ext cx="113" cy="102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12313" name="Picture 26" descr="Green and Black Diamond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401" y="624"/>
              <a:ext cx="112" cy="102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12314" name="Picture 27" descr="Green and Black Diamond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513" y="624"/>
              <a:ext cx="113" cy="102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12315" name="Picture 28" descr="Green and Black Diamond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718" y="624"/>
              <a:ext cx="113" cy="102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12316" name="Picture 29" descr="Green and Black Diamond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831" y="624"/>
              <a:ext cx="112" cy="102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12317" name="Picture 30" descr="Green and Black Diamond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937" y="624"/>
              <a:ext cx="112" cy="102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12318" name="Picture 31" descr="Green and Black Diamond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036" y="624"/>
              <a:ext cx="113" cy="102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12319" name="Picture 32" descr="Green and Black Diamond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149" y="624"/>
              <a:ext cx="112" cy="102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12320" name="Picture 33" descr="Green and Black Diamond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354" y="624"/>
              <a:ext cx="112" cy="102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12321" name="Picture 34" descr="Green and Black Diamond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466" y="624"/>
              <a:ext cx="113" cy="102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12322" name="Picture 35" descr="Green and Black Diamond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572" y="624"/>
              <a:ext cx="113" cy="102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12323" name="Picture 36" descr="Green and Black Diamond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672" y="624"/>
              <a:ext cx="112" cy="102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12324" name="Picture 37" descr="Green and Black Diamond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619" y="624"/>
              <a:ext cx="113" cy="102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12325" name="Picture 38" descr="Green and Black Diamond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255" y="624"/>
              <a:ext cx="112" cy="102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12326" name="Picture 39" descr="Green and Black Diamond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784" y="624"/>
              <a:ext cx="113" cy="102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12327" name="Picture 40" descr="Green and Black Diamond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890" y="624"/>
              <a:ext cx="112" cy="102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12328" name="Picture 41" descr="Green and Black Diamond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989" y="624"/>
              <a:ext cx="113" cy="102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12329" name="Picture 42" descr="Green and Black Diamond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102" y="624"/>
              <a:ext cx="112" cy="102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12330" name="Picture 43" descr="Green and Black Diamond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208" y="624"/>
              <a:ext cx="112" cy="102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12331" name="Picture 44" descr="Green and Black Diamond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307" y="624"/>
              <a:ext cx="112" cy="102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12332" name="Picture 45" descr="Green and Black Diamond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419" y="624"/>
              <a:ext cx="113" cy="102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12333" name="Picture 46" descr="Green and Black Diamond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625" y="624"/>
              <a:ext cx="112" cy="102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12334" name="Picture 47" descr="Green and Black Diamond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737" y="624"/>
              <a:ext cx="113" cy="102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12335" name="Picture 48" descr="Green and Black Diamond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843" y="624"/>
              <a:ext cx="113" cy="102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12336" name="Picture 49" descr="Green and Black Diamond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942" y="624"/>
              <a:ext cx="113" cy="102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12337" name="Picture 50" descr="Green and Black Diamond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055" y="624"/>
              <a:ext cx="112" cy="102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12338" name="Picture 51" descr="Green and Black Diamond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525" y="624"/>
              <a:ext cx="113" cy="102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12339" name="Picture 52" descr="Green and Black Diamond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161" y="624"/>
              <a:ext cx="119" cy="108"/>
            </a:xfrm>
            <a:prstGeom prst="rect">
              <a:avLst/>
            </a:prstGeom>
            <a:noFill/>
            <a:ln w="9525">
              <a:noFill/>
            </a:ln>
          </p:spPr>
        </p:pic>
        <p:grpSp>
          <p:nvGrpSpPr>
            <p:cNvPr id="12340" name="Group 53"/>
            <p:cNvGrpSpPr/>
            <p:nvPr/>
          </p:nvGrpSpPr>
          <p:grpSpPr>
            <a:xfrm>
              <a:off x="5277" y="624"/>
              <a:ext cx="331" cy="108"/>
              <a:chOff x="395" y="624"/>
              <a:chExt cx="331" cy="108"/>
            </a:xfrm>
          </p:grpSpPr>
          <p:pic>
            <p:nvPicPr>
              <p:cNvPr id="12341" name="Picture 54" descr="Green and Black Diamond"/>
              <p:cNvPicPr>
                <a:picLocks noChangeAspect="1"/>
              </p:cNvPicPr>
              <p:nvPr/>
            </p:nvPicPr>
            <p:blipFill>
              <a:blip r:embed="rId2" cstate="print"/>
              <a:stretch>
                <a:fillRect/>
              </a:stretch>
            </p:blipFill>
            <p:spPr>
              <a:xfrm>
                <a:off x="395" y="624"/>
                <a:ext cx="119" cy="108"/>
              </a:xfrm>
              <a:prstGeom prst="rect">
                <a:avLst/>
              </a:prstGeom>
              <a:noFill/>
              <a:ln w="9525">
                <a:noFill/>
              </a:ln>
            </p:spPr>
          </p:pic>
          <p:pic>
            <p:nvPicPr>
              <p:cNvPr id="12342" name="Picture 55" descr="Green and Black Diamond"/>
              <p:cNvPicPr>
                <a:picLocks noChangeAspect="1"/>
              </p:cNvPicPr>
              <p:nvPr/>
            </p:nvPicPr>
            <p:blipFill>
              <a:blip r:embed="rId2" cstate="print"/>
              <a:stretch>
                <a:fillRect/>
              </a:stretch>
            </p:blipFill>
            <p:spPr>
              <a:xfrm>
                <a:off x="494" y="624"/>
                <a:ext cx="119" cy="108"/>
              </a:xfrm>
              <a:prstGeom prst="rect">
                <a:avLst/>
              </a:prstGeom>
              <a:noFill/>
              <a:ln w="9525">
                <a:noFill/>
              </a:ln>
            </p:spPr>
          </p:pic>
          <p:pic>
            <p:nvPicPr>
              <p:cNvPr id="12343" name="Picture 56" descr="Green and Black Diamond"/>
              <p:cNvPicPr>
                <a:picLocks noChangeAspect="1"/>
              </p:cNvPicPr>
              <p:nvPr/>
            </p:nvPicPr>
            <p:blipFill>
              <a:blip r:embed="rId2" cstate="print"/>
              <a:stretch>
                <a:fillRect/>
              </a:stretch>
            </p:blipFill>
            <p:spPr>
              <a:xfrm>
                <a:off x="607" y="624"/>
                <a:ext cx="119" cy="108"/>
              </a:xfrm>
              <a:prstGeom prst="rect">
                <a:avLst/>
              </a:prstGeom>
              <a:noFill/>
              <a:ln w="9525">
                <a:noFill/>
              </a:ln>
            </p:spPr>
          </p:pic>
        </p:grpSp>
      </p:grpSp>
      <p:sp>
        <p:nvSpPr>
          <p:cNvPr id="10297" name="Rectangle 57"/>
          <p:cNvSpPr>
            <a:spLocks noChangeArrowheads="1"/>
          </p:cNvSpPr>
          <p:nvPr/>
        </p:nvSpPr>
        <p:spPr bwMode="auto">
          <a:xfrm>
            <a:off x="457200" y="1860550"/>
            <a:ext cx="4497070" cy="490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35" tIns="45718" rIns="91435" bIns="45718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1. </a:t>
            </a:r>
            <a:r>
              <a:rPr kumimoji="1" lang="zh-CN" altLang="en-US" sz="2600" b="1" i="0" u="none" strike="noStrike" kern="120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电路基本物理量的实际方向</a:t>
            </a:r>
          </a:p>
        </p:txBody>
      </p:sp>
      <p:sp>
        <p:nvSpPr>
          <p:cNvPr id="10298" name="Rectangle 58"/>
          <p:cNvSpPr>
            <a:spLocks noChangeArrowheads="1"/>
          </p:cNvSpPr>
          <p:nvPr/>
        </p:nvSpPr>
        <p:spPr bwMode="auto">
          <a:xfrm>
            <a:off x="6632575" y="4217988"/>
            <a:ext cx="12700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endParaRPr kumimoji="1" lang="zh-CN" altLang="zh-CN" sz="26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299" name="Rectangle 59"/>
          <p:cNvSpPr>
            <a:spLocks noChangeArrowheads="1"/>
          </p:cNvSpPr>
          <p:nvPr/>
        </p:nvSpPr>
        <p:spPr bwMode="auto">
          <a:xfrm>
            <a:off x="6715125" y="5349875"/>
            <a:ext cx="127000" cy="279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70000"/>
              </a:lnSpc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endParaRPr kumimoji="1" lang="zh-CN" altLang="zh-CN" sz="26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10300" name="Group 60"/>
          <p:cNvGrpSpPr/>
          <p:nvPr/>
        </p:nvGrpSpPr>
        <p:grpSpPr>
          <a:xfrm>
            <a:off x="631825" y="2919413"/>
            <a:ext cx="7978775" cy="3749675"/>
            <a:chOff x="398" y="1410"/>
            <a:chExt cx="5026" cy="2362"/>
          </a:xfrm>
        </p:grpSpPr>
        <p:sp>
          <p:nvSpPr>
            <p:cNvPr id="10301" name="Rectangle 61"/>
            <p:cNvSpPr>
              <a:spLocks noChangeArrowheads="1"/>
            </p:cNvSpPr>
            <p:nvPr/>
          </p:nvSpPr>
          <p:spPr bwMode="auto">
            <a:xfrm>
              <a:off x="398" y="1455"/>
              <a:ext cx="1169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chemeClr val="tx1"/>
                </a:buClr>
                <a:buSzTx/>
                <a:buFontTx/>
                <a:buNone/>
                <a:defRPr/>
              </a:pPr>
              <a:r>
                <a:rPr kumimoji="1" lang="zh-CN" altLang="en-US" sz="26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n-cs"/>
                </a:rPr>
                <a:t>物理量</a:t>
              </a:r>
            </a:p>
          </p:txBody>
        </p:sp>
        <p:sp>
          <p:nvSpPr>
            <p:cNvPr id="12349" name="Rectangle 62"/>
            <p:cNvSpPr/>
            <p:nvPr/>
          </p:nvSpPr>
          <p:spPr>
            <a:xfrm>
              <a:off x="1630" y="1459"/>
              <a:ext cx="1835" cy="252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0" tIns="0" rIns="0" bIns="0" anchor="t" anchorCtr="0">
              <a:spAutoFit/>
            </a:bodyPr>
            <a:lstStyle/>
            <a:p>
              <a:pPr algn="ctr">
                <a:buClr>
                  <a:schemeClr val="tx1"/>
                </a:buClr>
              </a:pPr>
              <a:r>
                <a:rPr lang="zh-CN" altLang="en-US" sz="2600" b="1" dirty="0">
                  <a:latin typeface="宋体" panose="02010600030101010101" pitchFamily="2" charset="-122"/>
                  <a:ea typeface="宋体" panose="02010600030101010101" pitchFamily="2" charset="-122"/>
                </a:rPr>
                <a:t>规 定 方 向</a:t>
              </a:r>
            </a:p>
          </p:txBody>
        </p:sp>
        <p:sp>
          <p:nvSpPr>
            <p:cNvPr id="12350" name="Line 63"/>
            <p:cNvSpPr/>
            <p:nvPr/>
          </p:nvSpPr>
          <p:spPr>
            <a:xfrm>
              <a:off x="421" y="1410"/>
              <a:ext cx="4992" cy="0"/>
            </a:xfrm>
            <a:prstGeom prst="line">
              <a:avLst/>
            </a:prstGeom>
            <a:ln w="28575" cap="flat" cmpd="sng">
              <a:solidFill>
                <a:srgbClr val="FF33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2351" name="Rectangle 64"/>
            <p:cNvSpPr/>
            <p:nvPr/>
          </p:nvSpPr>
          <p:spPr>
            <a:xfrm>
              <a:off x="645" y="1872"/>
              <a:ext cx="795" cy="252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0" tIns="0" rIns="0" bIns="0" anchor="t" anchorCtr="0">
              <a:spAutoFit/>
            </a:bodyPr>
            <a:lstStyle/>
            <a:p>
              <a:pPr>
                <a:buClr>
                  <a:schemeClr val="tx1"/>
                </a:buClr>
              </a:pPr>
              <a:r>
                <a:rPr lang="zh-CN" altLang="en-US" sz="2600" b="1" dirty="0">
                  <a:solidFill>
                    <a:srgbClr val="000099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电流 </a:t>
              </a:r>
              <a:r>
                <a:rPr lang="en-US" altLang="zh-CN" sz="2600" b="1" i="1" dirty="0">
                  <a:solidFill>
                    <a:srgbClr val="000099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I</a:t>
              </a:r>
            </a:p>
          </p:txBody>
        </p:sp>
        <p:sp>
          <p:nvSpPr>
            <p:cNvPr id="10305" name="Rectangle 65"/>
            <p:cNvSpPr>
              <a:spLocks noChangeArrowheads="1"/>
            </p:cNvSpPr>
            <p:nvPr/>
          </p:nvSpPr>
          <p:spPr bwMode="auto">
            <a:xfrm>
              <a:off x="1584" y="1898"/>
              <a:ext cx="2000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chemeClr val="tx1"/>
                </a:buClr>
                <a:buSzTx/>
                <a:buFontTx/>
                <a:buNone/>
                <a:defRPr/>
              </a:pPr>
              <a:r>
                <a:rPr kumimoji="1" lang="zh-CN" altLang="en-US" sz="26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n-cs"/>
                </a:rPr>
                <a:t>正电荷运动的方向</a:t>
              </a:r>
            </a:p>
          </p:txBody>
        </p:sp>
        <p:sp>
          <p:nvSpPr>
            <p:cNvPr id="12353" name="Line 66"/>
            <p:cNvSpPr/>
            <p:nvPr/>
          </p:nvSpPr>
          <p:spPr>
            <a:xfrm flipH="1">
              <a:off x="421" y="1410"/>
              <a:ext cx="0" cy="2222"/>
            </a:xfrm>
            <a:prstGeom prst="line">
              <a:avLst/>
            </a:prstGeom>
            <a:ln w="28575" cap="flat" cmpd="sng">
              <a:solidFill>
                <a:srgbClr val="FF33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2354" name="Line 67"/>
            <p:cNvSpPr/>
            <p:nvPr/>
          </p:nvSpPr>
          <p:spPr>
            <a:xfrm>
              <a:off x="1525" y="1410"/>
              <a:ext cx="0" cy="2222"/>
            </a:xfrm>
            <a:prstGeom prst="line">
              <a:avLst/>
            </a:prstGeom>
            <a:ln w="28575" cap="flat" cmpd="sng">
              <a:solidFill>
                <a:srgbClr val="FF33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2355" name="Rectangle 68"/>
            <p:cNvSpPr/>
            <p:nvPr/>
          </p:nvSpPr>
          <p:spPr>
            <a:xfrm>
              <a:off x="528" y="3187"/>
              <a:ext cx="1093" cy="252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0" tIns="0" rIns="0" bIns="0" anchor="t" anchorCtr="0">
              <a:spAutoFit/>
            </a:bodyPr>
            <a:lstStyle/>
            <a:p>
              <a:pPr>
                <a:buClr>
                  <a:schemeClr val="tx1"/>
                </a:buClr>
              </a:pPr>
              <a:r>
                <a:rPr lang="zh-CN" altLang="en-US" sz="2600" b="1" dirty="0">
                  <a:solidFill>
                    <a:srgbClr val="000099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电动势</a:t>
              </a:r>
              <a:r>
                <a:rPr lang="en-US" altLang="zh-CN" sz="2600" b="1" i="1" dirty="0">
                  <a:solidFill>
                    <a:srgbClr val="000099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E</a:t>
              </a:r>
            </a:p>
          </p:txBody>
        </p:sp>
        <p:sp>
          <p:nvSpPr>
            <p:cNvPr id="10309" name="Rectangle 69"/>
            <p:cNvSpPr>
              <a:spLocks noChangeArrowheads="1"/>
            </p:cNvSpPr>
            <p:nvPr/>
          </p:nvSpPr>
          <p:spPr bwMode="auto">
            <a:xfrm>
              <a:off x="1140" y="2340"/>
              <a:ext cx="112" cy="2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chemeClr val="tx1"/>
                </a:buClr>
                <a:buSzTx/>
                <a:buFontTx/>
                <a:buNone/>
                <a:defRPr/>
              </a:pPr>
              <a:r>
                <a:rPr kumimoji="1" lang="en-US" altLang="zh-CN" sz="28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  </a:t>
              </a:r>
              <a:endParaRPr kumimoji="1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2357" name="Rectangle 70"/>
            <p:cNvSpPr/>
            <p:nvPr/>
          </p:nvSpPr>
          <p:spPr>
            <a:xfrm>
              <a:off x="1584" y="3312"/>
              <a:ext cx="1920" cy="252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0" tIns="0" rIns="0" bIns="0" anchor="t" anchorCtr="0">
              <a:spAutoFit/>
            </a:bodyPr>
            <a:lstStyle/>
            <a:p>
              <a:pPr algn="ctr">
                <a:buClr>
                  <a:schemeClr val="tx1"/>
                </a:buClr>
              </a:pPr>
              <a:r>
                <a:rPr lang="en-US" altLang="zh-CN" sz="2600" b="1" dirty="0"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(</a:t>
              </a:r>
              <a:r>
                <a:rPr lang="zh-CN" altLang="en-US" sz="2600" b="1" dirty="0"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电位</a:t>
              </a:r>
              <a:r>
                <a:rPr lang="zh-CN" altLang="en-US" sz="2600" b="1" dirty="0">
                  <a:solidFill>
                    <a:srgbClr val="C0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升高</a:t>
              </a:r>
              <a:r>
                <a:rPr lang="zh-CN" altLang="en-US" sz="2600" b="1" dirty="0"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的方向</a:t>
              </a:r>
              <a:r>
                <a:rPr lang="en-US" altLang="zh-CN" sz="2600" b="1" dirty="0"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)</a:t>
              </a:r>
            </a:p>
          </p:txBody>
        </p:sp>
        <p:sp>
          <p:nvSpPr>
            <p:cNvPr id="10311" name="Rectangle 71"/>
            <p:cNvSpPr>
              <a:spLocks noChangeArrowheads="1"/>
            </p:cNvSpPr>
            <p:nvPr/>
          </p:nvSpPr>
          <p:spPr bwMode="auto">
            <a:xfrm>
              <a:off x="2309" y="2633"/>
              <a:ext cx="56" cy="2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chemeClr val="tx1"/>
                </a:buClr>
                <a:buSzTx/>
                <a:buFontTx/>
                <a:buNone/>
                <a:defRPr/>
              </a:pPr>
              <a:r>
                <a:rPr kumimoji="1" lang="en-US" altLang="zh-CN" sz="28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 </a:t>
              </a:r>
              <a:endParaRPr kumimoji="1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0312" name="Rectangle 72"/>
            <p:cNvSpPr>
              <a:spLocks noChangeArrowheads="1"/>
            </p:cNvSpPr>
            <p:nvPr/>
          </p:nvSpPr>
          <p:spPr bwMode="auto">
            <a:xfrm>
              <a:off x="2580" y="2633"/>
              <a:ext cx="56" cy="2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chemeClr val="tx1"/>
                </a:buClr>
                <a:buSzTx/>
                <a:buFontTx/>
                <a:buNone/>
                <a:defRPr/>
              </a:pPr>
              <a:r>
                <a:rPr kumimoji="1" lang="en-US" altLang="zh-CN" sz="2800" b="1" i="0" u="none" strike="noStrike" kern="1200" cap="none" spc="0" normalizeH="0" baseline="0" noProof="0">
                  <a:ln>
                    <a:noFill/>
                  </a:ln>
                  <a:solidFill>
                    <a:srgbClr val="CCFFCC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 </a:t>
              </a:r>
              <a:endParaRPr kumimoji="1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srgbClr val="CCFF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2360" name="Line 73"/>
            <p:cNvSpPr/>
            <p:nvPr/>
          </p:nvSpPr>
          <p:spPr>
            <a:xfrm>
              <a:off x="421" y="2291"/>
              <a:ext cx="5003" cy="0"/>
            </a:xfrm>
            <a:prstGeom prst="line">
              <a:avLst/>
            </a:prstGeom>
            <a:ln w="28575" cap="flat" cmpd="sng">
              <a:solidFill>
                <a:srgbClr val="FF33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2361" name="Line 74"/>
            <p:cNvSpPr/>
            <p:nvPr/>
          </p:nvSpPr>
          <p:spPr>
            <a:xfrm>
              <a:off x="3600" y="1426"/>
              <a:ext cx="0" cy="2222"/>
            </a:xfrm>
            <a:prstGeom prst="line">
              <a:avLst/>
            </a:prstGeom>
            <a:ln w="28575" cap="flat" cmpd="sng">
              <a:solidFill>
                <a:srgbClr val="FF33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2362" name="Rectangle 75"/>
            <p:cNvSpPr/>
            <p:nvPr/>
          </p:nvSpPr>
          <p:spPr>
            <a:xfrm>
              <a:off x="608" y="2544"/>
              <a:ext cx="832" cy="252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0" tIns="0" rIns="0" bIns="0" anchor="t" anchorCtr="0">
              <a:spAutoFit/>
            </a:bodyPr>
            <a:lstStyle/>
            <a:p>
              <a:pPr>
                <a:buClr>
                  <a:schemeClr val="tx1"/>
                </a:buClr>
              </a:pPr>
              <a:r>
                <a:rPr lang="zh-CN" altLang="en-US" sz="2600" b="1" dirty="0">
                  <a:solidFill>
                    <a:srgbClr val="000099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电压 </a:t>
              </a:r>
              <a:r>
                <a:rPr lang="en-US" altLang="zh-CN" sz="2600" b="1" i="1" dirty="0">
                  <a:solidFill>
                    <a:srgbClr val="000099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U</a:t>
              </a:r>
            </a:p>
          </p:txBody>
        </p:sp>
        <p:sp>
          <p:nvSpPr>
            <p:cNvPr id="10316" name="Rectangle 76"/>
            <p:cNvSpPr>
              <a:spLocks noChangeArrowheads="1"/>
            </p:cNvSpPr>
            <p:nvPr/>
          </p:nvSpPr>
          <p:spPr bwMode="auto">
            <a:xfrm>
              <a:off x="1584" y="2640"/>
              <a:ext cx="1968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chemeClr val="tx1"/>
                </a:buClr>
                <a:buSzTx/>
                <a:buFontTx/>
                <a:buNone/>
                <a:defRPr/>
              </a:pPr>
              <a:r>
                <a:rPr kumimoji="1" lang="en-US" altLang="zh-CN" sz="26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n-cs"/>
                </a:rPr>
                <a:t>(</a:t>
              </a:r>
              <a:r>
                <a:rPr kumimoji="1" lang="zh-CN" altLang="en-US" sz="26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n-cs"/>
                </a:rPr>
                <a:t>电位</a:t>
              </a:r>
              <a:r>
                <a:rPr kumimoji="1" lang="zh-CN" altLang="en-US" sz="2600" b="1" i="0" u="none" strike="noStrike" kern="120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n-cs"/>
                </a:rPr>
                <a:t>降低</a:t>
              </a:r>
              <a:r>
                <a:rPr kumimoji="1" lang="zh-CN" altLang="en-US" sz="26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n-cs"/>
                </a:rPr>
                <a:t>的方向</a:t>
              </a:r>
              <a:r>
                <a:rPr kumimoji="1" lang="en-US" altLang="zh-CN" sz="26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n-cs"/>
                </a:rPr>
                <a:t>)</a:t>
              </a:r>
              <a:endParaRPr kumimoji="1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2364" name="Rectangle 77"/>
            <p:cNvSpPr/>
            <p:nvPr/>
          </p:nvSpPr>
          <p:spPr>
            <a:xfrm>
              <a:off x="1553" y="2371"/>
              <a:ext cx="2025" cy="252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0" tIns="0" rIns="0" bIns="0" anchor="t" anchorCtr="0">
              <a:spAutoFit/>
            </a:bodyPr>
            <a:lstStyle/>
            <a:p>
              <a:pPr>
                <a:buClr>
                  <a:schemeClr val="tx1"/>
                </a:buClr>
              </a:pPr>
              <a:r>
                <a:rPr lang="zh-CN" altLang="en-US" sz="2600" b="1" dirty="0">
                  <a:solidFill>
                    <a:srgbClr val="C0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高</a:t>
              </a:r>
              <a:r>
                <a:rPr lang="zh-CN" altLang="en-US" sz="2600" b="1" dirty="0"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电位端</a:t>
              </a:r>
              <a:r>
                <a:rPr lang="zh-CN" altLang="en-US" sz="2600" b="1" dirty="0">
                  <a:solidFill>
                    <a:srgbClr val="FF0000"/>
                  </a:solidFill>
                  <a:latin typeface="宋体" panose="02010600030101010101" pitchFamily="2" charset="-122"/>
                  <a:ea typeface="宋体" panose="02010600030101010101" pitchFamily="2" charset="-122"/>
                  <a:sym typeface="Symbol" panose="05050102010706020507" pitchFamily="18" charset="2"/>
                </a:rPr>
                <a:t></a:t>
              </a:r>
              <a:r>
                <a:rPr lang="zh-CN" altLang="en-US" sz="2600" b="1" dirty="0"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  <a:sym typeface="Symbol" panose="05050102010706020507" pitchFamily="18" charset="2"/>
                </a:rPr>
                <a:t> </a:t>
              </a:r>
              <a:r>
                <a:rPr lang="zh-CN" altLang="en-US" sz="2600" b="1" dirty="0">
                  <a:solidFill>
                    <a:srgbClr val="C0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低</a:t>
              </a:r>
              <a:r>
                <a:rPr lang="zh-CN" altLang="en-US" sz="2600" b="1" dirty="0"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电位端</a:t>
              </a:r>
            </a:p>
          </p:txBody>
        </p:sp>
        <p:sp>
          <p:nvSpPr>
            <p:cNvPr id="10318" name="Rectangle 78"/>
            <p:cNvSpPr>
              <a:spLocks noChangeArrowheads="1"/>
            </p:cNvSpPr>
            <p:nvPr/>
          </p:nvSpPr>
          <p:spPr bwMode="auto">
            <a:xfrm>
              <a:off x="2471" y="3306"/>
              <a:ext cx="56" cy="2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chemeClr val="tx1"/>
                </a:buClr>
                <a:buSzTx/>
                <a:buFontTx/>
                <a:buNone/>
                <a:defRPr/>
              </a:pPr>
              <a:r>
                <a:rPr kumimoji="1" lang="en-US" altLang="zh-CN" sz="2800" b="1" i="0" u="none" strike="noStrike" kern="1200" cap="none" spc="0" normalizeH="0" baseline="0" noProof="0">
                  <a:ln>
                    <a:noFill/>
                  </a:ln>
                  <a:solidFill>
                    <a:srgbClr val="CCFFCC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 </a:t>
              </a:r>
              <a:endParaRPr kumimoji="1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srgbClr val="CCFF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0319" name="Rectangle 79"/>
            <p:cNvSpPr>
              <a:spLocks noChangeArrowheads="1"/>
            </p:cNvSpPr>
            <p:nvPr/>
          </p:nvSpPr>
          <p:spPr bwMode="auto">
            <a:xfrm>
              <a:off x="2742" y="3306"/>
              <a:ext cx="56" cy="2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chemeClr val="tx1"/>
                </a:buClr>
                <a:buSzTx/>
                <a:buFontTx/>
                <a:buNone/>
                <a:defRPr/>
              </a:pPr>
              <a:r>
                <a:rPr kumimoji="1" lang="en-US" altLang="zh-CN" sz="2800" b="1" i="0" u="none" strike="noStrike" kern="1200" cap="none" spc="0" normalizeH="0" baseline="0" noProof="0">
                  <a:ln>
                    <a:noFill/>
                  </a:ln>
                  <a:solidFill>
                    <a:srgbClr val="CCFFCC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 </a:t>
              </a:r>
              <a:endParaRPr kumimoji="1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srgbClr val="CCFF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2367" name="Line 80"/>
            <p:cNvSpPr/>
            <p:nvPr/>
          </p:nvSpPr>
          <p:spPr>
            <a:xfrm>
              <a:off x="421" y="2978"/>
              <a:ext cx="4992" cy="0"/>
            </a:xfrm>
            <a:prstGeom prst="line">
              <a:avLst/>
            </a:prstGeom>
            <a:ln w="28575" cap="flat" cmpd="sng">
              <a:solidFill>
                <a:srgbClr val="FF33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2368" name="Line 81"/>
            <p:cNvSpPr/>
            <p:nvPr/>
          </p:nvSpPr>
          <p:spPr>
            <a:xfrm>
              <a:off x="421" y="3632"/>
              <a:ext cx="4992" cy="0"/>
            </a:xfrm>
            <a:prstGeom prst="line">
              <a:avLst/>
            </a:prstGeom>
            <a:ln w="28575" cap="flat" cmpd="sng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2369" name="Line 82"/>
            <p:cNvSpPr/>
            <p:nvPr/>
          </p:nvSpPr>
          <p:spPr>
            <a:xfrm>
              <a:off x="5402" y="3573"/>
              <a:ext cx="11" cy="1"/>
            </a:xfrm>
            <a:prstGeom prst="line">
              <a:avLst/>
            </a:prstGeom>
            <a:ln w="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2370" name="Line 83"/>
            <p:cNvSpPr/>
            <p:nvPr/>
          </p:nvSpPr>
          <p:spPr>
            <a:xfrm>
              <a:off x="5402" y="3573"/>
              <a:ext cx="1" cy="10"/>
            </a:xfrm>
            <a:prstGeom prst="line">
              <a:avLst/>
            </a:prstGeom>
            <a:ln w="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2371" name="Line 84"/>
            <p:cNvSpPr/>
            <p:nvPr/>
          </p:nvSpPr>
          <p:spPr>
            <a:xfrm>
              <a:off x="5402" y="3573"/>
              <a:ext cx="11" cy="1"/>
            </a:xfrm>
            <a:prstGeom prst="line">
              <a:avLst/>
            </a:prstGeom>
            <a:ln w="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2372" name="Line 85"/>
            <p:cNvSpPr/>
            <p:nvPr/>
          </p:nvSpPr>
          <p:spPr>
            <a:xfrm flipH="1">
              <a:off x="5413" y="1410"/>
              <a:ext cx="0" cy="2222"/>
            </a:xfrm>
            <a:prstGeom prst="line">
              <a:avLst/>
            </a:prstGeom>
            <a:ln w="28575" cap="flat" cmpd="sng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2373" name="Line 86"/>
            <p:cNvSpPr/>
            <p:nvPr/>
          </p:nvSpPr>
          <p:spPr>
            <a:xfrm>
              <a:off x="432" y="1728"/>
              <a:ext cx="4992" cy="0"/>
            </a:xfrm>
            <a:prstGeom prst="line">
              <a:avLst/>
            </a:prstGeom>
            <a:ln w="28575" cap="flat" cmpd="sng">
              <a:solidFill>
                <a:srgbClr val="FF33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2374" name="Text Box 87"/>
            <p:cNvSpPr txBox="1"/>
            <p:nvPr/>
          </p:nvSpPr>
          <p:spPr>
            <a:xfrm>
              <a:off x="4195" y="3445"/>
              <a:ext cx="116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91435" tIns="45718" rIns="91435" bIns="45718" anchor="t" anchorCtr="0">
              <a:spAutoFit/>
            </a:bodyPr>
            <a:lstStyle/>
            <a:p>
              <a:endParaRPr lang="zh-CN" altLang="zh-CN" sz="280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0328" name="Rectangle 88"/>
            <p:cNvSpPr>
              <a:spLocks noChangeArrowheads="1"/>
            </p:cNvSpPr>
            <p:nvPr/>
          </p:nvSpPr>
          <p:spPr bwMode="auto">
            <a:xfrm>
              <a:off x="3882" y="1455"/>
              <a:ext cx="1321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chemeClr val="tx1"/>
                </a:buClr>
                <a:buSzTx/>
                <a:buFontTx/>
                <a:buNone/>
                <a:defRPr/>
              </a:pPr>
              <a:r>
                <a:rPr kumimoji="1" lang="zh-CN" altLang="en-US" sz="26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n-cs"/>
                </a:rPr>
                <a:t>单   位</a:t>
              </a:r>
            </a:p>
          </p:txBody>
        </p:sp>
        <p:sp>
          <p:nvSpPr>
            <p:cNvPr id="10329" name="Rectangle 89"/>
            <p:cNvSpPr>
              <a:spLocks noChangeArrowheads="1"/>
            </p:cNvSpPr>
            <p:nvPr/>
          </p:nvSpPr>
          <p:spPr bwMode="auto">
            <a:xfrm>
              <a:off x="4131" y="1819"/>
              <a:ext cx="502" cy="2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chemeClr val="tx1"/>
                </a:buClr>
                <a:buSzTx/>
                <a:buFontTx/>
                <a:buNone/>
                <a:defRPr/>
              </a:pPr>
              <a:endParaRPr kumimoji="1" lang="zh-CN" altLang="zh-CN" sz="2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2377" name="Rectangle 90"/>
            <p:cNvSpPr/>
            <p:nvPr/>
          </p:nvSpPr>
          <p:spPr>
            <a:xfrm>
              <a:off x="3651" y="1911"/>
              <a:ext cx="1731" cy="226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0" tIns="0" rIns="0" bIns="0" anchor="t" anchorCtr="0">
              <a:spAutoFit/>
            </a:bodyPr>
            <a:lstStyle/>
            <a:p>
              <a:pPr algn="ctr">
                <a:lnSpc>
                  <a:spcPct val="90000"/>
                </a:lnSpc>
                <a:buClr>
                  <a:schemeClr val="tx1"/>
                </a:buClr>
              </a:pPr>
              <a:r>
                <a:rPr lang="en-US" altLang="zh-CN" sz="2600" b="1" dirty="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kA </a:t>
              </a:r>
              <a:r>
                <a:rPr lang="zh-CN" altLang="en-US" sz="2600" b="1" dirty="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、</a:t>
              </a:r>
              <a:r>
                <a:rPr lang="en-US" altLang="zh-CN" sz="2600" b="1" dirty="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A</a:t>
              </a:r>
              <a:r>
                <a:rPr lang="zh-CN" altLang="en-US" sz="2600" b="1" dirty="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、</a:t>
              </a:r>
              <a:r>
                <a:rPr lang="en-US" altLang="zh-CN" sz="2600" b="1" dirty="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mA</a:t>
              </a:r>
              <a:r>
                <a:rPr lang="zh-CN" altLang="en-US" sz="2600" b="1" dirty="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、</a:t>
              </a:r>
              <a:r>
                <a:rPr lang="en-US" altLang="zh-CN" sz="2600" b="1" dirty="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μA</a:t>
              </a:r>
            </a:p>
          </p:txBody>
        </p:sp>
        <p:sp>
          <p:nvSpPr>
            <p:cNvPr id="12378" name="Rectangle 91"/>
            <p:cNvSpPr/>
            <p:nvPr/>
          </p:nvSpPr>
          <p:spPr>
            <a:xfrm>
              <a:off x="1559" y="3043"/>
              <a:ext cx="2041" cy="252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0" tIns="0" rIns="0" bIns="0" anchor="t" anchorCtr="0">
              <a:spAutoFit/>
            </a:bodyPr>
            <a:lstStyle/>
            <a:p>
              <a:pPr>
                <a:buClr>
                  <a:schemeClr val="tx1"/>
                </a:buClr>
              </a:pPr>
              <a:r>
                <a:rPr lang="zh-CN" altLang="en-US" sz="2600" b="1" dirty="0">
                  <a:solidFill>
                    <a:srgbClr val="C0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低</a:t>
              </a:r>
              <a:r>
                <a:rPr lang="zh-CN" altLang="en-US" sz="2600" b="1" dirty="0"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电位端</a:t>
              </a:r>
              <a:r>
                <a:rPr lang="zh-CN" altLang="en-US" sz="2600" b="1" dirty="0">
                  <a:solidFill>
                    <a:srgbClr val="FF0000"/>
                  </a:solidFill>
                  <a:latin typeface="宋体" panose="02010600030101010101" pitchFamily="2" charset="-122"/>
                  <a:ea typeface="宋体" panose="02010600030101010101" pitchFamily="2" charset="-122"/>
                  <a:sym typeface="Symbol" panose="05050102010706020507" pitchFamily="18" charset="2"/>
                </a:rPr>
                <a:t></a:t>
              </a:r>
              <a:r>
                <a:rPr lang="zh-CN" altLang="en-US" sz="2600" b="1" dirty="0"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  <a:sym typeface="Symbol" panose="05050102010706020507" pitchFamily="18" charset="2"/>
                </a:rPr>
                <a:t> </a:t>
              </a:r>
              <a:r>
                <a:rPr lang="zh-CN" altLang="en-US" sz="2600" b="1" dirty="0">
                  <a:solidFill>
                    <a:srgbClr val="C0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高</a:t>
              </a:r>
              <a:r>
                <a:rPr lang="zh-CN" altLang="en-US" sz="2600" b="1" dirty="0"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电位端</a:t>
              </a:r>
            </a:p>
          </p:txBody>
        </p:sp>
        <p:sp>
          <p:nvSpPr>
            <p:cNvPr id="12379" name="Rectangle 92"/>
            <p:cNvSpPr/>
            <p:nvPr/>
          </p:nvSpPr>
          <p:spPr>
            <a:xfrm>
              <a:off x="3651" y="2502"/>
              <a:ext cx="1731" cy="226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0" tIns="0" rIns="0" bIns="0" anchor="t" anchorCtr="0">
              <a:spAutoFit/>
            </a:bodyPr>
            <a:lstStyle/>
            <a:p>
              <a:pPr algn="ctr">
                <a:lnSpc>
                  <a:spcPct val="90000"/>
                </a:lnSpc>
                <a:buClr>
                  <a:schemeClr val="tx1"/>
                </a:buClr>
              </a:pPr>
              <a:r>
                <a:rPr lang="en-US" altLang="zh-CN" sz="2600" b="1" dirty="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kV </a:t>
              </a:r>
              <a:r>
                <a:rPr lang="zh-CN" altLang="en-US" sz="2600" b="1" dirty="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、</a:t>
              </a:r>
              <a:r>
                <a:rPr lang="en-US" altLang="zh-CN" sz="2600" b="1" dirty="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V</a:t>
              </a:r>
              <a:r>
                <a:rPr lang="zh-CN" altLang="en-US" sz="2600" b="1" dirty="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、</a:t>
              </a:r>
              <a:r>
                <a:rPr lang="en-US" altLang="zh-CN" sz="2600" b="1" dirty="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mV</a:t>
              </a:r>
              <a:r>
                <a:rPr lang="zh-CN" altLang="en-US" sz="2600" b="1" dirty="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、</a:t>
              </a:r>
              <a:r>
                <a:rPr lang="en-US" altLang="zh-CN" sz="2600" b="1" dirty="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μV</a:t>
              </a:r>
            </a:p>
          </p:txBody>
        </p:sp>
        <p:sp>
          <p:nvSpPr>
            <p:cNvPr id="12380" name="Rectangle 93"/>
            <p:cNvSpPr/>
            <p:nvPr/>
          </p:nvSpPr>
          <p:spPr>
            <a:xfrm>
              <a:off x="3632" y="3182"/>
              <a:ext cx="1731" cy="226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0" tIns="0" rIns="0" bIns="0" anchor="t" anchorCtr="0">
              <a:spAutoFit/>
            </a:bodyPr>
            <a:lstStyle/>
            <a:p>
              <a:pPr algn="ctr">
                <a:lnSpc>
                  <a:spcPct val="90000"/>
                </a:lnSpc>
                <a:buClr>
                  <a:schemeClr val="tx1"/>
                </a:buClr>
              </a:pPr>
              <a:r>
                <a:rPr lang="en-US" altLang="zh-CN" sz="2600" b="1" dirty="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kV </a:t>
              </a:r>
              <a:r>
                <a:rPr lang="zh-CN" altLang="en-US" sz="2600" b="1" dirty="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、</a:t>
              </a:r>
              <a:r>
                <a:rPr lang="en-US" altLang="zh-CN" sz="2600" b="1" dirty="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V</a:t>
              </a:r>
              <a:r>
                <a:rPr lang="zh-CN" altLang="en-US" sz="2600" b="1" dirty="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、</a:t>
              </a:r>
              <a:r>
                <a:rPr lang="en-US" altLang="zh-CN" sz="2600" b="1" dirty="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mV</a:t>
              </a:r>
              <a:r>
                <a:rPr lang="zh-CN" altLang="en-US" sz="2600" b="1" dirty="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、</a:t>
              </a:r>
              <a:r>
                <a:rPr lang="en-US" altLang="zh-CN" sz="2600" b="1" dirty="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μV</a:t>
              </a:r>
            </a:p>
          </p:txBody>
        </p:sp>
      </p:grpSp>
      <p:sp>
        <p:nvSpPr>
          <p:cNvPr id="94" name="Rectangle 57"/>
          <p:cNvSpPr>
            <a:spLocks noChangeArrowheads="1"/>
          </p:cNvSpPr>
          <p:nvPr/>
        </p:nvSpPr>
        <p:spPr bwMode="auto">
          <a:xfrm>
            <a:off x="466725" y="976313"/>
            <a:ext cx="8170863" cy="9385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1435" tIns="45718" rIns="91435" bIns="45718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b="1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sym typeface="+mn-ea"/>
              </a:rPr>
              <a:t>电路的基本物理量</a:t>
            </a:r>
            <a:r>
              <a:rPr kumimoji="1" lang="en-US" altLang="zh-CN" b="1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sym typeface="+mn-ea"/>
              </a:rPr>
              <a:t>: </a:t>
            </a: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电流</a:t>
            </a: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I</a:t>
            </a: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、电压</a:t>
            </a: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U</a:t>
            </a: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和电动势</a:t>
            </a: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E;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电压和电流的方向</a:t>
            </a: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:  </a:t>
            </a: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实际方向</a:t>
            </a: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和</a:t>
            </a: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参考方向</a:t>
            </a: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之分。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02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2" dur="500"/>
                                        <p:tgtEl>
                                          <p:spTgt spid="102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103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244" grpId="0" build="p"/>
      <p:bldP spid="10297" grpId="0" bldLvl="0" animBg="1"/>
      <p:bldP spid="94" grpId="0" bldLvl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ChangeArrowheads="1"/>
          </p:cNvSpPr>
          <p:nvPr/>
        </p:nvSpPr>
        <p:spPr bwMode="auto">
          <a:xfrm>
            <a:off x="228600" y="2895600"/>
            <a:ext cx="4343400" cy="742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accent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81320" dir="2319588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1435" tIns="45718" rIns="91435" bIns="45718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kumimoji="1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srgbClr val="0052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(2) </a:t>
            </a:r>
            <a:r>
              <a: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0052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参考方向的表示方法</a:t>
            </a:r>
          </a:p>
        </p:txBody>
      </p:sp>
      <p:sp>
        <p:nvSpPr>
          <p:cNvPr id="11267" name="Line 3"/>
          <p:cNvSpPr/>
          <p:nvPr/>
        </p:nvSpPr>
        <p:spPr>
          <a:xfrm>
            <a:off x="0" y="3581400"/>
            <a:ext cx="9144000" cy="0"/>
          </a:xfrm>
          <a:prstGeom prst="line">
            <a:avLst/>
          </a:prstGeom>
          <a:ln w="38100" cap="flat" cmpd="sng">
            <a:solidFill>
              <a:srgbClr val="003399"/>
            </a:solidFill>
            <a:prstDash val="dash"/>
            <a:round/>
            <a:headEnd type="none" w="med" len="med"/>
            <a:tailEnd type="none" w="med" len="med"/>
          </a:ln>
        </p:spPr>
      </p:sp>
      <p:sp>
        <p:nvSpPr>
          <p:cNvPr id="11268" name="Text Box 4"/>
          <p:cNvSpPr txBox="1"/>
          <p:nvPr/>
        </p:nvSpPr>
        <p:spPr>
          <a:xfrm>
            <a:off x="620713" y="3581400"/>
            <a:ext cx="1665287" cy="604838"/>
          </a:xfrm>
          <a:prstGeom prst="rect">
            <a:avLst/>
          </a:prstGeom>
          <a:noFill/>
          <a:ln w="9525">
            <a:noFill/>
          </a:ln>
        </p:spPr>
        <p:txBody>
          <a:bodyPr lIns="91435" tIns="45718" rIns="91435" bIns="45718" anchor="t" anchorCtr="0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2800" b="1" dirty="0">
                <a:solidFill>
                  <a:srgbClr val="CC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电流：</a:t>
            </a:r>
          </a:p>
        </p:txBody>
      </p:sp>
      <p:grpSp>
        <p:nvGrpSpPr>
          <p:cNvPr id="11269" name="Group 5"/>
          <p:cNvGrpSpPr/>
          <p:nvPr/>
        </p:nvGrpSpPr>
        <p:grpSpPr>
          <a:xfrm>
            <a:off x="4889500" y="5402263"/>
            <a:ext cx="2436813" cy="522287"/>
            <a:chOff x="3080" y="3649"/>
            <a:chExt cx="1535" cy="329"/>
          </a:xfrm>
        </p:grpSpPr>
        <p:sp>
          <p:nvSpPr>
            <p:cNvPr id="13317" name="Text Box 6"/>
            <p:cNvSpPr txBox="1"/>
            <p:nvPr/>
          </p:nvSpPr>
          <p:spPr>
            <a:xfrm>
              <a:off x="4176" y="3649"/>
              <a:ext cx="439" cy="327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none" lIns="91435" tIns="45718" rIns="91435" bIns="45718" anchor="t" anchorCtr="0">
              <a:spAutoFit/>
            </a:bodyPr>
            <a:lstStyle/>
            <a:p>
              <a:r>
                <a:rPr lang="en-US" altLang="zh-CN" sz="2800" b="1" i="1" dirty="0">
                  <a:latin typeface="Times New Roman" panose="02020603050405020304" pitchFamily="18" charset="0"/>
                  <a:ea typeface="宋体" panose="02010600030101010101" pitchFamily="2" charset="-122"/>
                </a:rPr>
                <a:t>U</a:t>
              </a:r>
              <a:r>
                <a:rPr lang="en-US" altLang="zh-CN" sz="2800" b="1" baseline="-250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ab</a:t>
              </a:r>
              <a:endParaRPr lang="en-US" altLang="zh-CN" sz="2800" b="1" i="1" dirty="0">
                <a:solidFill>
                  <a:srgbClr val="0066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3318" name="Rectangle 7"/>
            <p:cNvSpPr/>
            <p:nvPr/>
          </p:nvSpPr>
          <p:spPr>
            <a:xfrm>
              <a:off x="3080" y="3651"/>
              <a:ext cx="847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91435" tIns="45718" rIns="91435" bIns="45718" anchor="t" anchorCtr="0">
              <a:spAutoFit/>
            </a:bodyPr>
            <a:lstStyle/>
            <a:p>
              <a:r>
                <a:rPr lang="en-US" altLang="zh-CN" sz="2800" b="1" i="1" dirty="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 </a:t>
              </a:r>
              <a:r>
                <a:rPr lang="zh-CN" altLang="en-US" sz="2800" b="1" dirty="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双下标</a:t>
              </a:r>
              <a:endParaRPr lang="zh-CN" altLang="en-US" sz="2800" b="1" i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sp>
        <p:nvSpPr>
          <p:cNvPr id="11272" name="Text Box 8"/>
          <p:cNvSpPr txBox="1"/>
          <p:nvPr/>
        </p:nvSpPr>
        <p:spPr>
          <a:xfrm>
            <a:off x="4606925" y="3657600"/>
            <a:ext cx="1255713" cy="519113"/>
          </a:xfrm>
          <a:prstGeom prst="rect">
            <a:avLst/>
          </a:prstGeom>
          <a:noFill/>
          <a:ln w="9525">
            <a:noFill/>
          </a:ln>
        </p:spPr>
        <p:txBody>
          <a:bodyPr wrap="none" lIns="91435" tIns="45718" rIns="91435" bIns="45718" anchor="t" anchorCtr="0">
            <a:spAutoFit/>
          </a:bodyPr>
          <a:lstStyle/>
          <a:p>
            <a:r>
              <a:rPr lang="zh-CN" altLang="en-US" sz="2800" b="1" dirty="0">
                <a:solidFill>
                  <a:srgbClr val="CC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电压：</a:t>
            </a:r>
            <a:endParaRPr lang="zh-CN" altLang="en-US" sz="2800" b="1" i="1" dirty="0">
              <a:solidFill>
                <a:srgbClr val="CC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1273" name="Line 9"/>
          <p:cNvSpPr/>
          <p:nvPr/>
        </p:nvSpPr>
        <p:spPr>
          <a:xfrm>
            <a:off x="4419600" y="3581400"/>
            <a:ext cx="0" cy="2819400"/>
          </a:xfrm>
          <a:prstGeom prst="line">
            <a:avLst/>
          </a:prstGeom>
          <a:ln w="38100" cap="flat" cmpd="sng">
            <a:solidFill>
              <a:srgbClr val="003399"/>
            </a:solidFill>
            <a:prstDash val="dash"/>
            <a:round/>
            <a:headEnd type="none" w="med" len="med"/>
            <a:tailEnd type="none" w="med" len="med"/>
          </a:ln>
        </p:spPr>
      </p:sp>
      <p:sp>
        <p:nvSpPr>
          <p:cNvPr id="11274" name="Rectangle 10"/>
          <p:cNvSpPr>
            <a:spLocks noChangeArrowheads="1"/>
          </p:cNvSpPr>
          <p:nvPr/>
        </p:nvSpPr>
        <p:spPr bwMode="auto">
          <a:xfrm>
            <a:off x="304800" y="1309688"/>
            <a:ext cx="2765425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accent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81320" dir="2319588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1435" tIns="45718" rIns="91435" bIns="45718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srgbClr val="0052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(1) </a:t>
            </a:r>
            <a:r>
              <a: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0052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参考方向</a:t>
            </a:r>
            <a:endParaRPr kumimoji="1" lang="zh-CN" altLang="en-US" sz="2800" b="1" i="0" u="none" strike="noStrike" kern="1200" cap="none" spc="0" normalizeH="0" baseline="0" noProof="0">
              <a:ln>
                <a:noFill/>
              </a:ln>
              <a:solidFill>
                <a:srgbClr val="005200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11275" name="Group 11"/>
          <p:cNvGrpSpPr/>
          <p:nvPr/>
        </p:nvGrpSpPr>
        <p:grpSpPr>
          <a:xfrm>
            <a:off x="6477000" y="1004888"/>
            <a:ext cx="719138" cy="519112"/>
            <a:chOff x="3936" y="489"/>
            <a:chExt cx="453" cy="327"/>
          </a:xfrm>
        </p:grpSpPr>
        <p:sp>
          <p:nvSpPr>
            <p:cNvPr id="13323" name="Text Box 12"/>
            <p:cNvSpPr txBox="1"/>
            <p:nvPr/>
          </p:nvSpPr>
          <p:spPr>
            <a:xfrm>
              <a:off x="4034" y="489"/>
              <a:ext cx="334" cy="327"/>
            </a:xfrm>
            <a:prstGeom prst="rect">
              <a:avLst/>
            </a:prstGeom>
            <a:noFill/>
            <a:ln w="12700">
              <a:noFill/>
            </a:ln>
          </p:spPr>
          <p:txBody>
            <a:bodyPr lIns="91435" tIns="45718" rIns="91435" bIns="45718" anchor="t" anchorCtr="0">
              <a:spAutoFit/>
            </a:bodyPr>
            <a:lstStyle/>
            <a:p>
              <a:r>
                <a:rPr lang="en-US" altLang="zh-CN" sz="2800" b="1" i="1" dirty="0">
                  <a:solidFill>
                    <a:srgbClr val="FF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I</a:t>
              </a:r>
            </a:p>
          </p:txBody>
        </p:sp>
        <p:sp>
          <p:nvSpPr>
            <p:cNvPr id="13324" name="Line 13"/>
            <p:cNvSpPr/>
            <p:nvPr/>
          </p:nvSpPr>
          <p:spPr>
            <a:xfrm>
              <a:off x="3936" y="793"/>
              <a:ext cx="453" cy="0"/>
            </a:xfrm>
            <a:prstGeom prst="line">
              <a:avLst/>
            </a:prstGeom>
            <a:ln w="38100" cap="flat" cmpd="sng">
              <a:solidFill>
                <a:srgbClr val="FF0000"/>
              </a:solidFill>
              <a:prstDash val="solid"/>
              <a:round/>
              <a:headEnd type="none" w="sm" len="sm"/>
              <a:tailEnd type="triangle" w="med" len="med"/>
            </a:ln>
          </p:spPr>
        </p:sp>
      </p:grpSp>
      <p:grpSp>
        <p:nvGrpSpPr>
          <p:cNvPr id="11278" name="Group 14"/>
          <p:cNvGrpSpPr/>
          <p:nvPr/>
        </p:nvGrpSpPr>
        <p:grpSpPr>
          <a:xfrm>
            <a:off x="5486400" y="1766888"/>
            <a:ext cx="590550" cy="1128712"/>
            <a:chOff x="3312" y="969"/>
            <a:chExt cx="372" cy="711"/>
          </a:xfrm>
        </p:grpSpPr>
        <p:sp>
          <p:nvSpPr>
            <p:cNvPr id="13326" name="Text Box 15"/>
            <p:cNvSpPr txBox="1"/>
            <p:nvPr/>
          </p:nvSpPr>
          <p:spPr>
            <a:xfrm>
              <a:off x="3312" y="1200"/>
              <a:ext cx="265" cy="327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none" lIns="91435" tIns="45718" rIns="91435" bIns="45718" anchor="t" anchorCtr="0">
              <a:spAutoFit/>
            </a:bodyPr>
            <a:lstStyle/>
            <a:p>
              <a:r>
                <a:rPr lang="en-US" altLang="zh-CN" sz="2800" b="1" i="1" dirty="0">
                  <a:solidFill>
                    <a:srgbClr val="FF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E</a:t>
              </a:r>
            </a:p>
          </p:txBody>
        </p:sp>
        <p:grpSp>
          <p:nvGrpSpPr>
            <p:cNvPr id="13327" name="Group 16"/>
            <p:cNvGrpSpPr/>
            <p:nvPr/>
          </p:nvGrpSpPr>
          <p:grpSpPr>
            <a:xfrm>
              <a:off x="3408" y="969"/>
              <a:ext cx="276" cy="711"/>
              <a:chOff x="3408" y="969"/>
              <a:chExt cx="276" cy="711"/>
            </a:xfrm>
          </p:grpSpPr>
          <p:sp>
            <p:nvSpPr>
              <p:cNvPr id="13328" name="Text Box 17"/>
              <p:cNvSpPr txBox="1"/>
              <p:nvPr/>
            </p:nvSpPr>
            <p:spPr>
              <a:xfrm>
                <a:off x="3408" y="969"/>
                <a:ext cx="244" cy="327"/>
              </a:xfrm>
              <a:prstGeom prst="rect">
                <a:avLst/>
              </a:prstGeom>
              <a:noFill/>
              <a:ln w="12700">
                <a:noFill/>
              </a:ln>
            </p:spPr>
            <p:txBody>
              <a:bodyPr wrap="none" lIns="91435" tIns="45718" rIns="91435" bIns="45718" anchor="t" anchorCtr="0">
                <a:spAutoFit/>
              </a:bodyPr>
              <a:lstStyle/>
              <a:p>
                <a:r>
                  <a:rPr lang="en-US" altLang="zh-CN" sz="2800" b="1" i="1" dirty="0">
                    <a:solidFill>
                      <a:srgbClr val="FF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+</a:t>
                </a:r>
              </a:p>
            </p:txBody>
          </p:sp>
          <p:sp>
            <p:nvSpPr>
              <p:cNvPr id="13329" name="Text Box 18"/>
              <p:cNvSpPr txBox="1"/>
              <p:nvPr/>
            </p:nvSpPr>
            <p:spPr>
              <a:xfrm>
                <a:off x="3456" y="1353"/>
                <a:ext cx="228" cy="327"/>
              </a:xfrm>
              <a:prstGeom prst="rect">
                <a:avLst/>
              </a:prstGeom>
              <a:noFill/>
              <a:ln w="12700">
                <a:noFill/>
              </a:ln>
            </p:spPr>
            <p:txBody>
              <a:bodyPr wrap="none" lIns="91435" tIns="45718" rIns="91435" bIns="45718" anchor="t" anchorCtr="0">
                <a:spAutoFit/>
              </a:bodyPr>
              <a:lstStyle/>
              <a:p>
                <a:r>
                  <a:rPr lang="en-US" altLang="zh-CN" sz="2800" b="1" i="1" dirty="0">
                    <a:solidFill>
                      <a:srgbClr val="FF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_</a:t>
                </a:r>
              </a:p>
            </p:txBody>
          </p:sp>
        </p:grpSp>
      </p:grpSp>
      <p:sp>
        <p:nvSpPr>
          <p:cNvPr id="11283" name="Rectangle 19"/>
          <p:cNvSpPr>
            <a:spLocks noChangeArrowheads="1"/>
          </p:cNvSpPr>
          <p:nvPr/>
        </p:nvSpPr>
        <p:spPr bwMode="auto">
          <a:xfrm>
            <a:off x="568325" y="1873250"/>
            <a:ext cx="4765675" cy="9518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accent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81320" dir="2319588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1435" tIns="45718" rIns="91435" bIns="45718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   </a:t>
            </a: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在分析与计算电路时，对电量任意</a:t>
            </a: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假定的</a:t>
            </a: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方向。</a:t>
            </a:r>
          </a:p>
        </p:txBody>
      </p:sp>
      <p:sp>
        <p:nvSpPr>
          <p:cNvPr id="11284" name="AutoShape 20"/>
          <p:cNvSpPr/>
          <p:nvPr/>
        </p:nvSpPr>
        <p:spPr>
          <a:xfrm>
            <a:off x="609600" y="4597400"/>
            <a:ext cx="158750" cy="955675"/>
          </a:xfrm>
          <a:prstGeom prst="leftBrace">
            <a:avLst>
              <a:gd name="adj1" fmla="val 50083"/>
              <a:gd name="adj2" fmla="val 50000"/>
            </a:avLst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none" lIns="91435" tIns="45718" rIns="91435" bIns="45718" anchor="ctr" anchorCtr="0"/>
          <a:lstStyle/>
          <a:p>
            <a:pPr algn="ctr"/>
            <a:endParaRPr lang="zh-CN" altLang="zh-CN" sz="2800" b="1" i="1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pSp>
        <p:nvGrpSpPr>
          <p:cNvPr id="11285" name="Group 21"/>
          <p:cNvGrpSpPr/>
          <p:nvPr/>
        </p:nvGrpSpPr>
        <p:grpSpPr>
          <a:xfrm>
            <a:off x="762000" y="5257800"/>
            <a:ext cx="2406650" cy="522288"/>
            <a:chOff x="480" y="3649"/>
            <a:chExt cx="1516" cy="329"/>
          </a:xfrm>
        </p:grpSpPr>
        <p:sp>
          <p:nvSpPr>
            <p:cNvPr id="13333" name="Text Box 22"/>
            <p:cNvSpPr txBox="1"/>
            <p:nvPr/>
          </p:nvSpPr>
          <p:spPr>
            <a:xfrm>
              <a:off x="1632" y="3649"/>
              <a:ext cx="364" cy="327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none" lIns="91435" tIns="45718" rIns="91435" bIns="45718" anchor="t" anchorCtr="0">
              <a:spAutoFit/>
            </a:bodyPr>
            <a:lstStyle/>
            <a:p>
              <a:r>
                <a:rPr lang="en-US" altLang="zh-CN" sz="2800" b="1" i="1" dirty="0">
                  <a:latin typeface="Times New Roman" panose="02020603050405020304" pitchFamily="18" charset="0"/>
                  <a:ea typeface="宋体" panose="02010600030101010101" pitchFamily="2" charset="-122"/>
                </a:rPr>
                <a:t>I</a:t>
              </a:r>
              <a:r>
                <a:rPr lang="en-US" altLang="zh-CN" sz="2800" b="1" baseline="-250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ab</a:t>
              </a:r>
              <a:endParaRPr lang="en-US" altLang="zh-CN" sz="2800" b="1" i="1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3334" name="Rectangle 23"/>
            <p:cNvSpPr/>
            <p:nvPr/>
          </p:nvSpPr>
          <p:spPr>
            <a:xfrm>
              <a:off x="480" y="3651"/>
              <a:ext cx="847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91435" tIns="45718" rIns="91435" bIns="45718" anchor="t" anchorCtr="0">
              <a:spAutoFit/>
            </a:bodyPr>
            <a:lstStyle/>
            <a:p>
              <a:r>
                <a:rPr lang="en-US" altLang="zh-CN" sz="2800" b="1" i="1" dirty="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 </a:t>
              </a:r>
              <a:r>
                <a:rPr lang="zh-CN" altLang="en-US" sz="2800" b="1" dirty="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双下标</a:t>
              </a:r>
              <a:endParaRPr lang="zh-CN" altLang="en-US" sz="2800" b="1" i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sp>
        <p:nvSpPr>
          <p:cNvPr id="11288" name="Rectangle 24"/>
          <p:cNvSpPr>
            <a:spLocks noChangeArrowheads="1"/>
          </p:cNvSpPr>
          <p:nvPr/>
        </p:nvSpPr>
        <p:spPr bwMode="auto">
          <a:xfrm>
            <a:off x="533400" y="461963"/>
            <a:ext cx="5867400" cy="6048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1435" tIns="45718" rIns="91435" bIns="45718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2. </a:t>
            </a:r>
            <a:r>
              <a: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电路基本物理量的参考方向</a:t>
            </a:r>
          </a:p>
        </p:txBody>
      </p:sp>
      <p:grpSp>
        <p:nvGrpSpPr>
          <p:cNvPr id="13336" name="Group 25"/>
          <p:cNvGrpSpPr/>
          <p:nvPr/>
        </p:nvGrpSpPr>
        <p:grpSpPr>
          <a:xfrm>
            <a:off x="304800" y="1066800"/>
            <a:ext cx="5740400" cy="171450"/>
            <a:chOff x="192" y="528"/>
            <a:chExt cx="3616" cy="108"/>
          </a:xfrm>
        </p:grpSpPr>
        <p:grpSp>
          <p:nvGrpSpPr>
            <p:cNvPr id="13337" name="Group 26"/>
            <p:cNvGrpSpPr/>
            <p:nvPr/>
          </p:nvGrpSpPr>
          <p:grpSpPr>
            <a:xfrm>
              <a:off x="192" y="528"/>
              <a:ext cx="2548" cy="108"/>
              <a:chOff x="192" y="576"/>
              <a:chExt cx="2548" cy="108"/>
            </a:xfrm>
          </p:grpSpPr>
          <p:pic>
            <p:nvPicPr>
              <p:cNvPr id="13338" name="Picture 27" descr="Green and Black Diamond"/>
              <p:cNvPicPr>
                <a:picLocks noChangeAspect="1"/>
              </p:cNvPicPr>
              <p:nvPr/>
            </p:nvPicPr>
            <p:blipFill>
              <a:blip r:embed="rId2" cstate="print"/>
              <a:stretch>
                <a:fillRect/>
              </a:stretch>
            </p:blipFill>
            <p:spPr>
              <a:xfrm>
                <a:off x="1244" y="576"/>
                <a:ext cx="120" cy="108"/>
              </a:xfrm>
              <a:prstGeom prst="rect">
                <a:avLst/>
              </a:prstGeom>
              <a:noFill/>
              <a:ln w="9525">
                <a:noFill/>
              </a:ln>
            </p:spPr>
          </p:pic>
          <p:pic>
            <p:nvPicPr>
              <p:cNvPr id="13339" name="Picture 28" descr="Green and Black Diamond"/>
              <p:cNvPicPr>
                <a:picLocks noChangeAspect="1"/>
              </p:cNvPicPr>
              <p:nvPr/>
            </p:nvPicPr>
            <p:blipFill>
              <a:blip r:embed="rId2" cstate="print"/>
              <a:stretch>
                <a:fillRect/>
              </a:stretch>
            </p:blipFill>
            <p:spPr>
              <a:xfrm>
                <a:off x="1357" y="576"/>
                <a:ext cx="119" cy="108"/>
              </a:xfrm>
              <a:prstGeom prst="rect">
                <a:avLst/>
              </a:prstGeom>
              <a:noFill/>
              <a:ln w="9525">
                <a:noFill/>
              </a:ln>
            </p:spPr>
          </p:pic>
          <p:pic>
            <p:nvPicPr>
              <p:cNvPr id="13340" name="Picture 29" descr="Green and Black Diamond"/>
              <p:cNvPicPr>
                <a:picLocks noChangeAspect="1"/>
              </p:cNvPicPr>
              <p:nvPr/>
            </p:nvPicPr>
            <p:blipFill>
              <a:blip r:embed="rId2" cstate="print"/>
              <a:stretch>
                <a:fillRect/>
              </a:stretch>
            </p:blipFill>
            <p:spPr>
              <a:xfrm>
                <a:off x="1463" y="576"/>
                <a:ext cx="119" cy="108"/>
              </a:xfrm>
              <a:prstGeom prst="rect">
                <a:avLst/>
              </a:prstGeom>
              <a:noFill/>
              <a:ln w="9525">
                <a:noFill/>
              </a:ln>
            </p:spPr>
          </p:pic>
          <p:pic>
            <p:nvPicPr>
              <p:cNvPr id="13341" name="Picture 30" descr="Green and Black Diamond"/>
              <p:cNvPicPr>
                <a:picLocks noChangeAspect="1"/>
              </p:cNvPicPr>
              <p:nvPr/>
            </p:nvPicPr>
            <p:blipFill>
              <a:blip r:embed="rId2" cstate="print"/>
              <a:stretch>
                <a:fillRect/>
              </a:stretch>
            </p:blipFill>
            <p:spPr>
              <a:xfrm>
                <a:off x="1562" y="576"/>
                <a:ext cx="119" cy="108"/>
              </a:xfrm>
              <a:prstGeom prst="rect">
                <a:avLst/>
              </a:prstGeom>
              <a:noFill/>
              <a:ln w="9525">
                <a:noFill/>
              </a:ln>
            </p:spPr>
          </p:pic>
          <p:grpSp>
            <p:nvGrpSpPr>
              <p:cNvPr id="13342" name="Group 31"/>
              <p:cNvGrpSpPr/>
              <p:nvPr/>
            </p:nvGrpSpPr>
            <p:grpSpPr>
              <a:xfrm>
                <a:off x="192" y="576"/>
                <a:ext cx="331" cy="108"/>
                <a:chOff x="395" y="624"/>
                <a:chExt cx="331" cy="108"/>
              </a:xfrm>
            </p:grpSpPr>
            <p:pic>
              <p:nvPicPr>
                <p:cNvPr id="13343" name="Picture 32" descr="Green and Black Diamond"/>
                <p:cNvPicPr>
                  <a:picLocks noChangeAspect="1"/>
                </p:cNvPicPr>
                <p:nvPr/>
              </p:nvPicPr>
              <p:blipFill>
                <a:blip r:embed="rId2" cstate="print"/>
                <a:stretch>
                  <a:fillRect/>
                </a:stretch>
              </p:blipFill>
              <p:spPr>
                <a:xfrm>
                  <a:off x="395" y="624"/>
                  <a:ext cx="119" cy="108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</p:pic>
            <p:pic>
              <p:nvPicPr>
                <p:cNvPr id="13344" name="Picture 33" descr="Green and Black Diamond"/>
                <p:cNvPicPr>
                  <a:picLocks noChangeAspect="1"/>
                </p:cNvPicPr>
                <p:nvPr/>
              </p:nvPicPr>
              <p:blipFill>
                <a:blip r:embed="rId2" cstate="print"/>
                <a:stretch>
                  <a:fillRect/>
                </a:stretch>
              </p:blipFill>
              <p:spPr>
                <a:xfrm>
                  <a:off x="494" y="624"/>
                  <a:ext cx="119" cy="108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</p:pic>
            <p:pic>
              <p:nvPicPr>
                <p:cNvPr id="13345" name="Picture 34" descr="Green and Black Diamond"/>
                <p:cNvPicPr>
                  <a:picLocks noChangeAspect="1"/>
                </p:cNvPicPr>
                <p:nvPr/>
              </p:nvPicPr>
              <p:blipFill>
                <a:blip r:embed="rId2" cstate="print"/>
                <a:stretch>
                  <a:fillRect/>
                </a:stretch>
              </p:blipFill>
              <p:spPr>
                <a:xfrm>
                  <a:off x="607" y="624"/>
                  <a:ext cx="119" cy="108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</p:pic>
          </p:grpSp>
          <p:pic>
            <p:nvPicPr>
              <p:cNvPr id="13346" name="Picture 35" descr="Green and Black Diamond"/>
              <p:cNvPicPr>
                <a:picLocks noChangeAspect="1"/>
              </p:cNvPicPr>
              <p:nvPr/>
            </p:nvPicPr>
            <p:blipFill>
              <a:blip r:embed="rId2" cstate="print"/>
              <a:stretch>
                <a:fillRect/>
              </a:stretch>
            </p:blipFill>
            <p:spPr>
              <a:xfrm>
                <a:off x="609" y="576"/>
                <a:ext cx="119" cy="108"/>
              </a:xfrm>
              <a:prstGeom prst="rect">
                <a:avLst/>
              </a:prstGeom>
              <a:noFill/>
              <a:ln w="9525">
                <a:noFill/>
              </a:ln>
            </p:spPr>
          </p:pic>
          <p:pic>
            <p:nvPicPr>
              <p:cNvPr id="13347" name="Picture 36" descr="Green and Black Diamond"/>
              <p:cNvPicPr>
                <a:picLocks noChangeAspect="1"/>
              </p:cNvPicPr>
              <p:nvPr/>
            </p:nvPicPr>
            <p:blipFill>
              <a:blip r:embed="rId2" cstate="print"/>
              <a:stretch>
                <a:fillRect/>
              </a:stretch>
            </p:blipFill>
            <p:spPr>
              <a:xfrm>
                <a:off x="721" y="576"/>
                <a:ext cx="119" cy="108"/>
              </a:xfrm>
              <a:prstGeom prst="rect">
                <a:avLst/>
              </a:prstGeom>
              <a:noFill/>
              <a:ln w="9525">
                <a:noFill/>
              </a:ln>
            </p:spPr>
          </p:pic>
          <p:pic>
            <p:nvPicPr>
              <p:cNvPr id="13348" name="Picture 37" descr="Green and Black Diamond"/>
              <p:cNvPicPr>
                <a:picLocks noChangeAspect="1"/>
              </p:cNvPicPr>
              <p:nvPr/>
            </p:nvPicPr>
            <p:blipFill>
              <a:blip r:embed="rId2" cstate="print"/>
              <a:stretch>
                <a:fillRect/>
              </a:stretch>
            </p:blipFill>
            <p:spPr>
              <a:xfrm>
                <a:off x="827" y="576"/>
                <a:ext cx="119" cy="108"/>
              </a:xfrm>
              <a:prstGeom prst="rect">
                <a:avLst/>
              </a:prstGeom>
              <a:noFill/>
              <a:ln w="9525">
                <a:noFill/>
              </a:ln>
            </p:spPr>
          </p:pic>
          <p:pic>
            <p:nvPicPr>
              <p:cNvPr id="13349" name="Picture 38" descr="Green and Black Diamond"/>
              <p:cNvPicPr>
                <a:picLocks noChangeAspect="1"/>
              </p:cNvPicPr>
              <p:nvPr/>
            </p:nvPicPr>
            <p:blipFill>
              <a:blip r:embed="rId2" cstate="print"/>
              <a:stretch>
                <a:fillRect/>
              </a:stretch>
            </p:blipFill>
            <p:spPr>
              <a:xfrm>
                <a:off x="926" y="576"/>
                <a:ext cx="120" cy="108"/>
              </a:xfrm>
              <a:prstGeom prst="rect">
                <a:avLst/>
              </a:prstGeom>
              <a:noFill/>
              <a:ln w="9525">
                <a:noFill/>
              </a:ln>
            </p:spPr>
          </p:pic>
          <p:pic>
            <p:nvPicPr>
              <p:cNvPr id="13350" name="Picture 39" descr="Green and Black Diamond"/>
              <p:cNvPicPr>
                <a:picLocks noChangeAspect="1"/>
              </p:cNvPicPr>
              <p:nvPr/>
            </p:nvPicPr>
            <p:blipFill>
              <a:blip r:embed="rId2" cstate="print"/>
              <a:stretch>
                <a:fillRect/>
              </a:stretch>
            </p:blipFill>
            <p:spPr>
              <a:xfrm>
                <a:off x="1039" y="576"/>
                <a:ext cx="119" cy="108"/>
              </a:xfrm>
              <a:prstGeom prst="rect">
                <a:avLst/>
              </a:prstGeom>
              <a:noFill/>
              <a:ln w="9525">
                <a:noFill/>
              </a:ln>
            </p:spPr>
          </p:pic>
          <p:pic>
            <p:nvPicPr>
              <p:cNvPr id="13351" name="Picture 40" descr="Green and Black Diamond"/>
              <p:cNvPicPr>
                <a:picLocks noChangeAspect="1"/>
              </p:cNvPicPr>
              <p:nvPr/>
            </p:nvPicPr>
            <p:blipFill>
              <a:blip r:embed="rId2" cstate="print"/>
              <a:stretch>
                <a:fillRect/>
              </a:stretch>
            </p:blipFill>
            <p:spPr>
              <a:xfrm>
                <a:off x="510" y="576"/>
                <a:ext cx="119" cy="108"/>
              </a:xfrm>
              <a:prstGeom prst="rect">
                <a:avLst/>
              </a:prstGeom>
              <a:noFill/>
              <a:ln w="9525">
                <a:noFill/>
              </a:ln>
            </p:spPr>
          </p:pic>
          <p:pic>
            <p:nvPicPr>
              <p:cNvPr id="13352" name="Picture 41" descr="Green and Black Diamond"/>
              <p:cNvPicPr>
                <a:picLocks noChangeAspect="1"/>
              </p:cNvPicPr>
              <p:nvPr/>
            </p:nvPicPr>
            <p:blipFill>
              <a:blip r:embed="rId2" cstate="print"/>
              <a:stretch>
                <a:fillRect/>
              </a:stretch>
            </p:blipFill>
            <p:spPr>
              <a:xfrm>
                <a:off x="1145" y="576"/>
                <a:ext cx="119" cy="108"/>
              </a:xfrm>
              <a:prstGeom prst="rect">
                <a:avLst/>
              </a:prstGeom>
              <a:noFill/>
              <a:ln w="9525">
                <a:noFill/>
              </a:ln>
            </p:spPr>
          </p:pic>
          <p:pic>
            <p:nvPicPr>
              <p:cNvPr id="13353" name="Picture 42" descr="Green and Black Diamond"/>
              <p:cNvPicPr>
                <a:picLocks noChangeAspect="1"/>
              </p:cNvPicPr>
              <p:nvPr/>
            </p:nvPicPr>
            <p:blipFill>
              <a:blip r:embed="rId2" cstate="print"/>
              <a:stretch>
                <a:fillRect/>
              </a:stretch>
            </p:blipFill>
            <p:spPr>
              <a:xfrm>
                <a:off x="1675" y="576"/>
                <a:ext cx="112" cy="102"/>
              </a:xfrm>
              <a:prstGeom prst="rect">
                <a:avLst/>
              </a:prstGeom>
              <a:noFill/>
              <a:ln w="9525">
                <a:noFill/>
              </a:ln>
            </p:spPr>
          </p:pic>
          <p:pic>
            <p:nvPicPr>
              <p:cNvPr id="13354" name="Picture 43" descr="Green and Black Diamond"/>
              <p:cNvPicPr>
                <a:picLocks noChangeAspect="1"/>
              </p:cNvPicPr>
              <p:nvPr/>
            </p:nvPicPr>
            <p:blipFill>
              <a:blip r:embed="rId2" cstate="print"/>
              <a:stretch>
                <a:fillRect/>
              </a:stretch>
            </p:blipFill>
            <p:spPr>
              <a:xfrm>
                <a:off x="1781" y="576"/>
                <a:ext cx="112" cy="102"/>
              </a:xfrm>
              <a:prstGeom prst="rect">
                <a:avLst/>
              </a:prstGeom>
              <a:noFill/>
              <a:ln w="9525">
                <a:noFill/>
              </a:ln>
            </p:spPr>
          </p:pic>
          <p:pic>
            <p:nvPicPr>
              <p:cNvPr id="13355" name="Picture 44" descr="Green and Black Diamond"/>
              <p:cNvPicPr>
                <a:picLocks noChangeAspect="1"/>
              </p:cNvPicPr>
              <p:nvPr/>
            </p:nvPicPr>
            <p:blipFill>
              <a:blip r:embed="rId2" cstate="print"/>
              <a:stretch>
                <a:fillRect/>
              </a:stretch>
            </p:blipFill>
            <p:spPr>
              <a:xfrm>
                <a:off x="1880" y="576"/>
                <a:ext cx="112" cy="102"/>
              </a:xfrm>
              <a:prstGeom prst="rect">
                <a:avLst/>
              </a:prstGeom>
              <a:noFill/>
              <a:ln w="9525">
                <a:noFill/>
              </a:ln>
            </p:spPr>
          </p:pic>
          <p:pic>
            <p:nvPicPr>
              <p:cNvPr id="13356" name="Picture 45" descr="Green and Black Diamond"/>
              <p:cNvPicPr>
                <a:picLocks noChangeAspect="1"/>
              </p:cNvPicPr>
              <p:nvPr/>
            </p:nvPicPr>
            <p:blipFill>
              <a:blip r:embed="rId2" cstate="print"/>
              <a:stretch>
                <a:fillRect/>
              </a:stretch>
            </p:blipFill>
            <p:spPr>
              <a:xfrm>
                <a:off x="1992" y="576"/>
                <a:ext cx="113" cy="102"/>
              </a:xfrm>
              <a:prstGeom prst="rect">
                <a:avLst/>
              </a:prstGeom>
              <a:noFill/>
              <a:ln w="9525">
                <a:noFill/>
              </a:ln>
            </p:spPr>
          </p:pic>
          <p:pic>
            <p:nvPicPr>
              <p:cNvPr id="13357" name="Picture 46" descr="Green and Black Diamond"/>
              <p:cNvPicPr>
                <a:picLocks noChangeAspect="1"/>
              </p:cNvPicPr>
              <p:nvPr/>
            </p:nvPicPr>
            <p:blipFill>
              <a:blip r:embed="rId2" cstate="print"/>
              <a:stretch>
                <a:fillRect/>
              </a:stretch>
            </p:blipFill>
            <p:spPr>
              <a:xfrm>
                <a:off x="2098" y="576"/>
                <a:ext cx="113" cy="102"/>
              </a:xfrm>
              <a:prstGeom prst="rect">
                <a:avLst/>
              </a:prstGeom>
              <a:noFill/>
              <a:ln w="9525">
                <a:noFill/>
              </a:ln>
            </p:spPr>
          </p:pic>
          <p:pic>
            <p:nvPicPr>
              <p:cNvPr id="13358" name="Picture 47" descr="Green and Black Diamond"/>
              <p:cNvPicPr>
                <a:picLocks noChangeAspect="1"/>
              </p:cNvPicPr>
              <p:nvPr/>
            </p:nvPicPr>
            <p:blipFill>
              <a:blip r:embed="rId2" cstate="print"/>
              <a:stretch>
                <a:fillRect/>
              </a:stretch>
            </p:blipFill>
            <p:spPr>
              <a:xfrm>
                <a:off x="2198" y="576"/>
                <a:ext cx="112" cy="102"/>
              </a:xfrm>
              <a:prstGeom prst="rect">
                <a:avLst/>
              </a:prstGeom>
              <a:noFill/>
              <a:ln w="9525">
                <a:noFill/>
              </a:ln>
            </p:spPr>
          </p:pic>
          <p:pic>
            <p:nvPicPr>
              <p:cNvPr id="13359" name="Picture 48" descr="Green and Black Diamond"/>
              <p:cNvPicPr>
                <a:picLocks noChangeAspect="1"/>
              </p:cNvPicPr>
              <p:nvPr/>
            </p:nvPicPr>
            <p:blipFill>
              <a:blip r:embed="rId2" cstate="print"/>
              <a:stretch>
                <a:fillRect/>
              </a:stretch>
            </p:blipFill>
            <p:spPr>
              <a:xfrm>
                <a:off x="2310" y="576"/>
                <a:ext cx="113" cy="102"/>
              </a:xfrm>
              <a:prstGeom prst="rect">
                <a:avLst/>
              </a:prstGeom>
              <a:noFill/>
              <a:ln w="9525">
                <a:noFill/>
              </a:ln>
            </p:spPr>
          </p:pic>
          <p:pic>
            <p:nvPicPr>
              <p:cNvPr id="13360" name="Picture 49" descr="Green and Black Diamond"/>
              <p:cNvPicPr>
                <a:picLocks noChangeAspect="1"/>
              </p:cNvPicPr>
              <p:nvPr/>
            </p:nvPicPr>
            <p:blipFill>
              <a:blip r:embed="rId2" cstate="print"/>
              <a:stretch>
                <a:fillRect/>
              </a:stretch>
            </p:blipFill>
            <p:spPr>
              <a:xfrm>
                <a:off x="2515" y="576"/>
                <a:ext cx="113" cy="102"/>
              </a:xfrm>
              <a:prstGeom prst="rect">
                <a:avLst/>
              </a:prstGeom>
              <a:noFill/>
              <a:ln w="9525">
                <a:noFill/>
              </a:ln>
            </p:spPr>
          </p:pic>
          <p:pic>
            <p:nvPicPr>
              <p:cNvPr id="13361" name="Picture 50" descr="Green and Black Diamond"/>
              <p:cNvPicPr>
                <a:picLocks noChangeAspect="1"/>
              </p:cNvPicPr>
              <p:nvPr/>
            </p:nvPicPr>
            <p:blipFill>
              <a:blip r:embed="rId2" cstate="print"/>
              <a:stretch>
                <a:fillRect/>
              </a:stretch>
            </p:blipFill>
            <p:spPr>
              <a:xfrm>
                <a:off x="2628" y="576"/>
                <a:ext cx="112" cy="102"/>
              </a:xfrm>
              <a:prstGeom prst="rect">
                <a:avLst/>
              </a:prstGeom>
              <a:noFill/>
              <a:ln w="9525">
                <a:noFill/>
              </a:ln>
            </p:spPr>
          </p:pic>
          <p:pic>
            <p:nvPicPr>
              <p:cNvPr id="13362" name="Picture 51" descr="Green and Black Diamond"/>
              <p:cNvPicPr>
                <a:picLocks noChangeAspect="1"/>
              </p:cNvPicPr>
              <p:nvPr/>
            </p:nvPicPr>
            <p:blipFill>
              <a:blip r:embed="rId2" cstate="print"/>
              <a:stretch>
                <a:fillRect/>
              </a:stretch>
            </p:blipFill>
            <p:spPr>
              <a:xfrm>
                <a:off x="2416" y="576"/>
                <a:ext cx="113" cy="102"/>
              </a:xfrm>
              <a:prstGeom prst="rect">
                <a:avLst/>
              </a:prstGeom>
              <a:noFill/>
              <a:ln w="9525">
                <a:noFill/>
              </a:ln>
            </p:spPr>
          </p:pic>
        </p:grpSp>
        <p:grpSp>
          <p:nvGrpSpPr>
            <p:cNvPr id="13363" name="Group 52"/>
            <p:cNvGrpSpPr/>
            <p:nvPr/>
          </p:nvGrpSpPr>
          <p:grpSpPr>
            <a:xfrm>
              <a:off x="2736" y="528"/>
              <a:ext cx="331" cy="108"/>
              <a:chOff x="395" y="624"/>
              <a:chExt cx="331" cy="108"/>
            </a:xfrm>
          </p:grpSpPr>
          <p:pic>
            <p:nvPicPr>
              <p:cNvPr id="13364" name="Picture 53" descr="Green and Black Diamond"/>
              <p:cNvPicPr>
                <a:picLocks noChangeAspect="1"/>
              </p:cNvPicPr>
              <p:nvPr/>
            </p:nvPicPr>
            <p:blipFill>
              <a:blip r:embed="rId2" cstate="print"/>
              <a:stretch>
                <a:fillRect/>
              </a:stretch>
            </p:blipFill>
            <p:spPr>
              <a:xfrm>
                <a:off x="395" y="624"/>
                <a:ext cx="119" cy="108"/>
              </a:xfrm>
              <a:prstGeom prst="rect">
                <a:avLst/>
              </a:prstGeom>
              <a:noFill/>
              <a:ln w="9525">
                <a:noFill/>
              </a:ln>
            </p:spPr>
          </p:pic>
          <p:pic>
            <p:nvPicPr>
              <p:cNvPr id="13365" name="Picture 54" descr="Green and Black Diamond"/>
              <p:cNvPicPr>
                <a:picLocks noChangeAspect="1"/>
              </p:cNvPicPr>
              <p:nvPr/>
            </p:nvPicPr>
            <p:blipFill>
              <a:blip r:embed="rId2" cstate="print"/>
              <a:stretch>
                <a:fillRect/>
              </a:stretch>
            </p:blipFill>
            <p:spPr>
              <a:xfrm>
                <a:off x="494" y="624"/>
                <a:ext cx="119" cy="108"/>
              </a:xfrm>
              <a:prstGeom prst="rect">
                <a:avLst/>
              </a:prstGeom>
              <a:noFill/>
              <a:ln w="9525">
                <a:noFill/>
              </a:ln>
            </p:spPr>
          </p:pic>
          <p:pic>
            <p:nvPicPr>
              <p:cNvPr id="13366" name="Picture 55" descr="Green and Black Diamond"/>
              <p:cNvPicPr>
                <a:picLocks noChangeAspect="1"/>
              </p:cNvPicPr>
              <p:nvPr/>
            </p:nvPicPr>
            <p:blipFill>
              <a:blip r:embed="rId2" cstate="print"/>
              <a:stretch>
                <a:fillRect/>
              </a:stretch>
            </p:blipFill>
            <p:spPr>
              <a:xfrm>
                <a:off x="607" y="624"/>
                <a:ext cx="119" cy="108"/>
              </a:xfrm>
              <a:prstGeom prst="rect">
                <a:avLst/>
              </a:prstGeom>
              <a:noFill/>
              <a:ln w="9525">
                <a:noFill/>
              </a:ln>
            </p:spPr>
          </p:pic>
        </p:grpSp>
        <p:pic>
          <p:nvPicPr>
            <p:cNvPr id="13367" name="Picture 56" descr="Green and Black Diamond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153" y="528"/>
              <a:ext cx="119" cy="108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13368" name="Picture 57" descr="Green and Black Diamond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265" y="528"/>
              <a:ext cx="119" cy="108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13369" name="Picture 58" descr="Green and Black Diamond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371" y="528"/>
              <a:ext cx="119" cy="108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13370" name="Picture 59" descr="Green and Black Diamond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470" y="528"/>
              <a:ext cx="120" cy="108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13371" name="Picture 60" descr="Green and Black Diamond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583" y="528"/>
              <a:ext cx="119" cy="108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13372" name="Picture 61" descr="Green and Black Diamond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054" y="528"/>
              <a:ext cx="119" cy="108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13373" name="Picture 62" descr="Green and Black Diamond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689" y="528"/>
              <a:ext cx="119" cy="108"/>
            </a:xfrm>
            <a:prstGeom prst="rect">
              <a:avLst/>
            </a:prstGeom>
            <a:noFill/>
            <a:ln w="9525">
              <a:noFill/>
            </a:ln>
          </p:spPr>
        </p:pic>
      </p:grpSp>
      <p:sp>
        <p:nvSpPr>
          <p:cNvPr id="11327" name="AutoShape 63"/>
          <p:cNvSpPr/>
          <p:nvPr/>
        </p:nvSpPr>
        <p:spPr>
          <a:xfrm>
            <a:off x="4648200" y="4678363"/>
            <a:ext cx="228600" cy="955675"/>
          </a:xfrm>
          <a:prstGeom prst="leftBrace">
            <a:avLst>
              <a:gd name="adj1" fmla="val 34779"/>
              <a:gd name="adj2" fmla="val 50000"/>
            </a:avLst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none" lIns="91435" tIns="45718" rIns="91435" bIns="45718" anchor="ctr" anchorCtr="0"/>
          <a:lstStyle/>
          <a:p>
            <a:pPr algn="ctr"/>
            <a:endParaRPr lang="zh-CN" altLang="zh-CN" sz="2800" b="1" i="1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pSp>
        <p:nvGrpSpPr>
          <p:cNvPr id="11328" name="Group 64"/>
          <p:cNvGrpSpPr/>
          <p:nvPr/>
        </p:nvGrpSpPr>
        <p:grpSpPr>
          <a:xfrm>
            <a:off x="5895975" y="1143000"/>
            <a:ext cx="1952625" cy="2500313"/>
            <a:chOff x="3570" y="576"/>
            <a:chExt cx="1230" cy="1575"/>
          </a:xfrm>
        </p:grpSpPr>
        <p:sp>
          <p:nvSpPr>
            <p:cNvPr id="13376" name="Line 65"/>
            <p:cNvSpPr/>
            <p:nvPr/>
          </p:nvSpPr>
          <p:spPr>
            <a:xfrm>
              <a:off x="4638" y="866"/>
              <a:ext cx="0" cy="326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</p:spPr>
        </p:sp>
        <p:sp>
          <p:nvSpPr>
            <p:cNvPr id="13377" name="Text Box 66"/>
            <p:cNvSpPr txBox="1"/>
            <p:nvPr/>
          </p:nvSpPr>
          <p:spPr>
            <a:xfrm>
              <a:off x="4542" y="576"/>
              <a:ext cx="228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91435" tIns="45718" rIns="91435" bIns="45718" anchor="t" anchorCtr="0">
              <a:spAutoFit/>
            </a:bodyPr>
            <a:lstStyle/>
            <a:p>
              <a:r>
                <a:rPr lang="en-US" altLang="zh-CN" sz="2800" b="1" dirty="0">
                  <a:latin typeface="Times New Roman" panose="02020603050405020304" pitchFamily="18" charset="0"/>
                  <a:ea typeface="宋体" panose="02010600030101010101" pitchFamily="2" charset="-122"/>
                </a:rPr>
                <a:t>a</a:t>
              </a:r>
            </a:p>
          </p:txBody>
        </p:sp>
        <p:sp>
          <p:nvSpPr>
            <p:cNvPr id="13378" name="Line 67"/>
            <p:cNvSpPr/>
            <p:nvPr/>
          </p:nvSpPr>
          <p:spPr>
            <a:xfrm>
              <a:off x="3702" y="861"/>
              <a:ext cx="952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</p:spPr>
        </p:sp>
        <p:sp>
          <p:nvSpPr>
            <p:cNvPr id="13379" name="Line 68"/>
            <p:cNvSpPr/>
            <p:nvPr/>
          </p:nvSpPr>
          <p:spPr>
            <a:xfrm>
              <a:off x="3702" y="1867"/>
              <a:ext cx="945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</p:spPr>
        </p:sp>
        <p:sp>
          <p:nvSpPr>
            <p:cNvPr id="13380" name="Text Box 69"/>
            <p:cNvSpPr txBox="1"/>
            <p:nvPr/>
          </p:nvSpPr>
          <p:spPr>
            <a:xfrm>
              <a:off x="4295" y="1200"/>
              <a:ext cx="265" cy="327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none" lIns="91435" tIns="45718" rIns="91435" bIns="45718" anchor="t" anchorCtr="0">
              <a:spAutoFit/>
            </a:bodyPr>
            <a:lstStyle/>
            <a:p>
              <a:r>
                <a:rPr lang="en-US" altLang="zh-CN" sz="2800" b="1" i="1" dirty="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R</a:t>
              </a:r>
            </a:p>
          </p:txBody>
        </p:sp>
        <p:sp>
          <p:nvSpPr>
            <p:cNvPr id="13381" name="Oval 70"/>
            <p:cNvSpPr/>
            <p:nvPr/>
          </p:nvSpPr>
          <p:spPr>
            <a:xfrm>
              <a:off x="3570" y="1233"/>
              <a:ext cx="272" cy="272"/>
            </a:xfrm>
            <a:prstGeom prst="ellipse">
              <a:avLst/>
            </a:prstGeom>
            <a:noFill/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lstStyle/>
            <a:p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3382" name="Line 71"/>
            <p:cNvSpPr/>
            <p:nvPr/>
          </p:nvSpPr>
          <p:spPr>
            <a:xfrm>
              <a:off x="3702" y="861"/>
              <a:ext cx="0" cy="1006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</p:spPr>
        </p:sp>
        <p:sp>
          <p:nvSpPr>
            <p:cNvPr id="13383" name="Text Box 72"/>
            <p:cNvSpPr txBox="1"/>
            <p:nvPr/>
          </p:nvSpPr>
          <p:spPr>
            <a:xfrm>
              <a:off x="4559" y="1824"/>
              <a:ext cx="241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91435" tIns="45718" rIns="91435" bIns="45718" anchor="t" anchorCtr="0">
              <a:spAutoFit/>
            </a:bodyPr>
            <a:lstStyle/>
            <a:p>
              <a:r>
                <a:rPr lang="en-US" altLang="zh-CN" sz="2800" b="1" dirty="0">
                  <a:latin typeface="Times New Roman" panose="02020603050405020304" pitchFamily="18" charset="0"/>
                  <a:ea typeface="宋体" panose="02010600030101010101" pitchFamily="2" charset="-122"/>
                </a:rPr>
                <a:t>b</a:t>
              </a:r>
            </a:p>
          </p:txBody>
        </p:sp>
        <p:sp>
          <p:nvSpPr>
            <p:cNvPr id="13384" name="Rectangle 73"/>
            <p:cNvSpPr/>
            <p:nvPr/>
          </p:nvSpPr>
          <p:spPr>
            <a:xfrm>
              <a:off x="4575" y="1200"/>
              <a:ext cx="127" cy="297"/>
            </a:xfrm>
            <a:prstGeom prst="rect">
              <a:avLst/>
            </a:prstGeom>
            <a:noFill/>
            <a:ln w="381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/>
            <a:p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3385" name="Line 74"/>
            <p:cNvSpPr/>
            <p:nvPr/>
          </p:nvSpPr>
          <p:spPr>
            <a:xfrm>
              <a:off x="4638" y="1488"/>
              <a:ext cx="0" cy="394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</p:spPr>
        </p:sp>
      </p:grpSp>
      <p:grpSp>
        <p:nvGrpSpPr>
          <p:cNvPr id="11339" name="Group 75"/>
          <p:cNvGrpSpPr/>
          <p:nvPr/>
        </p:nvGrpSpPr>
        <p:grpSpPr>
          <a:xfrm>
            <a:off x="882650" y="3871913"/>
            <a:ext cx="7573963" cy="1266825"/>
            <a:chOff x="535" y="2304"/>
            <a:chExt cx="4771" cy="797"/>
          </a:xfrm>
        </p:grpSpPr>
        <p:sp>
          <p:nvSpPr>
            <p:cNvPr id="13387" name="Text Box 76"/>
            <p:cNvSpPr txBox="1"/>
            <p:nvPr/>
          </p:nvSpPr>
          <p:spPr>
            <a:xfrm>
              <a:off x="535" y="2544"/>
              <a:ext cx="953" cy="381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91435" tIns="45718" rIns="91435" bIns="45718" anchor="t" anchorCtr="0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zh-CN" altLang="en-US" sz="2800" b="1" dirty="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箭   标</a:t>
              </a:r>
            </a:p>
          </p:txBody>
        </p:sp>
        <p:grpSp>
          <p:nvGrpSpPr>
            <p:cNvPr id="13388" name="Group 77"/>
            <p:cNvGrpSpPr/>
            <p:nvPr/>
          </p:nvGrpSpPr>
          <p:grpSpPr>
            <a:xfrm>
              <a:off x="1248" y="2304"/>
              <a:ext cx="4058" cy="797"/>
              <a:chOff x="1344" y="2352"/>
              <a:chExt cx="4058" cy="797"/>
            </a:xfrm>
          </p:grpSpPr>
          <p:sp>
            <p:nvSpPr>
              <p:cNvPr id="13389" name="Text Box 78"/>
              <p:cNvSpPr txBox="1"/>
              <p:nvPr/>
            </p:nvSpPr>
            <p:spPr>
              <a:xfrm>
                <a:off x="1344" y="2745"/>
                <a:ext cx="228" cy="327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91435" tIns="45718" rIns="91435" bIns="45718" anchor="t" anchorCtr="0">
                <a:spAutoFit/>
              </a:bodyPr>
              <a:lstStyle/>
              <a:p>
                <a:r>
                  <a:rPr lang="en-US" altLang="zh-CN" sz="2800" b="1" dirty="0">
                    <a:solidFill>
                      <a:srgbClr val="0066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a</a:t>
                </a:r>
              </a:p>
            </p:txBody>
          </p:sp>
          <p:sp>
            <p:nvSpPr>
              <p:cNvPr id="13390" name="Text Box 79"/>
              <p:cNvSpPr txBox="1"/>
              <p:nvPr/>
            </p:nvSpPr>
            <p:spPr>
              <a:xfrm>
                <a:off x="2400" y="2745"/>
                <a:ext cx="241" cy="327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91435" tIns="45718" rIns="91435" bIns="45718" anchor="t" anchorCtr="0">
                <a:spAutoFit/>
              </a:bodyPr>
              <a:lstStyle/>
              <a:p>
                <a:r>
                  <a:rPr lang="en-US" altLang="zh-CN" sz="2800" b="1" dirty="0">
                    <a:solidFill>
                      <a:srgbClr val="0066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b</a:t>
                </a:r>
              </a:p>
            </p:txBody>
          </p:sp>
          <p:sp>
            <p:nvSpPr>
              <p:cNvPr id="13391" name="Text Box 80"/>
              <p:cNvSpPr txBox="1"/>
              <p:nvPr/>
            </p:nvSpPr>
            <p:spPr>
              <a:xfrm>
                <a:off x="1836" y="2822"/>
                <a:ext cx="265" cy="327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91435" tIns="45718" rIns="91435" bIns="45718" anchor="t" anchorCtr="0">
                <a:spAutoFit/>
              </a:bodyPr>
              <a:lstStyle/>
              <a:p>
                <a:r>
                  <a:rPr lang="en-US" altLang="zh-CN" sz="2800" b="1" i="1" dirty="0">
                    <a:solidFill>
                      <a:srgbClr val="0066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R</a:t>
                </a:r>
                <a:endParaRPr lang="en-US" altLang="zh-CN" sz="2800" b="1" dirty="0">
                  <a:solidFill>
                    <a:srgbClr val="006600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3392" name="Line 81"/>
              <p:cNvSpPr/>
              <p:nvPr/>
            </p:nvSpPr>
            <p:spPr>
              <a:xfrm>
                <a:off x="1462" y="2780"/>
                <a:ext cx="397" cy="0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13393" name="Rectangle 82"/>
              <p:cNvSpPr/>
              <p:nvPr/>
            </p:nvSpPr>
            <p:spPr>
              <a:xfrm>
                <a:off x="1858" y="2712"/>
                <a:ext cx="264" cy="132"/>
              </a:xfrm>
              <a:prstGeom prst="rect">
                <a:avLst/>
              </a:prstGeom>
              <a:noFill/>
              <a:ln w="3810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lstStyle/>
              <a:p>
                <a:endParaRPr lang="zh-CN" altLang="en-US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3394" name="Line 83"/>
              <p:cNvSpPr/>
              <p:nvPr/>
            </p:nvSpPr>
            <p:spPr>
              <a:xfrm>
                <a:off x="1764" y="2640"/>
                <a:ext cx="492" cy="0"/>
              </a:xfrm>
              <a:prstGeom prst="line">
                <a:avLst/>
              </a:prstGeom>
              <a:ln w="38100" cap="flat" cmpd="sng">
                <a:solidFill>
                  <a:srgbClr val="FF3300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sp>
          <p:sp>
            <p:nvSpPr>
              <p:cNvPr id="13395" name="Text Box 84"/>
              <p:cNvSpPr txBox="1"/>
              <p:nvPr/>
            </p:nvSpPr>
            <p:spPr>
              <a:xfrm>
                <a:off x="1872" y="2352"/>
                <a:ext cx="288" cy="327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lIns="91435" tIns="45718" rIns="91435" bIns="45718" anchor="t" anchorCtr="0">
                <a:spAutoFit/>
              </a:bodyPr>
              <a:lstStyle/>
              <a:p>
                <a:r>
                  <a:rPr lang="en-US" altLang="zh-CN" sz="2800" b="1" i="1" dirty="0">
                    <a:solidFill>
                      <a:srgbClr val="FF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I</a:t>
                </a:r>
                <a:endParaRPr lang="en-US" altLang="zh-CN" sz="2800" b="1" dirty="0">
                  <a:solidFill>
                    <a:srgbClr val="FF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3396" name="Line 85"/>
              <p:cNvSpPr/>
              <p:nvPr/>
            </p:nvSpPr>
            <p:spPr>
              <a:xfrm>
                <a:off x="2112" y="2784"/>
                <a:ext cx="384" cy="0"/>
              </a:xfrm>
              <a:prstGeom prst="line">
                <a:avLst/>
              </a:prstGeom>
              <a:ln w="38100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13397" name="Oval 86"/>
              <p:cNvSpPr/>
              <p:nvPr/>
            </p:nvSpPr>
            <p:spPr>
              <a:xfrm>
                <a:off x="1416" y="2758"/>
                <a:ext cx="54" cy="54"/>
              </a:xfrm>
              <a:prstGeom prst="ellipse">
                <a:avLst/>
              </a:prstGeom>
              <a:noFill/>
              <a:ln w="38100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wrap="none" anchor="ctr" anchorCtr="0"/>
              <a:lstStyle/>
              <a:p>
                <a:endParaRPr lang="zh-CN" altLang="en-US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3398" name="Oval 87"/>
              <p:cNvSpPr/>
              <p:nvPr/>
            </p:nvSpPr>
            <p:spPr>
              <a:xfrm>
                <a:off x="2496" y="2754"/>
                <a:ext cx="54" cy="54"/>
              </a:xfrm>
              <a:prstGeom prst="ellipse">
                <a:avLst/>
              </a:prstGeom>
              <a:noFill/>
              <a:ln w="38100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wrap="none" anchor="ctr" anchorCtr="0"/>
              <a:lstStyle/>
              <a:p>
                <a:endParaRPr lang="zh-CN" altLang="en-US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3399" name="Line 81"/>
              <p:cNvSpPr/>
              <p:nvPr/>
            </p:nvSpPr>
            <p:spPr>
              <a:xfrm>
                <a:off x="4314" y="2912"/>
                <a:ext cx="397" cy="0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13400" name="Rectangle 82"/>
              <p:cNvSpPr/>
              <p:nvPr/>
            </p:nvSpPr>
            <p:spPr>
              <a:xfrm>
                <a:off x="4710" y="2844"/>
                <a:ext cx="264" cy="132"/>
              </a:xfrm>
              <a:prstGeom prst="rect">
                <a:avLst/>
              </a:prstGeom>
              <a:noFill/>
              <a:ln w="3810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lstStyle/>
              <a:p>
                <a:endParaRPr lang="zh-CN" altLang="en-US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3401" name="Line 85"/>
              <p:cNvSpPr/>
              <p:nvPr/>
            </p:nvSpPr>
            <p:spPr>
              <a:xfrm>
                <a:off x="4964" y="2916"/>
                <a:ext cx="384" cy="0"/>
              </a:xfrm>
              <a:prstGeom prst="line">
                <a:avLst/>
              </a:prstGeom>
              <a:ln w="38100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13402" name="Oval 86"/>
              <p:cNvSpPr/>
              <p:nvPr/>
            </p:nvSpPr>
            <p:spPr>
              <a:xfrm>
                <a:off x="4268" y="2890"/>
                <a:ext cx="54" cy="54"/>
              </a:xfrm>
              <a:prstGeom prst="ellipse">
                <a:avLst/>
              </a:prstGeom>
              <a:noFill/>
              <a:ln w="38100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wrap="none" anchor="ctr" anchorCtr="0"/>
              <a:lstStyle/>
              <a:p>
                <a:endParaRPr lang="zh-CN" altLang="en-US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3403" name="Oval 87"/>
              <p:cNvSpPr/>
              <p:nvPr/>
            </p:nvSpPr>
            <p:spPr>
              <a:xfrm>
                <a:off x="5348" y="2886"/>
                <a:ext cx="54" cy="54"/>
              </a:xfrm>
              <a:prstGeom prst="ellipse">
                <a:avLst/>
              </a:prstGeom>
              <a:noFill/>
              <a:ln w="38100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wrap="none" anchor="ctr" anchorCtr="0"/>
              <a:lstStyle/>
              <a:p>
                <a:endParaRPr lang="zh-CN" altLang="en-US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</p:grpSp>
      </p:grpSp>
      <p:grpSp>
        <p:nvGrpSpPr>
          <p:cNvPr id="11364" name="Group 100"/>
          <p:cNvGrpSpPr/>
          <p:nvPr/>
        </p:nvGrpSpPr>
        <p:grpSpPr>
          <a:xfrm>
            <a:off x="7699375" y="1676400"/>
            <a:ext cx="987425" cy="1281113"/>
            <a:chOff x="4706" y="912"/>
            <a:chExt cx="622" cy="807"/>
          </a:xfrm>
        </p:grpSpPr>
        <p:sp>
          <p:nvSpPr>
            <p:cNvPr id="13405" name="Text Box 101"/>
            <p:cNvSpPr txBox="1"/>
            <p:nvPr/>
          </p:nvSpPr>
          <p:spPr>
            <a:xfrm>
              <a:off x="4706" y="1200"/>
              <a:ext cx="334" cy="327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none" lIns="91435" tIns="45718" rIns="91435" bIns="45718" anchor="t" anchorCtr="0">
              <a:spAutoFit/>
            </a:bodyPr>
            <a:lstStyle/>
            <a:p>
              <a:r>
                <a:rPr lang="en-US" altLang="zh-CN" sz="2800" b="1" i="1" dirty="0">
                  <a:solidFill>
                    <a:srgbClr val="FF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 U</a:t>
              </a:r>
            </a:p>
          </p:txBody>
        </p:sp>
        <p:sp>
          <p:nvSpPr>
            <p:cNvPr id="13406" name="Text Box 102"/>
            <p:cNvSpPr txBox="1"/>
            <p:nvPr/>
          </p:nvSpPr>
          <p:spPr>
            <a:xfrm>
              <a:off x="4800" y="912"/>
              <a:ext cx="528" cy="327"/>
            </a:xfrm>
            <a:prstGeom prst="rect">
              <a:avLst/>
            </a:prstGeom>
            <a:noFill/>
            <a:ln w="12700">
              <a:noFill/>
            </a:ln>
          </p:spPr>
          <p:txBody>
            <a:bodyPr lIns="91435" tIns="45718" rIns="91435" bIns="45718" anchor="t" anchorCtr="0">
              <a:spAutoFit/>
            </a:bodyPr>
            <a:lstStyle/>
            <a:p>
              <a:r>
                <a:rPr lang="en-US" altLang="zh-CN" sz="2800" b="1" dirty="0">
                  <a:solidFill>
                    <a:srgbClr val="FF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+</a:t>
              </a:r>
            </a:p>
          </p:txBody>
        </p:sp>
        <p:sp>
          <p:nvSpPr>
            <p:cNvPr id="13407" name="Text Box 103"/>
            <p:cNvSpPr txBox="1"/>
            <p:nvPr/>
          </p:nvSpPr>
          <p:spPr>
            <a:xfrm>
              <a:off x="4800" y="1392"/>
              <a:ext cx="288" cy="327"/>
            </a:xfrm>
            <a:prstGeom prst="rect">
              <a:avLst/>
            </a:prstGeom>
            <a:noFill/>
            <a:ln w="12700">
              <a:noFill/>
            </a:ln>
          </p:spPr>
          <p:txBody>
            <a:bodyPr lIns="91435" tIns="45718" rIns="91435" bIns="45718" anchor="t" anchorCtr="0">
              <a:spAutoFit/>
            </a:bodyPr>
            <a:lstStyle/>
            <a:p>
              <a:r>
                <a:rPr lang="en-US" altLang="zh-CN" sz="2800" b="1" i="1" dirty="0">
                  <a:solidFill>
                    <a:srgbClr val="FF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_</a:t>
              </a:r>
            </a:p>
          </p:txBody>
        </p:sp>
      </p:grpSp>
      <p:sp>
        <p:nvSpPr>
          <p:cNvPr id="11368" name="Rectangle 104"/>
          <p:cNvSpPr>
            <a:spLocks noChangeArrowheads="1"/>
          </p:cNvSpPr>
          <p:nvPr/>
        </p:nvSpPr>
        <p:spPr bwMode="auto">
          <a:xfrm>
            <a:off x="0" y="5911850"/>
            <a:ext cx="9144000" cy="103187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accent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81320" dir="2319588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1435" tIns="45718" rIns="91435" bIns="45718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注：电流的方向客观存在；</a:t>
            </a:r>
            <a:r>
              <a:rPr lang="zh-CN" altLang="en-US" sz="1800" i="1" u="sng" strike="noStrike" noProof="0" dirty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+mn-ea"/>
              </a:rPr>
              <a:t>分析与计算</a:t>
            </a:r>
            <a:r>
              <a:rPr lang="zh-CN" altLang="en-US" sz="1800" b="1" strike="noStrike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+mn-ea"/>
              </a:rPr>
              <a:t>电路时，可任意选定某一方向为电流的</a:t>
            </a:r>
            <a:r>
              <a:rPr lang="zh-CN" altLang="en-US" sz="1800" b="1" strike="noStrike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+mn-ea"/>
              </a:rPr>
              <a:t>参考方向。</a:t>
            </a:r>
            <a:endParaRPr lang="zh-CN" altLang="en-US" sz="1800" b="1" strike="noStrike" noProof="0" dirty="0">
              <a:ln>
                <a:noFill/>
              </a:ln>
              <a:solidFill>
                <a:srgbClr val="CC0000"/>
              </a:solidFill>
              <a:effectLst/>
              <a:uLnTx/>
              <a:uFillTx/>
              <a:sym typeface="+mn-ea"/>
            </a:endParaRPr>
          </a:p>
          <a:p>
            <a:pPr marL="285750" marR="0" lvl="0" indent="-285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charset="0"/>
              <a:buChar char="l"/>
              <a:defRPr/>
            </a:pPr>
            <a:r>
              <a:rPr kumimoji="1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分析</a:t>
            </a:r>
            <a:r>
              <a:rPr kumimoji="1" lang="zh-CN" altLang="en-US" sz="1800" b="1" i="0" u="sng" strike="noStrike" kern="120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复杂的直流电路</a:t>
            </a:r>
            <a:r>
              <a:rPr kumimoji="1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时，一般</a:t>
            </a:r>
            <a:r>
              <a:rPr kumimoji="1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难于事先判断</a:t>
            </a:r>
            <a:r>
              <a:rPr kumimoji="1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某支路中电流的</a:t>
            </a:r>
            <a:r>
              <a:rPr kumimoji="1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实际方向</a:t>
            </a:r>
            <a:r>
              <a:rPr kumimoji="1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；</a:t>
            </a:r>
          </a:p>
          <a:p>
            <a:pPr marL="285750" marR="0" lvl="0" indent="-285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charset="0"/>
              <a:buChar char="l"/>
              <a:defRPr/>
            </a:pPr>
            <a:r>
              <a:rPr kumimoji="1" lang="zh-CN" altLang="en-US" sz="1800" b="1" i="0" u="sng" strike="noStrike" kern="120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交流电路中</a:t>
            </a:r>
            <a:r>
              <a:rPr kumimoji="1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，</a:t>
            </a:r>
            <a:r>
              <a:rPr kumimoji="1" lang="zh-CN" altLang="en-US" sz="1800" b="1" i="1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电流方向</a:t>
            </a:r>
            <a:r>
              <a:rPr kumimoji="1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随时间而</a:t>
            </a:r>
            <a:r>
              <a:rPr kumimoji="1" lang="zh-CN" altLang="en-US" sz="1800" b="1" i="1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变化</a:t>
            </a:r>
            <a:r>
              <a:rPr kumimoji="1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，电路图中</a:t>
            </a:r>
            <a:r>
              <a:rPr kumimoji="1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无法用一个箭标表示</a:t>
            </a:r>
            <a:r>
              <a:rPr kumimoji="1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其实际方向。</a:t>
            </a:r>
          </a:p>
        </p:txBody>
      </p:sp>
      <p:grpSp>
        <p:nvGrpSpPr>
          <p:cNvPr id="11352" name="Group 88"/>
          <p:cNvGrpSpPr/>
          <p:nvPr/>
        </p:nvGrpSpPr>
        <p:grpSpPr>
          <a:xfrm>
            <a:off x="4800600" y="4114800"/>
            <a:ext cx="3825875" cy="1149350"/>
            <a:chOff x="3024" y="2592"/>
            <a:chExt cx="2410" cy="724"/>
          </a:xfrm>
        </p:grpSpPr>
        <p:sp>
          <p:nvSpPr>
            <p:cNvPr id="13410" name="Text Box 89"/>
            <p:cNvSpPr txBox="1"/>
            <p:nvPr/>
          </p:nvSpPr>
          <p:spPr>
            <a:xfrm>
              <a:off x="3024" y="2824"/>
              <a:ext cx="1016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91435" tIns="45718" rIns="91435" bIns="45718" anchor="t" anchorCtr="0">
              <a:spAutoFit/>
            </a:bodyPr>
            <a:lstStyle/>
            <a:p>
              <a:r>
                <a:rPr lang="zh-CN" altLang="en-US" sz="2800" b="1" dirty="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正负极性</a:t>
              </a:r>
              <a:endParaRPr lang="zh-CN" altLang="en-US" sz="2800" b="1" i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grpSp>
          <p:nvGrpSpPr>
            <p:cNvPr id="13411" name="Group 90"/>
            <p:cNvGrpSpPr/>
            <p:nvPr/>
          </p:nvGrpSpPr>
          <p:grpSpPr>
            <a:xfrm>
              <a:off x="4032" y="2592"/>
              <a:ext cx="1402" cy="724"/>
              <a:chOff x="4032" y="2435"/>
              <a:chExt cx="1402" cy="724"/>
            </a:xfrm>
          </p:grpSpPr>
          <p:sp>
            <p:nvSpPr>
              <p:cNvPr id="13412" name="Text Box 91"/>
              <p:cNvSpPr txBox="1"/>
              <p:nvPr/>
            </p:nvSpPr>
            <p:spPr>
              <a:xfrm>
                <a:off x="4416" y="2491"/>
                <a:ext cx="244" cy="327"/>
              </a:xfrm>
              <a:prstGeom prst="rect">
                <a:avLst/>
              </a:prstGeom>
              <a:noFill/>
              <a:ln w="28575">
                <a:noFill/>
              </a:ln>
            </p:spPr>
            <p:txBody>
              <a:bodyPr wrap="none" lIns="91435" tIns="45718" rIns="91435" bIns="45718" anchor="t" anchorCtr="0">
                <a:spAutoFit/>
              </a:bodyPr>
              <a:lstStyle/>
              <a:p>
                <a:r>
                  <a:rPr lang="en-US" altLang="zh-CN" sz="2800" b="1" dirty="0">
                    <a:solidFill>
                      <a:srgbClr val="FF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+</a:t>
                </a:r>
              </a:p>
            </p:txBody>
          </p:sp>
          <p:sp>
            <p:nvSpPr>
              <p:cNvPr id="13413" name="Text Box 92"/>
              <p:cNvSpPr txBox="1"/>
              <p:nvPr/>
            </p:nvSpPr>
            <p:spPr>
              <a:xfrm>
                <a:off x="4848" y="2471"/>
                <a:ext cx="228" cy="327"/>
              </a:xfrm>
              <a:prstGeom prst="rect">
                <a:avLst/>
              </a:prstGeom>
              <a:noFill/>
              <a:ln w="57150">
                <a:noFill/>
              </a:ln>
            </p:spPr>
            <p:txBody>
              <a:bodyPr wrap="none" lIns="91435" tIns="45718" rIns="91435" bIns="45718" anchor="t" anchorCtr="0">
                <a:spAutoFit/>
              </a:bodyPr>
              <a:lstStyle/>
              <a:p>
                <a:r>
                  <a:rPr lang="en-US" altLang="zh-CN" sz="2800" b="1" dirty="0">
                    <a:solidFill>
                      <a:srgbClr val="FF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–</a:t>
                </a:r>
                <a:endParaRPr lang="zh-CN" altLang="zh-CN" sz="2800" b="1" dirty="0">
                  <a:solidFill>
                    <a:srgbClr val="FF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3414" name="Text Box 93"/>
              <p:cNvSpPr txBox="1"/>
              <p:nvPr/>
            </p:nvSpPr>
            <p:spPr>
              <a:xfrm>
                <a:off x="4032" y="2784"/>
                <a:ext cx="228" cy="327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91435" tIns="45718" rIns="91435" bIns="45718" anchor="t" anchorCtr="0">
                <a:spAutoFit/>
              </a:bodyPr>
              <a:lstStyle/>
              <a:p>
                <a:r>
                  <a:rPr lang="en-US" altLang="zh-CN" sz="2800" b="1" dirty="0">
                    <a:solidFill>
                      <a:srgbClr val="0066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a</a:t>
                </a:r>
              </a:p>
            </p:txBody>
          </p:sp>
          <p:sp>
            <p:nvSpPr>
              <p:cNvPr id="13415" name="Text Box 94"/>
              <p:cNvSpPr txBox="1"/>
              <p:nvPr/>
            </p:nvSpPr>
            <p:spPr>
              <a:xfrm>
                <a:off x="5193" y="2832"/>
                <a:ext cx="241" cy="327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91435" tIns="45718" rIns="91435" bIns="45718" anchor="t" anchorCtr="0">
                <a:spAutoFit/>
              </a:bodyPr>
              <a:lstStyle/>
              <a:p>
                <a:r>
                  <a:rPr lang="en-US" altLang="zh-CN" sz="2800" b="1" dirty="0">
                    <a:solidFill>
                      <a:srgbClr val="0066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b</a:t>
                </a:r>
              </a:p>
            </p:txBody>
          </p:sp>
          <p:sp>
            <p:nvSpPr>
              <p:cNvPr id="11359" name="Text Box 95"/>
              <p:cNvSpPr txBox="1">
                <a:spLocks noChangeArrowheads="1"/>
              </p:cNvSpPr>
              <p:nvPr/>
            </p:nvSpPr>
            <p:spPr bwMode="auto">
              <a:xfrm>
                <a:off x="4633" y="2435"/>
                <a:ext cx="359" cy="246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accent2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81320" dir="2319588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lIns="91435" tIns="45718" rIns="91435" bIns="45718">
                <a:spAutoFit/>
              </a:bodyPr>
              <a:lstStyle/>
              <a:p>
                <a:pPr marR="0" defTabSz="914400">
                  <a:lnSpc>
                    <a:spcPct val="70000"/>
                  </a:lnSpc>
                  <a:spcBef>
                    <a:spcPct val="50000"/>
                  </a:spcBef>
                  <a:buClr>
                    <a:schemeClr val="tx1"/>
                  </a:buClr>
                  <a:buSzTx/>
                  <a:buFontTx/>
                  <a:buNone/>
                  <a:defRPr/>
                </a:pPr>
                <a:r>
                  <a:rPr kumimoji="1" lang="en-US" altLang="zh-CN" sz="2800" b="1" i="1" kern="1200" cap="none" spc="0" normalizeH="0" baseline="0" noProof="0">
                    <a:solidFill>
                      <a:srgbClr val="FF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U</a:t>
                </a:r>
                <a:endParaRPr kumimoji="1" lang="en-US" altLang="zh-CN" sz="2800" b="1" i="1" kern="1200" cap="none" spc="0" normalizeH="0" baseline="0" noProof="0">
                  <a:solidFill>
                    <a:srgbClr val="FF00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</p:grp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12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12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12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2" dur="500"/>
                                        <p:tgtEl>
                                          <p:spTgt spid="113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500"/>
                            </p:stCondLst>
                            <p:childTnLst>
                              <p:par>
                                <p:cTn id="24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6" dur="500"/>
                                        <p:tgtEl>
                                          <p:spTgt spid="112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1126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113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112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6" dur="500"/>
                                        <p:tgtEl>
                                          <p:spTgt spid="112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500"/>
                            </p:stCondLst>
                            <p:childTnLst>
                              <p:par>
                                <p:cTn id="4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112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1000"/>
                            </p:stCondLst>
                            <p:childTnLst>
                              <p:par>
                                <p:cTn id="5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112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1500"/>
                            </p:stCondLst>
                            <p:childTnLst>
                              <p:par>
                                <p:cTn id="56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8" dur="500"/>
                                        <p:tgtEl>
                                          <p:spTgt spid="112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63" dur="500"/>
                                        <p:tgtEl>
                                          <p:spTgt spid="112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8" dur="500"/>
                                        <p:tgtEl>
                                          <p:spTgt spid="113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9" fill="hold">
                            <p:stCondLst>
                              <p:cond delay="500"/>
                            </p:stCondLst>
                            <p:childTnLst>
                              <p:par>
                                <p:cTn id="70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2" dur="500"/>
                                        <p:tgtEl>
                                          <p:spTgt spid="113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7" dur="500"/>
                                        <p:tgtEl>
                                          <p:spTgt spid="113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8" fill="hold">
                            <p:stCondLst>
                              <p:cond delay="500"/>
                            </p:stCondLst>
                            <p:childTnLst>
                              <p:par>
                                <p:cTn id="7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1" dur="500"/>
                                        <p:tgtEl>
                                          <p:spTgt spid="112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6" dur="500"/>
                                        <p:tgtEl>
                                          <p:spTgt spid="113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266" grpId="0"/>
      <p:bldP spid="11268" grpId="0" build="p"/>
      <p:bldP spid="11272" grpId="0"/>
      <p:bldP spid="11274" grpId="0"/>
      <p:bldP spid="11283" grpId="0" bldLvl="0" animBg="1"/>
      <p:bldP spid="11284" grpId="0" animBg="1"/>
      <p:bldP spid="11327" grpId="0" animBg="1"/>
      <p:bldP spid="11368" grpId="0" bldLvl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/>
          <p:nvPr/>
        </p:nvSpPr>
        <p:spPr>
          <a:xfrm>
            <a:off x="533400" y="982663"/>
            <a:ext cx="8280400" cy="1052512"/>
          </a:xfrm>
          <a:prstGeom prst="rect">
            <a:avLst/>
          </a:prstGeom>
          <a:noFill/>
          <a:ln w="9525">
            <a:noFill/>
          </a:ln>
        </p:spPr>
        <p:txBody>
          <a:bodyPr wrap="none" lIns="91435" tIns="45718" rIns="91435" bIns="45718" anchor="t" anchorCtr="0">
            <a:spAutoFit/>
          </a:bodyPr>
          <a:lstStyle/>
          <a:p>
            <a:pPr>
              <a:spcBef>
                <a:spcPct val="25000"/>
              </a:spcBef>
            </a:pPr>
            <a:r>
              <a:rPr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实际方向与参考方向</a:t>
            </a:r>
            <a:r>
              <a:rPr lang="zh-CN" altLang="en-US" sz="2800" b="1" dirty="0">
                <a:solidFill>
                  <a:srgbClr val="CC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一致</a:t>
            </a:r>
            <a:r>
              <a:rPr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，电流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(</a:t>
            </a:r>
            <a:r>
              <a:rPr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或电压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)</a:t>
            </a:r>
            <a:r>
              <a:rPr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值为</a:t>
            </a:r>
            <a:r>
              <a:rPr lang="zh-CN" altLang="en-US" sz="2800" b="1" dirty="0">
                <a:solidFill>
                  <a:srgbClr val="CC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正值</a:t>
            </a:r>
            <a:r>
              <a:rPr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；</a:t>
            </a:r>
          </a:p>
          <a:p>
            <a:pPr>
              <a:spcBef>
                <a:spcPct val="25000"/>
              </a:spcBef>
            </a:pPr>
            <a:r>
              <a:rPr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实际方向与参考方向</a:t>
            </a:r>
            <a:r>
              <a:rPr lang="zh-CN" altLang="en-US" sz="2800" b="1" dirty="0">
                <a:solidFill>
                  <a:srgbClr val="CC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相反</a:t>
            </a:r>
            <a:r>
              <a:rPr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，电流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(</a:t>
            </a:r>
            <a:r>
              <a:rPr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或电压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)</a:t>
            </a:r>
            <a:r>
              <a:rPr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值为</a:t>
            </a:r>
            <a:r>
              <a:rPr lang="zh-CN" altLang="en-US" sz="2800" b="1" dirty="0">
                <a:solidFill>
                  <a:srgbClr val="CC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负值</a:t>
            </a:r>
            <a:r>
              <a:rPr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。</a:t>
            </a:r>
          </a:p>
        </p:txBody>
      </p:sp>
      <p:sp>
        <p:nvSpPr>
          <p:cNvPr id="12291" name="Rectangle 3"/>
          <p:cNvSpPr>
            <a:spLocks noChangeArrowheads="1"/>
          </p:cNvSpPr>
          <p:nvPr/>
        </p:nvSpPr>
        <p:spPr bwMode="auto">
          <a:xfrm>
            <a:off x="533400" y="323850"/>
            <a:ext cx="6627813" cy="742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accent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81320" dir="2319588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1435" tIns="45718" rIns="91435" bIns="45718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52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(3)</a:t>
            </a: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52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 </a:t>
            </a: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52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实际方向与</a:t>
            </a: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52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参考方向的关系</a:t>
            </a:r>
          </a:p>
        </p:txBody>
      </p:sp>
      <p:sp>
        <p:nvSpPr>
          <p:cNvPr id="12292" name="Text Box 4"/>
          <p:cNvSpPr txBox="1"/>
          <p:nvPr/>
        </p:nvSpPr>
        <p:spPr>
          <a:xfrm>
            <a:off x="250825" y="4737100"/>
            <a:ext cx="8710613" cy="565150"/>
          </a:xfrm>
          <a:prstGeom prst="rect">
            <a:avLst/>
          </a:prstGeom>
          <a:noFill/>
          <a:ln w="9525">
            <a:noFill/>
          </a:ln>
        </p:spPr>
        <p:txBody>
          <a:bodyPr wrap="square" lIns="91435" tIns="45718" rIns="91435" bIns="45718" anchor="t" anchorCtr="0">
            <a:spAutoFit/>
          </a:bodyPr>
          <a:lstStyle/>
          <a:p>
            <a:pPr>
              <a:lnSpc>
                <a:spcPct val="110000"/>
              </a:lnSpc>
            </a:pPr>
            <a:r>
              <a:rPr lang="zh-CN" altLang="en-US" sz="2800" b="1" dirty="0">
                <a:solidFill>
                  <a:srgbClr val="CC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注：</a:t>
            </a:r>
            <a:r>
              <a:rPr lang="zh-CN" altLang="en-US" sz="2800" b="1" dirty="0">
                <a:latin typeface="Times New Roman" panose="02020603050405020304" pitchFamily="18" charset="0"/>
                <a:ea typeface="宋体" panose="02010600030101010101" pitchFamily="2" charset="-122"/>
              </a:rPr>
              <a:t>参考方向选定后，电流 </a:t>
            </a:r>
            <a:r>
              <a:rPr lang="en-US" altLang="zh-CN" sz="2800" b="1" dirty="0">
                <a:latin typeface="Times New Roman" panose="02020603050405020304" pitchFamily="18" charset="0"/>
                <a:ea typeface="宋体" panose="02010600030101010101" pitchFamily="2" charset="-122"/>
              </a:rPr>
              <a:t>( </a:t>
            </a:r>
            <a:r>
              <a:rPr lang="zh-CN" altLang="en-US" sz="2800" b="1" dirty="0">
                <a:latin typeface="Times New Roman" panose="02020603050405020304" pitchFamily="18" charset="0"/>
                <a:ea typeface="宋体" panose="02010600030101010101" pitchFamily="2" charset="-122"/>
              </a:rPr>
              <a:t>或电压 </a:t>
            </a:r>
            <a:r>
              <a:rPr lang="en-US" altLang="zh-CN" sz="2800" b="1" dirty="0">
                <a:latin typeface="Times New Roman" panose="02020603050405020304" pitchFamily="18" charset="0"/>
                <a:ea typeface="宋体" panose="02010600030101010101" pitchFamily="2" charset="-122"/>
              </a:rPr>
              <a:t>) </a:t>
            </a:r>
            <a:r>
              <a:rPr lang="zh-CN" altLang="en-US" sz="2800" b="1" dirty="0">
                <a:latin typeface="Times New Roman" panose="02020603050405020304" pitchFamily="18" charset="0"/>
                <a:ea typeface="宋体" panose="02010600030101010101" pitchFamily="2" charset="-122"/>
              </a:rPr>
              <a:t>值才有正负之分。   </a:t>
            </a:r>
          </a:p>
        </p:txBody>
      </p:sp>
      <p:sp>
        <p:nvSpPr>
          <p:cNvPr id="12293" name="Rectangle 5"/>
          <p:cNvSpPr/>
          <p:nvPr/>
        </p:nvSpPr>
        <p:spPr>
          <a:xfrm>
            <a:off x="3087688" y="2222500"/>
            <a:ext cx="5410200" cy="520700"/>
          </a:xfrm>
          <a:prstGeom prst="rect">
            <a:avLst/>
          </a:prstGeom>
          <a:noFill/>
          <a:ln w="9525">
            <a:noFill/>
          </a:ln>
        </p:spPr>
        <p:txBody>
          <a:bodyPr lIns="91435" tIns="45718" rIns="91435" bIns="45718" anchor="t" anchorCtr="0">
            <a:spAutoFit/>
          </a:bodyPr>
          <a:lstStyle/>
          <a:p>
            <a:pPr>
              <a:spcBef>
                <a:spcPct val="5000"/>
              </a:spcBef>
            </a:pPr>
            <a:r>
              <a:rPr lang="zh-CN" altLang="en-US" sz="2800" b="1" dirty="0">
                <a:latin typeface="Times New Roman" panose="02020603050405020304" pitchFamily="18" charset="0"/>
                <a:ea typeface="宋体" panose="02010600030101010101" pitchFamily="2" charset="-122"/>
              </a:rPr>
              <a:t>若 </a:t>
            </a:r>
            <a:r>
              <a:rPr lang="en-US" altLang="zh-CN" sz="2800" b="1" i="1" dirty="0">
                <a:solidFill>
                  <a:srgbClr val="CC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I</a:t>
            </a:r>
            <a:r>
              <a:rPr lang="en-US" altLang="zh-CN" sz="2800" b="1" dirty="0">
                <a:solidFill>
                  <a:srgbClr val="CC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= 5A</a:t>
            </a:r>
            <a:r>
              <a:rPr lang="zh-CN" altLang="en-US" sz="2800" b="1" dirty="0">
                <a:solidFill>
                  <a:srgbClr val="CC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，</a:t>
            </a:r>
            <a:r>
              <a:rPr lang="zh-CN" altLang="en-US" b="1" dirty="0">
                <a:latin typeface="Times New Roman" panose="02020603050405020304" pitchFamily="18" charset="0"/>
                <a:ea typeface="宋体" panose="02010600030101010101" pitchFamily="2" charset="-122"/>
              </a:rPr>
              <a:t>则电流从 </a:t>
            </a:r>
            <a:r>
              <a:rPr lang="en-US" altLang="zh-CN" b="1" dirty="0">
                <a:latin typeface="Times New Roman" panose="02020603050405020304" pitchFamily="18" charset="0"/>
                <a:ea typeface="宋体" panose="02010600030101010101" pitchFamily="2" charset="-122"/>
              </a:rPr>
              <a:t>a </a:t>
            </a:r>
            <a:r>
              <a:rPr lang="zh-CN" altLang="en-US" b="1" dirty="0">
                <a:latin typeface="Times New Roman" panose="02020603050405020304" pitchFamily="18" charset="0"/>
                <a:ea typeface="宋体" panose="02010600030101010101" pitchFamily="2" charset="-122"/>
              </a:rPr>
              <a:t>流向 </a:t>
            </a:r>
            <a:r>
              <a:rPr lang="en-US" altLang="zh-CN" b="1" dirty="0">
                <a:latin typeface="Times New Roman" panose="02020603050405020304" pitchFamily="18" charset="0"/>
                <a:ea typeface="宋体" panose="02010600030101010101" pitchFamily="2" charset="-122"/>
              </a:rPr>
              <a:t>b</a:t>
            </a:r>
            <a:r>
              <a:rPr lang="zh-CN" altLang="en-US" b="1" dirty="0">
                <a:latin typeface="Times New Roman" panose="02020603050405020304" pitchFamily="18" charset="0"/>
                <a:ea typeface="宋体" panose="02010600030101010101" pitchFamily="2" charset="-122"/>
              </a:rPr>
              <a:t>；</a:t>
            </a:r>
          </a:p>
        </p:txBody>
      </p:sp>
      <p:sp>
        <p:nvSpPr>
          <p:cNvPr id="12294" name="Text Box 6"/>
          <p:cNvSpPr txBox="1"/>
          <p:nvPr/>
        </p:nvSpPr>
        <p:spPr>
          <a:xfrm>
            <a:off x="525463" y="2057400"/>
            <a:ext cx="1384300" cy="519113"/>
          </a:xfrm>
          <a:prstGeom prst="rect">
            <a:avLst/>
          </a:prstGeom>
          <a:noFill/>
          <a:ln w="9525">
            <a:noFill/>
          </a:ln>
        </p:spPr>
        <p:txBody>
          <a:bodyPr lIns="91435" tIns="45718" rIns="91435" bIns="45718" anchor="t" anchorCtr="0">
            <a:spAutoFit/>
          </a:bodyPr>
          <a:lstStyle/>
          <a:p>
            <a:pPr>
              <a:spcBef>
                <a:spcPct val="25000"/>
              </a:spcBef>
            </a:pPr>
            <a:r>
              <a:rPr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例：</a:t>
            </a:r>
          </a:p>
        </p:txBody>
      </p:sp>
      <p:sp>
        <p:nvSpPr>
          <p:cNvPr id="12295" name="Line 7"/>
          <p:cNvSpPr/>
          <p:nvPr/>
        </p:nvSpPr>
        <p:spPr>
          <a:xfrm>
            <a:off x="1684338" y="2293938"/>
            <a:ext cx="781050" cy="0"/>
          </a:xfrm>
          <a:prstGeom prst="line">
            <a:avLst/>
          </a:prstGeom>
          <a:ln w="38100" cap="flat" cmpd="sng">
            <a:solidFill>
              <a:srgbClr val="000099"/>
            </a:solidFill>
            <a:prstDash val="dash"/>
            <a:round/>
            <a:headEnd type="none" w="med" len="med"/>
            <a:tailEnd type="triangle" w="med" len="med"/>
          </a:ln>
        </p:spPr>
      </p:sp>
      <p:sp>
        <p:nvSpPr>
          <p:cNvPr id="12296" name="Rectangle 8"/>
          <p:cNvSpPr/>
          <p:nvPr/>
        </p:nvSpPr>
        <p:spPr>
          <a:xfrm>
            <a:off x="3087688" y="2801938"/>
            <a:ext cx="5486400" cy="520700"/>
          </a:xfrm>
          <a:prstGeom prst="rect">
            <a:avLst/>
          </a:prstGeom>
          <a:noFill/>
          <a:ln w="9525">
            <a:noFill/>
          </a:ln>
        </p:spPr>
        <p:txBody>
          <a:bodyPr lIns="91435" tIns="45718" rIns="91435" bIns="45718" anchor="t" anchorCtr="0">
            <a:spAutoFit/>
          </a:bodyPr>
          <a:lstStyle/>
          <a:p>
            <a:pPr>
              <a:spcBef>
                <a:spcPct val="5000"/>
              </a:spcBef>
            </a:pPr>
            <a:r>
              <a:rPr lang="zh-CN" altLang="en-US" sz="2800" b="1" dirty="0">
                <a:latin typeface="Times New Roman" panose="02020603050405020304" pitchFamily="18" charset="0"/>
                <a:ea typeface="宋体" panose="02010600030101010101" pitchFamily="2" charset="-122"/>
              </a:rPr>
              <a:t>若 </a:t>
            </a:r>
            <a:r>
              <a:rPr lang="en-US" altLang="zh-CN" sz="2800" b="1" i="1" dirty="0">
                <a:solidFill>
                  <a:srgbClr val="CC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I</a:t>
            </a:r>
            <a:r>
              <a:rPr lang="en-US" altLang="zh-CN" sz="2800" b="1" dirty="0">
                <a:solidFill>
                  <a:srgbClr val="CC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= –5A</a:t>
            </a:r>
            <a:r>
              <a:rPr lang="zh-CN" altLang="en-US" sz="2800" b="1" dirty="0">
                <a:latin typeface="Times New Roman" panose="02020603050405020304" pitchFamily="18" charset="0"/>
                <a:ea typeface="宋体" panose="02010600030101010101" pitchFamily="2" charset="-122"/>
              </a:rPr>
              <a:t>，</a:t>
            </a:r>
            <a:r>
              <a:rPr lang="zh-CN" altLang="en-US" b="1" dirty="0">
                <a:latin typeface="Times New Roman" panose="02020603050405020304" pitchFamily="18" charset="0"/>
                <a:ea typeface="宋体" panose="02010600030101010101" pitchFamily="2" charset="-122"/>
              </a:rPr>
              <a:t>则电流从 b 流向 a 。</a:t>
            </a:r>
            <a:endParaRPr lang="zh-CN" altLang="en-US" sz="2800" b="1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pSp>
        <p:nvGrpSpPr>
          <p:cNvPr id="12297" name="Group 9"/>
          <p:cNvGrpSpPr/>
          <p:nvPr/>
        </p:nvGrpSpPr>
        <p:grpSpPr>
          <a:xfrm>
            <a:off x="1017588" y="2232025"/>
            <a:ext cx="2058987" cy="1098550"/>
            <a:chOff x="912" y="1209"/>
            <a:chExt cx="1297" cy="692"/>
          </a:xfrm>
        </p:grpSpPr>
        <p:sp>
          <p:nvSpPr>
            <p:cNvPr id="14345" name="Text Box 10"/>
            <p:cNvSpPr txBox="1"/>
            <p:nvPr/>
          </p:nvSpPr>
          <p:spPr>
            <a:xfrm>
              <a:off x="912" y="1497"/>
              <a:ext cx="228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91435" tIns="45718" rIns="91435" bIns="45718" anchor="t" anchorCtr="0">
              <a:spAutoFit/>
            </a:bodyPr>
            <a:lstStyle/>
            <a:p>
              <a:r>
                <a:rPr lang="en-US" altLang="zh-CN" sz="2800" b="1" dirty="0">
                  <a:latin typeface="Times New Roman" panose="02020603050405020304" pitchFamily="18" charset="0"/>
                  <a:ea typeface="宋体" panose="02010600030101010101" pitchFamily="2" charset="-122"/>
                </a:rPr>
                <a:t>a</a:t>
              </a:r>
            </a:p>
          </p:txBody>
        </p:sp>
        <p:sp>
          <p:nvSpPr>
            <p:cNvPr id="14346" name="Text Box 11"/>
            <p:cNvSpPr txBox="1"/>
            <p:nvPr/>
          </p:nvSpPr>
          <p:spPr>
            <a:xfrm>
              <a:off x="1968" y="1497"/>
              <a:ext cx="241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91435" tIns="45718" rIns="91435" bIns="45718" anchor="t" anchorCtr="0">
              <a:spAutoFit/>
            </a:bodyPr>
            <a:lstStyle/>
            <a:p>
              <a:r>
                <a:rPr lang="en-US" altLang="zh-CN" sz="2800" b="1" dirty="0">
                  <a:latin typeface="Times New Roman" panose="02020603050405020304" pitchFamily="18" charset="0"/>
                  <a:ea typeface="宋体" panose="02010600030101010101" pitchFamily="2" charset="-122"/>
                </a:rPr>
                <a:t>b</a:t>
              </a:r>
            </a:p>
          </p:txBody>
        </p:sp>
        <p:sp>
          <p:nvSpPr>
            <p:cNvPr id="14347" name="Text Box 12"/>
            <p:cNvSpPr txBox="1"/>
            <p:nvPr/>
          </p:nvSpPr>
          <p:spPr>
            <a:xfrm>
              <a:off x="1404" y="1574"/>
              <a:ext cx="265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91435" tIns="45718" rIns="91435" bIns="45718" anchor="t" anchorCtr="0">
              <a:spAutoFit/>
            </a:bodyPr>
            <a:lstStyle/>
            <a:p>
              <a:r>
                <a:rPr lang="en-US" altLang="zh-CN" sz="2800" b="1" i="1" dirty="0">
                  <a:latin typeface="Times New Roman" panose="02020603050405020304" pitchFamily="18" charset="0"/>
                  <a:ea typeface="宋体" panose="02010600030101010101" pitchFamily="2" charset="-122"/>
                </a:rPr>
                <a:t>R</a:t>
              </a:r>
              <a:endParaRPr lang="en-US" altLang="zh-CN" sz="2800" b="1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4348" name="Line 13"/>
            <p:cNvSpPr/>
            <p:nvPr/>
          </p:nvSpPr>
          <p:spPr>
            <a:xfrm>
              <a:off x="1030" y="1532"/>
              <a:ext cx="397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4349" name="Rectangle 14"/>
            <p:cNvSpPr/>
            <p:nvPr/>
          </p:nvSpPr>
          <p:spPr>
            <a:xfrm>
              <a:off x="1426" y="1472"/>
              <a:ext cx="264" cy="132"/>
            </a:xfrm>
            <a:prstGeom prst="rect">
              <a:avLst/>
            </a:prstGeom>
            <a:noFill/>
            <a:ln w="381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/>
            <a:p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4350" name="Line 15"/>
            <p:cNvSpPr/>
            <p:nvPr/>
          </p:nvSpPr>
          <p:spPr>
            <a:xfrm>
              <a:off x="1332" y="1392"/>
              <a:ext cx="492" cy="0"/>
            </a:xfrm>
            <a:prstGeom prst="line">
              <a:avLst/>
            </a:prstGeom>
            <a:ln w="38100" cap="flat" cmpd="sng">
              <a:solidFill>
                <a:srgbClr val="FF3300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14351" name="Text Box 16"/>
            <p:cNvSpPr txBox="1"/>
            <p:nvPr/>
          </p:nvSpPr>
          <p:spPr>
            <a:xfrm>
              <a:off x="1152" y="1209"/>
              <a:ext cx="288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91435" tIns="45718" rIns="91435" bIns="45718" anchor="t" anchorCtr="0">
              <a:spAutoFit/>
            </a:bodyPr>
            <a:lstStyle/>
            <a:p>
              <a:r>
                <a:rPr lang="en-US" altLang="zh-CN" sz="2800" b="1" i="1" dirty="0">
                  <a:solidFill>
                    <a:srgbClr val="FF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I</a:t>
              </a:r>
              <a:endParaRPr lang="en-US" altLang="zh-CN" sz="2800" b="1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4352" name="Line 17"/>
            <p:cNvSpPr/>
            <p:nvPr/>
          </p:nvSpPr>
          <p:spPr>
            <a:xfrm>
              <a:off x="1680" y="1536"/>
              <a:ext cx="384" cy="0"/>
            </a:xfrm>
            <a:prstGeom prst="line">
              <a:avLst/>
            </a:prstGeom>
            <a:ln w="3810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4353" name="Oval 18"/>
            <p:cNvSpPr/>
            <p:nvPr/>
          </p:nvSpPr>
          <p:spPr>
            <a:xfrm>
              <a:off x="984" y="1510"/>
              <a:ext cx="54" cy="54"/>
            </a:xfrm>
            <a:prstGeom prst="ellipse">
              <a:avLst/>
            </a:prstGeom>
            <a:noFill/>
            <a:ln w="3810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lstStyle/>
            <a:p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4354" name="Oval 19"/>
            <p:cNvSpPr/>
            <p:nvPr/>
          </p:nvSpPr>
          <p:spPr>
            <a:xfrm>
              <a:off x="2064" y="1506"/>
              <a:ext cx="54" cy="54"/>
            </a:xfrm>
            <a:prstGeom prst="ellipse">
              <a:avLst/>
            </a:prstGeom>
            <a:noFill/>
            <a:ln w="3810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lstStyle/>
            <a:p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sp>
        <p:nvSpPr>
          <p:cNvPr id="12308" name="Line 20"/>
          <p:cNvSpPr/>
          <p:nvPr/>
        </p:nvSpPr>
        <p:spPr>
          <a:xfrm flipH="1">
            <a:off x="1584325" y="3254375"/>
            <a:ext cx="781050" cy="0"/>
          </a:xfrm>
          <a:prstGeom prst="line">
            <a:avLst/>
          </a:prstGeom>
          <a:ln w="38100" cap="flat" cmpd="sng">
            <a:solidFill>
              <a:srgbClr val="CC0000"/>
            </a:solidFill>
            <a:prstDash val="dash"/>
            <a:round/>
            <a:headEnd type="none" w="med" len="med"/>
            <a:tailEnd type="triangle" w="med" len="med"/>
          </a:ln>
        </p:spPr>
      </p:sp>
      <p:grpSp>
        <p:nvGrpSpPr>
          <p:cNvPr id="12309" name="Group 21"/>
          <p:cNvGrpSpPr/>
          <p:nvPr/>
        </p:nvGrpSpPr>
        <p:grpSpPr>
          <a:xfrm>
            <a:off x="1012825" y="3463925"/>
            <a:ext cx="2058988" cy="1174750"/>
            <a:chOff x="864" y="2188"/>
            <a:chExt cx="1297" cy="740"/>
          </a:xfrm>
        </p:grpSpPr>
        <p:sp>
          <p:nvSpPr>
            <p:cNvPr id="14357" name="Text Box 22"/>
            <p:cNvSpPr txBox="1"/>
            <p:nvPr/>
          </p:nvSpPr>
          <p:spPr>
            <a:xfrm>
              <a:off x="864" y="2524"/>
              <a:ext cx="228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91435" tIns="45718" rIns="91435" bIns="45718" anchor="t" anchorCtr="0">
              <a:spAutoFit/>
            </a:bodyPr>
            <a:lstStyle/>
            <a:p>
              <a:r>
                <a:rPr lang="en-US" altLang="zh-CN" sz="2800" b="1" dirty="0">
                  <a:latin typeface="Times New Roman" panose="02020603050405020304" pitchFamily="18" charset="0"/>
                  <a:ea typeface="宋体" panose="02010600030101010101" pitchFamily="2" charset="-122"/>
                </a:rPr>
                <a:t>a</a:t>
              </a:r>
            </a:p>
          </p:txBody>
        </p:sp>
        <p:sp>
          <p:nvSpPr>
            <p:cNvPr id="14358" name="Text Box 23"/>
            <p:cNvSpPr txBox="1"/>
            <p:nvPr/>
          </p:nvSpPr>
          <p:spPr>
            <a:xfrm>
              <a:off x="1920" y="2524"/>
              <a:ext cx="241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91435" tIns="45718" rIns="91435" bIns="45718" anchor="t" anchorCtr="0">
              <a:spAutoFit/>
            </a:bodyPr>
            <a:lstStyle/>
            <a:p>
              <a:r>
                <a:rPr lang="en-US" altLang="zh-CN" sz="2800" b="1" dirty="0">
                  <a:latin typeface="Times New Roman" panose="02020603050405020304" pitchFamily="18" charset="0"/>
                  <a:ea typeface="宋体" panose="02010600030101010101" pitchFamily="2" charset="-122"/>
                </a:rPr>
                <a:t>b</a:t>
              </a:r>
            </a:p>
          </p:txBody>
        </p:sp>
        <p:sp>
          <p:nvSpPr>
            <p:cNvPr id="14359" name="Text Box 24"/>
            <p:cNvSpPr txBox="1"/>
            <p:nvPr/>
          </p:nvSpPr>
          <p:spPr>
            <a:xfrm>
              <a:off x="1356" y="2601"/>
              <a:ext cx="265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91435" tIns="45718" rIns="91435" bIns="45718" anchor="t" anchorCtr="0">
              <a:spAutoFit/>
            </a:bodyPr>
            <a:lstStyle/>
            <a:p>
              <a:r>
                <a:rPr lang="en-US" altLang="zh-CN" sz="2800" b="1" i="1" dirty="0">
                  <a:latin typeface="Times New Roman" panose="02020603050405020304" pitchFamily="18" charset="0"/>
                  <a:ea typeface="宋体" panose="02010600030101010101" pitchFamily="2" charset="-122"/>
                </a:rPr>
                <a:t>R</a:t>
              </a:r>
              <a:endParaRPr lang="en-US" altLang="zh-CN" sz="2800" b="1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4360" name="Line 25"/>
            <p:cNvSpPr/>
            <p:nvPr/>
          </p:nvSpPr>
          <p:spPr>
            <a:xfrm>
              <a:off x="982" y="2559"/>
              <a:ext cx="397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4361" name="Rectangle 26"/>
            <p:cNvSpPr/>
            <p:nvPr/>
          </p:nvSpPr>
          <p:spPr>
            <a:xfrm>
              <a:off x="1378" y="2499"/>
              <a:ext cx="264" cy="132"/>
            </a:xfrm>
            <a:prstGeom prst="rect">
              <a:avLst/>
            </a:prstGeom>
            <a:noFill/>
            <a:ln w="381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/>
            <a:p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4362" name="Text Box 27"/>
            <p:cNvSpPr txBox="1"/>
            <p:nvPr/>
          </p:nvSpPr>
          <p:spPr>
            <a:xfrm>
              <a:off x="1392" y="2188"/>
              <a:ext cx="288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91435" tIns="45718" rIns="91435" bIns="45718" anchor="t" anchorCtr="0">
              <a:spAutoFit/>
            </a:bodyPr>
            <a:lstStyle/>
            <a:p>
              <a:r>
                <a:rPr lang="en-US" altLang="zh-CN" sz="2800" b="1" i="1" dirty="0">
                  <a:solidFill>
                    <a:srgbClr val="FF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U</a:t>
              </a:r>
              <a:endParaRPr lang="en-US" altLang="zh-CN" sz="2800" b="1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4363" name="Line 28"/>
            <p:cNvSpPr/>
            <p:nvPr/>
          </p:nvSpPr>
          <p:spPr>
            <a:xfrm>
              <a:off x="1632" y="2563"/>
              <a:ext cx="384" cy="0"/>
            </a:xfrm>
            <a:prstGeom prst="line">
              <a:avLst/>
            </a:prstGeom>
            <a:ln w="3810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4364" name="Oval 29"/>
            <p:cNvSpPr/>
            <p:nvPr/>
          </p:nvSpPr>
          <p:spPr>
            <a:xfrm>
              <a:off x="936" y="2537"/>
              <a:ext cx="54" cy="54"/>
            </a:xfrm>
            <a:prstGeom prst="ellipse">
              <a:avLst/>
            </a:prstGeom>
            <a:noFill/>
            <a:ln w="3810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lstStyle/>
            <a:p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4365" name="Oval 30"/>
            <p:cNvSpPr/>
            <p:nvPr/>
          </p:nvSpPr>
          <p:spPr>
            <a:xfrm>
              <a:off x="2016" y="2533"/>
              <a:ext cx="54" cy="54"/>
            </a:xfrm>
            <a:prstGeom prst="ellipse">
              <a:avLst/>
            </a:prstGeom>
            <a:noFill/>
            <a:ln w="3810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lstStyle/>
            <a:p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4366" name="Text Box 31"/>
            <p:cNvSpPr txBox="1"/>
            <p:nvPr/>
          </p:nvSpPr>
          <p:spPr>
            <a:xfrm>
              <a:off x="1104" y="2197"/>
              <a:ext cx="244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91435" tIns="45718" rIns="91435" bIns="45718" anchor="t" anchorCtr="0">
              <a:spAutoFit/>
            </a:bodyPr>
            <a:lstStyle/>
            <a:p>
              <a:r>
                <a:rPr lang="en-US" altLang="zh-CN" sz="2800" b="1" i="1" dirty="0">
                  <a:solidFill>
                    <a:srgbClr val="FF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+</a:t>
              </a:r>
            </a:p>
          </p:txBody>
        </p:sp>
        <p:sp>
          <p:nvSpPr>
            <p:cNvPr id="14367" name="Text Box 32"/>
            <p:cNvSpPr txBox="1"/>
            <p:nvPr/>
          </p:nvSpPr>
          <p:spPr>
            <a:xfrm>
              <a:off x="1728" y="2188"/>
              <a:ext cx="228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91435" tIns="45718" rIns="91435" bIns="45718" anchor="t" anchorCtr="0">
              <a:spAutoFit/>
            </a:bodyPr>
            <a:lstStyle/>
            <a:p>
              <a:r>
                <a:rPr lang="en-US" altLang="zh-CN" sz="2800" b="1" i="1" dirty="0">
                  <a:solidFill>
                    <a:srgbClr val="FF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–</a:t>
              </a:r>
            </a:p>
          </p:txBody>
        </p:sp>
      </p:grpSp>
      <p:sp>
        <p:nvSpPr>
          <p:cNvPr id="12321" name="Rectangle 33"/>
          <p:cNvSpPr/>
          <p:nvPr/>
        </p:nvSpPr>
        <p:spPr>
          <a:xfrm>
            <a:off x="3087688" y="3487738"/>
            <a:ext cx="5848350" cy="563562"/>
          </a:xfrm>
          <a:prstGeom prst="rect">
            <a:avLst/>
          </a:prstGeom>
          <a:noFill/>
          <a:ln w="9525">
            <a:noFill/>
          </a:ln>
        </p:spPr>
        <p:txBody>
          <a:bodyPr wrap="square" lIns="91435" tIns="45718" rIns="91435" bIns="45718" anchor="t" anchorCtr="0">
            <a:spAutoFit/>
          </a:bodyPr>
          <a:lstStyle/>
          <a:p>
            <a:pPr>
              <a:lnSpc>
                <a:spcPct val="110000"/>
              </a:lnSpc>
            </a:pPr>
            <a:r>
              <a:rPr lang="zh-CN" altLang="en-US" sz="2800" b="1" dirty="0">
                <a:latin typeface="Times New Roman" panose="02020603050405020304" pitchFamily="18" charset="0"/>
                <a:ea typeface="宋体" panose="02010600030101010101" pitchFamily="2" charset="-122"/>
              </a:rPr>
              <a:t>若 </a:t>
            </a:r>
            <a:r>
              <a:rPr lang="en-US" altLang="zh-CN" sz="2800" b="1" i="1" dirty="0">
                <a:solidFill>
                  <a:srgbClr val="CC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U</a:t>
            </a:r>
            <a:r>
              <a:rPr lang="en-US" altLang="zh-CN" sz="2800" b="1" dirty="0">
                <a:solidFill>
                  <a:srgbClr val="CC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= 5V</a:t>
            </a:r>
            <a:r>
              <a:rPr lang="zh-CN" altLang="en-US" sz="2800" b="1" dirty="0">
                <a:latin typeface="Times New Roman" panose="02020603050405020304" pitchFamily="18" charset="0"/>
                <a:ea typeface="宋体" panose="02010600030101010101" pitchFamily="2" charset="-122"/>
              </a:rPr>
              <a:t>，</a:t>
            </a:r>
            <a:r>
              <a:rPr lang="zh-CN" altLang="en-US" b="1" dirty="0">
                <a:latin typeface="Times New Roman" panose="02020603050405020304" pitchFamily="18" charset="0"/>
                <a:ea typeface="宋体" panose="02010600030101010101" pitchFamily="2" charset="-122"/>
              </a:rPr>
              <a:t>则电压实际方向从 a 指向 b；</a:t>
            </a:r>
            <a:endParaRPr lang="zh-CN" altLang="en-US" sz="2800" b="1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2322" name="Rectangle 34"/>
          <p:cNvSpPr/>
          <p:nvPr/>
        </p:nvSpPr>
        <p:spPr>
          <a:xfrm>
            <a:off x="3087688" y="4051300"/>
            <a:ext cx="5991225" cy="565150"/>
          </a:xfrm>
          <a:prstGeom prst="rect">
            <a:avLst/>
          </a:prstGeom>
          <a:noFill/>
          <a:ln w="9525">
            <a:noFill/>
          </a:ln>
        </p:spPr>
        <p:txBody>
          <a:bodyPr wrap="square" lIns="91435" tIns="45718" rIns="91435" bIns="45718" anchor="t" anchorCtr="0">
            <a:spAutoFit/>
          </a:bodyPr>
          <a:lstStyle/>
          <a:p>
            <a:pPr>
              <a:lnSpc>
                <a:spcPct val="110000"/>
              </a:lnSpc>
            </a:pPr>
            <a:r>
              <a:rPr lang="zh-CN" altLang="en-US" sz="2800" b="1" dirty="0">
                <a:latin typeface="Times New Roman" panose="02020603050405020304" pitchFamily="18" charset="0"/>
                <a:ea typeface="宋体" panose="02010600030101010101" pitchFamily="2" charset="-122"/>
              </a:rPr>
              <a:t>若 </a:t>
            </a:r>
            <a:r>
              <a:rPr lang="en-US" altLang="zh-CN" sz="2800" b="1" i="1" dirty="0">
                <a:solidFill>
                  <a:srgbClr val="CC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U</a:t>
            </a:r>
            <a:r>
              <a:rPr lang="en-US" altLang="zh-CN" sz="2800" b="1" dirty="0">
                <a:solidFill>
                  <a:srgbClr val="CC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= –5V</a:t>
            </a:r>
            <a:r>
              <a:rPr lang="zh-CN" altLang="en-US" sz="2800" b="1" dirty="0">
                <a:latin typeface="Times New Roman" panose="02020603050405020304" pitchFamily="18" charset="0"/>
                <a:ea typeface="宋体" panose="02010600030101010101" pitchFamily="2" charset="-122"/>
              </a:rPr>
              <a:t>，</a:t>
            </a:r>
            <a:r>
              <a:rPr lang="zh-CN" altLang="en-US" b="1" dirty="0">
                <a:latin typeface="Times New Roman" panose="02020603050405020304" pitchFamily="18" charset="0"/>
                <a:ea typeface="宋体" panose="02010600030101010101" pitchFamily="2" charset="-122"/>
              </a:rPr>
              <a:t>则电压实际方向从 b 指向 a 。</a:t>
            </a:r>
            <a:endParaRPr lang="zh-CN" altLang="en-US" sz="2800" b="1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pic>
        <p:nvPicPr>
          <p:cNvPr id="14370" name="图片 1" descr="1章动图-01-参考方向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5940425" y="5230813"/>
            <a:ext cx="2389188" cy="1627187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22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229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229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22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500"/>
                            </p:stCondLst>
                            <p:childTnLst>
                              <p:par>
                                <p:cTn id="2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122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122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122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122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6" dur="500"/>
                                        <p:tgtEl>
                                          <p:spTgt spid="123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123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123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123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500"/>
                                        <p:tgtEl>
                                          <p:spTgt spid="122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290" grpId="0" build="p"/>
      <p:bldP spid="12291" grpId="0"/>
      <p:bldP spid="12292" grpId="0"/>
      <p:bldP spid="12293" grpId="0"/>
      <p:bldP spid="12294" grpId="0"/>
      <p:bldP spid="12296" grpId="0"/>
      <p:bldP spid="12321" grpId="0"/>
      <p:bldP spid="12322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361" name="Picture 2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683260" y="1484630"/>
            <a:ext cx="7914640" cy="471741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" name="Rectangle 3"/>
          <p:cNvSpPr>
            <a:spLocks noChangeArrowheads="1"/>
          </p:cNvSpPr>
          <p:nvPr/>
        </p:nvSpPr>
        <p:spPr bwMode="auto">
          <a:xfrm>
            <a:off x="533400" y="323850"/>
            <a:ext cx="6627813" cy="742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accent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81320" dir="2319588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1435" tIns="45718" rIns="91435" bIns="45718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52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(3)</a:t>
            </a: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52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 </a:t>
            </a: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52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实际方向与</a:t>
            </a: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52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参考方向的关系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ChangeArrowheads="1"/>
          </p:cNvSpPr>
          <p:nvPr/>
        </p:nvSpPr>
        <p:spPr bwMode="auto">
          <a:xfrm>
            <a:off x="1905000" y="304800"/>
            <a:ext cx="5029200" cy="685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lIns="91435" tIns="45718" rIns="91435" bIns="45718" anchor="ctr"/>
          <a:lstStyle>
            <a:lvl1pPr algn="ctr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algn="ctr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algn="ctr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algn="ctr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algn="ctr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457200" algn="ctr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914400" algn="ctr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1371600" algn="ctr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1828800" algn="ctr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3600" b="1" i="0" u="none" strike="noStrike" kern="1200" cap="none" spc="0" normalizeH="0" baseline="0" noProof="0">
                <a:ln>
                  <a:noFill/>
                </a:ln>
                <a:solidFill>
                  <a:srgbClr val="CC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华文新魏" panose="02010800040101010101" pitchFamily="2" charset="-122"/>
                <a:cs typeface="+mn-cs"/>
              </a:rPr>
              <a:t>1.4</a:t>
            </a:r>
            <a:r>
              <a:rPr kumimoji="1" lang="en-US" altLang="zh-CN" sz="3600" b="1" i="0" u="none" strike="noStrike" kern="1200" cap="none" spc="0" normalizeH="0" baseline="0" noProof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rPr>
              <a:t>  </a:t>
            </a:r>
            <a:r>
              <a:rPr kumimoji="1" lang="zh-CN" altLang="en-US" sz="3600" b="1" i="0" u="none" strike="noStrike" kern="1200" cap="none" spc="0" normalizeH="0" baseline="0" noProof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rPr>
              <a:t>欧姆定律</a:t>
            </a:r>
            <a:endParaRPr kumimoji="1" lang="zh-CN" altLang="en-US" sz="3600" b="0" i="0" u="none" strike="noStrike" kern="1200" cap="none" spc="0" normalizeH="0" baseline="0" noProof="0">
              <a:ln>
                <a:noFill/>
              </a:ln>
              <a:solidFill>
                <a:srgbClr val="CC0000"/>
              </a:solidFill>
              <a:effectLst/>
              <a:uLnTx/>
              <a:uFillTx/>
              <a:latin typeface="华文新魏" panose="02010800040101010101" pitchFamily="2" charset="-122"/>
              <a:ea typeface="华文新魏" panose="02010800040101010101" pitchFamily="2" charset="-122"/>
              <a:cs typeface="+mn-cs"/>
            </a:endParaRPr>
          </a:p>
        </p:txBody>
      </p:sp>
      <p:sp>
        <p:nvSpPr>
          <p:cNvPr id="13315" name="Rectangle 3"/>
          <p:cNvSpPr/>
          <p:nvPr/>
        </p:nvSpPr>
        <p:spPr>
          <a:xfrm>
            <a:off x="715963" y="1858963"/>
            <a:ext cx="4267200" cy="685800"/>
          </a:xfrm>
          <a:prstGeom prst="rect">
            <a:avLst/>
          </a:prstGeom>
          <a:noFill/>
          <a:ln w="9525">
            <a:noFill/>
          </a:ln>
        </p:spPr>
        <p:txBody>
          <a:bodyPr wrap="none" lIns="91435" tIns="45718" rIns="91435" bIns="45718" anchor="ctr" anchorCtr="0"/>
          <a:lstStyle/>
          <a:p>
            <a:pPr>
              <a:lnSpc>
                <a:spcPct val="110000"/>
              </a:lnSpc>
              <a:spcBef>
                <a:spcPct val="10000"/>
              </a:spcBef>
            </a:pPr>
            <a:r>
              <a:rPr lang="en-US" altLang="zh-CN" sz="2800" b="1" i="1" dirty="0">
                <a:latin typeface="Times New Roman" panose="02020603050405020304" pitchFamily="18" charset="0"/>
                <a:ea typeface="宋体" panose="02010600030101010101" pitchFamily="2" charset="-122"/>
              </a:rPr>
              <a:t>U</a:t>
            </a:r>
            <a:r>
              <a:rPr lang="zh-CN" altLang="en-US" sz="2800" b="1" dirty="0">
                <a:latin typeface="Times New Roman" panose="02020603050405020304" pitchFamily="18" charset="0"/>
                <a:ea typeface="宋体" panose="02010600030101010101" pitchFamily="2" charset="-122"/>
              </a:rPr>
              <a:t>、</a:t>
            </a:r>
            <a:r>
              <a:rPr lang="en-US" altLang="zh-CN" sz="2800" b="1" i="1" dirty="0">
                <a:latin typeface="Times New Roman" panose="02020603050405020304" pitchFamily="18" charset="0"/>
                <a:ea typeface="宋体" panose="02010600030101010101" pitchFamily="2" charset="-122"/>
              </a:rPr>
              <a:t>I </a:t>
            </a:r>
            <a:r>
              <a:rPr lang="zh-CN" altLang="en-US" sz="2800" b="1" dirty="0">
                <a:solidFill>
                  <a:srgbClr val="00B05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参考方向相同</a:t>
            </a:r>
            <a:r>
              <a:rPr lang="zh-CN" altLang="en-US" sz="2800" b="1" dirty="0">
                <a:latin typeface="Times New Roman" panose="02020603050405020304" pitchFamily="18" charset="0"/>
                <a:ea typeface="宋体" panose="02010600030101010101" pitchFamily="2" charset="-122"/>
              </a:rPr>
              <a:t>时，</a:t>
            </a:r>
            <a:endParaRPr lang="zh-CN" altLang="en-US" sz="2800" b="1" i="1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3316" name="Rectangle 4"/>
          <p:cNvSpPr>
            <a:spLocks noChangeArrowheads="1"/>
          </p:cNvSpPr>
          <p:nvPr/>
        </p:nvSpPr>
        <p:spPr bwMode="auto">
          <a:xfrm>
            <a:off x="4678363" y="1935163"/>
            <a:ext cx="3962400" cy="5619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6699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1435" tIns="45718" rIns="91435" bIns="45718" anchor="ctr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10000"/>
              </a:lnSpc>
              <a:spcBef>
                <a:spcPct val="1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2800" b="1" i="1" u="none" strike="noStrike" kern="1200" cap="none" spc="0" normalizeH="0" baseline="0" noProof="0">
                <a:ln>
                  <a:noFill/>
                </a:ln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U</a:t>
            </a:r>
            <a:r>
              <a: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、</a:t>
            </a:r>
            <a:r>
              <a:rPr kumimoji="1" lang="en-US" altLang="zh-CN" sz="2800" b="1" i="1" u="none" strike="noStrike" kern="1200" cap="none" spc="0" normalizeH="0" baseline="0" noProof="0">
                <a:ln>
                  <a:noFill/>
                </a:ln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I </a:t>
            </a:r>
            <a:r>
              <a: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参考方向相反时，</a:t>
            </a:r>
            <a:endParaRPr kumimoji="1" lang="zh-CN" altLang="en-US" sz="2800" b="1" i="1" u="none" strike="noStrike" kern="1200" cap="none" spc="0" normalizeH="0" baseline="0" noProof="0">
              <a:ln>
                <a:noFill/>
              </a:ln>
              <a:solidFill>
                <a:srgbClr val="000099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16388" name="Group 5"/>
          <p:cNvGrpSpPr/>
          <p:nvPr/>
        </p:nvGrpSpPr>
        <p:grpSpPr>
          <a:xfrm>
            <a:off x="487363" y="984250"/>
            <a:ext cx="8275637" cy="171450"/>
            <a:chOff x="395" y="624"/>
            <a:chExt cx="5213" cy="108"/>
          </a:xfrm>
        </p:grpSpPr>
        <p:pic>
          <p:nvPicPr>
            <p:cNvPr id="16389" name="Picture 6" descr="Green and Black Diamond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447" y="624"/>
              <a:ext cx="120" cy="108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16390" name="Picture 7" descr="Green and Black Diamond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560" y="624"/>
              <a:ext cx="119" cy="108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16391" name="Picture 8" descr="Green and Black Diamond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666" y="624"/>
              <a:ext cx="119" cy="108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16392" name="Picture 9" descr="Green and Black Diamond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765" y="624"/>
              <a:ext cx="119" cy="108"/>
            </a:xfrm>
            <a:prstGeom prst="rect">
              <a:avLst/>
            </a:prstGeom>
            <a:noFill/>
            <a:ln w="9525">
              <a:noFill/>
            </a:ln>
          </p:spPr>
        </p:pic>
        <p:grpSp>
          <p:nvGrpSpPr>
            <p:cNvPr id="16393" name="Group 10"/>
            <p:cNvGrpSpPr/>
            <p:nvPr/>
          </p:nvGrpSpPr>
          <p:grpSpPr>
            <a:xfrm>
              <a:off x="395" y="624"/>
              <a:ext cx="331" cy="108"/>
              <a:chOff x="395" y="624"/>
              <a:chExt cx="331" cy="108"/>
            </a:xfrm>
          </p:grpSpPr>
          <p:pic>
            <p:nvPicPr>
              <p:cNvPr id="16394" name="Picture 11" descr="Green and Black Diamond"/>
              <p:cNvPicPr>
                <a:picLocks noChangeAspect="1"/>
              </p:cNvPicPr>
              <p:nvPr/>
            </p:nvPicPr>
            <p:blipFill>
              <a:blip r:embed="rId2" cstate="print"/>
              <a:stretch>
                <a:fillRect/>
              </a:stretch>
            </p:blipFill>
            <p:spPr>
              <a:xfrm>
                <a:off x="395" y="624"/>
                <a:ext cx="119" cy="108"/>
              </a:xfrm>
              <a:prstGeom prst="rect">
                <a:avLst/>
              </a:prstGeom>
              <a:noFill/>
              <a:ln w="9525">
                <a:noFill/>
              </a:ln>
            </p:spPr>
          </p:pic>
          <p:pic>
            <p:nvPicPr>
              <p:cNvPr id="16395" name="Picture 12" descr="Green and Black Diamond"/>
              <p:cNvPicPr>
                <a:picLocks noChangeAspect="1"/>
              </p:cNvPicPr>
              <p:nvPr/>
            </p:nvPicPr>
            <p:blipFill>
              <a:blip r:embed="rId2" cstate="print"/>
              <a:stretch>
                <a:fillRect/>
              </a:stretch>
            </p:blipFill>
            <p:spPr>
              <a:xfrm>
                <a:off x="494" y="624"/>
                <a:ext cx="119" cy="108"/>
              </a:xfrm>
              <a:prstGeom prst="rect">
                <a:avLst/>
              </a:prstGeom>
              <a:noFill/>
              <a:ln w="9525">
                <a:noFill/>
              </a:ln>
            </p:spPr>
          </p:pic>
          <p:pic>
            <p:nvPicPr>
              <p:cNvPr id="16396" name="Picture 13" descr="Green and Black Diamond"/>
              <p:cNvPicPr>
                <a:picLocks noChangeAspect="1"/>
              </p:cNvPicPr>
              <p:nvPr/>
            </p:nvPicPr>
            <p:blipFill>
              <a:blip r:embed="rId2" cstate="print"/>
              <a:stretch>
                <a:fillRect/>
              </a:stretch>
            </p:blipFill>
            <p:spPr>
              <a:xfrm>
                <a:off x="607" y="624"/>
                <a:ext cx="119" cy="108"/>
              </a:xfrm>
              <a:prstGeom prst="rect">
                <a:avLst/>
              </a:prstGeom>
              <a:noFill/>
              <a:ln w="9525">
                <a:noFill/>
              </a:ln>
            </p:spPr>
          </p:pic>
        </p:grpSp>
        <p:pic>
          <p:nvPicPr>
            <p:cNvPr id="16397" name="Picture 14" descr="Green and Black Diamond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12" y="624"/>
              <a:ext cx="119" cy="108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16398" name="Picture 15" descr="Green and Black Diamond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24" y="624"/>
              <a:ext cx="119" cy="108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16399" name="Picture 16" descr="Green and Black Diamond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030" y="624"/>
              <a:ext cx="119" cy="108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16400" name="Picture 17" descr="Green and Black Diamond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129" y="624"/>
              <a:ext cx="120" cy="108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16401" name="Picture 18" descr="Green and Black Diamond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242" y="624"/>
              <a:ext cx="119" cy="108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16402" name="Picture 19" descr="Green and Black Diamond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13" y="624"/>
              <a:ext cx="119" cy="108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16403" name="Picture 20" descr="Green and Black Diamond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348" y="624"/>
              <a:ext cx="119" cy="108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16404" name="Picture 21" descr="Green and Black Diamond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878" y="624"/>
              <a:ext cx="112" cy="102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16405" name="Picture 22" descr="Green and Black Diamond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984" y="624"/>
              <a:ext cx="112" cy="102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16406" name="Picture 23" descr="Green and Black Diamond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083" y="624"/>
              <a:ext cx="112" cy="102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16407" name="Picture 24" descr="Green and Black Diamond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195" y="624"/>
              <a:ext cx="113" cy="102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16408" name="Picture 25" descr="Green and Black Diamond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301" y="624"/>
              <a:ext cx="113" cy="102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16409" name="Picture 26" descr="Green and Black Diamond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401" y="624"/>
              <a:ext cx="112" cy="102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16410" name="Picture 27" descr="Green and Black Diamond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513" y="624"/>
              <a:ext cx="113" cy="102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16411" name="Picture 28" descr="Green and Black Diamond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718" y="624"/>
              <a:ext cx="113" cy="102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16412" name="Picture 29" descr="Green and Black Diamond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831" y="624"/>
              <a:ext cx="112" cy="102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16413" name="Picture 30" descr="Green and Black Diamond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937" y="624"/>
              <a:ext cx="112" cy="102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16414" name="Picture 31" descr="Green and Black Diamond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036" y="624"/>
              <a:ext cx="113" cy="102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16415" name="Picture 32" descr="Green and Black Diamond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149" y="624"/>
              <a:ext cx="112" cy="102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16416" name="Picture 33" descr="Green and Black Diamond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354" y="624"/>
              <a:ext cx="112" cy="102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16417" name="Picture 34" descr="Green and Black Diamond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466" y="624"/>
              <a:ext cx="113" cy="102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16418" name="Picture 35" descr="Green and Black Diamond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572" y="624"/>
              <a:ext cx="113" cy="102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16419" name="Picture 36" descr="Green and Black Diamond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672" y="624"/>
              <a:ext cx="112" cy="102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16420" name="Picture 37" descr="Green and Black Diamond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619" y="624"/>
              <a:ext cx="113" cy="102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16421" name="Picture 38" descr="Green and Black Diamond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255" y="624"/>
              <a:ext cx="112" cy="102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16422" name="Picture 39" descr="Green and Black Diamond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784" y="624"/>
              <a:ext cx="113" cy="102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16423" name="Picture 40" descr="Green and Black Diamond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890" y="624"/>
              <a:ext cx="112" cy="102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16424" name="Picture 41" descr="Green and Black Diamond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989" y="624"/>
              <a:ext cx="113" cy="102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16425" name="Picture 42" descr="Green and Black Diamond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102" y="624"/>
              <a:ext cx="112" cy="102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16426" name="Picture 43" descr="Green and Black Diamond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208" y="624"/>
              <a:ext cx="112" cy="102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16427" name="Picture 44" descr="Green and Black Diamond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307" y="624"/>
              <a:ext cx="112" cy="102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16428" name="Picture 45" descr="Green and Black Diamond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419" y="624"/>
              <a:ext cx="113" cy="102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16429" name="Picture 46" descr="Green and Black Diamond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625" y="624"/>
              <a:ext cx="112" cy="102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16430" name="Picture 47" descr="Green and Black Diamond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737" y="624"/>
              <a:ext cx="113" cy="102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16431" name="Picture 48" descr="Green and Black Diamond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843" y="624"/>
              <a:ext cx="113" cy="102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16432" name="Picture 49" descr="Green and Black Diamond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942" y="624"/>
              <a:ext cx="113" cy="102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16433" name="Picture 50" descr="Green and Black Diamond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055" y="624"/>
              <a:ext cx="112" cy="102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16434" name="Picture 51" descr="Green and Black Diamond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525" y="624"/>
              <a:ext cx="113" cy="102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16435" name="Picture 52" descr="Green and Black Diamond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161" y="624"/>
              <a:ext cx="119" cy="108"/>
            </a:xfrm>
            <a:prstGeom prst="rect">
              <a:avLst/>
            </a:prstGeom>
            <a:noFill/>
            <a:ln w="9525">
              <a:noFill/>
            </a:ln>
          </p:spPr>
        </p:pic>
        <p:grpSp>
          <p:nvGrpSpPr>
            <p:cNvPr id="16436" name="Group 53"/>
            <p:cNvGrpSpPr/>
            <p:nvPr/>
          </p:nvGrpSpPr>
          <p:grpSpPr>
            <a:xfrm>
              <a:off x="5277" y="624"/>
              <a:ext cx="331" cy="108"/>
              <a:chOff x="395" y="624"/>
              <a:chExt cx="331" cy="108"/>
            </a:xfrm>
          </p:grpSpPr>
          <p:pic>
            <p:nvPicPr>
              <p:cNvPr id="16437" name="Picture 54" descr="Green and Black Diamond"/>
              <p:cNvPicPr>
                <a:picLocks noChangeAspect="1"/>
              </p:cNvPicPr>
              <p:nvPr/>
            </p:nvPicPr>
            <p:blipFill>
              <a:blip r:embed="rId2" cstate="print"/>
              <a:stretch>
                <a:fillRect/>
              </a:stretch>
            </p:blipFill>
            <p:spPr>
              <a:xfrm>
                <a:off x="395" y="624"/>
                <a:ext cx="119" cy="108"/>
              </a:xfrm>
              <a:prstGeom prst="rect">
                <a:avLst/>
              </a:prstGeom>
              <a:noFill/>
              <a:ln w="9525">
                <a:noFill/>
              </a:ln>
            </p:spPr>
          </p:pic>
          <p:pic>
            <p:nvPicPr>
              <p:cNvPr id="16438" name="Picture 55" descr="Green and Black Diamond"/>
              <p:cNvPicPr>
                <a:picLocks noChangeAspect="1"/>
              </p:cNvPicPr>
              <p:nvPr/>
            </p:nvPicPr>
            <p:blipFill>
              <a:blip r:embed="rId2" cstate="print"/>
              <a:stretch>
                <a:fillRect/>
              </a:stretch>
            </p:blipFill>
            <p:spPr>
              <a:xfrm>
                <a:off x="494" y="624"/>
                <a:ext cx="119" cy="108"/>
              </a:xfrm>
              <a:prstGeom prst="rect">
                <a:avLst/>
              </a:prstGeom>
              <a:noFill/>
              <a:ln w="9525">
                <a:noFill/>
              </a:ln>
            </p:spPr>
          </p:pic>
          <p:pic>
            <p:nvPicPr>
              <p:cNvPr id="16439" name="Picture 56" descr="Green and Black Diamond"/>
              <p:cNvPicPr>
                <a:picLocks noChangeAspect="1"/>
              </p:cNvPicPr>
              <p:nvPr/>
            </p:nvPicPr>
            <p:blipFill>
              <a:blip r:embed="rId2" cstate="print"/>
              <a:stretch>
                <a:fillRect/>
              </a:stretch>
            </p:blipFill>
            <p:spPr>
              <a:xfrm>
                <a:off x="607" y="624"/>
                <a:ext cx="119" cy="108"/>
              </a:xfrm>
              <a:prstGeom prst="rect">
                <a:avLst/>
              </a:prstGeom>
              <a:noFill/>
              <a:ln w="9525">
                <a:noFill/>
              </a:ln>
            </p:spPr>
          </p:pic>
        </p:grpSp>
      </p:grpSp>
      <p:grpSp>
        <p:nvGrpSpPr>
          <p:cNvPr id="13369" name="Group 57"/>
          <p:cNvGrpSpPr/>
          <p:nvPr/>
        </p:nvGrpSpPr>
        <p:grpSpPr>
          <a:xfrm>
            <a:off x="792163" y="2468563"/>
            <a:ext cx="1905000" cy="1662112"/>
            <a:chOff x="3456" y="960"/>
            <a:chExt cx="1200" cy="1047"/>
          </a:xfrm>
        </p:grpSpPr>
        <p:sp>
          <p:nvSpPr>
            <p:cNvPr id="16441" name="Text Box 58"/>
            <p:cNvSpPr txBox="1"/>
            <p:nvPr/>
          </p:nvSpPr>
          <p:spPr>
            <a:xfrm>
              <a:off x="4350" y="1344"/>
              <a:ext cx="306" cy="327"/>
            </a:xfrm>
            <a:prstGeom prst="rect">
              <a:avLst/>
            </a:prstGeom>
            <a:noFill/>
            <a:ln w="12700">
              <a:noFill/>
            </a:ln>
          </p:spPr>
          <p:txBody>
            <a:bodyPr lIns="91435" tIns="45718" rIns="91435" bIns="45718" anchor="t" anchorCtr="0">
              <a:spAutoFit/>
            </a:bodyPr>
            <a:lstStyle/>
            <a:p>
              <a:r>
                <a:rPr lang="en-US" altLang="zh-CN" sz="2800" b="1" i="1" dirty="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R</a:t>
              </a:r>
            </a:p>
          </p:txBody>
        </p:sp>
        <p:sp>
          <p:nvSpPr>
            <p:cNvPr id="16442" name="Text Box 59"/>
            <p:cNvSpPr txBox="1"/>
            <p:nvPr/>
          </p:nvSpPr>
          <p:spPr>
            <a:xfrm>
              <a:off x="3456" y="1305"/>
              <a:ext cx="336" cy="327"/>
            </a:xfrm>
            <a:prstGeom prst="rect">
              <a:avLst/>
            </a:prstGeom>
            <a:noFill/>
            <a:ln w="12700">
              <a:noFill/>
            </a:ln>
          </p:spPr>
          <p:txBody>
            <a:bodyPr lIns="91435" tIns="45718" rIns="91435" bIns="45718" anchor="t" anchorCtr="0">
              <a:spAutoFit/>
            </a:bodyPr>
            <a:lstStyle/>
            <a:p>
              <a:r>
                <a:rPr lang="en-US" altLang="zh-CN" sz="2800" b="1" i="1" dirty="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U</a:t>
              </a:r>
            </a:p>
          </p:txBody>
        </p:sp>
        <p:sp>
          <p:nvSpPr>
            <p:cNvPr id="16443" name="Text Box 60"/>
            <p:cNvSpPr txBox="1"/>
            <p:nvPr/>
          </p:nvSpPr>
          <p:spPr>
            <a:xfrm>
              <a:off x="3456" y="960"/>
              <a:ext cx="244" cy="327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lIns="91435" tIns="45718" rIns="91435" bIns="45718" anchor="t" anchorCtr="0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zh-CN" sz="2800" b="1" dirty="0">
                  <a:solidFill>
                    <a:srgbClr val="FF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+</a:t>
              </a:r>
            </a:p>
          </p:txBody>
        </p:sp>
        <p:sp>
          <p:nvSpPr>
            <p:cNvPr id="16444" name="Text Box 61"/>
            <p:cNvSpPr txBox="1"/>
            <p:nvPr/>
          </p:nvSpPr>
          <p:spPr>
            <a:xfrm>
              <a:off x="3456" y="1680"/>
              <a:ext cx="271" cy="327"/>
            </a:xfrm>
            <a:prstGeom prst="rect">
              <a:avLst/>
            </a:prstGeom>
            <a:noFill/>
            <a:ln w="38100">
              <a:noFill/>
            </a:ln>
          </p:spPr>
          <p:txBody>
            <a:bodyPr lIns="91435" tIns="45718" rIns="91435" bIns="45718" anchor="t" anchorCtr="0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zh-CN" sz="2800" b="1" dirty="0">
                  <a:solidFill>
                    <a:srgbClr val="FF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–</a:t>
              </a:r>
            </a:p>
          </p:txBody>
        </p:sp>
        <p:sp>
          <p:nvSpPr>
            <p:cNvPr id="16445" name="Text Box 62"/>
            <p:cNvSpPr txBox="1"/>
            <p:nvPr/>
          </p:nvSpPr>
          <p:spPr>
            <a:xfrm>
              <a:off x="3984" y="1305"/>
              <a:ext cx="288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91435" tIns="45718" rIns="91435" bIns="45718" anchor="t" anchorCtr="0">
              <a:spAutoFit/>
            </a:bodyPr>
            <a:lstStyle/>
            <a:p>
              <a:r>
                <a:rPr lang="en-US" altLang="zh-CN" sz="2800" b="1" i="1" dirty="0">
                  <a:solidFill>
                    <a:srgbClr val="FF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I</a:t>
              </a:r>
              <a:endParaRPr lang="en-US" altLang="zh-CN" sz="28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6446" name="Line 63"/>
            <p:cNvSpPr/>
            <p:nvPr/>
          </p:nvSpPr>
          <p:spPr>
            <a:xfrm rot="5400000">
              <a:off x="4182" y="1235"/>
              <a:ext cx="269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6447" name="Rectangle 64"/>
            <p:cNvSpPr/>
            <p:nvPr/>
          </p:nvSpPr>
          <p:spPr>
            <a:xfrm rot="5400000">
              <a:off x="4182" y="1454"/>
              <a:ext cx="264" cy="91"/>
            </a:xfrm>
            <a:prstGeom prst="rect">
              <a:avLst/>
            </a:prstGeom>
            <a:noFill/>
            <a:ln w="381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/>
            <a:p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6448" name="Line 65"/>
            <p:cNvSpPr/>
            <p:nvPr/>
          </p:nvSpPr>
          <p:spPr>
            <a:xfrm rot="5400000">
              <a:off x="4028" y="1518"/>
              <a:ext cx="348" cy="0"/>
            </a:xfrm>
            <a:prstGeom prst="line">
              <a:avLst/>
            </a:prstGeom>
            <a:ln w="38100" cap="flat" cmpd="sng">
              <a:solidFill>
                <a:srgbClr val="FF3300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16449" name="Line 66"/>
            <p:cNvSpPr/>
            <p:nvPr/>
          </p:nvSpPr>
          <p:spPr>
            <a:xfrm rot="5400000">
              <a:off x="4197" y="1749"/>
              <a:ext cx="246" cy="0"/>
            </a:xfrm>
            <a:prstGeom prst="line">
              <a:avLst/>
            </a:prstGeom>
            <a:ln w="3810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6450" name="Oval 67"/>
            <p:cNvSpPr/>
            <p:nvPr/>
          </p:nvSpPr>
          <p:spPr>
            <a:xfrm rot="5400000">
              <a:off x="3670" y="1074"/>
              <a:ext cx="54" cy="54"/>
            </a:xfrm>
            <a:prstGeom prst="ellipse">
              <a:avLst/>
            </a:prstGeom>
            <a:noFill/>
            <a:ln w="3810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lstStyle/>
            <a:p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6451" name="Oval 68"/>
            <p:cNvSpPr/>
            <p:nvPr/>
          </p:nvSpPr>
          <p:spPr>
            <a:xfrm rot="5400000">
              <a:off x="3672" y="1843"/>
              <a:ext cx="54" cy="54"/>
            </a:xfrm>
            <a:prstGeom prst="ellipse">
              <a:avLst/>
            </a:prstGeom>
            <a:noFill/>
            <a:ln w="3810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lstStyle/>
            <a:p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6452" name="Line 69"/>
            <p:cNvSpPr/>
            <p:nvPr/>
          </p:nvSpPr>
          <p:spPr>
            <a:xfrm flipH="1">
              <a:off x="3717" y="1104"/>
              <a:ext cx="612" cy="0"/>
            </a:xfrm>
            <a:prstGeom prst="line">
              <a:avLst/>
            </a:prstGeom>
            <a:ln w="3810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6453" name="Line 70"/>
            <p:cNvSpPr/>
            <p:nvPr/>
          </p:nvSpPr>
          <p:spPr>
            <a:xfrm flipH="1">
              <a:off x="3717" y="1872"/>
              <a:ext cx="612" cy="0"/>
            </a:xfrm>
            <a:prstGeom prst="line">
              <a:avLst/>
            </a:prstGeom>
            <a:ln w="3810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sp>
      </p:grpSp>
      <p:grpSp>
        <p:nvGrpSpPr>
          <p:cNvPr id="13383" name="Group 71"/>
          <p:cNvGrpSpPr/>
          <p:nvPr/>
        </p:nvGrpSpPr>
        <p:grpSpPr>
          <a:xfrm>
            <a:off x="4754563" y="2544763"/>
            <a:ext cx="1905000" cy="1662112"/>
            <a:chOff x="3840" y="1968"/>
            <a:chExt cx="1200" cy="1047"/>
          </a:xfrm>
        </p:grpSpPr>
        <p:sp>
          <p:nvSpPr>
            <p:cNvPr id="16455" name="Text Box 72"/>
            <p:cNvSpPr txBox="1"/>
            <p:nvPr/>
          </p:nvSpPr>
          <p:spPr>
            <a:xfrm>
              <a:off x="4734" y="2352"/>
              <a:ext cx="306" cy="327"/>
            </a:xfrm>
            <a:prstGeom prst="rect">
              <a:avLst/>
            </a:prstGeom>
            <a:noFill/>
            <a:ln w="12700">
              <a:noFill/>
            </a:ln>
          </p:spPr>
          <p:txBody>
            <a:bodyPr lIns="91435" tIns="45718" rIns="91435" bIns="45718" anchor="t" anchorCtr="0">
              <a:spAutoFit/>
            </a:bodyPr>
            <a:lstStyle/>
            <a:p>
              <a:r>
                <a:rPr lang="en-US" altLang="zh-CN" sz="2800" b="1" i="1" dirty="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R</a:t>
              </a:r>
            </a:p>
          </p:txBody>
        </p:sp>
        <p:sp>
          <p:nvSpPr>
            <p:cNvPr id="16456" name="Text Box 73"/>
            <p:cNvSpPr txBox="1"/>
            <p:nvPr/>
          </p:nvSpPr>
          <p:spPr>
            <a:xfrm>
              <a:off x="3840" y="2313"/>
              <a:ext cx="336" cy="327"/>
            </a:xfrm>
            <a:prstGeom prst="rect">
              <a:avLst/>
            </a:prstGeom>
            <a:noFill/>
            <a:ln w="12700">
              <a:noFill/>
            </a:ln>
          </p:spPr>
          <p:txBody>
            <a:bodyPr lIns="91435" tIns="45718" rIns="91435" bIns="45718" anchor="t" anchorCtr="0">
              <a:spAutoFit/>
            </a:bodyPr>
            <a:lstStyle/>
            <a:p>
              <a:r>
                <a:rPr lang="en-US" altLang="zh-CN" sz="2800" b="1" i="1" dirty="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U</a:t>
              </a:r>
            </a:p>
          </p:txBody>
        </p:sp>
        <p:sp>
          <p:nvSpPr>
            <p:cNvPr id="16457" name="Text Box 74"/>
            <p:cNvSpPr txBox="1"/>
            <p:nvPr/>
          </p:nvSpPr>
          <p:spPr>
            <a:xfrm>
              <a:off x="3840" y="1968"/>
              <a:ext cx="244" cy="327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lIns="91435" tIns="45718" rIns="91435" bIns="45718" anchor="t" anchorCtr="0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zh-CN" sz="2800" b="1" dirty="0">
                  <a:solidFill>
                    <a:srgbClr val="FF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+</a:t>
              </a:r>
            </a:p>
          </p:txBody>
        </p:sp>
        <p:sp>
          <p:nvSpPr>
            <p:cNvPr id="16458" name="Text Box 75"/>
            <p:cNvSpPr txBox="1"/>
            <p:nvPr/>
          </p:nvSpPr>
          <p:spPr>
            <a:xfrm>
              <a:off x="3840" y="2688"/>
              <a:ext cx="271" cy="327"/>
            </a:xfrm>
            <a:prstGeom prst="rect">
              <a:avLst/>
            </a:prstGeom>
            <a:noFill/>
            <a:ln w="38100">
              <a:noFill/>
            </a:ln>
          </p:spPr>
          <p:txBody>
            <a:bodyPr lIns="91435" tIns="45718" rIns="91435" bIns="45718" anchor="t" anchorCtr="0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zh-CN" sz="2800" b="1" dirty="0">
                  <a:solidFill>
                    <a:srgbClr val="FF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–</a:t>
              </a:r>
            </a:p>
          </p:txBody>
        </p:sp>
        <p:sp>
          <p:nvSpPr>
            <p:cNvPr id="16459" name="Text Box 76"/>
            <p:cNvSpPr txBox="1"/>
            <p:nvPr/>
          </p:nvSpPr>
          <p:spPr>
            <a:xfrm>
              <a:off x="4368" y="2409"/>
              <a:ext cx="288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91435" tIns="45718" rIns="91435" bIns="45718" anchor="t" anchorCtr="0">
              <a:spAutoFit/>
            </a:bodyPr>
            <a:lstStyle/>
            <a:p>
              <a:r>
                <a:rPr lang="en-US" altLang="zh-CN" sz="2800" b="1" i="1" dirty="0">
                  <a:solidFill>
                    <a:srgbClr val="FF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I</a:t>
              </a:r>
              <a:endParaRPr lang="en-US" altLang="zh-CN" sz="28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6460" name="Line 77"/>
            <p:cNvSpPr/>
            <p:nvPr/>
          </p:nvSpPr>
          <p:spPr>
            <a:xfrm rot="5400000">
              <a:off x="4566" y="2243"/>
              <a:ext cx="269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6461" name="Rectangle 78"/>
            <p:cNvSpPr/>
            <p:nvPr/>
          </p:nvSpPr>
          <p:spPr>
            <a:xfrm rot="5400000">
              <a:off x="4566" y="2462"/>
              <a:ext cx="264" cy="91"/>
            </a:xfrm>
            <a:prstGeom prst="rect">
              <a:avLst/>
            </a:prstGeom>
            <a:noFill/>
            <a:ln w="381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/>
            <a:p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6462" name="Line 79"/>
            <p:cNvSpPr/>
            <p:nvPr/>
          </p:nvSpPr>
          <p:spPr>
            <a:xfrm rot="-5400000" flipV="1">
              <a:off x="4412" y="2526"/>
              <a:ext cx="348" cy="0"/>
            </a:xfrm>
            <a:prstGeom prst="line">
              <a:avLst/>
            </a:prstGeom>
            <a:ln w="38100" cap="flat" cmpd="sng">
              <a:solidFill>
                <a:srgbClr val="FF3300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16463" name="Line 80"/>
            <p:cNvSpPr/>
            <p:nvPr/>
          </p:nvSpPr>
          <p:spPr>
            <a:xfrm rot="5400000">
              <a:off x="4581" y="2757"/>
              <a:ext cx="246" cy="0"/>
            </a:xfrm>
            <a:prstGeom prst="line">
              <a:avLst/>
            </a:prstGeom>
            <a:ln w="3810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6464" name="Oval 81"/>
            <p:cNvSpPr/>
            <p:nvPr/>
          </p:nvSpPr>
          <p:spPr>
            <a:xfrm rot="5400000">
              <a:off x="4054" y="2082"/>
              <a:ext cx="54" cy="54"/>
            </a:xfrm>
            <a:prstGeom prst="ellipse">
              <a:avLst/>
            </a:prstGeom>
            <a:noFill/>
            <a:ln w="3810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lstStyle/>
            <a:p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6465" name="Oval 82"/>
            <p:cNvSpPr/>
            <p:nvPr/>
          </p:nvSpPr>
          <p:spPr>
            <a:xfrm rot="5400000">
              <a:off x="4056" y="2851"/>
              <a:ext cx="54" cy="54"/>
            </a:xfrm>
            <a:prstGeom prst="ellipse">
              <a:avLst/>
            </a:prstGeom>
            <a:noFill/>
            <a:ln w="3810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lstStyle/>
            <a:p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6466" name="Line 83"/>
            <p:cNvSpPr/>
            <p:nvPr/>
          </p:nvSpPr>
          <p:spPr>
            <a:xfrm flipH="1">
              <a:off x="4101" y="2112"/>
              <a:ext cx="612" cy="0"/>
            </a:xfrm>
            <a:prstGeom prst="line">
              <a:avLst/>
            </a:prstGeom>
            <a:ln w="3810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6467" name="Line 84"/>
            <p:cNvSpPr/>
            <p:nvPr/>
          </p:nvSpPr>
          <p:spPr>
            <a:xfrm flipH="1">
              <a:off x="4101" y="2880"/>
              <a:ext cx="612" cy="0"/>
            </a:xfrm>
            <a:prstGeom prst="line">
              <a:avLst/>
            </a:prstGeom>
            <a:ln w="3810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sp>
      </p:grpSp>
      <p:sp>
        <p:nvSpPr>
          <p:cNvPr id="13397" name="Text Box 85" descr="90%"/>
          <p:cNvSpPr txBox="1"/>
          <p:nvPr/>
        </p:nvSpPr>
        <p:spPr>
          <a:xfrm>
            <a:off x="304800" y="4144963"/>
            <a:ext cx="8229600" cy="1008062"/>
          </a:xfrm>
          <a:prstGeom prst="rect">
            <a:avLst/>
          </a:prstGeom>
          <a:noFill/>
          <a:ln w="9525">
            <a:noFill/>
          </a:ln>
        </p:spPr>
        <p:txBody>
          <a:bodyPr lIns="91435" tIns="45718" rIns="91435" bIns="45718" anchor="t" anchorCtr="0">
            <a:spAutoFit/>
          </a:bodyPr>
          <a:lstStyle/>
          <a:p>
            <a:pPr>
              <a:lnSpc>
                <a:spcPct val="105000"/>
              </a:lnSpc>
              <a:spcBef>
                <a:spcPct val="5000"/>
              </a:spcBef>
            </a:pPr>
            <a:r>
              <a:rPr lang="en-US" altLang="zh-CN" sz="2800" b="1" dirty="0">
                <a:solidFill>
                  <a:srgbClr val="FFFF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   </a:t>
            </a:r>
            <a:r>
              <a:rPr lang="zh-CN" altLang="en-US" sz="2800" b="1" dirty="0">
                <a:solidFill>
                  <a:srgbClr val="CC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表达式中有两套正负号：</a:t>
            </a:r>
            <a:endParaRPr lang="zh-CN" altLang="en-US" sz="2800" b="1" dirty="0">
              <a:solidFill>
                <a:srgbClr val="FFFF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>
              <a:lnSpc>
                <a:spcPct val="105000"/>
              </a:lnSpc>
              <a:spcBef>
                <a:spcPct val="5000"/>
              </a:spcBef>
            </a:pPr>
            <a:r>
              <a:rPr lang="zh-CN" altLang="en-US" sz="2800" b="1" dirty="0">
                <a:latin typeface="Times New Roman" panose="02020603050405020304" pitchFamily="18" charset="0"/>
                <a:ea typeface="宋体" panose="02010600030101010101" pitchFamily="2" charset="-122"/>
              </a:rPr>
              <a:t>　①  式前的正负号由</a:t>
            </a:r>
            <a:r>
              <a:rPr lang="en-US" altLang="zh-CN" sz="2800" b="1" i="1" dirty="0">
                <a:latin typeface="Times New Roman" panose="02020603050405020304" pitchFamily="18" charset="0"/>
                <a:ea typeface="宋体" panose="02010600030101010101" pitchFamily="2" charset="-122"/>
              </a:rPr>
              <a:t>U</a:t>
            </a:r>
            <a:r>
              <a:rPr lang="zh-CN" altLang="en-US" sz="2800" b="1" dirty="0">
                <a:latin typeface="Times New Roman" panose="02020603050405020304" pitchFamily="18" charset="0"/>
                <a:ea typeface="宋体" panose="02010600030101010101" pitchFamily="2" charset="-122"/>
              </a:rPr>
              <a:t>、</a:t>
            </a:r>
            <a:r>
              <a:rPr lang="en-US" altLang="zh-CN" sz="2800" b="1" i="1" dirty="0">
                <a:latin typeface="Times New Roman" panose="02020603050405020304" pitchFamily="18" charset="0"/>
                <a:ea typeface="宋体" panose="02010600030101010101" pitchFamily="2" charset="-122"/>
              </a:rPr>
              <a:t>I</a:t>
            </a:r>
            <a:r>
              <a:rPr lang="en-US" altLang="zh-CN" sz="2800" b="1" dirty="0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zh-CN" altLang="en-US" sz="2800" b="1" dirty="0">
                <a:latin typeface="Times New Roman" panose="02020603050405020304" pitchFamily="18" charset="0"/>
                <a:ea typeface="宋体" panose="02010600030101010101" pitchFamily="2" charset="-122"/>
              </a:rPr>
              <a:t>参考方向的关系确定；   </a:t>
            </a:r>
          </a:p>
        </p:txBody>
      </p:sp>
      <p:sp>
        <p:nvSpPr>
          <p:cNvPr id="13398" name="Text Box 86" descr="90%"/>
          <p:cNvSpPr txBox="1"/>
          <p:nvPr/>
        </p:nvSpPr>
        <p:spPr>
          <a:xfrm>
            <a:off x="304800" y="5153025"/>
            <a:ext cx="8458200" cy="1008063"/>
          </a:xfrm>
          <a:prstGeom prst="rect">
            <a:avLst/>
          </a:prstGeom>
          <a:noFill/>
          <a:ln w="9525">
            <a:noFill/>
          </a:ln>
        </p:spPr>
        <p:txBody>
          <a:bodyPr lIns="91435" tIns="45718" rIns="91435" bIns="45718" anchor="t" anchorCtr="0">
            <a:spAutoFit/>
          </a:bodyPr>
          <a:lstStyle/>
          <a:p>
            <a:pPr>
              <a:lnSpc>
                <a:spcPct val="105000"/>
              </a:lnSpc>
              <a:spcBef>
                <a:spcPct val="5000"/>
              </a:spcBef>
            </a:pPr>
            <a:r>
              <a:rPr lang="en-US" altLang="zh-CN" sz="2800" b="1" dirty="0">
                <a:latin typeface="Times New Roman" panose="02020603050405020304" pitchFamily="18" charset="0"/>
                <a:ea typeface="宋体" panose="02010600030101010101" pitchFamily="2" charset="-122"/>
              </a:rPr>
              <a:t>    ②</a:t>
            </a:r>
            <a:r>
              <a:rPr lang="en-US" altLang="zh-CN" sz="2800" b="1" i="1" dirty="0">
                <a:latin typeface="Times New Roman" panose="02020603050405020304" pitchFamily="18" charset="0"/>
                <a:ea typeface="宋体" panose="02010600030101010101" pitchFamily="2" charset="-122"/>
              </a:rPr>
              <a:t>  U</a:t>
            </a:r>
            <a:r>
              <a:rPr lang="zh-CN" altLang="en-US" sz="2800" b="1" dirty="0">
                <a:latin typeface="Times New Roman" panose="02020603050405020304" pitchFamily="18" charset="0"/>
                <a:ea typeface="宋体" panose="02010600030101010101" pitchFamily="2" charset="-122"/>
              </a:rPr>
              <a:t>、</a:t>
            </a:r>
            <a:r>
              <a:rPr lang="en-US" altLang="zh-CN" sz="2800" b="1" i="1" dirty="0">
                <a:latin typeface="Times New Roman" panose="02020603050405020304" pitchFamily="18" charset="0"/>
                <a:ea typeface="宋体" panose="02010600030101010101" pitchFamily="2" charset="-122"/>
              </a:rPr>
              <a:t>I</a:t>
            </a:r>
            <a:r>
              <a:rPr lang="en-US" altLang="zh-CN" sz="2800" b="1" dirty="0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zh-CN" altLang="en-US" sz="2800" b="1" dirty="0">
                <a:latin typeface="Times New Roman" panose="02020603050405020304" pitchFamily="18" charset="0"/>
                <a:ea typeface="宋体" panose="02010600030101010101" pitchFamily="2" charset="-122"/>
              </a:rPr>
              <a:t>值本身的正负则说明实际方向与参考</a:t>
            </a:r>
          </a:p>
          <a:p>
            <a:pPr>
              <a:lnSpc>
                <a:spcPct val="105000"/>
              </a:lnSpc>
              <a:spcBef>
                <a:spcPct val="5000"/>
              </a:spcBef>
            </a:pPr>
            <a:r>
              <a:rPr lang="zh-CN" altLang="en-US" sz="2800" b="1" dirty="0">
                <a:latin typeface="Times New Roman" panose="02020603050405020304" pitchFamily="18" charset="0"/>
                <a:ea typeface="宋体" panose="02010600030101010101" pitchFamily="2" charset="-122"/>
              </a:rPr>
              <a:t>         方向之间的关系。</a:t>
            </a:r>
          </a:p>
        </p:txBody>
      </p:sp>
      <p:sp>
        <p:nvSpPr>
          <p:cNvPr id="13399" name="Text Box 87" descr="90%"/>
          <p:cNvSpPr txBox="1"/>
          <p:nvPr/>
        </p:nvSpPr>
        <p:spPr>
          <a:xfrm>
            <a:off x="457200" y="6202363"/>
            <a:ext cx="5410200" cy="539750"/>
          </a:xfrm>
          <a:prstGeom prst="rect">
            <a:avLst/>
          </a:prstGeom>
          <a:noFill/>
          <a:ln w="9525">
            <a:noFill/>
          </a:ln>
        </p:spPr>
        <p:txBody>
          <a:bodyPr lIns="91435" tIns="45718" rIns="91435" bIns="45718" anchor="t" anchorCtr="0">
            <a:spAutoFit/>
          </a:bodyPr>
          <a:lstStyle/>
          <a:p>
            <a:pPr>
              <a:lnSpc>
                <a:spcPct val="105000"/>
              </a:lnSpc>
              <a:spcBef>
                <a:spcPct val="5000"/>
              </a:spcBef>
            </a:pPr>
            <a:r>
              <a:rPr lang="en-US" altLang="zh-CN" sz="2800" b="1" dirty="0">
                <a:solidFill>
                  <a:srgbClr val="CC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  </a:t>
            </a:r>
            <a:r>
              <a:rPr lang="zh-CN" altLang="en-US" sz="2800" b="1" dirty="0">
                <a:solidFill>
                  <a:srgbClr val="CC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通常取</a:t>
            </a:r>
            <a:r>
              <a:rPr lang="zh-CN" altLang="en-US" sz="2800" b="1" i="1" dirty="0">
                <a:solidFill>
                  <a:srgbClr val="CC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altLang="zh-CN" sz="2800" b="1" i="1" dirty="0">
                <a:solidFill>
                  <a:srgbClr val="CC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U</a:t>
            </a:r>
            <a:r>
              <a:rPr lang="zh-CN" altLang="en-US" sz="2800" b="1" dirty="0">
                <a:solidFill>
                  <a:srgbClr val="CC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、</a:t>
            </a:r>
            <a:r>
              <a:rPr lang="en-US" altLang="zh-CN" sz="2800" b="1" i="1" dirty="0">
                <a:solidFill>
                  <a:srgbClr val="CC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I</a:t>
            </a:r>
            <a:r>
              <a:rPr lang="en-US" altLang="zh-CN" sz="2800" b="1" dirty="0">
                <a:solidFill>
                  <a:srgbClr val="CC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zh-CN" altLang="en-US" sz="2800" b="1" dirty="0">
                <a:solidFill>
                  <a:srgbClr val="CC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参考方向相同。</a:t>
            </a:r>
          </a:p>
        </p:txBody>
      </p:sp>
      <p:sp>
        <p:nvSpPr>
          <p:cNvPr id="13400" name="Rectangle 88"/>
          <p:cNvSpPr/>
          <p:nvPr/>
        </p:nvSpPr>
        <p:spPr>
          <a:xfrm>
            <a:off x="2773363" y="2468563"/>
            <a:ext cx="1676400" cy="838200"/>
          </a:xfrm>
          <a:prstGeom prst="rect">
            <a:avLst/>
          </a:prstGeom>
          <a:noFill/>
          <a:ln w="9525">
            <a:noFill/>
          </a:ln>
        </p:spPr>
        <p:txBody>
          <a:bodyPr wrap="none" lIns="91435" tIns="45718" rIns="91435" bIns="45718" anchor="ctr" anchorCtr="0"/>
          <a:lstStyle/>
          <a:p>
            <a:pPr>
              <a:lnSpc>
                <a:spcPct val="110000"/>
              </a:lnSpc>
              <a:spcBef>
                <a:spcPct val="10000"/>
              </a:spcBef>
            </a:pPr>
            <a:r>
              <a:rPr lang="en-US" altLang="zh-CN" sz="2800" b="1" i="1" dirty="0">
                <a:latin typeface="Times New Roman" panose="02020603050405020304" pitchFamily="18" charset="0"/>
                <a:ea typeface="宋体" panose="02010600030101010101" pitchFamily="2" charset="-122"/>
              </a:rPr>
              <a:t>U</a:t>
            </a:r>
            <a:r>
              <a:rPr lang="en-US" altLang="zh-CN" sz="2800" b="1" dirty="0">
                <a:latin typeface="Times New Roman" panose="02020603050405020304" pitchFamily="18" charset="0"/>
                <a:ea typeface="宋体" panose="02010600030101010101" pitchFamily="2" charset="-122"/>
              </a:rPr>
              <a:t> = </a:t>
            </a:r>
            <a:r>
              <a:rPr lang="en-US" altLang="zh-CN" sz="2800" b="1" i="1" dirty="0">
                <a:latin typeface="Times New Roman" panose="02020603050405020304" pitchFamily="18" charset="0"/>
                <a:ea typeface="宋体" panose="02010600030101010101" pitchFamily="2" charset="-122"/>
              </a:rPr>
              <a:t>I R</a:t>
            </a:r>
          </a:p>
        </p:txBody>
      </p:sp>
      <p:sp>
        <p:nvSpPr>
          <p:cNvPr id="13401" name="Rectangle 89"/>
          <p:cNvSpPr>
            <a:spLocks noChangeArrowheads="1"/>
          </p:cNvSpPr>
          <p:nvPr/>
        </p:nvSpPr>
        <p:spPr bwMode="auto">
          <a:xfrm>
            <a:off x="6477000" y="2598738"/>
            <a:ext cx="1905000" cy="5619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6699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1435" tIns="45718" rIns="91435" bIns="45718" anchor="ctr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10000"/>
              </a:lnSpc>
              <a:spcBef>
                <a:spcPct val="1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</a:t>
            </a:r>
            <a:r>
              <a:rPr kumimoji="1" lang="en-US" altLang="zh-CN" sz="2800" b="1" i="1" u="none" strike="noStrike" kern="1200" cap="none" spc="0" normalizeH="0" baseline="0" noProof="0">
                <a:ln>
                  <a:noFill/>
                </a:ln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U </a:t>
            </a:r>
            <a:r>
              <a:rPr kumimoji="1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= – </a:t>
            </a:r>
            <a:r>
              <a:rPr kumimoji="1" lang="en-US" altLang="zh-CN" sz="2800" b="1" i="1" u="none" strike="noStrike" kern="1200" cap="none" spc="0" normalizeH="0" baseline="0" noProof="0">
                <a:ln>
                  <a:noFill/>
                </a:ln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IR</a:t>
            </a:r>
          </a:p>
        </p:txBody>
      </p:sp>
      <p:sp>
        <p:nvSpPr>
          <p:cNvPr id="13402" name="Rectangle 90"/>
          <p:cNvSpPr>
            <a:spLocks noChangeArrowheads="1"/>
          </p:cNvSpPr>
          <p:nvPr/>
        </p:nvSpPr>
        <p:spPr bwMode="auto">
          <a:xfrm>
            <a:off x="809625" y="1125538"/>
            <a:ext cx="6210300" cy="685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6666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accent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81320" dir="2319588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1435" tIns="45718" rIns="91435" bIns="45718" anchor="ctr"/>
          <a:lstStyle/>
          <a:p>
            <a:pPr marL="0" marR="0" lvl="0" indent="0" algn="l" defTabSz="914400" rtl="0" eaLnBrk="1" fontAlgn="base" latinLnBrk="0" hangingPunct="1">
              <a:lnSpc>
                <a:spcPct val="110000"/>
              </a:lnSpc>
              <a:spcBef>
                <a:spcPct val="1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欧姆定律：流过电阻的电流与电阻两端的电压成正比。</a:t>
            </a:r>
          </a:p>
          <a:p>
            <a:pPr marL="0" marR="0" lvl="0" indent="0" algn="l" defTabSz="914400" rtl="0" eaLnBrk="1" fontAlgn="base" latinLnBrk="0" hangingPunct="1">
              <a:lnSpc>
                <a:spcPct val="110000"/>
              </a:lnSpc>
              <a:spcBef>
                <a:spcPct val="1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                   电阻具有对电流起阻碍作用的物理性质（ </a:t>
            </a:r>
            <a:r>
              <a:rPr kumimoji="1" lang="en-US" altLang="zh-CN" sz="1800" b="1" i="1" u="none" strike="noStrike" kern="1200" cap="none" spc="0" normalizeH="0" baseline="0" noProof="0">
                <a:ln>
                  <a:noFill/>
                </a:ln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U</a:t>
            </a:r>
            <a:r>
              <a:rPr kumimoji="1" lang="zh-CN" altLang="en-US" sz="1800" b="1" i="1" u="none" strike="noStrike" kern="1200" cap="none" spc="0" normalizeH="0" baseline="0" noProof="0">
                <a:ln>
                  <a:noFill/>
                </a:ln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一定，</a:t>
            </a:r>
            <a:r>
              <a:rPr kumimoji="1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</a:t>
            </a:r>
            <a:r>
              <a:rPr kumimoji="1" lang="en-US" altLang="zh-CN" sz="1800" b="1" i="1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R</a:t>
            </a:r>
            <a:r>
              <a:rPr kumimoji="1" lang="zh-CN" altLang="en-US" sz="1800" b="1" i="1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越大，</a:t>
            </a:r>
            <a:r>
              <a:rPr kumimoji="1" lang="en-US" altLang="zh-CN" sz="1800" b="1" i="1" u="none" strike="noStrike" kern="1200" cap="none" spc="0" normalizeH="0" baseline="0" noProof="0">
                <a:ln>
                  <a:noFill/>
                </a:ln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I</a:t>
            </a:r>
            <a:r>
              <a:rPr kumimoji="1" lang="zh-CN" altLang="en-US" sz="1800" b="1" i="1" u="none" strike="noStrike" kern="1200" cap="none" spc="0" normalizeH="0" baseline="0" noProof="0">
                <a:ln>
                  <a:noFill/>
                </a:ln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越小</a:t>
            </a:r>
            <a:r>
              <a:rPr kumimoji="1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）</a:t>
            </a:r>
            <a:r>
              <a:rPr kumimoji="1" lang="zh-CN" altLang="en-US" sz="1800" b="1" i="1" u="none" strike="noStrike" kern="1200" cap="none" spc="0" normalizeH="0" baseline="0" noProof="0">
                <a:ln>
                  <a:noFill/>
                </a:ln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</a:t>
            </a:r>
            <a:r>
              <a:rPr kumimoji="1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33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2" dur="500"/>
                                        <p:tgtEl>
                                          <p:spTgt spid="133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34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33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7" dur="500"/>
                                        <p:tgtEl>
                                          <p:spTgt spid="133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34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9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339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9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339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33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33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134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315" grpId="0"/>
      <p:bldP spid="13316" grpId="0"/>
      <p:bldP spid="13397" grpId="0" build="p"/>
      <p:bldP spid="13398" grpId="0"/>
      <p:bldP spid="13399" grpId="0"/>
      <p:bldP spid="13400" grpId="0"/>
      <p:bldP spid="13401" grpId="0"/>
      <p:bldP spid="13402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/>
          <p:nvPr/>
        </p:nvSpPr>
        <p:spPr>
          <a:xfrm>
            <a:off x="309563" y="3765550"/>
            <a:ext cx="5638800" cy="604838"/>
          </a:xfrm>
          <a:prstGeom prst="rect">
            <a:avLst/>
          </a:prstGeom>
          <a:noFill/>
          <a:ln w="38100">
            <a:noFill/>
          </a:ln>
        </p:spPr>
        <p:txBody>
          <a:bodyPr lIns="91435" tIns="45718" rIns="91435" bIns="45718" anchor="ctr" anchorCtr="0">
            <a:spAutoFit/>
          </a:bodyPr>
          <a:lstStyle/>
          <a:p>
            <a:pPr>
              <a:lnSpc>
                <a:spcPct val="120000"/>
              </a:lnSpc>
              <a:spcBef>
                <a:spcPct val="20000"/>
              </a:spcBef>
            </a:pPr>
            <a:r>
              <a:rPr lang="zh-CN" altLang="en-US" sz="2800" b="1" dirty="0">
                <a:solidFill>
                  <a:srgbClr val="CC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解：</a:t>
            </a:r>
            <a:r>
              <a:rPr lang="zh-CN" altLang="en-US" sz="2800" b="1" dirty="0">
                <a:latin typeface="Times New Roman" panose="02020603050405020304" pitchFamily="18" charset="0"/>
                <a:ea typeface="宋体" panose="02010600030101010101" pitchFamily="2" charset="-122"/>
              </a:rPr>
              <a:t>对图</a:t>
            </a:r>
            <a:r>
              <a:rPr lang="en-US" altLang="zh-CN" sz="2800" b="1" dirty="0">
                <a:latin typeface="Times New Roman" panose="02020603050405020304" pitchFamily="18" charset="0"/>
                <a:ea typeface="宋体" panose="02010600030101010101" pitchFamily="2" charset="-122"/>
              </a:rPr>
              <a:t>(a)</a:t>
            </a:r>
            <a:r>
              <a:rPr lang="zh-CN" altLang="en-US" sz="2800" b="1" dirty="0">
                <a:latin typeface="Times New Roman" panose="02020603050405020304" pitchFamily="18" charset="0"/>
                <a:ea typeface="宋体" panose="02010600030101010101" pitchFamily="2" charset="-122"/>
              </a:rPr>
              <a:t>有</a:t>
            </a:r>
            <a:r>
              <a:rPr lang="en-US" altLang="zh-CN" sz="2800" b="1" dirty="0">
                <a:latin typeface="Times New Roman" panose="02020603050405020304" pitchFamily="18" charset="0"/>
                <a:ea typeface="宋体" panose="02010600030101010101" pitchFamily="2" charset="-122"/>
              </a:rPr>
              <a:t>, </a:t>
            </a:r>
            <a:r>
              <a:rPr lang="en-US" altLang="zh-CN" sz="2800" b="1" i="1" dirty="0">
                <a:latin typeface="Times New Roman" panose="02020603050405020304" pitchFamily="18" charset="0"/>
                <a:ea typeface="宋体" panose="02010600030101010101" pitchFamily="2" charset="-122"/>
              </a:rPr>
              <a:t>U </a:t>
            </a:r>
            <a:r>
              <a:rPr lang="en-US" altLang="zh-CN" sz="2800" b="1" dirty="0">
                <a:latin typeface="Times New Roman" panose="02020603050405020304" pitchFamily="18" charset="0"/>
                <a:ea typeface="宋体" panose="02010600030101010101" pitchFamily="2" charset="-122"/>
              </a:rPr>
              <a:t>=  </a:t>
            </a:r>
            <a:r>
              <a:rPr lang="en-US" altLang="zh-CN" sz="2800" b="1" i="1" dirty="0">
                <a:latin typeface="Times New Roman" panose="02020603050405020304" pitchFamily="18" charset="0"/>
                <a:ea typeface="宋体" panose="02010600030101010101" pitchFamily="2" charset="-122"/>
              </a:rPr>
              <a:t>IR</a:t>
            </a:r>
          </a:p>
        </p:txBody>
      </p:sp>
      <p:sp>
        <p:nvSpPr>
          <p:cNvPr id="17410" name="Text Box 3"/>
          <p:cNvSpPr txBox="1"/>
          <p:nvPr/>
        </p:nvSpPr>
        <p:spPr>
          <a:xfrm>
            <a:off x="228600" y="762000"/>
            <a:ext cx="8839200" cy="519113"/>
          </a:xfrm>
          <a:prstGeom prst="rect">
            <a:avLst/>
          </a:prstGeom>
          <a:noFill/>
          <a:ln w="9525">
            <a:noFill/>
          </a:ln>
        </p:spPr>
        <p:txBody>
          <a:bodyPr lIns="91435" tIns="45718" rIns="91435" bIns="45718" anchor="t" anchorCtr="0">
            <a:spAutoFit/>
          </a:bodyPr>
          <a:lstStyle/>
          <a:p>
            <a:r>
              <a:rPr lang="zh-CN" altLang="en-US" sz="2800" b="1" dirty="0">
                <a:solidFill>
                  <a:srgbClr val="CC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例：</a:t>
            </a:r>
            <a:r>
              <a:rPr lang="zh-CN" altLang="en-US" sz="2800" b="1" dirty="0">
                <a:latin typeface="Times New Roman" panose="02020603050405020304" pitchFamily="18" charset="0"/>
                <a:ea typeface="宋体" panose="02010600030101010101" pitchFamily="2" charset="-122"/>
              </a:rPr>
              <a:t>应用欧姆定律对下图电路列出式子，并求电阻</a:t>
            </a:r>
            <a:r>
              <a:rPr lang="en-US" altLang="zh-CN" sz="2800" b="1" i="1" dirty="0">
                <a:latin typeface="Times New Roman" panose="02020603050405020304" pitchFamily="18" charset="0"/>
                <a:ea typeface="宋体" panose="02010600030101010101" pitchFamily="2" charset="-122"/>
              </a:rPr>
              <a:t>R</a:t>
            </a:r>
            <a:r>
              <a:rPr lang="zh-CN" altLang="en-US" sz="2800" b="1" dirty="0">
                <a:latin typeface="Times New Roman" panose="02020603050405020304" pitchFamily="18" charset="0"/>
                <a:ea typeface="宋体" panose="02010600030101010101" pitchFamily="2" charset="-122"/>
              </a:rPr>
              <a:t>。</a:t>
            </a:r>
            <a:endParaRPr lang="zh-CN" altLang="en-US" sz="2800" b="1" i="1" dirty="0">
              <a:solidFill>
                <a:srgbClr val="FF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4340" name="Rectangle 4"/>
          <p:cNvSpPr/>
          <p:nvPr/>
        </p:nvSpPr>
        <p:spPr>
          <a:xfrm>
            <a:off x="995363" y="4603750"/>
            <a:ext cx="3429000" cy="604838"/>
          </a:xfrm>
          <a:prstGeom prst="rect">
            <a:avLst/>
          </a:prstGeom>
          <a:noFill/>
          <a:ln w="38100">
            <a:noFill/>
          </a:ln>
        </p:spPr>
        <p:txBody>
          <a:bodyPr lIns="91435" tIns="45718" rIns="91435" bIns="45718" anchor="ctr" anchorCtr="0">
            <a:spAutoFit/>
          </a:bodyPr>
          <a:lstStyle/>
          <a:p>
            <a:pPr>
              <a:lnSpc>
                <a:spcPct val="120000"/>
              </a:lnSpc>
              <a:spcBef>
                <a:spcPct val="20000"/>
              </a:spcBef>
            </a:pPr>
            <a:r>
              <a:rPr lang="zh-CN" altLang="en-US" sz="2800" b="1" dirty="0">
                <a:latin typeface="Times New Roman" panose="02020603050405020304" pitchFamily="18" charset="0"/>
                <a:ea typeface="宋体" panose="02010600030101010101" pitchFamily="2" charset="-122"/>
              </a:rPr>
              <a:t>对图</a:t>
            </a:r>
            <a:r>
              <a:rPr lang="en-US" altLang="zh-CN" sz="2800" b="1" dirty="0">
                <a:latin typeface="Times New Roman" panose="02020603050405020304" pitchFamily="18" charset="0"/>
                <a:ea typeface="宋体" panose="02010600030101010101" pitchFamily="2" charset="-122"/>
              </a:rPr>
              <a:t>(b)</a:t>
            </a:r>
            <a:r>
              <a:rPr lang="zh-CN" altLang="en-US" sz="2800" b="1" dirty="0">
                <a:latin typeface="Times New Roman" panose="02020603050405020304" pitchFamily="18" charset="0"/>
                <a:ea typeface="宋体" panose="02010600030101010101" pitchFamily="2" charset="-122"/>
              </a:rPr>
              <a:t>有</a:t>
            </a:r>
            <a:r>
              <a:rPr lang="en-US" altLang="zh-CN" sz="2800" b="1" dirty="0">
                <a:latin typeface="Times New Roman" panose="02020603050405020304" pitchFamily="18" charset="0"/>
                <a:ea typeface="宋体" panose="02010600030101010101" pitchFamily="2" charset="-122"/>
              </a:rPr>
              <a:t>, </a:t>
            </a:r>
            <a:r>
              <a:rPr lang="en-US" altLang="zh-CN" sz="2800" b="1" i="1" dirty="0">
                <a:latin typeface="Times New Roman" panose="02020603050405020304" pitchFamily="18" charset="0"/>
                <a:ea typeface="宋体" panose="02010600030101010101" pitchFamily="2" charset="-122"/>
              </a:rPr>
              <a:t>U </a:t>
            </a:r>
            <a:r>
              <a:rPr lang="en-US" altLang="zh-CN" sz="2800" b="1" dirty="0">
                <a:latin typeface="Times New Roman" panose="02020603050405020304" pitchFamily="18" charset="0"/>
                <a:ea typeface="宋体" panose="02010600030101010101" pitchFamily="2" charset="-122"/>
              </a:rPr>
              <a:t>= – </a:t>
            </a:r>
            <a:r>
              <a:rPr lang="en-US" altLang="zh-CN" sz="2800" b="1" i="1" dirty="0">
                <a:latin typeface="Times New Roman" panose="02020603050405020304" pitchFamily="18" charset="0"/>
                <a:ea typeface="宋体" panose="02010600030101010101" pitchFamily="2" charset="-122"/>
              </a:rPr>
              <a:t>IR</a:t>
            </a:r>
          </a:p>
        </p:txBody>
      </p:sp>
      <p:graphicFrame>
        <p:nvGraphicFramePr>
          <p:cNvPr id="14341" name="Object 5"/>
          <p:cNvGraphicFramePr/>
          <p:nvPr/>
        </p:nvGraphicFramePr>
        <p:xfrm>
          <a:off x="4271963" y="3640138"/>
          <a:ext cx="3600450" cy="958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35356800" imgH="9448800" progId="">
                  <p:embed/>
                </p:oleObj>
              </mc:Choice>
              <mc:Fallback>
                <p:oleObj r:id="rId2" imgW="35356800" imgH="9448800" progId="">
                  <p:embed/>
                  <p:pic>
                    <p:nvPicPr>
                      <p:cNvPr id="0" name="图片 5120" descr="image14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4271963" y="3640138"/>
                        <a:ext cx="3600450" cy="9588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342" name="Object 6"/>
          <p:cNvGraphicFramePr/>
          <p:nvPr/>
        </p:nvGraphicFramePr>
        <p:xfrm>
          <a:off x="4200525" y="4570413"/>
          <a:ext cx="4254500" cy="9159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4" imgW="43891200" imgH="9448800" progId="">
                  <p:embed/>
                </p:oleObj>
              </mc:Choice>
              <mc:Fallback>
                <p:oleObj r:id="rId4" imgW="43891200" imgH="9448800" progId="">
                  <p:embed/>
                  <p:pic>
                    <p:nvPicPr>
                      <p:cNvPr id="0" name="图片 5121" descr="image15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4200525" y="4570413"/>
                        <a:ext cx="4254500" cy="915987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7414" name="Group 7"/>
          <p:cNvGrpSpPr/>
          <p:nvPr/>
        </p:nvGrpSpPr>
        <p:grpSpPr>
          <a:xfrm>
            <a:off x="1676400" y="1295400"/>
            <a:ext cx="6019800" cy="2286000"/>
            <a:chOff x="1056" y="816"/>
            <a:chExt cx="3792" cy="1440"/>
          </a:xfrm>
        </p:grpSpPr>
        <p:sp>
          <p:nvSpPr>
            <p:cNvPr id="17415" name="Text Box 8"/>
            <p:cNvSpPr txBox="1"/>
            <p:nvPr/>
          </p:nvSpPr>
          <p:spPr>
            <a:xfrm>
              <a:off x="2229" y="1271"/>
              <a:ext cx="363" cy="328"/>
            </a:xfrm>
            <a:prstGeom prst="rect">
              <a:avLst/>
            </a:prstGeom>
            <a:noFill/>
            <a:ln w="12700">
              <a:noFill/>
            </a:ln>
          </p:spPr>
          <p:txBody>
            <a:bodyPr lIns="91435" tIns="45718" rIns="91435" bIns="45718" anchor="t" anchorCtr="0">
              <a:spAutoFit/>
            </a:bodyPr>
            <a:lstStyle/>
            <a:p>
              <a:r>
                <a:rPr lang="en-US" altLang="zh-CN" sz="2800" b="1" i="1" dirty="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R</a:t>
              </a:r>
            </a:p>
          </p:txBody>
        </p:sp>
        <p:sp>
          <p:nvSpPr>
            <p:cNvPr id="17416" name="Text Box 9"/>
            <p:cNvSpPr txBox="1"/>
            <p:nvPr/>
          </p:nvSpPr>
          <p:spPr>
            <a:xfrm>
              <a:off x="1056" y="1205"/>
              <a:ext cx="512" cy="488"/>
            </a:xfrm>
            <a:prstGeom prst="rect">
              <a:avLst/>
            </a:prstGeom>
            <a:noFill/>
            <a:ln w="12700">
              <a:noFill/>
            </a:ln>
          </p:spPr>
          <p:txBody>
            <a:bodyPr lIns="91435" tIns="45718" rIns="91435" bIns="45718" anchor="t" anchorCtr="0">
              <a:spAutoFit/>
            </a:bodyPr>
            <a:lstStyle/>
            <a:p>
              <a:pPr algn="ctr">
                <a:lnSpc>
                  <a:spcPct val="80000"/>
                </a:lnSpc>
              </a:pPr>
              <a:r>
                <a:rPr lang="en-US" altLang="zh-CN" sz="2800" b="1" i="1" dirty="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U</a:t>
              </a:r>
            </a:p>
            <a:p>
              <a:pPr algn="ctr">
                <a:lnSpc>
                  <a:spcPct val="80000"/>
                </a:lnSpc>
              </a:pPr>
              <a:r>
                <a:rPr lang="en-US" altLang="zh-CN" sz="2800" b="1" dirty="0">
                  <a:latin typeface="Times New Roman" panose="02020603050405020304" pitchFamily="18" charset="0"/>
                  <a:ea typeface="宋体" panose="02010600030101010101" pitchFamily="2" charset="-122"/>
                </a:rPr>
                <a:t>6V</a:t>
              </a:r>
              <a:endParaRPr lang="en-US" altLang="zh-CN" sz="2800" b="1" i="1" dirty="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7417" name="Text Box 10"/>
            <p:cNvSpPr txBox="1"/>
            <p:nvPr/>
          </p:nvSpPr>
          <p:spPr>
            <a:xfrm>
              <a:off x="1192" y="816"/>
              <a:ext cx="244" cy="327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lIns="91435" tIns="45718" rIns="91435" bIns="45718" anchor="t" anchorCtr="0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zh-CN" sz="2800" b="1" dirty="0">
                  <a:solidFill>
                    <a:srgbClr val="FF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+</a:t>
              </a:r>
            </a:p>
          </p:txBody>
        </p:sp>
        <p:sp>
          <p:nvSpPr>
            <p:cNvPr id="17418" name="Text Box 11"/>
            <p:cNvSpPr txBox="1"/>
            <p:nvPr/>
          </p:nvSpPr>
          <p:spPr>
            <a:xfrm>
              <a:off x="1170" y="1670"/>
              <a:ext cx="321" cy="327"/>
            </a:xfrm>
            <a:prstGeom prst="rect">
              <a:avLst/>
            </a:prstGeom>
            <a:noFill/>
            <a:ln w="38100">
              <a:noFill/>
            </a:ln>
          </p:spPr>
          <p:txBody>
            <a:bodyPr lIns="91435" tIns="45718" rIns="91435" bIns="45718" anchor="t" anchorCtr="0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zh-CN" sz="2800" b="1" dirty="0">
                  <a:solidFill>
                    <a:srgbClr val="FF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–</a:t>
              </a:r>
            </a:p>
          </p:txBody>
        </p:sp>
        <p:sp>
          <p:nvSpPr>
            <p:cNvPr id="17419" name="Text Box 12"/>
            <p:cNvSpPr txBox="1"/>
            <p:nvPr/>
          </p:nvSpPr>
          <p:spPr>
            <a:xfrm>
              <a:off x="1568" y="1186"/>
              <a:ext cx="512" cy="542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91435" tIns="45718" rIns="91435" bIns="45718" anchor="t" anchorCtr="0">
              <a:spAutoFit/>
            </a:bodyPr>
            <a:lstStyle/>
            <a:p>
              <a:pPr algn="ctr"/>
              <a:endParaRPr lang="en-US" altLang="zh-CN" sz="2800" b="1" i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  <a:p>
              <a:pPr algn="ctr">
                <a:lnSpc>
                  <a:spcPct val="80000"/>
                </a:lnSpc>
              </a:pPr>
              <a:r>
                <a:rPr lang="en-US" altLang="zh-CN" sz="2800" b="1" dirty="0">
                  <a:latin typeface="Times New Roman" panose="02020603050405020304" pitchFamily="18" charset="0"/>
                  <a:ea typeface="宋体" panose="02010600030101010101" pitchFamily="2" charset="-122"/>
                </a:rPr>
                <a:t>2A</a:t>
              </a:r>
              <a:endParaRPr lang="en-US" altLang="zh-CN" sz="28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7420" name="Line 13"/>
            <p:cNvSpPr/>
            <p:nvPr/>
          </p:nvSpPr>
          <p:spPr>
            <a:xfrm rot="5400000">
              <a:off x="2031" y="1143"/>
              <a:ext cx="319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7421" name="Rectangle 14"/>
            <p:cNvSpPr/>
            <p:nvPr/>
          </p:nvSpPr>
          <p:spPr>
            <a:xfrm rot="5400000">
              <a:off x="2031" y="1402"/>
              <a:ext cx="313" cy="108"/>
            </a:xfrm>
            <a:prstGeom prst="rect">
              <a:avLst/>
            </a:prstGeom>
            <a:noFill/>
            <a:ln w="381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/>
            <a:p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7422" name="Line 15"/>
            <p:cNvSpPr/>
            <p:nvPr/>
          </p:nvSpPr>
          <p:spPr>
            <a:xfrm rot="5400000">
              <a:off x="1844" y="1474"/>
              <a:ext cx="413" cy="0"/>
            </a:xfrm>
            <a:prstGeom prst="line">
              <a:avLst/>
            </a:prstGeom>
            <a:ln w="38100" cap="flat" cmpd="sng">
              <a:solidFill>
                <a:srgbClr val="FF3300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17423" name="Line 16"/>
            <p:cNvSpPr/>
            <p:nvPr/>
          </p:nvSpPr>
          <p:spPr>
            <a:xfrm rot="5400000">
              <a:off x="2045" y="1748"/>
              <a:ext cx="291" cy="0"/>
            </a:xfrm>
            <a:prstGeom prst="line">
              <a:avLst/>
            </a:prstGeom>
            <a:ln w="3810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7424" name="Oval 17"/>
            <p:cNvSpPr/>
            <p:nvPr/>
          </p:nvSpPr>
          <p:spPr>
            <a:xfrm rot="5400000">
              <a:off x="1423" y="951"/>
              <a:ext cx="64" cy="64"/>
            </a:xfrm>
            <a:prstGeom prst="ellipse">
              <a:avLst/>
            </a:prstGeom>
            <a:noFill/>
            <a:ln w="3810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lstStyle/>
            <a:p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7425" name="Oval 18"/>
            <p:cNvSpPr/>
            <p:nvPr/>
          </p:nvSpPr>
          <p:spPr>
            <a:xfrm rot="5400000">
              <a:off x="1426" y="1863"/>
              <a:ext cx="64" cy="64"/>
            </a:xfrm>
            <a:prstGeom prst="ellipse">
              <a:avLst/>
            </a:prstGeom>
            <a:noFill/>
            <a:ln w="3810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lstStyle/>
            <a:p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7426" name="Line 19"/>
            <p:cNvSpPr/>
            <p:nvPr/>
          </p:nvSpPr>
          <p:spPr>
            <a:xfrm flipH="1">
              <a:off x="1479" y="987"/>
              <a:ext cx="725" cy="0"/>
            </a:xfrm>
            <a:prstGeom prst="line">
              <a:avLst/>
            </a:prstGeom>
            <a:ln w="3810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7427" name="Line 20"/>
            <p:cNvSpPr/>
            <p:nvPr/>
          </p:nvSpPr>
          <p:spPr>
            <a:xfrm flipH="1">
              <a:off x="1479" y="1897"/>
              <a:ext cx="725" cy="0"/>
            </a:xfrm>
            <a:prstGeom prst="line">
              <a:avLst/>
            </a:prstGeom>
            <a:ln w="3810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grpSp>
          <p:nvGrpSpPr>
            <p:cNvPr id="17428" name="Group 21"/>
            <p:cNvGrpSpPr/>
            <p:nvPr/>
          </p:nvGrpSpPr>
          <p:grpSpPr>
            <a:xfrm>
              <a:off x="3360" y="825"/>
              <a:ext cx="1488" cy="1185"/>
              <a:chOff x="3792" y="1968"/>
              <a:chExt cx="1248" cy="994"/>
            </a:xfrm>
          </p:grpSpPr>
          <p:sp>
            <p:nvSpPr>
              <p:cNvPr id="17429" name="Text Box 22"/>
              <p:cNvSpPr txBox="1"/>
              <p:nvPr/>
            </p:nvSpPr>
            <p:spPr>
              <a:xfrm>
                <a:off x="4734" y="2352"/>
                <a:ext cx="306" cy="274"/>
              </a:xfrm>
              <a:prstGeom prst="rect">
                <a:avLst/>
              </a:prstGeom>
              <a:noFill/>
              <a:ln w="12700">
                <a:noFill/>
              </a:ln>
            </p:spPr>
            <p:txBody>
              <a:bodyPr lIns="91435" tIns="45718" rIns="91435" bIns="45718" anchor="t" anchorCtr="0">
                <a:spAutoFit/>
              </a:bodyPr>
              <a:lstStyle/>
              <a:p>
                <a:r>
                  <a:rPr lang="en-US" altLang="zh-CN" sz="2800" b="1" i="1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R</a:t>
                </a:r>
              </a:p>
            </p:txBody>
          </p:sp>
          <p:sp>
            <p:nvSpPr>
              <p:cNvPr id="17430" name="Text Box 23"/>
              <p:cNvSpPr txBox="1"/>
              <p:nvPr/>
            </p:nvSpPr>
            <p:spPr>
              <a:xfrm>
                <a:off x="3859" y="1968"/>
                <a:ext cx="205" cy="274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wrap="none" lIns="91435" tIns="45718" rIns="91435" bIns="45718" anchor="t" anchorCtr="0"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lang="en-US" altLang="zh-CN" sz="2800" b="1" dirty="0">
                    <a:solidFill>
                      <a:srgbClr val="FF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+</a:t>
                </a:r>
              </a:p>
            </p:txBody>
          </p:sp>
          <p:sp>
            <p:nvSpPr>
              <p:cNvPr id="17431" name="Text Box 24"/>
              <p:cNvSpPr txBox="1"/>
              <p:nvPr/>
            </p:nvSpPr>
            <p:spPr>
              <a:xfrm>
                <a:off x="3840" y="2688"/>
                <a:ext cx="271" cy="274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lIns="91435" tIns="45718" rIns="91435" bIns="45718" anchor="t" anchorCtr="0"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lang="en-US" altLang="zh-CN" sz="2800" b="1" dirty="0">
                    <a:solidFill>
                      <a:srgbClr val="FF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–</a:t>
                </a:r>
              </a:p>
            </p:txBody>
          </p:sp>
          <p:sp>
            <p:nvSpPr>
              <p:cNvPr id="17432" name="Line 25"/>
              <p:cNvSpPr/>
              <p:nvPr/>
            </p:nvSpPr>
            <p:spPr>
              <a:xfrm rot="5400000">
                <a:off x="4566" y="2243"/>
                <a:ext cx="269" cy="0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17433" name="Rectangle 26"/>
              <p:cNvSpPr/>
              <p:nvPr/>
            </p:nvSpPr>
            <p:spPr>
              <a:xfrm rot="5400000">
                <a:off x="4566" y="2462"/>
                <a:ext cx="264" cy="91"/>
              </a:xfrm>
              <a:prstGeom prst="rect">
                <a:avLst/>
              </a:prstGeom>
              <a:noFill/>
              <a:ln w="3810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lstStyle/>
              <a:p>
                <a:endParaRPr lang="zh-CN" altLang="en-US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7434" name="Line 27"/>
              <p:cNvSpPr/>
              <p:nvPr/>
            </p:nvSpPr>
            <p:spPr>
              <a:xfrm rot="-5400000" flipV="1">
                <a:off x="4412" y="2526"/>
                <a:ext cx="348" cy="0"/>
              </a:xfrm>
              <a:prstGeom prst="line">
                <a:avLst/>
              </a:prstGeom>
              <a:ln w="38100" cap="flat" cmpd="sng">
                <a:solidFill>
                  <a:srgbClr val="FF3300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sp>
          <p:sp>
            <p:nvSpPr>
              <p:cNvPr id="17435" name="Line 28"/>
              <p:cNvSpPr/>
              <p:nvPr/>
            </p:nvSpPr>
            <p:spPr>
              <a:xfrm rot="5400000">
                <a:off x="4581" y="2757"/>
                <a:ext cx="246" cy="0"/>
              </a:xfrm>
              <a:prstGeom prst="line">
                <a:avLst/>
              </a:prstGeom>
              <a:ln w="38100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17436" name="Oval 29"/>
              <p:cNvSpPr/>
              <p:nvPr/>
            </p:nvSpPr>
            <p:spPr>
              <a:xfrm rot="5400000">
                <a:off x="4054" y="2082"/>
                <a:ext cx="54" cy="54"/>
              </a:xfrm>
              <a:prstGeom prst="ellipse">
                <a:avLst/>
              </a:prstGeom>
              <a:noFill/>
              <a:ln w="38100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wrap="none" anchor="ctr" anchorCtr="0"/>
              <a:lstStyle/>
              <a:p>
                <a:endParaRPr lang="zh-CN" altLang="en-US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7437" name="Oval 30"/>
              <p:cNvSpPr/>
              <p:nvPr/>
            </p:nvSpPr>
            <p:spPr>
              <a:xfrm rot="5400000">
                <a:off x="4056" y="2851"/>
                <a:ext cx="54" cy="54"/>
              </a:xfrm>
              <a:prstGeom prst="ellipse">
                <a:avLst/>
              </a:prstGeom>
              <a:noFill/>
              <a:ln w="38100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wrap="none" anchor="ctr" anchorCtr="0"/>
              <a:lstStyle/>
              <a:p>
                <a:endParaRPr lang="zh-CN" altLang="en-US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7438" name="Line 31"/>
              <p:cNvSpPr/>
              <p:nvPr/>
            </p:nvSpPr>
            <p:spPr>
              <a:xfrm flipH="1">
                <a:off x="4101" y="2112"/>
                <a:ext cx="612" cy="0"/>
              </a:xfrm>
              <a:prstGeom prst="line">
                <a:avLst/>
              </a:prstGeom>
              <a:ln w="38100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17439" name="Line 32"/>
              <p:cNvSpPr/>
              <p:nvPr/>
            </p:nvSpPr>
            <p:spPr>
              <a:xfrm flipH="1">
                <a:off x="4101" y="2880"/>
                <a:ext cx="612" cy="0"/>
              </a:xfrm>
              <a:prstGeom prst="line">
                <a:avLst/>
              </a:prstGeom>
              <a:ln w="38100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17440" name="Text Box 33"/>
              <p:cNvSpPr txBox="1"/>
              <p:nvPr/>
            </p:nvSpPr>
            <p:spPr>
              <a:xfrm>
                <a:off x="3792" y="2296"/>
                <a:ext cx="432" cy="409"/>
              </a:xfrm>
              <a:prstGeom prst="rect">
                <a:avLst/>
              </a:prstGeom>
              <a:noFill/>
              <a:ln w="12700">
                <a:noFill/>
              </a:ln>
            </p:spPr>
            <p:txBody>
              <a:bodyPr lIns="91435" tIns="45718" rIns="91435" bIns="45718" anchor="t" anchorCtr="0">
                <a:spAutoFit/>
              </a:bodyPr>
              <a:lstStyle/>
              <a:p>
                <a:pPr algn="ctr">
                  <a:lnSpc>
                    <a:spcPct val="80000"/>
                  </a:lnSpc>
                </a:pPr>
                <a:r>
                  <a:rPr lang="en-US" altLang="zh-CN" sz="2800" b="1" i="1" dirty="0">
                    <a:solidFill>
                      <a:srgbClr val="FF33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U</a:t>
                </a:r>
              </a:p>
              <a:p>
                <a:pPr algn="ctr">
                  <a:lnSpc>
                    <a:spcPct val="80000"/>
                  </a:lnSpc>
                </a:pPr>
                <a:r>
                  <a:rPr lang="en-US" altLang="zh-CN" sz="2800" b="1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6V</a:t>
                </a:r>
                <a:endParaRPr lang="en-US" altLang="zh-CN" sz="2800" b="1" i="1" dirty="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7441" name="Text Box 34"/>
              <p:cNvSpPr txBox="1"/>
              <p:nvPr/>
            </p:nvSpPr>
            <p:spPr>
              <a:xfrm>
                <a:off x="4128" y="2208"/>
                <a:ext cx="576" cy="455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lIns="91435" tIns="45718" rIns="91435" bIns="45718" anchor="t" anchorCtr="0">
                <a:spAutoFit/>
              </a:bodyPr>
              <a:lstStyle/>
              <a:p>
                <a:r>
                  <a:rPr lang="en-US" altLang="zh-CN" sz="2800" b="1" i="1" dirty="0">
                    <a:solidFill>
                      <a:srgbClr val="FF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      I</a:t>
                </a:r>
              </a:p>
              <a:p>
                <a:pPr>
                  <a:lnSpc>
                    <a:spcPct val="80000"/>
                  </a:lnSpc>
                </a:pPr>
                <a:endParaRPr lang="en-US" altLang="zh-CN" sz="2800" b="1" dirty="0">
                  <a:solidFill>
                    <a:srgbClr val="FF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</p:grpSp>
        <p:sp>
          <p:nvSpPr>
            <p:cNvPr id="17442" name="Text Box 35"/>
            <p:cNvSpPr txBox="1"/>
            <p:nvPr/>
          </p:nvSpPr>
          <p:spPr>
            <a:xfrm>
              <a:off x="1590" y="1881"/>
              <a:ext cx="378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91435" tIns="45718" rIns="91435" bIns="45718" anchor="t" anchorCtr="0">
              <a:spAutoFit/>
            </a:bodyPr>
            <a:lstStyle/>
            <a:p>
              <a:r>
                <a:rPr lang="en-US" altLang="zh-CN" sz="2800" b="1" dirty="0">
                  <a:latin typeface="Times New Roman" panose="02020603050405020304" pitchFamily="18" charset="0"/>
                  <a:ea typeface="宋体" panose="02010600030101010101" pitchFamily="2" charset="-122"/>
                </a:rPr>
                <a:t>(a)</a:t>
              </a:r>
            </a:p>
          </p:txBody>
        </p:sp>
        <p:sp>
          <p:nvSpPr>
            <p:cNvPr id="17443" name="Text Box 36"/>
            <p:cNvSpPr txBox="1"/>
            <p:nvPr/>
          </p:nvSpPr>
          <p:spPr>
            <a:xfrm>
              <a:off x="3881" y="1929"/>
              <a:ext cx="391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91435" tIns="45718" rIns="91435" bIns="45718" anchor="t" anchorCtr="0">
              <a:spAutoFit/>
            </a:bodyPr>
            <a:lstStyle/>
            <a:p>
              <a:r>
                <a:rPr lang="en-US" altLang="zh-CN" sz="2800" b="1" dirty="0">
                  <a:latin typeface="Times New Roman" panose="02020603050405020304" pitchFamily="18" charset="0"/>
                  <a:ea typeface="宋体" panose="02010600030101010101" pitchFamily="2" charset="-122"/>
                </a:rPr>
                <a:t>(b)</a:t>
              </a:r>
            </a:p>
          </p:txBody>
        </p:sp>
        <p:sp>
          <p:nvSpPr>
            <p:cNvPr id="17444" name="Rectangle 37"/>
            <p:cNvSpPr/>
            <p:nvPr/>
          </p:nvSpPr>
          <p:spPr>
            <a:xfrm>
              <a:off x="1824" y="1056"/>
              <a:ext cx="203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91435" tIns="45718" rIns="91435" bIns="45718" anchor="t" anchorCtr="0">
              <a:spAutoFit/>
            </a:bodyPr>
            <a:lstStyle/>
            <a:p>
              <a:r>
                <a:rPr lang="en-US" altLang="zh-CN" sz="2800" b="1" i="1" dirty="0">
                  <a:solidFill>
                    <a:srgbClr val="FF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I</a:t>
              </a:r>
            </a:p>
          </p:txBody>
        </p:sp>
        <p:sp>
          <p:nvSpPr>
            <p:cNvPr id="17445" name="Rectangle 38"/>
            <p:cNvSpPr/>
            <p:nvPr/>
          </p:nvSpPr>
          <p:spPr>
            <a:xfrm>
              <a:off x="3866" y="1536"/>
              <a:ext cx="502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91435" tIns="45718" rIns="91435" bIns="45718" anchor="t" anchorCtr="0">
              <a:spAutoFit/>
            </a:bodyPr>
            <a:lstStyle/>
            <a:p>
              <a:r>
                <a:rPr lang="en-US" altLang="zh-CN" sz="2800" b="1" dirty="0">
                  <a:latin typeface="Times New Roman" panose="02020603050405020304" pitchFamily="18" charset="0"/>
                  <a:ea typeface="宋体" panose="02010600030101010101" pitchFamily="2" charset="-122"/>
                </a:rPr>
                <a:t>–2A</a:t>
              </a:r>
            </a:p>
          </p:txBody>
        </p:sp>
      </p:grpSp>
      <p:sp>
        <p:nvSpPr>
          <p:cNvPr id="40" name="AutoShape 106" descr="90%"/>
          <p:cNvSpPr/>
          <p:nvPr/>
        </p:nvSpPr>
        <p:spPr>
          <a:xfrm>
            <a:off x="3563938" y="5661025"/>
            <a:ext cx="1563687" cy="647700"/>
          </a:xfrm>
          <a:prstGeom prst="wedgeRoundRectCallout">
            <a:avLst>
              <a:gd name="adj1" fmla="val 94560"/>
              <a:gd name="adj2" fmla="val -133995"/>
              <a:gd name="adj3" fmla="val 16667"/>
            </a:avLst>
          </a:prstGeom>
          <a:pattFill prst="pct90">
            <a:fgClr>
              <a:srgbClr val="FFFF00"/>
            </a:fgClr>
            <a:bgClr>
              <a:srgbClr val="FFFFFF"/>
            </a:bgClr>
          </a:pattFill>
          <a:ln w="28575" cap="flat" cmpd="sng">
            <a:solidFill>
              <a:srgbClr val="FF3300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/>
          <a:p>
            <a:pPr algn="ctr" eaLnBrk="0" hangingPunct="0"/>
            <a:r>
              <a:rPr lang="zh-CN" altLang="en-US" sz="1800" b="1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电压与电流</a:t>
            </a:r>
            <a:endParaRPr lang="en-US" altLang="zh-CN" sz="1800" b="1" dirty="0">
              <a:solidFill>
                <a:schemeClr val="tx2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algn="ctr" eaLnBrk="0" hangingPunct="0"/>
            <a:r>
              <a:rPr lang="zh-CN" altLang="en-US" sz="1800" b="1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参考方向相反</a:t>
            </a:r>
          </a:p>
        </p:txBody>
      </p:sp>
      <p:sp>
        <p:nvSpPr>
          <p:cNvPr id="41" name="AutoShape 106" descr="90%"/>
          <p:cNvSpPr/>
          <p:nvPr/>
        </p:nvSpPr>
        <p:spPr>
          <a:xfrm>
            <a:off x="5654675" y="5661025"/>
            <a:ext cx="1654175" cy="647700"/>
          </a:xfrm>
          <a:prstGeom prst="wedgeRoundRectCallout">
            <a:avLst>
              <a:gd name="adj1" fmla="val 42574"/>
              <a:gd name="adj2" fmla="val -98722"/>
              <a:gd name="adj3" fmla="val 16667"/>
            </a:avLst>
          </a:prstGeom>
          <a:pattFill prst="pct90">
            <a:fgClr>
              <a:srgbClr val="FFFF00"/>
            </a:fgClr>
            <a:bgClr>
              <a:srgbClr val="FFFFFF"/>
            </a:bgClr>
          </a:pattFill>
          <a:ln w="28575" cap="flat" cmpd="sng">
            <a:solidFill>
              <a:srgbClr val="FF3300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/>
          <a:p>
            <a:pPr algn="ctr" eaLnBrk="0" hangingPunct="0"/>
            <a:r>
              <a:rPr lang="zh-CN" altLang="en-US" sz="1800" b="1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电流的参考方向</a:t>
            </a:r>
            <a:endParaRPr lang="en-US" altLang="zh-CN" sz="1800" b="1" dirty="0">
              <a:solidFill>
                <a:schemeClr val="tx2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algn="ctr" eaLnBrk="0" hangingPunct="0"/>
            <a:r>
              <a:rPr lang="zh-CN" altLang="en-US" sz="1800" b="1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与实际方向相反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43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43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43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43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338" grpId="0"/>
      <p:bldP spid="14340" grpId="0"/>
      <p:bldP spid="40" grpId="0" animBg="1"/>
      <p:bldP spid="41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Text Box 2"/>
          <p:cNvSpPr txBox="1">
            <a:spLocks noChangeArrowheads="1"/>
          </p:cNvSpPr>
          <p:nvPr/>
        </p:nvSpPr>
        <p:spPr bwMode="auto">
          <a:xfrm>
            <a:off x="533400" y="2757488"/>
            <a:ext cx="73914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1435" tIns="45718" rIns="91435" bIns="45718">
            <a:spAutoFit/>
          </a:bodyPr>
          <a:lstStyle/>
          <a:p>
            <a:pPr marR="0" defTabSz="914400">
              <a:buClrTx/>
              <a:buSzTx/>
              <a:buFontTx/>
              <a:buNone/>
              <a:defRPr/>
            </a:pPr>
            <a:r>
              <a:rPr kumimoji="1" lang="zh-CN" altLang="en-US" sz="2800" b="1" kern="1200" cap="none" spc="0" normalizeH="0" baseline="0" noProof="0">
                <a:solidFill>
                  <a:srgbClr val="CC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电路端电压与电流的关系称为伏安特性。</a:t>
            </a:r>
          </a:p>
        </p:txBody>
      </p:sp>
      <p:sp>
        <p:nvSpPr>
          <p:cNvPr id="15363" name="Text Box 3"/>
          <p:cNvSpPr txBox="1"/>
          <p:nvPr/>
        </p:nvSpPr>
        <p:spPr>
          <a:xfrm>
            <a:off x="457200" y="914400"/>
            <a:ext cx="8305800" cy="946150"/>
          </a:xfrm>
          <a:prstGeom prst="rect">
            <a:avLst/>
          </a:prstGeom>
          <a:noFill/>
          <a:ln w="9525">
            <a:noFill/>
          </a:ln>
        </p:spPr>
        <p:txBody>
          <a:bodyPr lIns="91435" tIns="45718" rIns="91435" bIns="45718" anchor="t" anchorCtr="0">
            <a:spAutoFit/>
          </a:bodyPr>
          <a:lstStyle/>
          <a:p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   </a:t>
            </a:r>
            <a:r>
              <a:rPr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遵循欧姆定律的电阻称为线性电阻，它表示该段电路电压与电流的比值为常数。</a:t>
            </a:r>
          </a:p>
        </p:txBody>
      </p:sp>
      <p:grpSp>
        <p:nvGrpSpPr>
          <p:cNvPr id="15364" name="Group 4"/>
          <p:cNvGrpSpPr/>
          <p:nvPr/>
        </p:nvGrpSpPr>
        <p:grpSpPr>
          <a:xfrm>
            <a:off x="4724400" y="3290888"/>
            <a:ext cx="3810000" cy="3033712"/>
            <a:chOff x="2976" y="2016"/>
            <a:chExt cx="2400" cy="1911"/>
          </a:xfrm>
        </p:grpSpPr>
        <p:sp>
          <p:nvSpPr>
            <p:cNvPr id="18436" name="Line 5"/>
            <p:cNvSpPr/>
            <p:nvPr/>
          </p:nvSpPr>
          <p:spPr>
            <a:xfrm flipV="1">
              <a:off x="3840" y="2146"/>
              <a:ext cx="0" cy="1438"/>
            </a:xfrm>
            <a:prstGeom prst="line">
              <a:avLst/>
            </a:prstGeom>
            <a:ln w="38100" cap="flat" cmpd="sng">
              <a:solidFill>
                <a:srgbClr val="FF3300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18437" name="Text Box 6"/>
            <p:cNvSpPr txBox="1"/>
            <p:nvPr/>
          </p:nvSpPr>
          <p:spPr>
            <a:xfrm>
              <a:off x="3934" y="2016"/>
              <a:ext cx="392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91435" tIns="45718" rIns="91435" bIns="45718" anchor="t" anchorCtr="0">
              <a:spAutoFit/>
            </a:bodyPr>
            <a:lstStyle/>
            <a:p>
              <a:r>
                <a:rPr lang="en-US" altLang="zh-CN" b="1" i="1" dirty="0">
                  <a:latin typeface="Times New Roman" panose="02020603050405020304" pitchFamily="18" charset="0"/>
                  <a:ea typeface="宋体" panose="02010600030101010101" pitchFamily="2" charset="-122"/>
                </a:rPr>
                <a:t>I</a:t>
              </a:r>
              <a:r>
                <a:rPr lang="en-US" altLang="zh-CN" sz="2800" b="1" i="1" dirty="0">
                  <a:latin typeface="Times New Roman" panose="02020603050405020304" pitchFamily="18" charset="0"/>
                  <a:ea typeface="宋体" panose="02010600030101010101" pitchFamily="2" charset="-122"/>
                </a:rPr>
                <a:t>/</a:t>
              </a:r>
              <a:r>
                <a:rPr lang="en-US" altLang="zh-CN" b="1" dirty="0">
                  <a:latin typeface="Times New Roman" panose="02020603050405020304" pitchFamily="18" charset="0"/>
                  <a:ea typeface="宋体" panose="02010600030101010101" pitchFamily="2" charset="-122"/>
                </a:rPr>
                <a:t>A</a:t>
              </a:r>
            </a:p>
          </p:txBody>
        </p:sp>
        <p:sp>
          <p:nvSpPr>
            <p:cNvPr id="18438" name="Line 7"/>
            <p:cNvSpPr/>
            <p:nvPr/>
          </p:nvSpPr>
          <p:spPr>
            <a:xfrm>
              <a:off x="3072" y="2883"/>
              <a:ext cx="1604" cy="0"/>
            </a:xfrm>
            <a:prstGeom prst="line">
              <a:avLst/>
            </a:prstGeom>
            <a:ln w="38100" cap="flat" cmpd="sng">
              <a:solidFill>
                <a:srgbClr val="FF3300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18439" name="Text Box 8"/>
            <p:cNvSpPr txBox="1"/>
            <p:nvPr/>
          </p:nvSpPr>
          <p:spPr>
            <a:xfrm>
              <a:off x="4676" y="2697"/>
              <a:ext cx="700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91435" tIns="45718" rIns="91435" bIns="45718" anchor="t" anchorCtr="0">
              <a:spAutoFit/>
            </a:bodyPr>
            <a:lstStyle/>
            <a:p>
              <a:r>
                <a:rPr lang="en-US" altLang="zh-CN" b="1" i="1" dirty="0">
                  <a:latin typeface="Times New Roman" panose="02020603050405020304" pitchFamily="18" charset="0"/>
                  <a:ea typeface="宋体" panose="02010600030101010101" pitchFamily="2" charset="-122"/>
                </a:rPr>
                <a:t>U</a:t>
              </a:r>
              <a:r>
                <a:rPr lang="en-US" altLang="zh-CN" sz="2800" b="1" i="1" dirty="0">
                  <a:latin typeface="Times New Roman" panose="02020603050405020304" pitchFamily="18" charset="0"/>
                  <a:ea typeface="宋体" panose="02010600030101010101" pitchFamily="2" charset="-122"/>
                </a:rPr>
                <a:t>/</a:t>
              </a:r>
              <a:r>
                <a:rPr lang="en-US" altLang="zh-CN" b="1" dirty="0">
                  <a:latin typeface="Times New Roman" panose="02020603050405020304" pitchFamily="18" charset="0"/>
                  <a:ea typeface="宋体" panose="02010600030101010101" pitchFamily="2" charset="-122"/>
                </a:rPr>
                <a:t>V</a:t>
              </a:r>
            </a:p>
          </p:txBody>
        </p:sp>
        <p:sp>
          <p:nvSpPr>
            <p:cNvPr id="18440" name="Line 9"/>
            <p:cNvSpPr/>
            <p:nvPr/>
          </p:nvSpPr>
          <p:spPr>
            <a:xfrm flipH="1">
              <a:off x="3320" y="2299"/>
              <a:ext cx="1104" cy="1094"/>
            </a:xfrm>
            <a:prstGeom prst="line">
              <a:avLst/>
            </a:prstGeom>
            <a:ln w="38100" cap="flat" cmpd="sng">
              <a:solidFill>
                <a:srgbClr val="003399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8441" name="Text Box 10"/>
            <p:cNvSpPr txBox="1"/>
            <p:nvPr/>
          </p:nvSpPr>
          <p:spPr>
            <a:xfrm>
              <a:off x="3840" y="2784"/>
              <a:ext cx="228" cy="327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lIns="91435" tIns="45718" rIns="91435" bIns="45718" anchor="t" anchorCtr="0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zh-CN" sz="2800" b="1" i="1" dirty="0">
                  <a:latin typeface="Times New Roman" panose="02020603050405020304" pitchFamily="18" charset="0"/>
                  <a:ea typeface="宋体" panose="02010600030101010101" pitchFamily="2" charset="-122"/>
                </a:rPr>
                <a:t>o</a:t>
              </a:r>
            </a:p>
          </p:txBody>
        </p:sp>
        <p:sp>
          <p:nvSpPr>
            <p:cNvPr id="18442" name="Text Box 11"/>
            <p:cNvSpPr txBox="1"/>
            <p:nvPr/>
          </p:nvSpPr>
          <p:spPr>
            <a:xfrm>
              <a:off x="2976" y="3600"/>
              <a:ext cx="2160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91435" tIns="45718" rIns="91435" bIns="45718" anchor="t" anchorCtr="0">
              <a:spAutoFit/>
            </a:bodyPr>
            <a:lstStyle/>
            <a:p>
              <a:r>
                <a:rPr lang="zh-CN" altLang="en-US" sz="2800" b="1" dirty="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线性电阻的伏安特性</a:t>
              </a:r>
            </a:p>
          </p:txBody>
        </p:sp>
      </p:grpSp>
      <p:sp>
        <p:nvSpPr>
          <p:cNvPr id="15372" name="Text Box 12"/>
          <p:cNvSpPr txBox="1">
            <a:spLocks noChangeArrowheads="1"/>
          </p:cNvSpPr>
          <p:nvPr/>
        </p:nvSpPr>
        <p:spPr bwMode="auto">
          <a:xfrm>
            <a:off x="457200" y="381000"/>
            <a:ext cx="3216275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1435" tIns="45718" rIns="91435" bIns="45718">
            <a:spAutoFit/>
          </a:bodyPr>
          <a:lstStyle/>
          <a:p>
            <a:pPr marR="0" defTabSz="914400">
              <a:buClrTx/>
              <a:buSzTx/>
              <a:buFontTx/>
              <a:buNone/>
              <a:defRPr/>
            </a:pPr>
            <a:r>
              <a:rPr kumimoji="1" lang="zh-CN" altLang="en-US" sz="2800" b="1" kern="1200" cap="none" spc="0" normalizeH="0" baseline="0" noProof="0">
                <a:solidFill>
                  <a:srgbClr val="CC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线性电阻的概念：</a:t>
            </a:r>
          </a:p>
        </p:txBody>
      </p:sp>
      <p:graphicFrame>
        <p:nvGraphicFramePr>
          <p:cNvPr id="15373" name="Object 13"/>
          <p:cNvGraphicFramePr/>
          <p:nvPr/>
        </p:nvGraphicFramePr>
        <p:xfrm>
          <a:off x="839788" y="1828800"/>
          <a:ext cx="2838450" cy="9032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3" imgW="33528000" imgH="10668000" progId="">
                  <p:embed/>
                </p:oleObj>
              </mc:Choice>
              <mc:Fallback>
                <p:oleObj r:id="rId3" imgW="33528000" imgH="10668000" progId="">
                  <p:embed/>
                  <p:pic>
                    <p:nvPicPr>
                      <p:cNvPr id="0" name="图片 6144" descr="image16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839788" y="1828800"/>
                        <a:ext cx="2838450" cy="90328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374" name="Text Box 14"/>
          <p:cNvSpPr txBox="1">
            <a:spLocks noChangeArrowheads="1"/>
          </p:cNvSpPr>
          <p:nvPr/>
        </p:nvSpPr>
        <p:spPr bwMode="auto">
          <a:xfrm>
            <a:off x="609600" y="3352800"/>
            <a:ext cx="4038600" cy="946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1435" tIns="45718" rIns="91435" bIns="45718">
            <a:spAutoFit/>
          </a:bodyPr>
          <a:lstStyle/>
          <a:p>
            <a:pPr marR="0" defTabSz="914400">
              <a:buClrTx/>
              <a:buSzTx/>
              <a:buFontTx/>
              <a:buNone/>
              <a:defRPr/>
            </a:pPr>
            <a:r>
              <a:rPr kumimoji="1" lang="en-US" altLang="zh-CN" sz="2800" b="1" kern="1200" cap="none" spc="0" normalizeH="0" baseline="0" noProof="0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   </a:t>
            </a:r>
            <a:r>
              <a:rPr kumimoji="1" lang="zh-CN" altLang="en-US" sz="2800" b="1" kern="1200" cap="none" spc="0" normalizeH="0" baseline="0" noProof="0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线性电阻的伏安特性是一条过原点的直线。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536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53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536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537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53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362" grpId="0"/>
      <p:bldP spid="15363" grpId="0"/>
      <p:bldP spid="15374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7" name="Rectangle 2"/>
          <p:cNvSpPr>
            <a:spLocks noGrp="1"/>
          </p:cNvSpPr>
          <p:nvPr>
            <p:ph type="title"/>
          </p:nvPr>
        </p:nvSpPr>
        <p:spPr>
          <a:xfrm>
            <a:off x="533400" y="228600"/>
            <a:ext cx="7772400" cy="609600"/>
          </a:xfrm>
          <a:noFill/>
          <a:ln>
            <a:noFill/>
          </a:ln>
        </p:spPr>
        <p:txBody>
          <a:bodyPr lIns="91435" tIns="45718" rIns="91435" bIns="45718" anchor="t" anchorCtr="0"/>
          <a:lstStyle/>
          <a:p>
            <a:pPr eaLnBrk="1" hangingPunct="1"/>
            <a:r>
              <a:rPr lang="en-US" altLang="zh-CN" sz="3600" b="1" dirty="0">
                <a:solidFill>
                  <a:srgbClr val="CC0000"/>
                </a:solidFill>
                <a:ea typeface="华文新魏" panose="02010800040101010101" pitchFamily="2" charset="-122"/>
              </a:rPr>
              <a:t>1.5</a:t>
            </a:r>
            <a:r>
              <a:rPr lang="en-US" altLang="zh-CN" sz="3600" b="1" dirty="0">
                <a:solidFill>
                  <a:srgbClr val="CC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</a:t>
            </a:r>
            <a:r>
              <a:rPr lang="zh-CN" altLang="en-US" sz="3600" b="1" dirty="0">
                <a:solidFill>
                  <a:srgbClr val="CC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电源有载工作、开路与短路</a:t>
            </a:r>
          </a:p>
        </p:txBody>
      </p:sp>
      <p:grpSp>
        <p:nvGrpSpPr>
          <p:cNvPr id="19458" name="Group 3"/>
          <p:cNvGrpSpPr/>
          <p:nvPr/>
        </p:nvGrpSpPr>
        <p:grpSpPr>
          <a:xfrm>
            <a:off x="298450" y="762000"/>
            <a:ext cx="8275638" cy="171450"/>
            <a:chOff x="395" y="624"/>
            <a:chExt cx="5213" cy="108"/>
          </a:xfrm>
        </p:grpSpPr>
        <p:pic>
          <p:nvPicPr>
            <p:cNvPr id="19459" name="Picture 4" descr="Green and Black Diamond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447" y="624"/>
              <a:ext cx="120" cy="108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19460" name="Picture 5" descr="Green and Black Diamond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560" y="624"/>
              <a:ext cx="119" cy="108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19461" name="Picture 6" descr="Green and Black Diamond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666" y="624"/>
              <a:ext cx="119" cy="108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19462" name="Picture 7" descr="Green and Black Diamond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765" y="624"/>
              <a:ext cx="119" cy="108"/>
            </a:xfrm>
            <a:prstGeom prst="rect">
              <a:avLst/>
            </a:prstGeom>
            <a:noFill/>
            <a:ln w="9525">
              <a:noFill/>
            </a:ln>
          </p:spPr>
        </p:pic>
        <p:grpSp>
          <p:nvGrpSpPr>
            <p:cNvPr id="19463" name="Group 8"/>
            <p:cNvGrpSpPr/>
            <p:nvPr/>
          </p:nvGrpSpPr>
          <p:grpSpPr>
            <a:xfrm>
              <a:off x="395" y="624"/>
              <a:ext cx="331" cy="108"/>
              <a:chOff x="395" y="624"/>
              <a:chExt cx="331" cy="108"/>
            </a:xfrm>
          </p:grpSpPr>
          <p:pic>
            <p:nvPicPr>
              <p:cNvPr id="19464" name="Picture 9" descr="Green and Black Diamond"/>
              <p:cNvPicPr>
                <a:picLocks noChangeAspect="1"/>
              </p:cNvPicPr>
              <p:nvPr/>
            </p:nvPicPr>
            <p:blipFill>
              <a:blip r:embed="rId2" cstate="print"/>
              <a:stretch>
                <a:fillRect/>
              </a:stretch>
            </p:blipFill>
            <p:spPr>
              <a:xfrm>
                <a:off x="395" y="624"/>
                <a:ext cx="119" cy="108"/>
              </a:xfrm>
              <a:prstGeom prst="rect">
                <a:avLst/>
              </a:prstGeom>
              <a:noFill/>
              <a:ln w="9525">
                <a:noFill/>
              </a:ln>
            </p:spPr>
          </p:pic>
          <p:pic>
            <p:nvPicPr>
              <p:cNvPr id="19465" name="Picture 10" descr="Green and Black Diamond"/>
              <p:cNvPicPr>
                <a:picLocks noChangeAspect="1"/>
              </p:cNvPicPr>
              <p:nvPr/>
            </p:nvPicPr>
            <p:blipFill>
              <a:blip r:embed="rId2" cstate="print"/>
              <a:stretch>
                <a:fillRect/>
              </a:stretch>
            </p:blipFill>
            <p:spPr>
              <a:xfrm>
                <a:off x="494" y="624"/>
                <a:ext cx="119" cy="108"/>
              </a:xfrm>
              <a:prstGeom prst="rect">
                <a:avLst/>
              </a:prstGeom>
              <a:noFill/>
              <a:ln w="9525">
                <a:noFill/>
              </a:ln>
            </p:spPr>
          </p:pic>
          <p:pic>
            <p:nvPicPr>
              <p:cNvPr id="19466" name="Picture 11" descr="Green and Black Diamond"/>
              <p:cNvPicPr>
                <a:picLocks noChangeAspect="1"/>
              </p:cNvPicPr>
              <p:nvPr/>
            </p:nvPicPr>
            <p:blipFill>
              <a:blip r:embed="rId2" cstate="print"/>
              <a:stretch>
                <a:fillRect/>
              </a:stretch>
            </p:blipFill>
            <p:spPr>
              <a:xfrm>
                <a:off x="607" y="624"/>
                <a:ext cx="119" cy="108"/>
              </a:xfrm>
              <a:prstGeom prst="rect">
                <a:avLst/>
              </a:prstGeom>
              <a:noFill/>
              <a:ln w="9525">
                <a:noFill/>
              </a:ln>
            </p:spPr>
          </p:pic>
        </p:grpSp>
        <p:pic>
          <p:nvPicPr>
            <p:cNvPr id="19467" name="Picture 12" descr="Green and Black Diamond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12" y="624"/>
              <a:ext cx="119" cy="108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19468" name="Picture 13" descr="Green and Black Diamond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24" y="624"/>
              <a:ext cx="119" cy="108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19469" name="Picture 14" descr="Green and Black Diamond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030" y="624"/>
              <a:ext cx="119" cy="108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19470" name="Picture 15" descr="Green and Black Diamond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129" y="624"/>
              <a:ext cx="120" cy="108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19471" name="Picture 16" descr="Green and Black Diamond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242" y="624"/>
              <a:ext cx="119" cy="108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19472" name="Picture 17" descr="Green and Black Diamond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13" y="624"/>
              <a:ext cx="119" cy="108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19473" name="Picture 18" descr="Green and Black Diamond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348" y="624"/>
              <a:ext cx="119" cy="108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19474" name="Picture 19" descr="Green and Black Diamond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878" y="624"/>
              <a:ext cx="112" cy="102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19475" name="Picture 20" descr="Green and Black Diamond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984" y="624"/>
              <a:ext cx="112" cy="102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19476" name="Picture 21" descr="Green and Black Diamond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083" y="624"/>
              <a:ext cx="112" cy="102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19477" name="Picture 22" descr="Green and Black Diamond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195" y="624"/>
              <a:ext cx="113" cy="102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19478" name="Picture 23" descr="Green and Black Diamond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301" y="624"/>
              <a:ext cx="113" cy="102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19479" name="Picture 24" descr="Green and Black Diamond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401" y="624"/>
              <a:ext cx="112" cy="102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19480" name="Picture 25" descr="Green and Black Diamond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513" y="624"/>
              <a:ext cx="113" cy="102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19481" name="Picture 26" descr="Green and Black Diamond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718" y="624"/>
              <a:ext cx="113" cy="102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19482" name="Picture 27" descr="Green and Black Diamond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831" y="624"/>
              <a:ext cx="112" cy="102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19483" name="Picture 28" descr="Green and Black Diamond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937" y="624"/>
              <a:ext cx="112" cy="102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19484" name="Picture 29" descr="Green and Black Diamond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036" y="624"/>
              <a:ext cx="113" cy="102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19485" name="Picture 30" descr="Green and Black Diamond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149" y="624"/>
              <a:ext cx="112" cy="102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19486" name="Picture 31" descr="Green and Black Diamond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354" y="624"/>
              <a:ext cx="112" cy="102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19487" name="Picture 32" descr="Green and Black Diamond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466" y="624"/>
              <a:ext cx="113" cy="102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19488" name="Picture 33" descr="Green and Black Diamond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572" y="624"/>
              <a:ext cx="113" cy="102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19489" name="Picture 34" descr="Green and Black Diamond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672" y="624"/>
              <a:ext cx="112" cy="102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19490" name="Picture 35" descr="Green and Black Diamond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619" y="624"/>
              <a:ext cx="113" cy="102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19491" name="Picture 36" descr="Green and Black Diamond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255" y="624"/>
              <a:ext cx="112" cy="102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19492" name="Picture 37" descr="Green and Black Diamond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784" y="624"/>
              <a:ext cx="113" cy="102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19493" name="Picture 38" descr="Green and Black Diamond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890" y="624"/>
              <a:ext cx="112" cy="102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19494" name="Picture 39" descr="Green and Black Diamond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989" y="624"/>
              <a:ext cx="113" cy="102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19495" name="Picture 40" descr="Green and Black Diamond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102" y="624"/>
              <a:ext cx="112" cy="102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19496" name="Picture 41" descr="Green and Black Diamond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208" y="624"/>
              <a:ext cx="112" cy="102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19497" name="Picture 42" descr="Green and Black Diamond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307" y="624"/>
              <a:ext cx="112" cy="102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19498" name="Picture 43" descr="Green and Black Diamond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419" y="624"/>
              <a:ext cx="113" cy="102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19499" name="Picture 44" descr="Green and Black Diamond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625" y="624"/>
              <a:ext cx="112" cy="102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19500" name="Picture 45" descr="Green and Black Diamond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737" y="624"/>
              <a:ext cx="113" cy="102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19501" name="Picture 46" descr="Green and Black Diamond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843" y="624"/>
              <a:ext cx="113" cy="102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19502" name="Picture 47" descr="Green and Black Diamond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942" y="624"/>
              <a:ext cx="113" cy="102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19503" name="Picture 48" descr="Green and Black Diamond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055" y="624"/>
              <a:ext cx="112" cy="102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19504" name="Picture 49" descr="Green and Black Diamond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525" y="624"/>
              <a:ext cx="113" cy="102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19505" name="Picture 50" descr="Green and Black Diamond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161" y="624"/>
              <a:ext cx="119" cy="108"/>
            </a:xfrm>
            <a:prstGeom prst="rect">
              <a:avLst/>
            </a:prstGeom>
            <a:noFill/>
            <a:ln w="9525">
              <a:noFill/>
            </a:ln>
          </p:spPr>
        </p:pic>
        <p:grpSp>
          <p:nvGrpSpPr>
            <p:cNvPr id="19506" name="Group 51"/>
            <p:cNvGrpSpPr/>
            <p:nvPr/>
          </p:nvGrpSpPr>
          <p:grpSpPr>
            <a:xfrm>
              <a:off x="5277" y="624"/>
              <a:ext cx="331" cy="108"/>
              <a:chOff x="395" y="624"/>
              <a:chExt cx="331" cy="108"/>
            </a:xfrm>
          </p:grpSpPr>
          <p:pic>
            <p:nvPicPr>
              <p:cNvPr id="19507" name="Picture 52" descr="Green and Black Diamond"/>
              <p:cNvPicPr>
                <a:picLocks noChangeAspect="1"/>
              </p:cNvPicPr>
              <p:nvPr/>
            </p:nvPicPr>
            <p:blipFill>
              <a:blip r:embed="rId2" cstate="print"/>
              <a:stretch>
                <a:fillRect/>
              </a:stretch>
            </p:blipFill>
            <p:spPr>
              <a:xfrm>
                <a:off x="395" y="624"/>
                <a:ext cx="119" cy="108"/>
              </a:xfrm>
              <a:prstGeom prst="rect">
                <a:avLst/>
              </a:prstGeom>
              <a:noFill/>
              <a:ln w="9525">
                <a:noFill/>
              </a:ln>
            </p:spPr>
          </p:pic>
          <p:pic>
            <p:nvPicPr>
              <p:cNvPr id="19508" name="Picture 53" descr="Green and Black Diamond"/>
              <p:cNvPicPr>
                <a:picLocks noChangeAspect="1"/>
              </p:cNvPicPr>
              <p:nvPr/>
            </p:nvPicPr>
            <p:blipFill>
              <a:blip r:embed="rId2" cstate="print"/>
              <a:stretch>
                <a:fillRect/>
              </a:stretch>
            </p:blipFill>
            <p:spPr>
              <a:xfrm>
                <a:off x="494" y="624"/>
                <a:ext cx="119" cy="108"/>
              </a:xfrm>
              <a:prstGeom prst="rect">
                <a:avLst/>
              </a:prstGeom>
              <a:noFill/>
              <a:ln w="9525">
                <a:noFill/>
              </a:ln>
            </p:spPr>
          </p:pic>
          <p:pic>
            <p:nvPicPr>
              <p:cNvPr id="19509" name="Picture 54" descr="Green and Black Diamond"/>
              <p:cNvPicPr>
                <a:picLocks noChangeAspect="1"/>
              </p:cNvPicPr>
              <p:nvPr/>
            </p:nvPicPr>
            <p:blipFill>
              <a:blip r:embed="rId2" cstate="print"/>
              <a:stretch>
                <a:fillRect/>
              </a:stretch>
            </p:blipFill>
            <p:spPr>
              <a:xfrm>
                <a:off x="607" y="624"/>
                <a:ext cx="119" cy="108"/>
              </a:xfrm>
              <a:prstGeom prst="rect">
                <a:avLst/>
              </a:prstGeom>
              <a:noFill/>
              <a:ln w="9525">
                <a:noFill/>
              </a:ln>
            </p:spPr>
          </p:pic>
        </p:grpSp>
      </p:grpSp>
      <p:sp>
        <p:nvSpPr>
          <p:cNvPr id="16439" name="Text Box 55"/>
          <p:cNvSpPr txBox="1"/>
          <p:nvPr/>
        </p:nvSpPr>
        <p:spPr>
          <a:xfrm>
            <a:off x="615950" y="1647825"/>
            <a:ext cx="3717925" cy="461963"/>
          </a:xfrm>
          <a:prstGeom prst="rect">
            <a:avLst/>
          </a:prstGeom>
          <a:noFill/>
          <a:ln w="38100">
            <a:noFill/>
          </a:ln>
        </p:spPr>
        <p:txBody>
          <a:bodyPr lIns="91435" tIns="45718" rIns="91435" bIns="45718" anchor="ctr" anchorCtr="0">
            <a:spAutoFit/>
          </a:bodyPr>
          <a:lstStyle/>
          <a:p>
            <a:r>
              <a:rPr lang="zh-CN" altLang="en-US" b="1" dirty="0">
                <a:latin typeface="Times New Roman" panose="02020603050405020304" pitchFamily="18" charset="0"/>
                <a:ea typeface="宋体" panose="02010600030101010101" pitchFamily="2" charset="-122"/>
              </a:rPr>
              <a:t>开关闭合</a:t>
            </a:r>
            <a:r>
              <a:rPr lang="en-US" altLang="zh-CN" b="1" dirty="0">
                <a:latin typeface="Times New Roman" panose="02020603050405020304" pitchFamily="18" charset="0"/>
                <a:ea typeface="宋体" panose="02010600030101010101" pitchFamily="2" charset="-122"/>
              </a:rPr>
              <a:t>,</a:t>
            </a:r>
            <a:r>
              <a:rPr lang="zh-CN" altLang="en-US" b="1" dirty="0">
                <a:latin typeface="Times New Roman" panose="02020603050405020304" pitchFamily="18" charset="0"/>
                <a:ea typeface="宋体" panose="02010600030101010101" pitchFamily="2" charset="-122"/>
              </a:rPr>
              <a:t>接通电源与负载</a:t>
            </a:r>
          </a:p>
        </p:txBody>
      </p:sp>
      <p:sp>
        <p:nvSpPr>
          <p:cNvPr id="16441" name="Text Box 57"/>
          <p:cNvSpPr txBox="1"/>
          <p:nvPr/>
        </p:nvSpPr>
        <p:spPr>
          <a:xfrm>
            <a:off x="468313" y="3925888"/>
            <a:ext cx="2393950" cy="519112"/>
          </a:xfrm>
          <a:prstGeom prst="rect">
            <a:avLst/>
          </a:prstGeom>
          <a:noFill/>
          <a:ln w="38100">
            <a:noFill/>
          </a:ln>
        </p:spPr>
        <p:txBody>
          <a:bodyPr lIns="91435" tIns="45718" rIns="91435" bIns="45718" anchor="ctr" anchorCtr="0">
            <a:spAutoFit/>
          </a:bodyPr>
          <a:lstStyle/>
          <a:p>
            <a:r>
              <a:rPr lang="zh-CN" altLang="en-US" sz="2800" b="1" dirty="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负载端电压</a:t>
            </a:r>
          </a:p>
        </p:txBody>
      </p:sp>
      <p:sp>
        <p:nvSpPr>
          <p:cNvPr id="16442" name="Rectangle 58"/>
          <p:cNvSpPr/>
          <p:nvPr/>
        </p:nvSpPr>
        <p:spPr>
          <a:xfrm>
            <a:off x="2484438" y="3917950"/>
            <a:ext cx="1266825" cy="519113"/>
          </a:xfrm>
          <a:prstGeom prst="rect">
            <a:avLst/>
          </a:prstGeom>
          <a:noFill/>
          <a:ln w="38100">
            <a:noFill/>
          </a:ln>
        </p:spPr>
        <p:txBody>
          <a:bodyPr lIns="91435" tIns="45718" rIns="91435" bIns="45718" anchor="t" anchorCtr="0">
            <a:spAutoFit/>
          </a:bodyPr>
          <a:lstStyle/>
          <a:p>
            <a:r>
              <a:rPr lang="en-US" altLang="zh-CN" sz="2800" b="1" i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U 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= </a:t>
            </a:r>
            <a:r>
              <a:rPr lang="en-US" altLang="zh-CN" sz="2800" b="1" i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IR</a:t>
            </a:r>
          </a:p>
        </p:txBody>
      </p:sp>
      <p:sp>
        <p:nvSpPr>
          <p:cNvPr id="16443" name="Text Box 59"/>
          <p:cNvSpPr txBox="1"/>
          <p:nvPr/>
        </p:nvSpPr>
        <p:spPr>
          <a:xfrm>
            <a:off x="490538" y="2390775"/>
            <a:ext cx="1109662" cy="519113"/>
          </a:xfrm>
          <a:prstGeom prst="rect">
            <a:avLst/>
          </a:prstGeom>
          <a:noFill/>
          <a:ln w="38100">
            <a:noFill/>
          </a:ln>
        </p:spPr>
        <p:txBody>
          <a:bodyPr wrap="none" lIns="91435" tIns="45718" rIns="91435" bIns="45718" anchor="ctr" anchorCtr="0">
            <a:spAutoFit/>
          </a:bodyPr>
          <a:lstStyle/>
          <a:p>
            <a:pPr algn="ctr"/>
            <a:r>
              <a:rPr lang="en-US" altLang="zh-CN" sz="2800" b="1" dirty="0">
                <a:solidFill>
                  <a:srgbClr val="CC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zh-CN" altLang="en-US" sz="2800" b="1" dirty="0">
                <a:solidFill>
                  <a:srgbClr val="CC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特征</a:t>
            </a:r>
            <a:r>
              <a:rPr lang="en-US" altLang="zh-CN" sz="2800" b="1" dirty="0">
                <a:solidFill>
                  <a:srgbClr val="CC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:</a:t>
            </a:r>
          </a:p>
        </p:txBody>
      </p:sp>
      <p:sp>
        <p:nvSpPr>
          <p:cNvPr id="16444" name="Rectangle 60"/>
          <p:cNvSpPr>
            <a:spLocks noChangeArrowheads="1"/>
          </p:cNvSpPr>
          <p:nvPr/>
        </p:nvSpPr>
        <p:spPr bwMode="auto">
          <a:xfrm>
            <a:off x="533400" y="914400"/>
            <a:ext cx="388620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1435" tIns="45718" rIns="91435" bIns="45718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5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3200" b="1" i="0" u="none" strike="noStrike" kern="1200" cap="none" spc="0" normalizeH="0" baseline="0" noProof="0">
                <a:ln>
                  <a:noFill/>
                </a:ln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1.5.1  </a:t>
            </a:r>
            <a:r>
              <a:rPr kumimoji="1" lang="zh-CN" altLang="en-US" sz="3200" b="1" i="0" u="none" strike="noStrike" kern="1200" cap="none" spc="0" normalizeH="0" baseline="0" noProof="0">
                <a:ln>
                  <a:noFill/>
                </a:ln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电源有载工作</a:t>
            </a:r>
          </a:p>
        </p:txBody>
      </p:sp>
      <p:grpSp>
        <p:nvGrpSpPr>
          <p:cNvPr id="16445" name="Group 61"/>
          <p:cNvGrpSpPr/>
          <p:nvPr/>
        </p:nvGrpSpPr>
        <p:grpSpPr>
          <a:xfrm>
            <a:off x="6049963" y="1125538"/>
            <a:ext cx="427037" cy="1770062"/>
            <a:chOff x="4032" y="768"/>
            <a:chExt cx="336" cy="1392"/>
          </a:xfrm>
        </p:grpSpPr>
        <p:sp>
          <p:nvSpPr>
            <p:cNvPr id="19517" name="Line 62"/>
            <p:cNvSpPr/>
            <p:nvPr/>
          </p:nvSpPr>
          <p:spPr>
            <a:xfrm flipH="1">
              <a:off x="4032" y="768"/>
              <a:ext cx="288" cy="240"/>
            </a:xfrm>
            <a:prstGeom prst="line">
              <a:avLst/>
            </a:prstGeom>
            <a:ln w="38100" cap="flat" cmpd="sng">
              <a:solidFill>
                <a:srgbClr val="FF3300"/>
              </a:solidFill>
              <a:prstDash val="solid"/>
              <a:round/>
              <a:headEnd type="none" w="sm" len="sm"/>
              <a:tailEnd type="triangle" w="sm" len="sm"/>
            </a:ln>
          </p:spPr>
        </p:sp>
        <p:sp>
          <p:nvSpPr>
            <p:cNvPr id="19518" name="Line 63"/>
            <p:cNvSpPr/>
            <p:nvPr/>
          </p:nvSpPr>
          <p:spPr>
            <a:xfrm flipH="1">
              <a:off x="4080" y="1920"/>
              <a:ext cx="288" cy="240"/>
            </a:xfrm>
            <a:prstGeom prst="line">
              <a:avLst/>
            </a:prstGeom>
            <a:ln w="38100" cap="flat" cmpd="sng">
              <a:solidFill>
                <a:srgbClr val="FF3300"/>
              </a:solidFill>
              <a:prstDash val="solid"/>
              <a:round/>
              <a:headEnd type="none" w="sm" len="sm"/>
              <a:tailEnd type="triangle" w="sm" len="sm"/>
            </a:ln>
          </p:spPr>
        </p:sp>
      </p:grpSp>
      <p:grpSp>
        <p:nvGrpSpPr>
          <p:cNvPr id="19519" name="Group 64"/>
          <p:cNvGrpSpPr/>
          <p:nvPr/>
        </p:nvGrpSpPr>
        <p:grpSpPr>
          <a:xfrm>
            <a:off x="4273550" y="765175"/>
            <a:ext cx="3879850" cy="2063750"/>
            <a:chOff x="2692" y="515"/>
            <a:chExt cx="2444" cy="1300"/>
          </a:xfrm>
        </p:grpSpPr>
        <p:sp>
          <p:nvSpPr>
            <p:cNvPr id="19520" name="Text Box 65"/>
            <p:cNvSpPr txBox="1"/>
            <p:nvPr/>
          </p:nvSpPr>
          <p:spPr>
            <a:xfrm>
              <a:off x="3269" y="515"/>
              <a:ext cx="221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91435" tIns="45718" rIns="91435" bIns="45718" anchor="ctr" anchorCtr="0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zh-CN" sz="2800" b="1" i="1" dirty="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I</a:t>
              </a:r>
            </a:p>
          </p:txBody>
        </p:sp>
        <p:sp>
          <p:nvSpPr>
            <p:cNvPr id="19521" name="Oval 66"/>
            <p:cNvSpPr/>
            <p:nvPr/>
          </p:nvSpPr>
          <p:spPr>
            <a:xfrm>
              <a:off x="2956" y="1000"/>
              <a:ext cx="261" cy="239"/>
            </a:xfrm>
            <a:prstGeom prst="ellipse">
              <a:avLst/>
            </a:prstGeom>
            <a:noFill/>
            <a:ln w="3810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t" anchorCtr="0"/>
            <a:lstStyle/>
            <a:p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9522" name="Rectangle 67"/>
            <p:cNvSpPr/>
            <p:nvPr/>
          </p:nvSpPr>
          <p:spPr>
            <a:xfrm>
              <a:off x="3020" y="1354"/>
              <a:ext cx="106" cy="257"/>
            </a:xfrm>
            <a:prstGeom prst="rect">
              <a:avLst/>
            </a:prstGeom>
            <a:noFill/>
            <a:ln w="38100" cap="flat" cmpd="sng">
              <a:solidFill>
                <a:srgbClr val="00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anchor="t" anchorCtr="0"/>
            <a:lstStyle/>
            <a:p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9523" name="Rectangle 68"/>
            <p:cNvSpPr/>
            <p:nvPr/>
          </p:nvSpPr>
          <p:spPr>
            <a:xfrm>
              <a:off x="4803" y="1219"/>
              <a:ext cx="107" cy="249"/>
            </a:xfrm>
            <a:prstGeom prst="rect">
              <a:avLst/>
            </a:prstGeom>
            <a:noFill/>
            <a:ln w="38100" cap="flat" cmpd="sng">
              <a:solidFill>
                <a:srgbClr val="00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anchor="t" anchorCtr="0"/>
            <a:lstStyle/>
            <a:p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9524" name="Line 69"/>
            <p:cNvSpPr/>
            <p:nvPr/>
          </p:nvSpPr>
          <p:spPr>
            <a:xfrm flipV="1">
              <a:off x="3073" y="884"/>
              <a:ext cx="791" cy="0"/>
            </a:xfrm>
            <a:prstGeom prst="line">
              <a:avLst/>
            </a:prstGeom>
            <a:ln w="3810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9525" name="Line 70"/>
            <p:cNvSpPr/>
            <p:nvPr/>
          </p:nvSpPr>
          <p:spPr>
            <a:xfrm>
              <a:off x="4858" y="884"/>
              <a:ext cx="0" cy="335"/>
            </a:xfrm>
            <a:prstGeom prst="line">
              <a:avLst/>
            </a:prstGeom>
            <a:ln w="3810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9526" name="Line 71"/>
            <p:cNvSpPr/>
            <p:nvPr/>
          </p:nvSpPr>
          <p:spPr>
            <a:xfrm>
              <a:off x="4858" y="1696"/>
              <a:ext cx="0" cy="86"/>
            </a:xfrm>
            <a:prstGeom prst="line">
              <a:avLst/>
            </a:prstGeom>
            <a:ln w="39688" cap="flat" cmpd="sng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9527" name="Line 72"/>
            <p:cNvSpPr/>
            <p:nvPr/>
          </p:nvSpPr>
          <p:spPr>
            <a:xfrm>
              <a:off x="4858" y="1468"/>
              <a:ext cx="0" cy="342"/>
            </a:xfrm>
            <a:prstGeom prst="line">
              <a:avLst/>
            </a:prstGeom>
            <a:ln w="3810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9528" name="Line 73"/>
            <p:cNvSpPr/>
            <p:nvPr/>
          </p:nvSpPr>
          <p:spPr>
            <a:xfrm>
              <a:off x="3073" y="884"/>
              <a:ext cx="0" cy="0"/>
            </a:xfrm>
            <a:prstGeom prst="line">
              <a:avLst/>
            </a:prstGeom>
            <a:ln w="19050" cap="flat" cmpd="sng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9529" name="Line 74"/>
            <p:cNvSpPr/>
            <p:nvPr/>
          </p:nvSpPr>
          <p:spPr>
            <a:xfrm>
              <a:off x="3073" y="884"/>
              <a:ext cx="0" cy="470"/>
            </a:xfrm>
            <a:prstGeom prst="line">
              <a:avLst/>
            </a:prstGeom>
            <a:ln w="3810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9530" name="Rectangle 75"/>
            <p:cNvSpPr/>
            <p:nvPr/>
          </p:nvSpPr>
          <p:spPr>
            <a:xfrm>
              <a:off x="4125" y="1440"/>
              <a:ext cx="153" cy="213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/>
            <a:lstStyle/>
            <a:p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9531" name="Rectangle 76"/>
            <p:cNvSpPr/>
            <p:nvPr/>
          </p:nvSpPr>
          <p:spPr>
            <a:xfrm>
              <a:off x="2767" y="1412"/>
              <a:ext cx="225" cy="269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altLang="zh-CN" sz="2800" b="1" i="1" dirty="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R</a:t>
              </a:r>
              <a:r>
                <a:rPr lang="en-US" altLang="zh-CN" sz="2800" b="1" baseline="-25000" dirty="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0</a:t>
              </a:r>
              <a:endPara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9532" name="Rectangle 77"/>
            <p:cNvSpPr/>
            <p:nvPr/>
          </p:nvSpPr>
          <p:spPr>
            <a:xfrm>
              <a:off x="4937" y="1248"/>
              <a:ext cx="199" cy="214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/>
            <a:lstStyle/>
            <a:p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9533" name="Rectangle 78"/>
            <p:cNvSpPr/>
            <p:nvPr/>
          </p:nvSpPr>
          <p:spPr>
            <a:xfrm>
              <a:off x="4969" y="1270"/>
              <a:ext cx="149" cy="269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altLang="zh-CN" sz="2800" b="1" i="1" dirty="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R</a:t>
              </a:r>
              <a:endPara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9534" name="Rectangle 79"/>
            <p:cNvSpPr/>
            <p:nvPr/>
          </p:nvSpPr>
          <p:spPr>
            <a:xfrm>
              <a:off x="2920" y="827"/>
              <a:ext cx="140" cy="214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/>
            <a:lstStyle/>
            <a:p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9535" name="Rectangle 80"/>
            <p:cNvSpPr/>
            <p:nvPr/>
          </p:nvSpPr>
          <p:spPr>
            <a:xfrm>
              <a:off x="2927" y="784"/>
              <a:ext cx="123" cy="269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altLang="zh-CN" sz="2800" b="1" dirty="0">
                  <a:solidFill>
                    <a:srgbClr val="FF3300"/>
                  </a:solidFill>
                  <a:latin typeface="Symbol" panose="05050102010706020507" pitchFamily="18" charset="2"/>
                  <a:ea typeface="宋体" panose="02010600030101010101" pitchFamily="2" charset="-122"/>
                </a:rPr>
                <a:t>+</a:t>
              </a:r>
              <a:endParaRPr lang="en-US" altLang="zh-CN" sz="2800" dirty="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9536" name="Rectangle 81"/>
            <p:cNvSpPr/>
            <p:nvPr/>
          </p:nvSpPr>
          <p:spPr>
            <a:xfrm>
              <a:off x="2866" y="1162"/>
              <a:ext cx="174" cy="214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/>
            <a:lstStyle/>
            <a:p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9537" name="Rectangle 82"/>
            <p:cNvSpPr/>
            <p:nvPr/>
          </p:nvSpPr>
          <p:spPr>
            <a:xfrm>
              <a:off x="2881" y="1148"/>
              <a:ext cx="179" cy="269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altLang="zh-CN" sz="2800" dirty="0">
                  <a:solidFill>
                    <a:srgbClr val="FF3300"/>
                  </a:solidFill>
                  <a:latin typeface="Symbol" panose="05050102010706020507" pitchFamily="18" charset="2"/>
                  <a:ea typeface="宋体" panose="02010600030101010101" pitchFamily="2" charset="-122"/>
                </a:rPr>
                <a:t> </a:t>
              </a:r>
              <a:r>
                <a:rPr lang="en-US" altLang="zh-CN" sz="2800" b="1" dirty="0">
                  <a:solidFill>
                    <a:srgbClr val="FF3300"/>
                  </a:solidFill>
                  <a:latin typeface="Symbol" panose="05050102010706020507" pitchFamily="18" charset="2"/>
                  <a:ea typeface="宋体" panose="02010600030101010101" pitchFamily="2" charset="-122"/>
                </a:rPr>
                <a:t>-</a:t>
              </a:r>
              <a:endParaRPr lang="en-US" altLang="zh-CN" sz="2800" dirty="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9538" name="Rectangle 83"/>
            <p:cNvSpPr/>
            <p:nvPr/>
          </p:nvSpPr>
          <p:spPr>
            <a:xfrm>
              <a:off x="2692" y="993"/>
              <a:ext cx="299" cy="269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0" tIns="0" rIns="0" bIns="0" anchor="t" anchorCtr="0">
              <a:spAutoFit/>
            </a:bodyPr>
            <a:lstStyle/>
            <a:p>
              <a:pPr algn="ctr"/>
              <a:r>
                <a:rPr lang="en-US" altLang="zh-CN" sz="2800" b="1" i="1" dirty="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E</a:t>
              </a:r>
              <a:endParaRPr lang="en-US" altLang="zh-CN" sz="2800" i="1" dirty="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9539" name="Rectangle 84"/>
            <p:cNvSpPr/>
            <p:nvPr/>
          </p:nvSpPr>
          <p:spPr>
            <a:xfrm>
              <a:off x="3644" y="1224"/>
              <a:ext cx="268" cy="269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0" tIns="0" rIns="0" bIns="0" anchor="t" anchorCtr="0">
              <a:spAutoFit/>
            </a:bodyPr>
            <a:lstStyle/>
            <a:p>
              <a:pPr algn="ctr"/>
              <a:r>
                <a:rPr lang="en-US" altLang="zh-CN" sz="2800" b="1" i="1" dirty="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U</a:t>
              </a:r>
              <a:endParaRPr lang="en-US" altLang="zh-CN" sz="2800" i="1" dirty="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9540" name="Oval 85"/>
            <p:cNvSpPr/>
            <p:nvPr/>
          </p:nvSpPr>
          <p:spPr>
            <a:xfrm flipH="1">
              <a:off x="4066" y="1777"/>
              <a:ext cx="38" cy="38"/>
            </a:xfrm>
            <a:prstGeom prst="ellipse">
              <a:avLst/>
            </a:prstGeom>
            <a:noFill/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lstStyle/>
            <a:p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9541" name="Line 86"/>
            <p:cNvSpPr/>
            <p:nvPr/>
          </p:nvSpPr>
          <p:spPr>
            <a:xfrm flipH="1" flipV="1">
              <a:off x="3903" y="1690"/>
              <a:ext cx="177" cy="87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9542" name="Oval 87"/>
            <p:cNvSpPr/>
            <p:nvPr/>
          </p:nvSpPr>
          <p:spPr>
            <a:xfrm flipH="1">
              <a:off x="4057" y="865"/>
              <a:ext cx="38" cy="38"/>
            </a:xfrm>
            <a:prstGeom prst="ellipse">
              <a:avLst/>
            </a:prstGeom>
            <a:noFill/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lstStyle/>
            <a:p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9543" name="Line 88"/>
            <p:cNvSpPr/>
            <p:nvPr/>
          </p:nvSpPr>
          <p:spPr>
            <a:xfrm flipH="1" flipV="1">
              <a:off x="3893" y="778"/>
              <a:ext cx="178" cy="87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9544" name="Line 89"/>
            <p:cNvSpPr/>
            <p:nvPr/>
          </p:nvSpPr>
          <p:spPr>
            <a:xfrm flipV="1">
              <a:off x="4104" y="884"/>
              <a:ext cx="763" cy="0"/>
            </a:xfrm>
            <a:prstGeom prst="line">
              <a:avLst/>
            </a:prstGeom>
            <a:ln w="3810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9545" name="Line 90"/>
            <p:cNvSpPr/>
            <p:nvPr/>
          </p:nvSpPr>
          <p:spPr>
            <a:xfrm>
              <a:off x="3069" y="1607"/>
              <a:ext cx="0" cy="202"/>
            </a:xfrm>
            <a:prstGeom prst="line">
              <a:avLst/>
            </a:prstGeom>
            <a:ln w="3810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9546" name="Line 91"/>
            <p:cNvSpPr/>
            <p:nvPr/>
          </p:nvSpPr>
          <p:spPr>
            <a:xfrm>
              <a:off x="4003" y="839"/>
              <a:ext cx="0" cy="913"/>
            </a:xfrm>
            <a:prstGeom prst="line">
              <a:avLst/>
            </a:prstGeom>
            <a:ln w="38100" cap="flat" cmpd="sng">
              <a:solidFill>
                <a:srgbClr val="006600"/>
              </a:solidFill>
              <a:prstDash val="dash"/>
              <a:round/>
              <a:headEnd type="none" w="med" len="med"/>
              <a:tailEnd type="none" w="med" len="med"/>
            </a:ln>
          </p:spPr>
        </p:sp>
        <p:sp>
          <p:nvSpPr>
            <p:cNvPr id="19547" name="Line 92"/>
            <p:cNvSpPr/>
            <p:nvPr/>
          </p:nvSpPr>
          <p:spPr>
            <a:xfrm flipV="1">
              <a:off x="3073" y="1788"/>
              <a:ext cx="820" cy="9"/>
            </a:xfrm>
            <a:prstGeom prst="line">
              <a:avLst/>
            </a:prstGeom>
            <a:ln w="3810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9548" name="Line 93"/>
            <p:cNvSpPr/>
            <p:nvPr/>
          </p:nvSpPr>
          <p:spPr>
            <a:xfrm>
              <a:off x="4095" y="1788"/>
              <a:ext cx="772" cy="9"/>
            </a:xfrm>
            <a:prstGeom prst="line">
              <a:avLst/>
            </a:prstGeom>
            <a:ln w="3810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9549" name="Line 94"/>
            <p:cNvSpPr/>
            <p:nvPr/>
          </p:nvSpPr>
          <p:spPr>
            <a:xfrm>
              <a:off x="3217" y="807"/>
              <a:ext cx="381" cy="0"/>
            </a:xfrm>
            <a:prstGeom prst="line">
              <a:avLst/>
            </a:prstGeom>
            <a:ln w="38100" cap="flat" cmpd="sng">
              <a:solidFill>
                <a:srgbClr val="FF3300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19550" name="Rectangle 95"/>
            <p:cNvSpPr/>
            <p:nvPr/>
          </p:nvSpPr>
          <p:spPr>
            <a:xfrm>
              <a:off x="3679" y="855"/>
              <a:ext cx="123" cy="269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altLang="zh-CN" sz="2800" b="1" dirty="0">
                  <a:solidFill>
                    <a:srgbClr val="FF3300"/>
                  </a:solidFill>
                  <a:latin typeface="Symbol" panose="05050102010706020507" pitchFamily="18" charset="2"/>
                  <a:ea typeface="宋体" panose="02010600030101010101" pitchFamily="2" charset="-122"/>
                </a:rPr>
                <a:t>+</a:t>
              </a:r>
              <a:endParaRPr lang="en-US" altLang="zh-CN" sz="2800" dirty="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9551" name="Rectangle 96"/>
            <p:cNvSpPr/>
            <p:nvPr/>
          </p:nvSpPr>
          <p:spPr>
            <a:xfrm>
              <a:off x="3639" y="1531"/>
              <a:ext cx="179" cy="269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altLang="zh-CN" sz="2800" dirty="0">
                  <a:solidFill>
                    <a:srgbClr val="FFFFFF"/>
                  </a:solidFill>
                  <a:latin typeface="Symbol" panose="05050102010706020507" pitchFamily="18" charset="2"/>
                  <a:ea typeface="宋体" panose="02010600030101010101" pitchFamily="2" charset="-122"/>
                </a:rPr>
                <a:t> </a:t>
              </a:r>
              <a:r>
                <a:rPr lang="en-US" altLang="zh-CN" sz="2800" b="1" dirty="0">
                  <a:solidFill>
                    <a:srgbClr val="FF3300"/>
                  </a:solidFill>
                  <a:latin typeface="Symbol" panose="05050102010706020507" pitchFamily="18" charset="2"/>
                  <a:ea typeface="宋体" panose="02010600030101010101" pitchFamily="2" charset="-122"/>
                </a:rPr>
                <a:t>-</a:t>
              </a:r>
              <a:endParaRPr lang="en-US" altLang="zh-CN" sz="2800" dirty="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9552" name="Text Box 97"/>
            <p:cNvSpPr txBox="1"/>
            <p:nvPr/>
          </p:nvSpPr>
          <p:spPr>
            <a:xfrm>
              <a:off x="4683" y="1426"/>
              <a:ext cx="203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91435" tIns="45718" rIns="91435" bIns="45718" anchor="t" anchorCtr="0">
              <a:spAutoFit/>
            </a:bodyPr>
            <a:lstStyle/>
            <a:p>
              <a:r>
                <a:rPr lang="en-US" altLang="zh-CN" sz="2800" b="1" i="1" dirty="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I</a:t>
              </a:r>
            </a:p>
          </p:txBody>
        </p:sp>
      </p:grpSp>
      <p:sp>
        <p:nvSpPr>
          <p:cNvPr id="16482" name="Rectangle 98"/>
          <p:cNvSpPr/>
          <p:nvPr/>
        </p:nvSpPr>
        <p:spPr>
          <a:xfrm>
            <a:off x="3276600" y="2921000"/>
            <a:ext cx="5287963" cy="579438"/>
          </a:xfrm>
          <a:prstGeom prst="rect">
            <a:avLst/>
          </a:prstGeom>
          <a:noFill/>
          <a:ln w="9525">
            <a:noFill/>
          </a:ln>
        </p:spPr>
        <p:txBody>
          <a:bodyPr lIns="91435" tIns="45718" rIns="91435" bIns="45718" anchor="t" anchorCtr="0">
            <a:spAutoFit/>
          </a:bodyPr>
          <a:lstStyle/>
          <a:p>
            <a:r>
              <a:rPr lang="en-US" altLang="zh-CN" sz="2800" b="1" dirty="0">
                <a:latin typeface="Times New Roman" panose="02020603050405020304" pitchFamily="18" charset="0"/>
                <a:ea typeface="宋体" panose="02010600030101010101" pitchFamily="2" charset="-122"/>
              </a:rPr>
              <a:t>①</a:t>
            </a:r>
            <a:r>
              <a:rPr lang="en-US" altLang="zh-CN" sz="3200" b="1" dirty="0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zh-CN" altLang="en-US" sz="2800" b="1" dirty="0">
                <a:latin typeface="Times New Roman" panose="02020603050405020304" pitchFamily="18" charset="0"/>
                <a:ea typeface="宋体" panose="02010600030101010101" pitchFamily="2" charset="-122"/>
              </a:rPr>
              <a:t>电流的大小由负载决定。 </a:t>
            </a:r>
          </a:p>
        </p:txBody>
      </p:sp>
      <p:sp>
        <p:nvSpPr>
          <p:cNvPr id="16483" name="Rectangle 99"/>
          <p:cNvSpPr/>
          <p:nvPr/>
        </p:nvSpPr>
        <p:spPr>
          <a:xfrm>
            <a:off x="3276600" y="4618038"/>
            <a:ext cx="5302250" cy="519112"/>
          </a:xfrm>
          <a:prstGeom prst="rect">
            <a:avLst/>
          </a:prstGeom>
          <a:noFill/>
          <a:ln w="9525">
            <a:noFill/>
          </a:ln>
        </p:spPr>
        <p:txBody>
          <a:bodyPr wrap="none" lIns="91435" tIns="45718" rIns="91435" bIns="45718" anchor="t" anchorCtr="0">
            <a:spAutoFit/>
          </a:bodyPr>
          <a:lstStyle/>
          <a:p>
            <a:r>
              <a:rPr lang="en-US" altLang="zh-CN" sz="2800" b="1" dirty="0">
                <a:latin typeface="Times New Roman" panose="02020603050405020304" pitchFamily="18" charset="0"/>
                <a:ea typeface="宋体" panose="02010600030101010101" pitchFamily="2" charset="-122"/>
              </a:rPr>
              <a:t>② </a:t>
            </a:r>
            <a:r>
              <a:rPr lang="zh-CN" altLang="en-US" sz="2800" b="1" dirty="0">
                <a:latin typeface="Times New Roman" panose="02020603050405020304" pitchFamily="18" charset="0"/>
                <a:ea typeface="宋体" panose="02010600030101010101" pitchFamily="2" charset="-122"/>
              </a:rPr>
              <a:t>在电源有内阻时，</a:t>
            </a:r>
            <a:r>
              <a:rPr lang="en-US" altLang="zh-CN" sz="2800" b="1" i="1" dirty="0">
                <a:latin typeface="Times New Roman" panose="02020603050405020304" pitchFamily="18" charset="0"/>
                <a:ea typeface="宋体" panose="02010600030101010101" pitchFamily="2" charset="-122"/>
              </a:rPr>
              <a:t>I </a:t>
            </a:r>
            <a:r>
              <a:rPr lang="en-US" altLang="zh-CN" sz="2800" b="1" dirty="0"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 </a:t>
            </a:r>
            <a:r>
              <a:rPr lang="en-US" altLang="zh-CN" sz="2800" b="1" i="1" dirty="0">
                <a:latin typeface="Times New Roman" panose="02020603050405020304" pitchFamily="18" charset="0"/>
                <a:ea typeface="宋体" panose="02010600030101010101" pitchFamily="2" charset="-122"/>
              </a:rPr>
              <a:t>U</a:t>
            </a:r>
            <a:r>
              <a:rPr lang="en-US" altLang="zh-CN" sz="2800" b="1" dirty="0"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 </a:t>
            </a:r>
            <a:r>
              <a:rPr lang="zh-CN" altLang="en-US" sz="2800" b="1" dirty="0"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。</a:t>
            </a:r>
            <a:endParaRPr lang="zh-CN" altLang="en-US" sz="2800" b="1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6484" name="Rectangle 100"/>
          <p:cNvSpPr/>
          <p:nvPr/>
        </p:nvSpPr>
        <p:spPr>
          <a:xfrm>
            <a:off x="3563938" y="3917950"/>
            <a:ext cx="2392362" cy="519113"/>
          </a:xfrm>
          <a:prstGeom prst="rect">
            <a:avLst/>
          </a:prstGeom>
          <a:noFill/>
          <a:ln w="38100">
            <a:noFill/>
          </a:ln>
        </p:spPr>
        <p:txBody>
          <a:bodyPr lIns="91435" tIns="45718" rIns="91435" bIns="45718" anchor="t" anchorCtr="0">
            <a:spAutoFit/>
          </a:bodyPr>
          <a:lstStyle/>
          <a:p>
            <a:r>
              <a:rPr lang="zh-CN" altLang="en-US" sz="2800" b="1" dirty="0">
                <a:solidFill>
                  <a:srgbClr val="000099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或 </a:t>
            </a:r>
            <a:r>
              <a:rPr lang="en-US" altLang="zh-CN" sz="2800" b="1" i="1" dirty="0">
                <a:solidFill>
                  <a:srgbClr val="000099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U </a:t>
            </a:r>
            <a:r>
              <a:rPr lang="en-US" altLang="zh-CN" sz="2800" b="1" dirty="0">
                <a:solidFill>
                  <a:srgbClr val="000099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= </a:t>
            </a:r>
            <a:r>
              <a:rPr lang="en-US" altLang="zh-CN" sz="2800" b="1" i="1" dirty="0">
                <a:solidFill>
                  <a:srgbClr val="000099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E </a:t>
            </a:r>
            <a:r>
              <a:rPr lang="en-US" altLang="zh-CN" sz="2800" b="1" dirty="0">
                <a:solidFill>
                  <a:srgbClr val="000099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– </a:t>
            </a:r>
            <a:r>
              <a:rPr lang="en-US" altLang="zh-CN" sz="2800" b="1" i="1" dirty="0">
                <a:solidFill>
                  <a:srgbClr val="000099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IR</a:t>
            </a:r>
            <a:r>
              <a:rPr lang="en-US" altLang="zh-CN" sz="2800" b="1" baseline="-25000" dirty="0">
                <a:solidFill>
                  <a:srgbClr val="000099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0</a:t>
            </a:r>
          </a:p>
        </p:txBody>
      </p:sp>
      <p:grpSp>
        <p:nvGrpSpPr>
          <p:cNvPr id="16485" name="Group 101"/>
          <p:cNvGrpSpPr/>
          <p:nvPr/>
        </p:nvGrpSpPr>
        <p:grpSpPr>
          <a:xfrm>
            <a:off x="533400" y="4603750"/>
            <a:ext cx="3048000" cy="2209800"/>
            <a:chOff x="528" y="2688"/>
            <a:chExt cx="1920" cy="1392"/>
          </a:xfrm>
        </p:grpSpPr>
        <p:sp>
          <p:nvSpPr>
            <p:cNvPr id="19557" name="Text Box 102"/>
            <p:cNvSpPr txBox="1"/>
            <p:nvPr/>
          </p:nvSpPr>
          <p:spPr>
            <a:xfrm>
              <a:off x="864" y="2874"/>
              <a:ext cx="1276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91435" tIns="45718" rIns="91435" bIns="45718" anchor="t" anchorCtr="0">
              <a:spAutoFit/>
            </a:bodyPr>
            <a:lstStyle/>
            <a:p>
              <a:r>
                <a:rPr lang="zh-CN" altLang="en-US" b="1" dirty="0">
                  <a:latin typeface="Times New Roman" panose="02020603050405020304" pitchFamily="18" charset="0"/>
                  <a:ea typeface="宋体" panose="02010600030101010101" pitchFamily="2" charset="-122"/>
                </a:rPr>
                <a:t>电源的外特性</a:t>
              </a:r>
            </a:p>
          </p:txBody>
        </p:sp>
        <p:grpSp>
          <p:nvGrpSpPr>
            <p:cNvPr id="19558" name="Group 103"/>
            <p:cNvGrpSpPr/>
            <p:nvPr/>
          </p:nvGrpSpPr>
          <p:grpSpPr>
            <a:xfrm>
              <a:off x="528" y="2688"/>
              <a:ext cx="1920" cy="1392"/>
              <a:chOff x="384" y="2544"/>
              <a:chExt cx="1920" cy="1392"/>
            </a:xfrm>
          </p:grpSpPr>
          <p:sp>
            <p:nvSpPr>
              <p:cNvPr id="19559" name="Line 104"/>
              <p:cNvSpPr/>
              <p:nvPr/>
            </p:nvSpPr>
            <p:spPr>
              <a:xfrm>
                <a:off x="649" y="3743"/>
                <a:ext cx="1283" cy="0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sp>
          <p:sp>
            <p:nvSpPr>
              <p:cNvPr id="19560" name="Line 105"/>
              <p:cNvSpPr/>
              <p:nvPr/>
            </p:nvSpPr>
            <p:spPr>
              <a:xfrm flipV="1">
                <a:off x="649" y="2784"/>
                <a:ext cx="0" cy="959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sp>
          <p:grpSp>
            <p:nvGrpSpPr>
              <p:cNvPr id="19561" name="Group 106"/>
              <p:cNvGrpSpPr/>
              <p:nvPr/>
            </p:nvGrpSpPr>
            <p:grpSpPr>
              <a:xfrm>
                <a:off x="384" y="2852"/>
                <a:ext cx="1434" cy="443"/>
                <a:chOff x="3590" y="2791"/>
                <a:chExt cx="1793" cy="473"/>
              </a:xfrm>
            </p:grpSpPr>
            <p:sp>
              <p:nvSpPr>
                <p:cNvPr id="19562" name="Line 107"/>
                <p:cNvSpPr/>
                <p:nvPr/>
              </p:nvSpPr>
              <p:spPr>
                <a:xfrm>
                  <a:off x="3921" y="2924"/>
                  <a:ext cx="1462" cy="340"/>
                </a:xfrm>
                <a:prstGeom prst="line">
                  <a:avLst/>
                </a:prstGeom>
                <a:ln w="38100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19563" name="Text Box 108"/>
                <p:cNvSpPr txBox="1"/>
                <p:nvPr/>
              </p:nvSpPr>
              <p:spPr>
                <a:xfrm>
                  <a:off x="3590" y="2791"/>
                  <a:ext cx="331" cy="349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wrap="none" lIns="91435" tIns="45718" rIns="91435" bIns="45718" anchor="t" anchorCtr="0">
                  <a:spAutoFit/>
                </a:bodyPr>
                <a:lstStyle/>
                <a:p>
                  <a:r>
                    <a:rPr lang="en-US" altLang="zh-CN" sz="2800" b="1" i="1" dirty="0">
                      <a:solidFill>
                        <a:srgbClr val="FF3300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rPr>
                    <a:t>E</a:t>
                  </a:r>
                </a:p>
              </p:txBody>
            </p:sp>
          </p:grpSp>
          <p:sp>
            <p:nvSpPr>
              <p:cNvPr id="19564" name="Rectangle 109"/>
              <p:cNvSpPr/>
              <p:nvPr/>
            </p:nvSpPr>
            <p:spPr>
              <a:xfrm>
                <a:off x="480" y="2544"/>
                <a:ext cx="384" cy="327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lIns="91435" tIns="45718" rIns="91435" bIns="45718" anchor="t" anchorCtr="0">
                <a:spAutoFit/>
              </a:bodyPr>
              <a:lstStyle/>
              <a:p>
                <a:r>
                  <a:rPr lang="en-US" altLang="zh-CN" sz="2800" b="1" i="1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U</a:t>
                </a:r>
              </a:p>
            </p:txBody>
          </p:sp>
          <p:sp>
            <p:nvSpPr>
              <p:cNvPr id="19565" name="Rectangle 110"/>
              <p:cNvSpPr/>
              <p:nvPr/>
            </p:nvSpPr>
            <p:spPr>
              <a:xfrm>
                <a:off x="1920" y="3600"/>
                <a:ext cx="384" cy="327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lIns="91435" tIns="45718" rIns="91435" bIns="45718" anchor="t" anchorCtr="0">
                <a:spAutoFit/>
              </a:bodyPr>
              <a:lstStyle/>
              <a:p>
                <a:r>
                  <a:rPr lang="en-US" altLang="zh-CN" sz="2800" b="1" i="1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I</a:t>
                </a:r>
              </a:p>
            </p:txBody>
          </p:sp>
          <p:sp>
            <p:nvSpPr>
              <p:cNvPr id="19566" name="Text Box 111"/>
              <p:cNvSpPr txBox="1"/>
              <p:nvPr/>
            </p:nvSpPr>
            <p:spPr>
              <a:xfrm>
                <a:off x="480" y="3648"/>
                <a:ext cx="212" cy="28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91435" tIns="45718" rIns="91435" bIns="45718" anchor="t" anchorCtr="0">
                <a:spAutoFit/>
              </a:bodyPr>
              <a:lstStyle/>
              <a:p>
                <a:r>
                  <a:rPr lang="en-US" altLang="zh-CN" b="1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0</a:t>
                </a:r>
              </a:p>
            </p:txBody>
          </p:sp>
        </p:grpSp>
      </p:grpSp>
      <p:sp>
        <p:nvSpPr>
          <p:cNvPr id="16496" name="Rectangle 112"/>
          <p:cNvSpPr>
            <a:spLocks noChangeArrowheads="1"/>
          </p:cNvSpPr>
          <p:nvPr/>
        </p:nvSpPr>
        <p:spPr bwMode="auto">
          <a:xfrm>
            <a:off x="3352800" y="5137150"/>
            <a:ext cx="5486400" cy="144399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1435" tIns="45718" rIns="91435" bIns="45718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2800" b="1" i="1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R</a:t>
            </a:r>
            <a:r>
              <a:rPr kumimoji="1" lang="en-US" altLang="zh-CN" sz="2800" b="1" i="0" u="none" strike="noStrike" kern="1200" cap="none" spc="0" normalizeH="0" baseline="-25000" noProof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0</a:t>
            </a:r>
            <a:r>
              <a:rPr kumimoji="1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&lt;&lt;</a:t>
            </a:r>
            <a:r>
              <a:rPr kumimoji="1" lang="en-US" altLang="zh-CN" sz="2800" b="1" i="1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R </a:t>
            </a:r>
            <a:r>
              <a: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时</a:t>
            </a:r>
            <a:r>
              <a: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，则</a:t>
            </a:r>
            <a:r>
              <a:rPr kumimoji="1" lang="en-US" altLang="zh-CN" sz="2800" b="1" i="1" u="none" strike="noStrike" kern="1200" cap="none" spc="0" normalizeH="0" baseline="0" noProof="0">
                <a:ln>
                  <a:noFill/>
                </a:ln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U </a:t>
            </a:r>
            <a:r>
              <a:rPr kumimoji="1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</a:t>
            </a:r>
            <a:r>
              <a:rPr kumimoji="1" lang="en-US" altLang="zh-CN" sz="2800" b="1" i="1" u="none" strike="noStrike" kern="1200" cap="none" spc="0" normalizeH="0" baseline="0" noProof="0">
                <a:ln>
                  <a:noFill/>
                </a:ln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E</a:t>
            </a:r>
            <a:r>
              <a:rPr kumimoji="1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 </a:t>
            </a:r>
            <a:r>
              <a: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，</a:t>
            </a:r>
          </a:p>
          <a:p>
            <a:pPr marL="0" marR="0" lvl="0" indent="0" algn="l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000" b="1" i="0" u="none" strike="noStrike" kern="1200" cap="none" spc="0" normalizeH="0" baseline="0" noProof="0">
                <a:ln>
                  <a:noFill/>
                </a:ln>
                <a:solidFill>
                  <a:srgbClr val="00B05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表明：</a:t>
            </a:r>
            <a:r>
              <a:rPr kumimoji="1" lang="zh-CN" altLang="en-US" sz="2000" b="1" i="0" u="none" strike="noStrike" kern="1200" cap="none" spc="0" normalizeH="0" baseline="0" noProof="0">
                <a:ln>
                  <a:noFill/>
                </a:ln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当负载变化时，电源的端电压变化不大，</a:t>
            </a:r>
            <a:r>
              <a:rPr kumimoji="1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    </a:t>
            </a:r>
          </a:p>
          <a:p>
            <a:pPr marL="0" marR="0" lvl="0" indent="0" algn="l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            </a:t>
            </a:r>
            <a:r>
              <a:rPr kumimoji="1" lang="zh-CN" altLang="en-US" sz="2000" b="1" i="0" u="none" strike="noStrike" kern="1200" cap="none" spc="0" normalizeH="0" baseline="0" noProof="0">
                <a:ln>
                  <a:noFill/>
                </a:ln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即</a:t>
            </a:r>
            <a:r>
              <a:rPr kumimoji="1" lang="zh-CN" altLang="en-US" sz="2000" b="1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带负载能力强</a:t>
            </a:r>
            <a:r>
              <a:rPr kumimoji="1" lang="zh-CN" altLang="en-US" sz="2000" b="1" i="0" u="none" strike="noStrike" kern="1200" cap="none" spc="0" normalizeH="0" baseline="0" noProof="0">
                <a:ln>
                  <a:noFill/>
                </a:ln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。</a:t>
            </a:r>
          </a:p>
        </p:txBody>
      </p:sp>
      <p:sp>
        <p:nvSpPr>
          <p:cNvPr id="16497" name="Rectangle 113"/>
          <p:cNvSpPr/>
          <p:nvPr/>
        </p:nvSpPr>
        <p:spPr>
          <a:xfrm>
            <a:off x="5919788" y="3913188"/>
            <a:ext cx="3224212" cy="379412"/>
          </a:xfrm>
          <a:prstGeom prst="rect">
            <a:avLst/>
          </a:prstGeom>
          <a:noFill/>
          <a:ln w="38100">
            <a:noFill/>
          </a:ln>
        </p:spPr>
        <p:txBody>
          <a:bodyPr lIns="91435" tIns="45718" rIns="91435" bIns="45718" anchor="t" anchorCtr="0">
            <a:spAutoFit/>
          </a:bodyPr>
          <a:lstStyle/>
          <a:p>
            <a:r>
              <a:rPr lang="zh-CN" altLang="en-US" sz="2800" b="1" baseline="-25000" dirty="0">
                <a:solidFill>
                  <a:srgbClr val="CC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（电源端电压小于电动势）</a:t>
            </a:r>
          </a:p>
        </p:txBody>
      </p:sp>
      <p:graphicFrame>
        <p:nvGraphicFramePr>
          <p:cNvPr id="3" name="对象 2">
            <a:hlinkClick r:id="" action="ppaction://ole?verb=0"/>
          </p:cNvPr>
          <p:cNvGraphicFramePr/>
          <p:nvPr/>
        </p:nvGraphicFramePr>
        <p:xfrm>
          <a:off x="685800" y="2911475"/>
          <a:ext cx="1527810" cy="92964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3" imgW="12496800" imgH="7620000" progId="">
                  <p:embed/>
                </p:oleObj>
              </mc:Choice>
              <mc:Fallback>
                <p:oleObj r:id="rId3" imgW="12496800" imgH="7620000" progId="">
                  <p:embed/>
                  <p:pic>
                    <p:nvPicPr>
                      <p:cNvPr id="0" name="图片 7168" descr="image17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685800" y="2911475"/>
                        <a:ext cx="1527810" cy="92964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4" name="Line 94"/>
          <p:cNvSpPr/>
          <p:nvPr/>
        </p:nvSpPr>
        <p:spPr>
          <a:xfrm>
            <a:off x="7207522" y="2132856"/>
            <a:ext cx="604838" cy="0"/>
          </a:xfrm>
          <a:prstGeom prst="line">
            <a:avLst/>
          </a:prstGeom>
          <a:ln w="38100" cap="flat" cmpd="sng">
            <a:solidFill>
              <a:srgbClr val="FF3300"/>
            </a:solidFill>
            <a:prstDash val="solid"/>
            <a:round/>
            <a:headEnd type="none" w="med" len="med"/>
            <a:tailEnd type="triangle" w="med" len="med"/>
          </a:ln>
          <a:scene3d>
            <a:camera prst="orthographicFront">
              <a:rot lat="0" lon="0" rev="16200000"/>
            </a:camera>
            <a:lightRig rig="threePt" dir="t"/>
          </a:scene3d>
        </p:spPr>
      </p:sp>
    </p:spTree>
  </p:cSld>
  <p:clrMapOvr>
    <a:masterClrMapping/>
  </p:clrMapOvr>
  <p:transition>
    <p:split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64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2" dur="500"/>
                                        <p:tgtEl>
                                          <p:spTgt spid="164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164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164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8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1648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164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500"/>
                            </p:stCondLst>
                            <p:childTnLst>
                              <p:par>
                                <p:cTn id="3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164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164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164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50" dur="500"/>
                                        <p:tgtEl>
                                          <p:spTgt spid="164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164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164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439" grpId="0"/>
      <p:bldP spid="16441" grpId="0"/>
      <p:bldP spid="16442" grpId="0"/>
      <p:bldP spid="16443" grpId="0"/>
      <p:bldP spid="16444" grpId="0"/>
      <p:bldP spid="16482" grpId="0" build="p"/>
      <p:bldP spid="16483" grpId="0"/>
      <p:bldP spid="16484" grpId="0"/>
      <p:bldP spid="16496" grpId="0" bldLvl="0" animBg="1"/>
      <p:bldP spid="16497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2" name="Text Box 4"/>
          <p:cNvSpPr txBox="1">
            <a:spLocks noChangeArrowheads="1"/>
          </p:cNvSpPr>
          <p:nvPr/>
        </p:nvSpPr>
        <p:spPr bwMode="auto">
          <a:xfrm>
            <a:off x="323850" y="2365375"/>
            <a:ext cx="2087563" cy="461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FF0000"/>
                </a:solidFill>
                <a:miter lim="800000"/>
                <a:headEnd type="none" w="sm" len="sm"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1435" tIns="45718" rIns="91435" bIns="45718" anchor="ctr">
            <a:spAutoFit/>
          </a:bodyPr>
          <a:lstStyle/>
          <a:p>
            <a:pPr marR="0" defTabSz="914400">
              <a:buClrTx/>
              <a:buSzTx/>
              <a:buFontTx/>
              <a:buNone/>
              <a:defRPr/>
            </a:pPr>
            <a:r>
              <a:rPr kumimoji="1" lang="zh-CN" altLang="en-US" b="1" kern="1200" cap="none" spc="0" normalizeH="0" baseline="0" noProof="0" dirty="0">
                <a:solidFill>
                  <a:schemeClr val="accent2">
                    <a:lumMod val="75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负载端电压：</a:t>
            </a:r>
          </a:p>
        </p:txBody>
      </p:sp>
      <p:sp>
        <p:nvSpPr>
          <p:cNvPr id="20483" name="Rectangle 5"/>
          <p:cNvSpPr/>
          <p:nvPr/>
        </p:nvSpPr>
        <p:spPr>
          <a:xfrm>
            <a:off x="555625" y="2881313"/>
            <a:ext cx="1512888" cy="519112"/>
          </a:xfrm>
          <a:prstGeom prst="rect">
            <a:avLst/>
          </a:prstGeom>
          <a:noFill/>
          <a:ln w="38100">
            <a:noFill/>
          </a:ln>
        </p:spPr>
        <p:txBody>
          <a:bodyPr lIns="91435" tIns="45718" rIns="91435" bIns="45718" anchor="t" anchorCtr="0">
            <a:spAutoFit/>
          </a:bodyPr>
          <a:lstStyle/>
          <a:p>
            <a:r>
              <a:rPr lang="en-US" altLang="zh-CN" sz="2800" b="1" i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U 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= </a:t>
            </a:r>
            <a:r>
              <a:rPr lang="en-US" altLang="zh-CN" sz="2800" b="1" i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IR</a:t>
            </a:r>
          </a:p>
        </p:txBody>
      </p:sp>
      <p:sp>
        <p:nvSpPr>
          <p:cNvPr id="17414" name="Text Box 6"/>
          <p:cNvSpPr txBox="1">
            <a:spLocks noChangeArrowheads="1"/>
          </p:cNvSpPr>
          <p:nvPr/>
        </p:nvSpPr>
        <p:spPr bwMode="auto">
          <a:xfrm>
            <a:off x="190500" y="788988"/>
            <a:ext cx="2581275" cy="460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FF0000"/>
                </a:solidFill>
                <a:miter lim="800000"/>
                <a:headEnd type="none" w="sm" len="sm"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35" tIns="45718" rIns="91435" bIns="45718" anchor="ctr">
            <a:spAutoFit/>
          </a:bodyPr>
          <a:lstStyle/>
          <a:p>
            <a:pPr marR="0" algn="ctr" defTabSz="914400">
              <a:buClrTx/>
              <a:buSzTx/>
              <a:buFontTx/>
              <a:buNone/>
              <a:defRPr/>
            </a:pPr>
            <a:r>
              <a:rPr kumimoji="1" lang="en-US" altLang="zh-CN" b="1" kern="1200" cap="none" spc="0" normalizeH="0" baseline="0" noProof="0" dirty="0">
                <a:solidFill>
                  <a:schemeClr val="accent2">
                    <a:lumMod val="75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1.</a:t>
            </a:r>
            <a:r>
              <a:rPr kumimoji="1" lang="zh-CN" altLang="en-US" b="1" kern="1200" cap="none" spc="0" normalizeH="0" baseline="0" noProof="0" dirty="0">
                <a:solidFill>
                  <a:schemeClr val="accent2">
                    <a:lumMod val="75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电压电流关系：</a:t>
            </a:r>
            <a:endParaRPr kumimoji="1" lang="en-US" altLang="zh-CN" b="1" kern="1200" cap="none" spc="0" normalizeH="0" baseline="0" noProof="0" dirty="0">
              <a:solidFill>
                <a:schemeClr val="accent2">
                  <a:lumMod val="75000"/>
                </a:schemeClr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7415" name="Rectangle 7"/>
          <p:cNvSpPr>
            <a:spLocks noChangeArrowheads="1"/>
          </p:cNvSpPr>
          <p:nvPr/>
        </p:nvSpPr>
        <p:spPr bwMode="auto">
          <a:xfrm>
            <a:off x="179388" y="152400"/>
            <a:ext cx="4419600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1435" tIns="45718" rIns="91435" bIns="45718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5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3600" b="1" i="0" u="none" strike="noStrike" kern="1200" cap="none" spc="0" normalizeH="0" baseline="0" noProof="0">
                <a:ln>
                  <a:noFill/>
                </a:ln>
                <a:solidFill>
                  <a:srgbClr val="CC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华文新魏" panose="02010800040101010101" pitchFamily="2" charset="-122"/>
                <a:cs typeface="+mn-cs"/>
              </a:rPr>
              <a:t>1.5.1</a:t>
            </a:r>
            <a:r>
              <a:rPr kumimoji="1" lang="en-US" altLang="zh-CN" sz="3600" b="1" i="0" u="none" strike="noStrike" kern="1200" cap="none" spc="0" normalizeH="0" baseline="0" noProof="0">
                <a:ln>
                  <a:noFill/>
                </a:ln>
                <a:solidFill>
                  <a:srgbClr val="CC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rPr>
              <a:t>  </a:t>
            </a:r>
            <a:r>
              <a:rPr kumimoji="1" lang="zh-CN" altLang="en-US" sz="3600" b="1" i="0" u="none" strike="noStrike" kern="1200" cap="none" spc="0" normalizeH="0" baseline="0" noProof="0">
                <a:ln>
                  <a:noFill/>
                </a:ln>
                <a:solidFill>
                  <a:srgbClr val="CC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rPr>
              <a:t>电源有载工作</a:t>
            </a:r>
          </a:p>
        </p:txBody>
      </p:sp>
      <p:sp>
        <p:nvSpPr>
          <p:cNvPr id="20486" name="Rectangle 10"/>
          <p:cNvSpPr/>
          <p:nvPr/>
        </p:nvSpPr>
        <p:spPr>
          <a:xfrm>
            <a:off x="2062163" y="2881313"/>
            <a:ext cx="3429000" cy="519112"/>
          </a:xfrm>
          <a:prstGeom prst="rect">
            <a:avLst/>
          </a:prstGeom>
          <a:noFill/>
          <a:ln w="38100">
            <a:noFill/>
          </a:ln>
        </p:spPr>
        <p:txBody>
          <a:bodyPr lIns="91435" tIns="45718" rIns="91435" bIns="45718" anchor="t" anchorCtr="0">
            <a:spAutoFit/>
          </a:bodyPr>
          <a:lstStyle/>
          <a:p>
            <a:r>
              <a:rPr lang="zh-CN" altLang="en-US" sz="2800" b="1" dirty="0">
                <a:solidFill>
                  <a:srgbClr val="000099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或 </a:t>
            </a:r>
            <a:r>
              <a:rPr lang="en-US" altLang="zh-CN" sz="2800" b="1" i="1" dirty="0">
                <a:solidFill>
                  <a:srgbClr val="000099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U </a:t>
            </a:r>
            <a:r>
              <a:rPr lang="en-US" altLang="zh-CN" sz="2800" b="1" dirty="0">
                <a:solidFill>
                  <a:srgbClr val="000099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= </a:t>
            </a:r>
            <a:r>
              <a:rPr lang="en-US" altLang="zh-CN" sz="2800" b="1" i="1" dirty="0">
                <a:solidFill>
                  <a:srgbClr val="000099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E </a:t>
            </a:r>
            <a:r>
              <a:rPr lang="en-US" altLang="zh-CN" sz="2800" b="1" dirty="0">
                <a:solidFill>
                  <a:srgbClr val="000099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– </a:t>
            </a:r>
            <a:r>
              <a:rPr lang="en-US" altLang="zh-CN" sz="2800" b="1" i="1" dirty="0">
                <a:solidFill>
                  <a:srgbClr val="000099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IR</a:t>
            </a:r>
            <a:r>
              <a:rPr lang="en-US" altLang="zh-CN" sz="2800" b="1" baseline="-25000" dirty="0">
                <a:solidFill>
                  <a:srgbClr val="000099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o</a:t>
            </a:r>
          </a:p>
        </p:txBody>
      </p:sp>
      <p:sp>
        <p:nvSpPr>
          <p:cNvPr id="17419" name="Rectangle 11"/>
          <p:cNvSpPr/>
          <p:nvPr/>
        </p:nvSpPr>
        <p:spPr>
          <a:xfrm>
            <a:off x="3159125" y="3989388"/>
            <a:ext cx="2876550" cy="519112"/>
          </a:xfrm>
          <a:prstGeom prst="rect">
            <a:avLst/>
          </a:prstGeom>
          <a:noFill/>
          <a:ln w="38100">
            <a:noFill/>
          </a:ln>
        </p:spPr>
        <p:txBody>
          <a:bodyPr lIns="91435" tIns="45718" rIns="91435" bIns="45718" anchor="t" anchorCtr="0">
            <a:spAutoFit/>
          </a:bodyPr>
          <a:lstStyle/>
          <a:p>
            <a:r>
              <a:rPr lang="zh-CN" altLang="en-US" sz="2800" b="1" i="1" dirty="0">
                <a:solidFill>
                  <a:srgbClr val="000099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或 </a:t>
            </a:r>
            <a:r>
              <a:rPr lang="en-US" altLang="zh-CN" sz="2800" b="1" i="1" dirty="0">
                <a:solidFill>
                  <a:srgbClr val="000099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UI </a:t>
            </a:r>
            <a:r>
              <a:rPr lang="en-US" altLang="zh-CN" sz="2800" b="1" dirty="0">
                <a:solidFill>
                  <a:srgbClr val="000099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= </a:t>
            </a:r>
            <a:r>
              <a:rPr lang="en-US" altLang="zh-CN" sz="2800" b="1" i="1" dirty="0">
                <a:solidFill>
                  <a:srgbClr val="000099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EI </a:t>
            </a:r>
            <a:r>
              <a:rPr lang="en-US" altLang="zh-CN" sz="2800" b="1" dirty="0">
                <a:solidFill>
                  <a:srgbClr val="000099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– </a:t>
            </a:r>
            <a:r>
              <a:rPr lang="en-US" altLang="zh-CN" sz="2800" b="1" i="1" dirty="0">
                <a:solidFill>
                  <a:srgbClr val="000099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I</a:t>
            </a:r>
            <a:r>
              <a:rPr lang="en-US" altLang="zh-CN" sz="2800" b="1" dirty="0">
                <a:solidFill>
                  <a:srgbClr val="000099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²</a:t>
            </a:r>
            <a:r>
              <a:rPr lang="en-US" altLang="zh-CN" sz="2800" b="1" i="1" dirty="0">
                <a:solidFill>
                  <a:srgbClr val="000099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R</a:t>
            </a:r>
            <a:r>
              <a:rPr lang="en-US" altLang="zh-CN" sz="2800" b="1" baseline="-25000" dirty="0">
                <a:solidFill>
                  <a:srgbClr val="000099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o</a:t>
            </a:r>
          </a:p>
        </p:txBody>
      </p:sp>
      <p:sp>
        <p:nvSpPr>
          <p:cNvPr id="17420" name="Rectangle 12"/>
          <p:cNvSpPr/>
          <p:nvPr/>
        </p:nvSpPr>
        <p:spPr>
          <a:xfrm>
            <a:off x="860425" y="3976688"/>
            <a:ext cx="2286000" cy="519112"/>
          </a:xfrm>
          <a:prstGeom prst="rect">
            <a:avLst/>
          </a:prstGeom>
          <a:noFill/>
          <a:ln w="38100">
            <a:noFill/>
          </a:ln>
        </p:spPr>
        <p:txBody>
          <a:bodyPr lIns="91435" tIns="45718" rIns="91435" bIns="45718" anchor="t" anchorCtr="0">
            <a:spAutoFit/>
          </a:bodyPr>
          <a:lstStyle/>
          <a:p>
            <a:r>
              <a:rPr lang="en-US" altLang="zh-CN" sz="2800" b="1" i="1" dirty="0">
                <a:latin typeface="Times New Roman" panose="02020603050405020304" pitchFamily="18" charset="0"/>
                <a:ea typeface="宋体" panose="02010600030101010101" pitchFamily="2" charset="-122"/>
              </a:rPr>
              <a:t>P </a:t>
            </a:r>
            <a:r>
              <a:rPr lang="en-US" altLang="zh-CN" sz="2800" b="1" dirty="0">
                <a:latin typeface="Times New Roman" panose="02020603050405020304" pitchFamily="18" charset="0"/>
                <a:ea typeface="宋体" panose="02010600030101010101" pitchFamily="2" charset="-122"/>
              </a:rPr>
              <a:t>= </a:t>
            </a:r>
            <a:r>
              <a:rPr lang="en-US" altLang="zh-CN" sz="2800" b="1" i="1" dirty="0">
                <a:latin typeface="Times New Roman" panose="02020603050405020304" pitchFamily="18" charset="0"/>
                <a:ea typeface="宋体" panose="02010600030101010101" pitchFamily="2" charset="-122"/>
              </a:rPr>
              <a:t>P</a:t>
            </a:r>
            <a:r>
              <a:rPr lang="en-US" altLang="zh-CN" sz="2800" b="1" baseline="-25000" dirty="0">
                <a:latin typeface="Times New Roman" panose="02020603050405020304" pitchFamily="18" charset="0"/>
                <a:ea typeface="宋体" panose="02010600030101010101" pitchFamily="2" charset="-122"/>
              </a:rPr>
              <a:t>E</a:t>
            </a:r>
            <a:r>
              <a:rPr lang="en-US" altLang="zh-CN" sz="2800" b="1" i="1" dirty="0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altLang="zh-CN" sz="2800" b="1" dirty="0">
                <a:latin typeface="Times New Roman" panose="02020603050405020304" pitchFamily="18" charset="0"/>
                <a:ea typeface="宋体" panose="02010600030101010101" pitchFamily="2" charset="-122"/>
              </a:rPr>
              <a:t>– </a:t>
            </a:r>
            <a:r>
              <a:rPr lang="en-US" altLang="zh-CN" sz="2800" b="1" dirty="0"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 </a:t>
            </a:r>
            <a:r>
              <a:rPr lang="en-US" altLang="zh-CN" sz="2800" b="1" i="1" dirty="0">
                <a:latin typeface="Times New Roman" panose="02020603050405020304" pitchFamily="18" charset="0"/>
                <a:ea typeface="宋体" panose="02010600030101010101" pitchFamily="2" charset="-122"/>
              </a:rPr>
              <a:t>P</a:t>
            </a:r>
            <a:endParaRPr lang="en-US" altLang="zh-CN" sz="2800" b="1" baseline="-250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7421" name="AutoShape 13"/>
          <p:cNvSpPr/>
          <p:nvPr/>
        </p:nvSpPr>
        <p:spPr>
          <a:xfrm>
            <a:off x="685800" y="4710113"/>
            <a:ext cx="854075" cy="1887537"/>
          </a:xfrm>
          <a:prstGeom prst="wedgeRoundRectCallout">
            <a:avLst>
              <a:gd name="adj1" fmla="val -24347"/>
              <a:gd name="adj2" fmla="val -70102"/>
              <a:gd name="adj3" fmla="val 16667"/>
            </a:avLst>
          </a:prstGeom>
          <a:noFill/>
          <a:ln w="9525" cap="flat" cmpd="sng">
            <a:solidFill>
              <a:srgbClr val="FF3300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91435" tIns="45718" rIns="91435" bIns="45718" anchor="ctr" anchorCtr="0"/>
          <a:lstStyle/>
          <a:p>
            <a:r>
              <a:rPr lang="zh-CN" altLang="en-US" b="1" dirty="0">
                <a:latin typeface="Times New Roman" panose="02020603050405020304" pitchFamily="18" charset="0"/>
                <a:ea typeface="宋体" panose="02010600030101010101" pitchFamily="2" charset="-122"/>
              </a:rPr>
              <a:t>负载</a:t>
            </a:r>
          </a:p>
          <a:p>
            <a:r>
              <a:rPr lang="zh-CN" altLang="en-US" b="1" dirty="0">
                <a:latin typeface="Times New Roman" panose="02020603050405020304" pitchFamily="18" charset="0"/>
                <a:ea typeface="宋体" panose="02010600030101010101" pitchFamily="2" charset="-122"/>
              </a:rPr>
              <a:t>取用</a:t>
            </a:r>
          </a:p>
          <a:p>
            <a:r>
              <a:rPr lang="zh-CN" altLang="en-US" b="1" dirty="0">
                <a:latin typeface="Times New Roman" panose="02020603050405020304" pitchFamily="18" charset="0"/>
                <a:ea typeface="宋体" panose="02010600030101010101" pitchFamily="2" charset="-122"/>
              </a:rPr>
              <a:t>功率</a:t>
            </a:r>
          </a:p>
          <a:p>
            <a:r>
              <a:rPr lang="en-US" altLang="zh-CN" sz="1800" b="1" i="1" dirty="0">
                <a:latin typeface="Times New Roman" panose="02020603050405020304" pitchFamily="18" charset="0"/>
                <a:ea typeface="宋体" panose="02010600030101010101" pitchFamily="2" charset="-122"/>
              </a:rPr>
              <a:t>P </a:t>
            </a:r>
            <a:r>
              <a:rPr lang="en-US" altLang="zh-CN" sz="1800" b="1" dirty="0">
                <a:latin typeface="Times New Roman" panose="02020603050405020304" pitchFamily="18" charset="0"/>
                <a:ea typeface="宋体" panose="02010600030101010101" pitchFamily="2" charset="-122"/>
              </a:rPr>
              <a:t>=</a:t>
            </a:r>
            <a:r>
              <a:rPr lang="en-US" altLang="zh-CN" sz="1800" dirty="0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altLang="zh-CN" sz="1800" b="1" i="1" dirty="0">
                <a:solidFill>
                  <a:srgbClr val="000099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UI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</a:p>
        </p:txBody>
      </p:sp>
      <p:sp>
        <p:nvSpPr>
          <p:cNvPr id="17422" name="AutoShape 14"/>
          <p:cNvSpPr/>
          <p:nvPr/>
        </p:nvSpPr>
        <p:spPr>
          <a:xfrm>
            <a:off x="1692275" y="4710113"/>
            <a:ext cx="854075" cy="1887537"/>
          </a:xfrm>
          <a:prstGeom prst="wedgeRoundRectCallout">
            <a:avLst>
              <a:gd name="adj1" fmla="val -42380"/>
              <a:gd name="adj2" fmla="val -64296"/>
              <a:gd name="adj3" fmla="val 16667"/>
            </a:avLst>
          </a:prstGeom>
          <a:noFill/>
          <a:ln w="9525" cap="flat" cmpd="sng">
            <a:solidFill>
              <a:srgbClr val="FF3300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91435" tIns="45718" rIns="91435" bIns="45718" anchor="ctr" anchorCtr="0"/>
          <a:lstStyle/>
          <a:p>
            <a:r>
              <a:rPr lang="zh-CN" altLang="en-US" b="1" dirty="0">
                <a:latin typeface="Times New Roman" panose="02020603050405020304" pitchFamily="18" charset="0"/>
                <a:ea typeface="宋体" panose="02010600030101010101" pitchFamily="2" charset="-122"/>
              </a:rPr>
              <a:t>电源</a:t>
            </a:r>
          </a:p>
          <a:p>
            <a:r>
              <a:rPr lang="zh-CN" altLang="en-US" b="1" dirty="0">
                <a:latin typeface="Times New Roman" panose="02020603050405020304" pitchFamily="18" charset="0"/>
                <a:ea typeface="宋体" panose="02010600030101010101" pitchFamily="2" charset="-122"/>
              </a:rPr>
              <a:t>产生</a:t>
            </a:r>
          </a:p>
          <a:p>
            <a:r>
              <a:rPr lang="zh-CN" altLang="en-US" b="1" dirty="0">
                <a:latin typeface="Times New Roman" panose="02020603050405020304" pitchFamily="18" charset="0"/>
                <a:ea typeface="宋体" panose="02010600030101010101" pitchFamily="2" charset="-122"/>
              </a:rPr>
              <a:t>功率</a:t>
            </a:r>
          </a:p>
          <a:p>
            <a:r>
              <a:rPr lang="en-US" altLang="zh-CN" sz="1800" b="1" i="1" dirty="0">
                <a:latin typeface="Times New Roman" panose="02020603050405020304" pitchFamily="18" charset="0"/>
                <a:ea typeface="宋体" panose="02010600030101010101" pitchFamily="2" charset="-122"/>
              </a:rPr>
              <a:t>P</a:t>
            </a:r>
            <a:r>
              <a:rPr lang="en-US" altLang="zh-CN" sz="1000" b="1" dirty="0">
                <a:latin typeface="Times New Roman" panose="02020603050405020304" pitchFamily="18" charset="0"/>
                <a:ea typeface="宋体" panose="02010600030101010101" pitchFamily="2" charset="-122"/>
              </a:rPr>
              <a:t>E</a:t>
            </a:r>
            <a:r>
              <a:rPr lang="en-US" altLang="zh-CN" sz="1800" b="1" i="1" dirty="0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altLang="zh-CN" sz="1800" b="1" dirty="0">
                <a:latin typeface="Times New Roman" panose="02020603050405020304" pitchFamily="18" charset="0"/>
                <a:ea typeface="宋体" panose="02010600030101010101" pitchFamily="2" charset="-122"/>
              </a:rPr>
              <a:t>= </a:t>
            </a:r>
            <a:r>
              <a:rPr lang="en-US" altLang="zh-CN" sz="1800" b="1" i="1" dirty="0">
                <a:solidFill>
                  <a:srgbClr val="000099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EI</a:t>
            </a:r>
          </a:p>
        </p:txBody>
      </p:sp>
      <p:sp>
        <p:nvSpPr>
          <p:cNvPr id="17423" name="AutoShape 15"/>
          <p:cNvSpPr/>
          <p:nvPr/>
        </p:nvSpPr>
        <p:spPr>
          <a:xfrm>
            <a:off x="2743200" y="4713288"/>
            <a:ext cx="854075" cy="1884362"/>
          </a:xfrm>
          <a:prstGeom prst="wedgeRoundRectCallout">
            <a:avLst>
              <a:gd name="adj1" fmla="val -63199"/>
              <a:gd name="adj2" fmla="val -67102"/>
              <a:gd name="adj3" fmla="val 16667"/>
            </a:avLst>
          </a:prstGeom>
          <a:noFill/>
          <a:ln w="9525" cap="flat" cmpd="sng">
            <a:solidFill>
              <a:srgbClr val="FF3300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91435" tIns="45718" rIns="91435" bIns="45718" anchor="ctr" anchorCtr="0"/>
          <a:lstStyle/>
          <a:p>
            <a:r>
              <a:rPr lang="zh-CN" altLang="en-US" b="1" dirty="0">
                <a:latin typeface="Times New Roman" panose="02020603050405020304" pitchFamily="18" charset="0"/>
                <a:ea typeface="宋体" panose="02010600030101010101" pitchFamily="2" charset="-122"/>
              </a:rPr>
              <a:t>内阻</a:t>
            </a:r>
          </a:p>
          <a:p>
            <a:r>
              <a:rPr lang="zh-CN" altLang="en-US" b="1" dirty="0">
                <a:latin typeface="Times New Roman" panose="02020603050405020304" pitchFamily="18" charset="0"/>
                <a:ea typeface="宋体" panose="02010600030101010101" pitchFamily="2" charset="-122"/>
              </a:rPr>
              <a:t>消耗</a:t>
            </a:r>
          </a:p>
          <a:p>
            <a:r>
              <a:rPr lang="zh-CN" altLang="en-US" b="1" dirty="0">
                <a:latin typeface="Times New Roman" panose="02020603050405020304" pitchFamily="18" charset="0"/>
                <a:ea typeface="宋体" panose="02010600030101010101" pitchFamily="2" charset="-122"/>
              </a:rPr>
              <a:t>功率</a:t>
            </a:r>
          </a:p>
          <a:p>
            <a:pPr>
              <a:buFont typeface="Symbol" panose="05050102010706020507" pitchFamily="18" charset="2"/>
              <a:buChar char="D"/>
            </a:pPr>
            <a:r>
              <a:rPr lang="en-US" altLang="zh-CN" sz="1800" b="1" i="1" dirty="0">
                <a:latin typeface="Times New Roman" panose="02020603050405020304" pitchFamily="18" charset="0"/>
                <a:ea typeface="宋体" panose="02010600030101010101" pitchFamily="2" charset="-122"/>
              </a:rPr>
              <a:t>P= </a:t>
            </a:r>
          </a:p>
          <a:p>
            <a:pPr>
              <a:buFont typeface="Symbol" panose="05050102010706020507" pitchFamily="18" charset="2"/>
            </a:pPr>
            <a:r>
              <a:rPr lang="en-US" altLang="zh-CN" sz="1800" b="1" i="1" dirty="0">
                <a:solidFill>
                  <a:srgbClr val="000099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   I</a:t>
            </a:r>
            <a:r>
              <a:rPr lang="en-US" altLang="zh-CN" sz="1800" b="1" dirty="0">
                <a:solidFill>
                  <a:srgbClr val="000099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²</a:t>
            </a:r>
            <a:r>
              <a:rPr lang="en-US" altLang="zh-CN" sz="1800" b="1" i="1" dirty="0">
                <a:solidFill>
                  <a:srgbClr val="000099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R</a:t>
            </a:r>
            <a:r>
              <a:rPr lang="en-US" altLang="zh-CN" sz="1800" b="1" dirty="0">
                <a:solidFill>
                  <a:srgbClr val="000099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o</a:t>
            </a:r>
            <a:endParaRPr lang="en-US" altLang="zh-CN" sz="2800" b="1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7424" name="Rectangle 16"/>
          <p:cNvSpPr/>
          <p:nvPr/>
        </p:nvSpPr>
        <p:spPr>
          <a:xfrm>
            <a:off x="3641725" y="4510088"/>
            <a:ext cx="4873625" cy="523875"/>
          </a:xfrm>
          <a:prstGeom prst="rect">
            <a:avLst/>
          </a:prstGeom>
          <a:noFill/>
          <a:ln w="9525">
            <a:noFill/>
          </a:ln>
        </p:spPr>
        <p:txBody>
          <a:bodyPr wrap="none" lIns="91435" tIns="45718" rIns="91435" bIns="45718" anchor="t" anchorCtr="0">
            <a:spAutoFit/>
          </a:bodyPr>
          <a:lstStyle/>
          <a:p>
            <a:r>
              <a:rPr lang="zh-CN" altLang="en-US" sz="2800" b="1" dirty="0">
                <a:latin typeface="Times New Roman" panose="02020603050405020304" pitchFamily="18" charset="0"/>
                <a:ea typeface="宋体" panose="02010600030101010101" pitchFamily="2" charset="-122"/>
              </a:rPr>
              <a:t>电源输出的功率由负载决定。</a:t>
            </a:r>
          </a:p>
        </p:txBody>
      </p:sp>
      <p:sp>
        <p:nvSpPr>
          <p:cNvPr id="17425" name="Text Box 17"/>
          <p:cNvSpPr txBox="1"/>
          <p:nvPr/>
        </p:nvSpPr>
        <p:spPr>
          <a:xfrm>
            <a:off x="3657600" y="4953000"/>
            <a:ext cx="5105400" cy="1476375"/>
          </a:xfrm>
          <a:prstGeom prst="rect">
            <a:avLst/>
          </a:prstGeom>
          <a:noFill/>
          <a:ln w="9525">
            <a:noFill/>
          </a:ln>
        </p:spPr>
        <p:txBody>
          <a:bodyPr lIns="91435" tIns="45718" rIns="91435" bIns="45718" anchor="t" anchorCtr="0">
            <a:spAutoFit/>
          </a:bodyPr>
          <a:lstStyle/>
          <a:p>
            <a:pPr>
              <a:lnSpc>
                <a:spcPct val="105000"/>
              </a:lnSpc>
              <a:spcBef>
                <a:spcPct val="5000"/>
              </a:spcBef>
            </a:pPr>
            <a:r>
              <a:rPr lang="zh-CN" altLang="en-US" sz="2800" b="1" dirty="0">
                <a:solidFill>
                  <a:srgbClr val="CC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负载大小的概念</a:t>
            </a:r>
            <a:r>
              <a:rPr lang="en-US" altLang="zh-CN" sz="2800" b="1" dirty="0">
                <a:solidFill>
                  <a:srgbClr val="CC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:</a:t>
            </a:r>
            <a:r>
              <a:rPr lang="en-US" altLang="zh-CN" sz="2800" b="1" dirty="0">
                <a:solidFill>
                  <a:srgbClr val="66FF33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</a:p>
          <a:p>
            <a:pPr>
              <a:lnSpc>
                <a:spcPct val="105000"/>
              </a:lnSpc>
              <a:spcBef>
                <a:spcPct val="5000"/>
              </a:spcBef>
            </a:pPr>
            <a:r>
              <a:rPr lang="en-US" altLang="zh-CN" sz="2800" b="1" dirty="0">
                <a:solidFill>
                  <a:srgbClr val="000099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       </a:t>
            </a:r>
            <a:r>
              <a:rPr lang="zh-CN" altLang="en-US" sz="2800" b="1" dirty="0">
                <a:solidFill>
                  <a:srgbClr val="000099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负载增加指负载取用的</a:t>
            </a:r>
          </a:p>
          <a:p>
            <a:pPr>
              <a:lnSpc>
                <a:spcPct val="105000"/>
              </a:lnSpc>
              <a:spcBef>
                <a:spcPct val="5000"/>
              </a:spcBef>
            </a:pPr>
            <a:r>
              <a:rPr lang="zh-CN" altLang="en-US" sz="2800" b="1" dirty="0">
                <a:solidFill>
                  <a:srgbClr val="000099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电流和功率增加</a:t>
            </a:r>
            <a:r>
              <a:rPr lang="en-US" altLang="zh-CN" sz="2800" b="1" dirty="0">
                <a:solidFill>
                  <a:srgbClr val="000099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(</a:t>
            </a:r>
            <a:r>
              <a:rPr lang="zh-CN" altLang="en-US" sz="2800" b="1" dirty="0">
                <a:solidFill>
                  <a:srgbClr val="000099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电压一定</a:t>
            </a:r>
            <a:r>
              <a:rPr lang="en-US" altLang="zh-CN" sz="2800" b="1" dirty="0">
                <a:solidFill>
                  <a:srgbClr val="000099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)</a:t>
            </a:r>
            <a:r>
              <a:rPr lang="zh-CN" altLang="en-US" sz="2800" b="1" dirty="0">
                <a:solidFill>
                  <a:srgbClr val="000099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。</a:t>
            </a:r>
          </a:p>
        </p:txBody>
      </p:sp>
      <p:grpSp>
        <p:nvGrpSpPr>
          <p:cNvPr id="20494" name="Group 18"/>
          <p:cNvGrpSpPr/>
          <p:nvPr/>
        </p:nvGrpSpPr>
        <p:grpSpPr>
          <a:xfrm>
            <a:off x="4273550" y="115888"/>
            <a:ext cx="3879850" cy="2078037"/>
            <a:chOff x="2692" y="515"/>
            <a:chExt cx="2444" cy="1309"/>
          </a:xfrm>
        </p:grpSpPr>
        <p:grpSp>
          <p:nvGrpSpPr>
            <p:cNvPr id="20495" name="Group 19"/>
            <p:cNvGrpSpPr/>
            <p:nvPr/>
          </p:nvGrpSpPr>
          <p:grpSpPr>
            <a:xfrm>
              <a:off x="3811" y="709"/>
              <a:ext cx="269" cy="1115"/>
              <a:chOff x="4032" y="768"/>
              <a:chExt cx="336" cy="1392"/>
            </a:xfrm>
          </p:grpSpPr>
          <p:sp>
            <p:nvSpPr>
              <p:cNvPr id="20496" name="Line 20"/>
              <p:cNvSpPr/>
              <p:nvPr/>
            </p:nvSpPr>
            <p:spPr>
              <a:xfrm flipH="1">
                <a:off x="4032" y="768"/>
                <a:ext cx="288" cy="240"/>
              </a:xfrm>
              <a:prstGeom prst="line">
                <a:avLst/>
              </a:prstGeom>
              <a:ln w="38100" cap="flat" cmpd="sng">
                <a:solidFill>
                  <a:srgbClr val="FF3300"/>
                </a:solidFill>
                <a:prstDash val="solid"/>
                <a:round/>
                <a:headEnd type="none" w="sm" len="sm"/>
                <a:tailEnd type="triangle" w="sm" len="sm"/>
              </a:ln>
            </p:spPr>
          </p:sp>
          <p:sp>
            <p:nvSpPr>
              <p:cNvPr id="20497" name="Line 21"/>
              <p:cNvSpPr/>
              <p:nvPr/>
            </p:nvSpPr>
            <p:spPr>
              <a:xfrm flipH="1">
                <a:off x="4080" y="1920"/>
                <a:ext cx="288" cy="240"/>
              </a:xfrm>
              <a:prstGeom prst="line">
                <a:avLst/>
              </a:prstGeom>
              <a:ln w="38100" cap="flat" cmpd="sng">
                <a:solidFill>
                  <a:srgbClr val="FF3300"/>
                </a:solidFill>
                <a:prstDash val="solid"/>
                <a:round/>
                <a:headEnd type="none" w="sm" len="sm"/>
                <a:tailEnd type="triangle" w="sm" len="sm"/>
              </a:ln>
            </p:spPr>
          </p:sp>
        </p:grpSp>
        <p:grpSp>
          <p:nvGrpSpPr>
            <p:cNvPr id="20498" name="Group 22"/>
            <p:cNvGrpSpPr/>
            <p:nvPr/>
          </p:nvGrpSpPr>
          <p:grpSpPr>
            <a:xfrm>
              <a:off x="2692" y="515"/>
              <a:ext cx="2444" cy="1300"/>
              <a:chOff x="2692" y="515"/>
              <a:chExt cx="2444" cy="1300"/>
            </a:xfrm>
          </p:grpSpPr>
          <p:sp>
            <p:nvSpPr>
              <p:cNvPr id="20499" name="Text Box 23"/>
              <p:cNvSpPr txBox="1"/>
              <p:nvPr/>
            </p:nvSpPr>
            <p:spPr>
              <a:xfrm>
                <a:off x="3269" y="515"/>
                <a:ext cx="221" cy="327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lIns="91435" tIns="45718" rIns="91435" bIns="45718" anchor="ctr" anchorCtr="0"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lang="en-US" altLang="zh-CN" sz="2800" b="1" i="1" dirty="0">
                    <a:solidFill>
                      <a:srgbClr val="FF33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I</a:t>
                </a:r>
              </a:p>
            </p:txBody>
          </p:sp>
          <p:sp>
            <p:nvSpPr>
              <p:cNvPr id="20500" name="Oval 24"/>
              <p:cNvSpPr/>
              <p:nvPr/>
            </p:nvSpPr>
            <p:spPr>
              <a:xfrm>
                <a:off x="2956" y="1000"/>
                <a:ext cx="261" cy="239"/>
              </a:xfrm>
              <a:prstGeom prst="ellipse">
                <a:avLst/>
              </a:prstGeom>
              <a:noFill/>
              <a:ln w="38100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anchor="t" anchorCtr="0"/>
              <a:lstStyle/>
              <a:p>
                <a:endParaRPr lang="zh-CN" altLang="en-US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0501" name="Rectangle 25"/>
              <p:cNvSpPr/>
              <p:nvPr/>
            </p:nvSpPr>
            <p:spPr>
              <a:xfrm>
                <a:off x="3020" y="1354"/>
                <a:ext cx="106" cy="257"/>
              </a:xfrm>
              <a:prstGeom prst="rect">
                <a:avLst/>
              </a:prstGeom>
              <a:noFill/>
              <a:ln w="38100" cap="flat" cmpd="sng">
                <a:solidFill>
                  <a:srgbClr val="000000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anchor="t" anchorCtr="0"/>
              <a:lstStyle/>
              <a:p>
                <a:endParaRPr lang="zh-CN" altLang="en-US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0502" name="Rectangle 26"/>
              <p:cNvSpPr/>
              <p:nvPr/>
            </p:nvSpPr>
            <p:spPr>
              <a:xfrm>
                <a:off x="4803" y="1219"/>
                <a:ext cx="107" cy="249"/>
              </a:xfrm>
              <a:prstGeom prst="rect">
                <a:avLst/>
              </a:prstGeom>
              <a:noFill/>
              <a:ln w="38100" cap="flat" cmpd="sng">
                <a:solidFill>
                  <a:srgbClr val="000000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anchor="t" anchorCtr="0"/>
              <a:lstStyle/>
              <a:p>
                <a:endParaRPr lang="zh-CN" altLang="en-US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0503" name="Line 27"/>
              <p:cNvSpPr/>
              <p:nvPr/>
            </p:nvSpPr>
            <p:spPr>
              <a:xfrm flipV="1">
                <a:off x="3073" y="884"/>
                <a:ext cx="791" cy="0"/>
              </a:xfrm>
              <a:prstGeom prst="line">
                <a:avLst/>
              </a:prstGeom>
              <a:ln w="38100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20504" name="Line 28"/>
              <p:cNvSpPr/>
              <p:nvPr/>
            </p:nvSpPr>
            <p:spPr>
              <a:xfrm>
                <a:off x="4858" y="884"/>
                <a:ext cx="0" cy="335"/>
              </a:xfrm>
              <a:prstGeom prst="line">
                <a:avLst/>
              </a:prstGeom>
              <a:ln w="38100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20505" name="Line 29"/>
              <p:cNvSpPr/>
              <p:nvPr/>
            </p:nvSpPr>
            <p:spPr>
              <a:xfrm>
                <a:off x="4858" y="1696"/>
                <a:ext cx="0" cy="86"/>
              </a:xfrm>
              <a:prstGeom prst="line">
                <a:avLst/>
              </a:prstGeom>
              <a:ln w="39688" cap="flat" cmpd="sng">
                <a:solidFill>
                  <a:srgbClr val="FFFFFF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20506" name="Line 30"/>
              <p:cNvSpPr/>
              <p:nvPr/>
            </p:nvSpPr>
            <p:spPr>
              <a:xfrm>
                <a:off x="4858" y="1468"/>
                <a:ext cx="0" cy="342"/>
              </a:xfrm>
              <a:prstGeom prst="line">
                <a:avLst/>
              </a:prstGeom>
              <a:ln w="38100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20507" name="Line 31"/>
              <p:cNvSpPr/>
              <p:nvPr/>
            </p:nvSpPr>
            <p:spPr>
              <a:xfrm>
                <a:off x="3073" y="884"/>
                <a:ext cx="0" cy="0"/>
              </a:xfrm>
              <a:prstGeom prst="line">
                <a:avLst/>
              </a:prstGeom>
              <a:ln w="19050" cap="flat" cmpd="sng">
                <a:solidFill>
                  <a:srgbClr val="FFFFFF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20508" name="Line 32"/>
              <p:cNvSpPr/>
              <p:nvPr/>
            </p:nvSpPr>
            <p:spPr>
              <a:xfrm>
                <a:off x="3073" y="884"/>
                <a:ext cx="0" cy="470"/>
              </a:xfrm>
              <a:prstGeom prst="line">
                <a:avLst/>
              </a:prstGeom>
              <a:ln w="38100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20509" name="Rectangle 33"/>
              <p:cNvSpPr/>
              <p:nvPr/>
            </p:nvSpPr>
            <p:spPr>
              <a:xfrm>
                <a:off x="4125" y="1440"/>
                <a:ext cx="153" cy="213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anchor="t" anchorCtr="0"/>
              <a:lstStyle/>
              <a:p>
                <a:endParaRPr lang="zh-CN" altLang="en-US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0510" name="Rectangle 34"/>
              <p:cNvSpPr/>
              <p:nvPr/>
            </p:nvSpPr>
            <p:spPr>
              <a:xfrm>
                <a:off x="2767" y="1412"/>
                <a:ext cx="225" cy="269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altLang="zh-CN" sz="2800" b="1" i="1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R</a:t>
                </a:r>
                <a:r>
                  <a:rPr lang="en-US" altLang="zh-CN" sz="2800" b="1" baseline="-25000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0</a:t>
                </a:r>
                <a:endPara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0511" name="Rectangle 35"/>
              <p:cNvSpPr/>
              <p:nvPr/>
            </p:nvSpPr>
            <p:spPr>
              <a:xfrm>
                <a:off x="4937" y="1248"/>
                <a:ext cx="199" cy="214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anchor="t" anchorCtr="0"/>
              <a:lstStyle/>
              <a:p>
                <a:endParaRPr lang="zh-CN" altLang="en-US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0512" name="Rectangle 36"/>
              <p:cNvSpPr/>
              <p:nvPr/>
            </p:nvSpPr>
            <p:spPr>
              <a:xfrm>
                <a:off x="4969" y="1270"/>
                <a:ext cx="149" cy="269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altLang="zh-CN" sz="2800" b="1" i="1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R</a:t>
                </a:r>
                <a:endPara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0513" name="Rectangle 37"/>
              <p:cNvSpPr/>
              <p:nvPr/>
            </p:nvSpPr>
            <p:spPr>
              <a:xfrm>
                <a:off x="2920" y="827"/>
                <a:ext cx="140" cy="214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anchor="t" anchorCtr="0"/>
              <a:lstStyle/>
              <a:p>
                <a:endParaRPr lang="zh-CN" altLang="en-US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0514" name="Rectangle 38"/>
              <p:cNvSpPr/>
              <p:nvPr/>
            </p:nvSpPr>
            <p:spPr>
              <a:xfrm>
                <a:off x="2927" y="784"/>
                <a:ext cx="123" cy="269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altLang="zh-CN" sz="2800" b="1" dirty="0">
                    <a:solidFill>
                      <a:srgbClr val="FF3300"/>
                    </a:solidFill>
                    <a:latin typeface="Symbol" panose="05050102010706020507" pitchFamily="18" charset="2"/>
                    <a:ea typeface="宋体" panose="02010600030101010101" pitchFamily="2" charset="-122"/>
                  </a:rPr>
                  <a:t>+</a:t>
                </a:r>
                <a:endParaRPr lang="en-US" altLang="zh-CN" sz="2800" dirty="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0515" name="Rectangle 39"/>
              <p:cNvSpPr/>
              <p:nvPr/>
            </p:nvSpPr>
            <p:spPr>
              <a:xfrm>
                <a:off x="2866" y="1162"/>
                <a:ext cx="174" cy="214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anchor="t" anchorCtr="0"/>
              <a:lstStyle/>
              <a:p>
                <a:endParaRPr lang="zh-CN" altLang="en-US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0516" name="Rectangle 40"/>
              <p:cNvSpPr/>
              <p:nvPr/>
            </p:nvSpPr>
            <p:spPr>
              <a:xfrm>
                <a:off x="2881" y="1148"/>
                <a:ext cx="179" cy="269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altLang="zh-CN" sz="2800" dirty="0">
                    <a:solidFill>
                      <a:srgbClr val="FF3300"/>
                    </a:solidFill>
                    <a:latin typeface="Symbol" panose="05050102010706020507" pitchFamily="18" charset="2"/>
                    <a:ea typeface="宋体" panose="02010600030101010101" pitchFamily="2" charset="-122"/>
                  </a:rPr>
                  <a:t> </a:t>
                </a:r>
                <a:r>
                  <a:rPr lang="en-US" altLang="zh-CN" sz="2800" b="1" dirty="0">
                    <a:solidFill>
                      <a:srgbClr val="FF3300"/>
                    </a:solidFill>
                    <a:latin typeface="Symbol" panose="05050102010706020507" pitchFamily="18" charset="2"/>
                    <a:ea typeface="宋体" panose="02010600030101010101" pitchFamily="2" charset="-122"/>
                  </a:rPr>
                  <a:t>-</a:t>
                </a:r>
                <a:endParaRPr lang="en-US" altLang="zh-CN" sz="2800" dirty="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0517" name="Rectangle 41"/>
              <p:cNvSpPr/>
              <p:nvPr/>
            </p:nvSpPr>
            <p:spPr>
              <a:xfrm>
                <a:off x="2692" y="993"/>
                <a:ext cx="299" cy="269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lIns="0" tIns="0" rIns="0" bIns="0" anchor="t" anchorCtr="0">
                <a:spAutoFit/>
              </a:bodyPr>
              <a:lstStyle/>
              <a:p>
                <a:pPr algn="ctr"/>
                <a:r>
                  <a:rPr lang="en-US" altLang="zh-CN" sz="2800" b="1" i="1" dirty="0">
                    <a:solidFill>
                      <a:srgbClr val="FF33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E</a:t>
                </a:r>
                <a:endParaRPr lang="en-US" altLang="zh-CN" sz="2800" i="1" dirty="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0518" name="Rectangle 42"/>
              <p:cNvSpPr/>
              <p:nvPr/>
            </p:nvSpPr>
            <p:spPr>
              <a:xfrm>
                <a:off x="3644" y="1224"/>
                <a:ext cx="268" cy="269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lIns="0" tIns="0" rIns="0" bIns="0" anchor="t" anchorCtr="0">
                <a:spAutoFit/>
              </a:bodyPr>
              <a:lstStyle/>
              <a:p>
                <a:pPr algn="ctr"/>
                <a:r>
                  <a:rPr lang="en-US" altLang="zh-CN" sz="2800" b="1" i="1" dirty="0">
                    <a:solidFill>
                      <a:srgbClr val="FF33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U</a:t>
                </a:r>
                <a:endParaRPr lang="en-US" altLang="zh-CN" sz="2800" i="1" dirty="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0519" name="Oval 43"/>
              <p:cNvSpPr/>
              <p:nvPr/>
            </p:nvSpPr>
            <p:spPr>
              <a:xfrm flipH="1">
                <a:off x="4066" y="1777"/>
                <a:ext cx="38" cy="38"/>
              </a:xfrm>
              <a:prstGeom prst="ellipse">
                <a:avLst/>
              </a:prstGeom>
              <a:noFill/>
              <a:ln w="381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wrap="none" anchor="ctr" anchorCtr="0"/>
              <a:lstStyle/>
              <a:p>
                <a:endParaRPr lang="zh-CN" altLang="en-US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0520" name="Line 44"/>
              <p:cNvSpPr/>
              <p:nvPr/>
            </p:nvSpPr>
            <p:spPr>
              <a:xfrm flipH="1" flipV="1">
                <a:off x="3903" y="1690"/>
                <a:ext cx="177" cy="87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20521" name="Oval 45"/>
              <p:cNvSpPr/>
              <p:nvPr/>
            </p:nvSpPr>
            <p:spPr>
              <a:xfrm flipH="1">
                <a:off x="4057" y="865"/>
                <a:ext cx="38" cy="38"/>
              </a:xfrm>
              <a:prstGeom prst="ellipse">
                <a:avLst/>
              </a:prstGeom>
              <a:noFill/>
              <a:ln w="381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wrap="none" anchor="ctr" anchorCtr="0"/>
              <a:lstStyle/>
              <a:p>
                <a:endParaRPr lang="zh-CN" altLang="en-US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0522" name="Line 46"/>
              <p:cNvSpPr/>
              <p:nvPr/>
            </p:nvSpPr>
            <p:spPr>
              <a:xfrm flipH="1" flipV="1">
                <a:off x="3893" y="778"/>
                <a:ext cx="178" cy="87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20523" name="Line 47"/>
              <p:cNvSpPr/>
              <p:nvPr/>
            </p:nvSpPr>
            <p:spPr>
              <a:xfrm flipV="1">
                <a:off x="4104" y="884"/>
                <a:ext cx="763" cy="0"/>
              </a:xfrm>
              <a:prstGeom prst="line">
                <a:avLst/>
              </a:prstGeom>
              <a:ln w="38100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20524" name="Line 48"/>
              <p:cNvSpPr/>
              <p:nvPr/>
            </p:nvSpPr>
            <p:spPr>
              <a:xfrm>
                <a:off x="3069" y="1607"/>
                <a:ext cx="0" cy="202"/>
              </a:xfrm>
              <a:prstGeom prst="line">
                <a:avLst/>
              </a:prstGeom>
              <a:ln w="38100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20525" name="Line 49"/>
              <p:cNvSpPr/>
              <p:nvPr/>
            </p:nvSpPr>
            <p:spPr>
              <a:xfrm>
                <a:off x="4003" y="839"/>
                <a:ext cx="0" cy="913"/>
              </a:xfrm>
              <a:prstGeom prst="line">
                <a:avLst/>
              </a:prstGeom>
              <a:ln w="38100" cap="flat" cmpd="sng">
                <a:solidFill>
                  <a:srgbClr val="006600"/>
                </a:solidFill>
                <a:prstDash val="dash"/>
                <a:round/>
                <a:headEnd type="none" w="med" len="med"/>
                <a:tailEnd type="none" w="med" len="med"/>
              </a:ln>
            </p:spPr>
          </p:sp>
          <p:sp>
            <p:nvSpPr>
              <p:cNvPr id="20526" name="Line 50"/>
              <p:cNvSpPr/>
              <p:nvPr/>
            </p:nvSpPr>
            <p:spPr>
              <a:xfrm flipV="1">
                <a:off x="3073" y="1788"/>
                <a:ext cx="820" cy="9"/>
              </a:xfrm>
              <a:prstGeom prst="line">
                <a:avLst/>
              </a:prstGeom>
              <a:ln w="38100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20527" name="Line 51"/>
              <p:cNvSpPr/>
              <p:nvPr/>
            </p:nvSpPr>
            <p:spPr>
              <a:xfrm>
                <a:off x="4095" y="1788"/>
                <a:ext cx="772" cy="9"/>
              </a:xfrm>
              <a:prstGeom prst="line">
                <a:avLst/>
              </a:prstGeom>
              <a:ln w="38100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20528" name="Line 52"/>
              <p:cNvSpPr/>
              <p:nvPr/>
            </p:nvSpPr>
            <p:spPr>
              <a:xfrm>
                <a:off x="3217" y="807"/>
                <a:ext cx="381" cy="0"/>
              </a:xfrm>
              <a:prstGeom prst="line">
                <a:avLst/>
              </a:prstGeom>
              <a:ln w="38100" cap="flat" cmpd="sng">
                <a:solidFill>
                  <a:srgbClr val="FF3300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sp>
          <p:sp>
            <p:nvSpPr>
              <p:cNvPr id="20529" name="Rectangle 53"/>
              <p:cNvSpPr/>
              <p:nvPr/>
            </p:nvSpPr>
            <p:spPr>
              <a:xfrm>
                <a:off x="3679" y="855"/>
                <a:ext cx="123" cy="269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altLang="zh-CN" sz="2800" b="1" dirty="0">
                    <a:solidFill>
                      <a:srgbClr val="FF3300"/>
                    </a:solidFill>
                    <a:latin typeface="Symbol" panose="05050102010706020507" pitchFamily="18" charset="2"/>
                    <a:ea typeface="宋体" panose="02010600030101010101" pitchFamily="2" charset="-122"/>
                  </a:rPr>
                  <a:t>+</a:t>
                </a:r>
                <a:endParaRPr lang="en-US" altLang="zh-CN" sz="2800" dirty="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0530" name="Rectangle 54"/>
              <p:cNvSpPr/>
              <p:nvPr/>
            </p:nvSpPr>
            <p:spPr>
              <a:xfrm>
                <a:off x="3639" y="1531"/>
                <a:ext cx="179" cy="269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altLang="zh-CN" sz="2800" dirty="0">
                    <a:solidFill>
                      <a:srgbClr val="FFFFFF"/>
                    </a:solidFill>
                    <a:latin typeface="Symbol" panose="05050102010706020507" pitchFamily="18" charset="2"/>
                    <a:ea typeface="宋体" panose="02010600030101010101" pitchFamily="2" charset="-122"/>
                  </a:rPr>
                  <a:t> </a:t>
                </a:r>
                <a:r>
                  <a:rPr lang="en-US" altLang="zh-CN" sz="2800" b="1" dirty="0">
                    <a:solidFill>
                      <a:srgbClr val="FF3300"/>
                    </a:solidFill>
                    <a:latin typeface="Symbol" panose="05050102010706020507" pitchFamily="18" charset="2"/>
                    <a:ea typeface="宋体" panose="02010600030101010101" pitchFamily="2" charset="-122"/>
                  </a:rPr>
                  <a:t>-</a:t>
                </a:r>
                <a:endParaRPr lang="en-US" altLang="zh-CN" sz="2800" dirty="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0531" name="Text Box 55"/>
              <p:cNvSpPr txBox="1"/>
              <p:nvPr/>
            </p:nvSpPr>
            <p:spPr>
              <a:xfrm>
                <a:off x="4683" y="1426"/>
                <a:ext cx="203" cy="327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91435" tIns="45718" rIns="91435" bIns="45718" anchor="t" anchorCtr="0">
                <a:spAutoFit/>
              </a:bodyPr>
              <a:lstStyle/>
              <a:p>
                <a:r>
                  <a:rPr lang="en-US" altLang="zh-CN" sz="2800" b="1" i="1" dirty="0">
                    <a:solidFill>
                      <a:srgbClr val="FF33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I</a:t>
                </a:r>
              </a:p>
            </p:txBody>
          </p:sp>
        </p:grpSp>
      </p:grpSp>
      <p:sp>
        <p:nvSpPr>
          <p:cNvPr id="56" name="Text Box 6"/>
          <p:cNvSpPr txBox="1">
            <a:spLocks noChangeArrowheads="1"/>
          </p:cNvSpPr>
          <p:nvPr/>
        </p:nvSpPr>
        <p:spPr bwMode="auto">
          <a:xfrm>
            <a:off x="241300" y="3429000"/>
            <a:ext cx="2890838" cy="461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FF0000"/>
                </a:solidFill>
                <a:miter lim="800000"/>
                <a:headEnd type="none" w="sm" len="sm"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35" tIns="45718" rIns="91435" bIns="45718" anchor="ctr">
            <a:spAutoFit/>
          </a:bodyPr>
          <a:lstStyle/>
          <a:p>
            <a:pPr marR="0" algn="ctr" defTabSz="914400">
              <a:buClrTx/>
              <a:buSzTx/>
              <a:buFontTx/>
              <a:buNone/>
              <a:defRPr/>
            </a:pPr>
            <a:r>
              <a:rPr kumimoji="1" lang="en-US" altLang="zh-CN" b="1" kern="1200" cap="none" spc="0" normalizeH="0" baseline="0" noProof="0" dirty="0">
                <a:solidFill>
                  <a:schemeClr val="accent2">
                    <a:lumMod val="75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2.</a:t>
            </a:r>
            <a:r>
              <a:rPr kumimoji="1" lang="zh-CN" altLang="en-US" b="1" kern="1200" cap="none" spc="0" normalizeH="0" baseline="0" noProof="0" dirty="0">
                <a:solidFill>
                  <a:schemeClr val="accent2">
                    <a:lumMod val="75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功率与功率平衡：</a:t>
            </a:r>
            <a:endParaRPr kumimoji="1" lang="en-US" altLang="zh-CN" b="1" kern="1200" cap="none" spc="0" normalizeH="0" baseline="0" noProof="0" dirty="0">
              <a:solidFill>
                <a:schemeClr val="accent2">
                  <a:lumMod val="75000"/>
                </a:schemeClr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graphicFrame>
        <p:nvGraphicFramePr>
          <p:cNvPr id="3" name="对象 2">
            <a:hlinkClick r:id="" action="ppaction://ole?verb=0"/>
          </p:cNvPr>
          <p:cNvGraphicFramePr/>
          <p:nvPr/>
        </p:nvGraphicFramePr>
        <p:xfrm>
          <a:off x="534670" y="1250315"/>
          <a:ext cx="1833245" cy="111569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12496800" imgH="7620000" progId="">
                  <p:embed/>
                </p:oleObj>
              </mc:Choice>
              <mc:Fallback>
                <p:oleObj r:id="rId2" imgW="12496800" imgH="7620000" progId="">
                  <p:embed/>
                  <p:pic>
                    <p:nvPicPr>
                      <p:cNvPr id="0" name="图片 8192" descr="image17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534670" y="1250315"/>
                        <a:ext cx="1833245" cy="111569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74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74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174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174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174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74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174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419" grpId="0"/>
      <p:bldP spid="17420" grpId="0"/>
      <p:bldP spid="17421" grpId="0" animBg="1"/>
      <p:bldP spid="17422" grpId="0" animBg="1"/>
      <p:bldP spid="17423" grpId="0" animBg="1"/>
      <p:bldP spid="17424" grpId="0"/>
      <p:bldP spid="17425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Text Box 2"/>
          <p:cNvSpPr txBox="1">
            <a:spLocks noChangeArrowheads="1"/>
          </p:cNvSpPr>
          <p:nvPr/>
        </p:nvSpPr>
        <p:spPr bwMode="auto">
          <a:xfrm>
            <a:off x="549275" y="304800"/>
            <a:ext cx="3794125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1435" tIns="45718" rIns="91435" bIns="45718">
            <a:spAutoFit/>
          </a:bodyPr>
          <a:lstStyle/>
          <a:p>
            <a:pPr marR="0" defTabSz="914400" eaLnBrk="0" hangingPunct="0">
              <a:buClrTx/>
              <a:buSzTx/>
              <a:buFontTx/>
              <a:buNone/>
              <a:defRPr/>
            </a:pPr>
            <a:r>
              <a:rPr kumimoji="1" lang="zh-CN" altLang="en-US" sz="2800" b="1" kern="1200" cap="none" spc="0" normalizeH="0" baseline="0" noProof="0">
                <a:solidFill>
                  <a:srgbClr val="CC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Bookman Old Style" panose="02050604050505020204" pitchFamily="18" charset="0"/>
                <a:ea typeface="宋体" panose="02010600030101010101" pitchFamily="2" charset="-122"/>
                <a:cs typeface="+mn-cs"/>
              </a:rPr>
              <a:t>电源与负载的判别</a:t>
            </a:r>
          </a:p>
        </p:txBody>
      </p:sp>
      <p:sp>
        <p:nvSpPr>
          <p:cNvPr id="18435" name="Text Box 3"/>
          <p:cNvSpPr txBox="1"/>
          <p:nvPr/>
        </p:nvSpPr>
        <p:spPr>
          <a:xfrm>
            <a:off x="1066800" y="5105400"/>
            <a:ext cx="7086600" cy="954103"/>
          </a:xfrm>
          <a:prstGeom prst="rect">
            <a:avLst/>
          </a:prstGeom>
          <a:noFill/>
          <a:ln w="12700">
            <a:noFill/>
          </a:ln>
        </p:spPr>
        <p:txBody>
          <a:bodyPr lIns="91435" tIns="45718" rIns="91435" bIns="45718" anchor="t" anchorCtr="0">
            <a:spAutoFit/>
          </a:bodyPr>
          <a:lstStyle/>
          <a:p>
            <a:pPr eaLnBrk="0" hangingPunct="0"/>
            <a:r>
              <a:rPr lang="en-US" altLang="zh-CN" sz="2800" b="1" i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U</a:t>
            </a:r>
            <a:r>
              <a:rPr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、</a:t>
            </a:r>
            <a:r>
              <a:rPr lang="en-US" altLang="zh-CN" sz="2800" b="1" i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I </a:t>
            </a:r>
            <a:r>
              <a:rPr lang="zh-CN" altLang="en-US" sz="2800" b="1" dirty="0">
                <a:solidFill>
                  <a:srgbClr val="000000"/>
                </a:solidFill>
                <a:latin typeface="Bookman Old Style" panose="02050604050505020204" pitchFamily="18" charset="0"/>
                <a:ea typeface="宋体" panose="02010600030101010101" pitchFamily="2" charset="-122"/>
              </a:rPr>
              <a:t>参考方向</a:t>
            </a:r>
            <a:r>
              <a:rPr lang="zh-CN" altLang="en-US" sz="2800" b="1" dirty="0">
                <a:solidFill>
                  <a:srgbClr val="00B050"/>
                </a:solidFill>
                <a:latin typeface="Bookman Old Style" panose="02050604050505020204" pitchFamily="18" charset="0"/>
              </a:rPr>
              <a:t>相反</a:t>
            </a:r>
            <a:r>
              <a:rPr lang="zh-CN" altLang="en-US" sz="2800" b="1" dirty="0">
                <a:solidFill>
                  <a:srgbClr val="000000"/>
                </a:solidFill>
                <a:latin typeface="Bookman Old Style" panose="02050604050505020204" pitchFamily="18" charset="0"/>
                <a:ea typeface="宋体" panose="02010600030101010101" pitchFamily="2" charset="-122"/>
              </a:rPr>
              <a:t>，</a:t>
            </a:r>
            <a:r>
              <a:rPr lang="en-US" altLang="zh-CN" sz="2800" b="1" i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P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= </a:t>
            </a:r>
            <a:r>
              <a:rPr lang="en-US" altLang="zh-CN" sz="2800" b="1" i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UI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 0</a:t>
            </a:r>
            <a:r>
              <a:rPr lang="zh-CN" altLang="en-US" sz="2800" b="1" dirty="0">
                <a:solidFill>
                  <a:srgbClr val="000000"/>
                </a:solidFill>
                <a:latin typeface="Bookman Old Style" panose="020506040505050202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，</a:t>
            </a:r>
            <a:r>
              <a:rPr lang="zh-CN" altLang="en-US" sz="2800" b="1" dirty="0">
                <a:solidFill>
                  <a:srgbClr val="CC0000"/>
                </a:solidFill>
                <a:latin typeface="Bookman Old Style" panose="020506040505050202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电源</a:t>
            </a:r>
            <a:r>
              <a:rPr lang="zh-CN" altLang="en-US" sz="2800" b="1" dirty="0">
                <a:solidFill>
                  <a:srgbClr val="000000"/>
                </a:solidFill>
                <a:latin typeface="Bookman Old Style" panose="020506040505050202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；</a:t>
            </a:r>
          </a:p>
          <a:p>
            <a:pPr eaLnBrk="0" hangingPunct="0"/>
            <a:r>
              <a:rPr lang="zh-CN" altLang="en-US" sz="2800" b="1" i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                                     </a:t>
            </a:r>
            <a:r>
              <a:rPr lang="en-US" altLang="zh-CN" sz="2800" b="1" i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P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= </a:t>
            </a:r>
            <a:r>
              <a:rPr lang="en-US" altLang="zh-CN" sz="2800" b="1" i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UI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 0</a:t>
            </a:r>
            <a:r>
              <a:rPr lang="zh-CN" altLang="en-US" sz="2800" b="1" dirty="0">
                <a:solidFill>
                  <a:srgbClr val="000000"/>
                </a:solidFill>
                <a:latin typeface="Bookman Old Style" panose="020506040505050202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，</a:t>
            </a:r>
            <a:r>
              <a:rPr lang="zh-CN" altLang="en-US" sz="2800" b="1" dirty="0">
                <a:solidFill>
                  <a:srgbClr val="CC0000"/>
                </a:solidFill>
                <a:latin typeface="Bookman Old Style" panose="020506040505050202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负载</a:t>
            </a:r>
            <a:r>
              <a:rPr lang="zh-CN" altLang="en-US" sz="2800" b="1" dirty="0">
                <a:solidFill>
                  <a:srgbClr val="000000"/>
                </a:solidFill>
                <a:latin typeface="Bookman Old Style" panose="020506040505050202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。</a:t>
            </a:r>
          </a:p>
        </p:txBody>
      </p:sp>
      <p:sp>
        <p:nvSpPr>
          <p:cNvPr id="18436" name="Text Box 4"/>
          <p:cNvSpPr txBox="1"/>
          <p:nvPr/>
        </p:nvSpPr>
        <p:spPr>
          <a:xfrm>
            <a:off x="1143000" y="4114800"/>
            <a:ext cx="7086600" cy="989013"/>
          </a:xfrm>
          <a:prstGeom prst="rect">
            <a:avLst/>
          </a:prstGeom>
          <a:noFill/>
          <a:ln w="12700">
            <a:noFill/>
          </a:ln>
        </p:spPr>
        <p:txBody>
          <a:bodyPr lIns="91435" tIns="45718" rIns="91435" bIns="45718" anchor="t" anchorCtr="0">
            <a:spAutoFit/>
          </a:bodyPr>
          <a:lstStyle/>
          <a:p>
            <a:pPr eaLnBrk="0" hangingPunct="0">
              <a:spcBef>
                <a:spcPct val="10000"/>
              </a:spcBef>
            </a:pPr>
            <a:r>
              <a:rPr lang="en-US" altLang="zh-CN" sz="2800" b="1" i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U</a:t>
            </a:r>
            <a:r>
              <a:rPr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、</a:t>
            </a:r>
            <a:r>
              <a:rPr lang="en-US" altLang="zh-CN" sz="2800" b="1" i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I </a:t>
            </a:r>
            <a:r>
              <a:rPr lang="zh-CN" altLang="en-US" sz="2800" b="1" dirty="0">
                <a:solidFill>
                  <a:srgbClr val="000000"/>
                </a:solidFill>
                <a:latin typeface="Bookman Old Style" panose="02050604050505020204" pitchFamily="18" charset="0"/>
                <a:ea typeface="宋体" panose="02010600030101010101" pitchFamily="2" charset="-122"/>
              </a:rPr>
              <a:t>参考方向</a:t>
            </a:r>
            <a:r>
              <a:rPr lang="zh-CN" altLang="en-US" sz="2800" b="1" dirty="0">
                <a:solidFill>
                  <a:srgbClr val="FF0000"/>
                </a:solidFill>
                <a:latin typeface="Bookman Old Style" panose="02050604050505020204" pitchFamily="18" charset="0"/>
                <a:ea typeface="宋体" panose="02010600030101010101" pitchFamily="2" charset="-122"/>
              </a:rPr>
              <a:t>相同</a:t>
            </a:r>
            <a:r>
              <a:rPr lang="zh-CN" altLang="en-US" sz="2800" b="1" dirty="0">
                <a:solidFill>
                  <a:srgbClr val="000000"/>
                </a:solidFill>
                <a:latin typeface="Bookman Old Style" panose="02050604050505020204" pitchFamily="18" charset="0"/>
                <a:ea typeface="宋体" panose="02010600030101010101" pitchFamily="2" charset="-122"/>
              </a:rPr>
              <a:t>，</a:t>
            </a:r>
            <a:r>
              <a:rPr lang="en-US" altLang="zh-CN" sz="2800" b="1" i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P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=</a:t>
            </a:r>
            <a:r>
              <a:rPr lang="en-US" altLang="zh-CN" sz="2800" b="1" i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UI 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 0</a:t>
            </a:r>
            <a:r>
              <a:rPr lang="zh-CN" altLang="en-US" sz="2800" b="1" dirty="0">
                <a:solidFill>
                  <a:srgbClr val="000000"/>
                </a:solidFill>
                <a:latin typeface="Bookman Old Style" panose="020506040505050202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，</a:t>
            </a:r>
            <a:r>
              <a:rPr lang="zh-CN" altLang="en-US" sz="2800" b="1" dirty="0">
                <a:solidFill>
                  <a:srgbClr val="CC0000"/>
                </a:solidFill>
                <a:latin typeface="Bookman Old Style" panose="020506040505050202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负载</a:t>
            </a:r>
            <a:r>
              <a:rPr lang="zh-CN" altLang="en-US" sz="2800" b="1" dirty="0">
                <a:solidFill>
                  <a:srgbClr val="000000"/>
                </a:solidFill>
                <a:latin typeface="Bookman Old Style" panose="020506040505050202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；</a:t>
            </a:r>
          </a:p>
          <a:p>
            <a:pPr eaLnBrk="0" hangingPunct="0">
              <a:spcBef>
                <a:spcPct val="10000"/>
              </a:spcBef>
            </a:pPr>
            <a:r>
              <a:rPr lang="zh-CN" altLang="en-US" sz="2800" b="1" dirty="0">
                <a:solidFill>
                  <a:srgbClr val="000000"/>
                </a:solidFill>
                <a:latin typeface="Bookman Old Style" panose="020506040505050202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                           </a:t>
            </a:r>
            <a:r>
              <a:rPr lang="en-US" altLang="zh-CN" sz="2800" b="1" i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P = UI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 0</a:t>
            </a:r>
            <a:r>
              <a:rPr lang="zh-CN" altLang="en-US" sz="2800" b="1" dirty="0">
                <a:solidFill>
                  <a:srgbClr val="000000"/>
                </a:solidFill>
                <a:latin typeface="Bookman Old Style" panose="020506040505050202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，</a:t>
            </a:r>
            <a:r>
              <a:rPr lang="zh-CN" altLang="en-US" sz="2800" b="1" dirty="0">
                <a:solidFill>
                  <a:srgbClr val="CC0000"/>
                </a:solidFill>
                <a:latin typeface="Bookman Old Style" panose="020506040505050202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电源</a:t>
            </a:r>
            <a:r>
              <a:rPr lang="zh-CN" altLang="en-US" sz="2800" b="1" dirty="0">
                <a:solidFill>
                  <a:srgbClr val="000000"/>
                </a:solidFill>
                <a:latin typeface="Bookman Old Style" panose="020506040505050202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。</a:t>
            </a:r>
            <a:r>
              <a:rPr lang="zh-CN" altLang="en-US" sz="2800" b="1" dirty="0">
                <a:solidFill>
                  <a:srgbClr val="FF0000"/>
                </a:solidFill>
                <a:latin typeface="Bookman Old Style" panose="02050604050505020204" pitchFamily="18" charset="0"/>
                <a:ea typeface="宋体" panose="02010600030101010101" pitchFamily="2" charset="-122"/>
              </a:rPr>
              <a:t> </a:t>
            </a:r>
          </a:p>
        </p:txBody>
      </p:sp>
      <p:sp>
        <p:nvSpPr>
          <p:cNvPr id="18437" name="Text Box 5"/>
          <p:cNvSpPr txBox="1"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533400" y="890588"/>
            <a:ext cx="64008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1435" tIns="45718" rIns="91435" bIns="45718">
            <a:spAutoFit/>
          </a:bodyPr>
          <a:lstStyle/>
          <a:p>
            <a:pPr marR="0" defTabSz="914400" eaLnBrk="0" hangingPunct="0">
              <a:buClrTx/>
              <a:buSzTx/>
              <a:buFontTx/>
              <a:buNone/>
              <a:defRPr/>
            </a:pPr>
            <a:r>
              <a:rPr kumimoji="1" lang="en-US" altLang="zh-CN" sz="2800" b="1" kern="1200" cap="none" spc="0" normalizeH="0" baseline="0" noProof="0" dirty="0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1.</a:t>
            </a:r>
            <a:r>
              <a:rPr kumimoji="1" lang="en-US" altLang="zh-CN" sz="2800" b="1" kern="1200" cap="none" spc="0" normalizeH="0" baseline="0" noProof="0" dirty="0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 </a:t>
            </a:r>
            <a:r>
              <a:rPr kumimoji="1" lang="zh-CN" altLang="en-US" sz="2800" b="1" kern="1200" cap="none" spc="0" normalizeH="0" baseline="0" noProof="0" dirty="0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根据 </a:t>
            </a:r>
            <a:r>
              <a:rPr kumimoji="1" lang="en-US" altLang="zh-CN" sz="2800" b="1" i="1" kern="1200" cap="none" spc="0" normalizeH="0" baseline="0" noProof="0" dirty="0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U</a:t>
            </a:r>
            <a:r>
              <a:rPr kumimoji="1" lang="zh-CN" altLang="en-US" sz="2800" b="1" kern="1200" cap="none" spc="0" normalizeH="0" baseline="0" noProof="0" dirty="0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、</a:t>
            </a:r>
            <a:r>
              <a:rPr kumimoji="1" lang="en-US" altLang="zh-CN" sz="2800" b="1" i="1" kern="1200" cap="none" spc="0" normalizeH="0" baseline="0" noProof="0" dirty="0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I </a:t>
            </a:r>
            <a:r>
              <a:rPr kumimoji="1" lang="zh-CN" altLang="en-US" sz="2800" b="1" kern="1200" cap="none" spc="0" normalizeH="0" baseline="0" noProof="0" dirty="0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的</a:t>
            </a:r>
            <a:r>
              <a:rPr kumimoji="1" lang="zh-CN" altLang="en-US" sz="2800" b="1" i="1" u="sng" kern="1200" cap="none" spc="0" normalizeH="0" baseline="0" noProof="0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实际</a:t>
            </a:r>
            <a:r>
              <a:rPr kumimoji="1" lang="zh-CN" altLang="en-US" sz="2800" b="1" kern="1200" cap="none" spc="0" normalizeH="0" baseline="0" noProof="0" dirty="0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方向判别</a:t>
            </a:r>
          </a:p>
        </p:txBody>
      </p:sp>
      <p:sp>
        <p:nvSpPr>
          <p:cNvPr id="18438" name="Text Box 6"/>
          <p:cNvSpPr txBox="1"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609600" y="3581400"/>
            <a:ext cx="57150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1435" tIns="45718" rIns="91435" bIns="45718">
            <a:spAutoFit/>
          </a:bodyPr>
          <a:lstStyle/>
          <a:p>
            <a:pPr marR="0" defTabSz="914400" eaLnBrk="0" hangingPunct="0">
              <a:buClrTx/>
              <a:buSzTx/>
              <a:buFontTx/>
              <a:buNone/>
              <a:defRPr/>
            </a:pPr>
            <a:r>
              <a:rPr kumimoji="1" lang="en-US" altLang="zh-CN" sz="2800" b="1" kern="1200" cap="none" spc="0" normalizeH="0" baseline="0" noProof="0" dirty="0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2.</a:t>
            </a:r>
            <a:r>
              <a:rPr kumimoji="1" lang="en-US" altLang="zh-CN" sz="2800" b="1" kern="1200" cap="none" spc="0" normalizeH="0" baseline="0" noProof="0" dirty="0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 </a:t>
            </a:r>
            <a:r>
              <a:rPr kumimoji="1" lang="zh-CN" altLang="en-US" sz="2800" b="1" kern="1200" cap="none" spc="0" normalizeH="0" baseline="0" noProof="0" dirty="0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根据 </a:t>
            </a:r>
            <a:r>
              <a:rPr kumimoji="1" lang="en-US" altLang="zh-CN" sz="2800" b="1" i="1" kern="1200" cap="none" spc="0" normalizeH="0" baseline="0" noProof="0" dirty="0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U</a:t>
            </a:r>
            <a:r>
              <a:rPr kumimoji="1" lang="zh-CN" altLang="en-US" sz="2800" b="1" kern="1200" cap="none" spc="0" normalizeH="0" baseline="0" noProof="0" dirty="0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、</a:t>
            </a:r>
            <a:r>
              <a:rPr kumimoji="1" lang="en-US" altLang="zh-CN" sz="2800" b="1" i="1" kern="1200" cap="none" spc="0" normalizeH="0" baseline="0" noProof="0" dirty="0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I </a:t>
            </a:r>
            <a:r>
              <a:rPr kumimoji="1" lang="zh-CN" altLang="en-US" sz="2800" b="1" kern="1200" cap="none" spc="0" normalizeH="0" baseline="0" noProof="0" dirty="0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的</a:t>
            </a:r>
            <a:r>
              <a:rPr kumimoji="1" lang="zh-CN" altLang="en-US" sz="2800" b="1" i="1" u="sng" kern="1200" cap="none" spc="0" normalizeH="0" baseline="0" noProof="0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参考</a:t>
            </a:r>
            <a:r>
              <a:rPr kumimoji="1" lang="zh-CN" altLang="en-US" sz="2800" b="1" kern="1200" cap="none" spc="0" normalizeH="0" baseline="0" noProof="0" dirty="0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方向判别</a:t>
            </a:r>
          </a:p>
        </p:txBody>
      </p:sp>
      <p:sp>
        <p:nvSpPr>
          <p:cNvPr id="18439" name="Rectangle 7"/>
          <p:cNvSpPr/>
          <p:nvPr>
            <p:custDataLst>
              <p:tags r:id="rId3"/>
            </p:custDataLst>
          </p:nvPr>
        </p:nvSpPr>
        <p:spPr>
          <a:xfrm>
            <a:off x="990600" y="1447800"/>
            <a:ext cx="7772400" cy="1416050"/>
          </a:xfrm>
          <a:prstGeom prst="rect">
            <a:avLst/>
          </a:prstGeom>
          <a:noFill/>
          <a:ln w="12700">
            <a:noFill/>
          </a:ln>
        </p:spPr>
        <p:txBody>
          <a:bodyPr lIns="91435" tIns="45718" rIns="91435" bIns="45718" anchor="t" anchorCtr="0">
            <a:spAutoFit/>
          </a:bodyPr>
          <a:lstStyle/>
          <a:p>
            <a:pPr eaLnBrk="0" hangingPunct="0"/>
            <a:r>
              <a:rPr lang="zh-CN" altLang="en-US" sz="2800" b="1" dirty="0">
                <a:solidFill>
                  <a:srgbClr val="CC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电源：</a:t>
            </a:r>
            <a:endParaRPr lang="zh-CN" altLang="en-US" sz="28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eaLnBrk="0" hangingPunct="0"/>
            <a:r>
              <a:rPr lang="zh-CN" altLang="en-US" sz="2800" b="1" i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   </a:t>
            </a:r>
            <a:r>
              <a:rPr lang="en-US" altLang="zh-CN" sz="2800" b="1" i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U</a:t>
            </a:r>
            <a:r>
              <a:rPr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、</a:t>
            </a:r>
            <a:r>
              <a:rPr lang="en-US" altLang="zh-CN" sz="2800" b="1" i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I </a:t>
            </a:r>
            <a:r>
              <a:rPr lang="zh-CN" altLang="en-US" sz="28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实际方向</a:t>
            </a:r>
            <a:r>
              <a:rPr lang="zh-CN" altLang="en-US" sz="28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相反</a:t>
            </a:r>
            <a:r>
              <a:rPr lang="zh-CN" altLang="en-US" sz="28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，即电流从“</a:t>
            </a:r>
            <a:r>
              <a:rPr lang="en-US" altLang="zh-CN" sz="28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+”</a:t>
            </a:r>
            <a:r>
              <a:rPr lang="zh-CN" altLang="en-US" sz="28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端流出，</a:t>
            </a:r>
          </a:p>
          <a:p>
            <a:pPr eaLnBrk="0" hangingPunct="0">
              <a:spcBef>
                <a:spcPct val="10000"/>
              </a:spcBef>
            </a:pPr>
            <a:r>
              <a:rPr lang="zh-CN" altLang="en-US" sz="2800" b="1" dirty="0">
                <a:solidFill>
                  <a:srgbClr val="FF0000"/>
                </a:solidFill>
                <a:latin typeface="Bookman Old Style" panose="02050604050505020204" pitchFamily="18" charset="0"/>
                <a:ea typeface="宋体" panose="02010600030101010101" pitchFamily="2" charset="-122"/>
              </a:rPr>
              <a:t>                                         （发出功率）</a:t>
            </a:r>
            <a:r>
              <a:rPr lang="zh-CN" altLang="en-US" sz="2800" b="1" dirty="0">
                <a:latin typeface="Bookman Old Style" panose="02050604050505020204" pitchFamily="18" charset="0"/>
                <a:ea typeface="宋体" panose="02010600030101010101" pitchFamily="2" charset="-122"/>
              </a:rPr>
              <a:t>；</a:t>
            </a:r>
            <a:endParaRPr lang="zh-CN" altLang="en-US" sz="28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8440" name="Rectangle 8"/>
          <p:cNvSpPr/>
          <p:nvPr>
            <p:custDataLst>
              <p:tags r:id="rId4"/>
            </p:custDataLst>
          </p:nvPr>
        </p:nvSpPr>
        <p:spPr>
          <a:xfrm>
            <a:off x="939800" y="2386013"/>
            <a:ext cx="7751763" cy="1373187"/>
          </a:xfrm>
          <a:prstGeom prst="rect">
            <a:avLst/>
          </a:prstGeom>
          <a:noFill/>
          <a:ln w="12700">
            <a:noFill/>
          </a:ln>
        </p:spPr>
        <p:txBody>
          <a:bodyPr wrap="none" lIns="91435" tIns="45718" rIns="91435" bIns="45718" anchor="t" anchorCtr="0">
            <a:spAutoFit/>
          </a:bodyPr>
          <a:lstStyle/>
          <a:p>
            <a:pPr eaLnBrk="0" hangingPunct="0"/>
            <a:r>
              <a:rPr lang="en-US" altLang="zh-CN" sz="2800" b="1" dirty="0">
                <a:solidFill>
                  <a:srgbClr val="CC0000"/>
                </a:solidFill>
                <a:latin typeface="Bookman Old Style" panose="020506040505050202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 </a:t>
            </a:r>
            <a:r>
              <a:rPr lang="zh-CN" altLang="en-US" sz="2800" b="1" dirty="0">
                <a:solidFill>
                  <a:srgbClr val="CC0000"/>
                </a:solidFill>
                <a:latin typeface="Bookman Old Style" panose="020506040505050202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负载：</a:t>
            </a:r>
            <a:endParaRPr lang="zh-CN" altLang="en-US" sz="2800" b="1" dirty="0">
              <a:solidFill>
                <a:srgbClr val="000000"/>
              </a:solidFill>
              <a:latin typeface="Bookman Old Style" panose="02050604050505020204" pitchFamily="18" charset="0"/>
              <a:ea typeface="宋体" panose="02010600030101010101" pitchFamily="2" charset="-122"/>
              <a:sym typeface="Symbol" panose="05050102010706020507" pitchFamily="18" charset="2"/>
            </a:endParaRPr>
          </a:p>
          <a:p>
            <a:pPr eaLnBrk="0" hangingPunct="0"/>
            <a:r>
              <a:rPr lang="zh-CN" altLang="en-US" sz="2800" b="1" dirty="0">
                <a:solidFill>
                  <a:srgbClr val="000000"/>
                </a:solidFill>
                <a:latin typeface="Bookman Old Style" panose="020506040505050202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   </a:t>
            </a:r>
            <a:r>
              <a:rPr lang="en-US" altLang="zh-CN" sz="2800" b="1" i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U</a:t>
            </a:r>
            <a:r>
              <a:rPr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、</a:t>
            </a:r>
            <a:r>
              <a:rPr lang="en-US" altLang="zh-CN" sz="2800" b="1" i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I </a:t>
            </a:r>
            <a:r>
              <a:rPr lang="zh-CN" altLang="en-US" sz="28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实际方向</a:t>
            </a:r>
            <a:r>
              <a:rPr lang="zh-CN" altLang="en-US" sz="2800" b="1" dirty="0">
                <a:solidFill>
                  <a:srgbClr val="00B05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相同</a:t>
            </a:r>
            <a:r>
              <a:rPr lang="zh-CN" altLang="en-US" sz="28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，即电流从“</a:t>
            </a:r>
            <a:r>
              <a:rPr lang="en-US" altLang="zh-CN" sz="28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sym typeface="Symbol" panose="05050102010706020507" pitchFamily="18" charset="2"/>
              </a:rPr>
              <a:t>-</a:t>
            </a:r>
            <a:r>
              <a:rPr lang="en-US" altLang="zh-CN" sz="28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”</a:t>
            </a:r>
            <a:r>
              <a:rPr lang="zh-CN" altLang="en-US" sz="28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端流出。</a:t>
            </a:r>
          </a:p>
          <a:p>
            <a:pPr eaLnBrk="0" hangingPunct="0"/>
            <a:r>
              <a:rPr lang="zh-CN" altLang="en-US" sz="2800" b="1" dirty="0">
                <a:solidFill>
                  <a:srgbClr val="FF0000"/>
                </a:solidFill>
                <a:latin typeface="Bookman Old Style" panose="02050604050505020204" pitchFamily="18" charset="0"/>
                <a:ea typeface="宋体" panose="02010600030101010101" pitchFamily="2" charset="-122"/>
              </a:rPr>
              <a:t>                                          （吸收功率）</a:t>
            </a:r>
            <a:r>
              <a:rPr lang="zh-CN" altLang="en-US" sz="28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84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84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84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84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84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4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844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4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844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84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84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843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184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1843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435" grpId="0" build="p"/>
      <p:bldP spid="18436" grpId="0" build="p"/>
      <p:bldP spid="18437" grpId="0"/>
      <p:bldP spid="18438" grpId="0"/>
      <p:bldP spid="18439" grpId="0" build="p"/>
      <p:bldP spid="18440" grpId="0" build="p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/>
          </a:p>
        </p:txBody>
      </p:sp>
      <p:graphicFrame>
        <p:nvGraphicFramePr>
          <p:cNvPr id="4" name="对象 3"/>
          <p:cNvGraphicFramePr/>
          <p:nvPr>
            <p:extLst>
              <p:ext uri="{D42A27DB-BD31-4B8C-83A1-F6EECF244321}">
                <p14:modId xmlns:p14="http://schemas.microsoft.com/office/powerpoint/2010/main" val="157439553"/>
              </p:ext>
            </p:extLst>
          </p:nvPr>
        </p:nvGraphicFramePr>
        <p:xfrm>
          <a:off x="-180528" y="-99392"/>
          <a:ext cx="9217024" cy="705678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10315575" imgH="7753350" progId="Paint.Picture">
                  <p:embed/>
                </p:oleObj>
              </mc:Choice>
              <mc:Fallback>
                <p:oleObj r:id="rId2" imgW="10315575" imgH="7753350" progId="Paint.Picture">
                  <p:embed/>
                  <p:pic>
                    <p:nvPicPr>
                      <p:cNvPr id="0" name="图片 4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-180528" y="-99392"/>
                        <a:ext cx="9217024" cy="705678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/>
          </a:p>
        </p:txBody>
      </p:sp>
      <p:graphicFrame>
        <p:nvGraphicFramePr>
          <p:cNvPr id="4" name="对象 3"/>
          <p:cNvGraphicFramePr/>
          <p:nvPr>
            <p:extLst>
              <p:ext uri="{D42A27DB-BD31-4B8C-83A1-F6EECF244321}">
                <p14:modId xmlns:p14="http://schemas.microsoft.com/office/powerpoint/2010/main" val="2777347734"/>
              </p:ext>
            </p:extLst>
          </p:nvPr>
        </p:nvGraphicFramePr>
        <p:xfrm>
          <a:off x="251520" y="404664"/>
          <a:ext cx="8424936" cy="583264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Bitmap Image" r:id="rId2" imgW="5176800" imgH="3795840" progId="Paint.Picture">
                  <p:embed/>
                </p:oleObj>
              </mc:Choice>
              <mc:Fallback>
                <p:oleObj name="Bitmap Image" r:id="rId2" imgW="5176800" imgH="3795840" progId="Paint.Picture">
                  <p:embed/>
                  <p:pic>
                    <p:nvPicPr>
                      <p:cNvPr id="0" name="图片 4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251520" y="404664"/>
                        <a:ext cx="8424936" cy="583264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/>
          </a:p>
        </p:txBody>
      </p:sp>
      <p:graphicFrame>
        <p:nvGraphicFramePr>
          <p:cNvPr id="4" name="对象 3"/>
          <p:cNvGraphicFramePr/>
          <p:nvPr>
            <p:extLst>
              <p:ext uri="{D42A27DB-BD31-4B8C-83A1-F6EECF244321}">
                <p14:modId xmlns:p14="http://schemas.microsoft.com/office/powerpoint/2010/main" val="3569845675"/>
              </p:ext>
            </p:extLst>
          </p:nvPr>
        </p:nvGraphicFramePr>
        <p:xfrm>
          <a:off x="251520" y="260648"/>
          <a:ext cx="8784976" cy="655272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Bitmap Image" r:id="rId2" imgW="5148360" imgH="3852720" progId="Paint.Picture">
                  <p:embed/>
                </p:oleObj>
              </mc:Choice>
              <mc:Fallback>
                <p:oleObj name="Bitmap Image" r:id="rId2" imgW="5148360" imgH="3852720" progId="Paint.Picture">
                  <p:embed/>
                  <p:pic>
                    <p:nvPicPr>
                      <p:cNvPr id="0" name="图片 4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251520" y="260648"/>
                        <a:ext cx="8784976" cy="655272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/>
          </a:p>
        </p:txBody>
      </p:sp>
      <p:graphicFrame>
        <p:nvGraphicFramePr>
          <p:cNvPr id="4" name="对象 3"/>
          <p:cNvGraphicFramePr/>
          <p:nvPr/>
        </p:nvGraphicFramePr>
        <p:xfrm>
          <a:off x="-5080" y="526415"/>
          <a:ext cx="9121775" cy="580517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10296525" imgH="5800725" progId="Paint.Picture">
                  <p:embed/>
                </p:oleObj>
              </mc:Choice>
              <mc:Fallback>
                <p:oleObj r:id="rId2" imgW="10296525" imgH="5800725" progId="Paint.Picture">
                  <p:embed/>
                  <p:pic>
                    <p:nvPicPr>
                      <p:cNvPr id="0" name="图片 4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-5080" y="526415"/>
                        <a:ext cx="9121775" cy="580517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/>
          <p:cNvSpPr>
            <a:spLocks noChangeArrowheads="1"/>
          </p:cNvSpPr>
          <p:nvPr/>
        </p:nvSpPr>
        <p:spPr bwMode="auto">
          <a:xfrm flipH="1">
            <a:off x="685800" y="304800"/>
            <a:ext cx="5867400" cy="685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lIns="91435" tIns="45718" rIns="91435" bIns="45718" anchor="ctr"/>
          <a:lstStyle>
            <a:lvl1pPr algn="ctr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algn="ctr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algn="ctr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algn="ctr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algn="ctr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457200" algn="ctr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914400" algn="ctr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1371600" algn="ctr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1828800" algn="ctr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CC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电气设备的额定值</a:t>
            </a:r>
          </a:p>
        </p:txBody>
      </p:sp>
      <p:sp>
        <p:nvSpPr>
          <p:cNvPr id="19459" name="Text Box 3"/>
          <p:cNvSpPr txBox="1"/>
          <p:nvPr/>
        </p:nvSpPr>
        <p:spPr>
          <a:xfrm>
            <a:off x="457200" y="913606"/>
            <a:ext cx="8001000" cy="520700"/>
          </a:xfrm>
          <a:prstGeom prst="rect">
            <a:avLst/>
          </a:prstGeom>
          <a:noFill/>
          <a:ln w="38100">
            <a:noFill/>
          </a:ln>
        </p:spPr>
        <p:txBody>
          <a:bodyPr lIns="91435" tIns="45718" rIns="91435" bIns="45718" anchor="ctr" anchorCtr="0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额定值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:  </a:t>
            </a:r>
            <a:r>
              <a:rPr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电气设备在</a:t>
            </a:r>
            <a:r>
              <a:rPr lang="zh-CN" altLang="en-US" sz="28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正常运行</a:t>
            </a:r>
            <a:r>
              <a:rPr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时的规定</a:t>
            </a:r>
            <a:r>
              <a:rPr lang="zh-CN" altLang="en-US" sz="28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使用值。</a:t>
            </a:r>
          </a:p>
        </p:txBody>
      </p:sp>
      <p:sp>
        <p:nvSpPr>
          <p:cNvPr id="19460" name="Text Box 4"/>
          <p:cNvSpPr txBox="1">
            <a:spLocks noChangeArrowheads="1"/>
          </p:cNvSpPr>
          <p:nvPr/>
        </p:nvSpPr>
        <p:spPr bwMode="auto">
          <a:xfrm>
            <a:off x="466090" y="4017328"/>
            <a:ext cx="44196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FF0000"/>
                </a:solidFill>
                <a:miter lim="800000"/>
                <a:headEnd type="none" w="sm" len="sm"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1435" tIns="45718" rIns="91435" bIns="45718" anchor="ctr">
            <a:spAutoFit/>
          </a:bodyPr>
          <a:lstStyle/>
          <a:p>
            <a:pPr marR="0" algn="ctr" defTabSz="914400">
              <a:spcBef>
                <a:spcPct val="50000"/>
              </a:spcBef>
              <a:buClrTx/>
              <a:buSzTx/>
              <a:buFontTx/>
              <a:buNone/>
              <a:defRPr/>
            </a:pPr>
            <a:r>
              <a:rPr kumimoji="1" lang="zh-CN" altLang="en-US" sz="2800" b="1" kern="1200" cap="none" spc="0" normalizeH="0" baseline="0" noProof="0">
                <a:solidFill>
                  <a:srgbClr val="CC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电气设备的三种运行状态</a:t>
            </a:r>
          </a:p>
        </p:txBody>
      </p:sp>
      <p:sp>
        <p:nvSpPr>
          <p:cNvPr id="19461" name="Text Box 5"/>
          <p:cNvSpPr txBox="1">
            <a:spLocks noChangeArrowheads="1"/>
          </p:cNvSpPr>
          <p:nvPr/>
        </p:nvSpPr>
        <p:spPr bwMode="auto">
          <a:xfrm>
            <a:off x="542290" y="5859463"/>
            <a:ext cx="72390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FF0000"/>
                </a:solidFill>
                <a:miter lim="800000"/>
                <a:headEnd type="none" w="sm" len="sm"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1435" tIns="45718" rIns="91435" bIns="45718" anchor="ctr">
            <a:spAutoFit/>
          </a:bodyPr>
          <a:lstStyle/>
          <a:p>
            <a:pPr marR="0" defTabSz="914400">
              <a:spcBef>
                <a:spcPct val="50000"/>
              </a:spcBef>
              <a:buClrTx/>
              <a:buSzTx/>
              <a:buFontTx/>
              <a:buNone/>
              <a:defRPr/>
            </a:pPr>
            <a:r>
              <a:rPr kumimoji="1" lang="zh-CN" altLang="en-US" sz="2800" b="1" kern="1200" cap="none" spc="0" normalizeH="0" baseline="0" noProof="0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欠载</a:t>
            </a:r>
            <a:r>
              <a:rPr kumimoji="1" lang="en-US" altLang="zh-CN" sz="2800" b="1" kern="1200" cap="none" spc="0" normalizeH="0" baseline="0" noProof="0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(</a:t>
            </a:r>
            <a:r>
              <a:rPr kumimoji="1" lang="zh-CN" altLang="en-US" sz="2800" b="1" kern="1200" cap="none" spc="0" normalizeH="0" baseline="0" noProof="0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轻载</a:t>
            </a:r>
            <a:r>
              <a:rPr kumimoji="1" lang="en-US" altLang="zh-CN" sz="2800" b="1" kern="1200" cap="none" spc="0" normalizeH="0" baseline="0" noProof="0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)</a:t>
            </a:r>
            <a:r>
              <a:rPr kumimoji="1" lang="zh-CN" altLang="en-US" sz="2800" b="1" kern="1200" cap="none" spc="0" normalizeH="0" baseline="0" noProof="0">
                <a:solidFill>
                  <a:srgbClr val="0000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： </a:t>
            </a:r>
            <a:r>
              <a:rPr kumimoji="1" lang="en-US" altLang="zh-CN" sz="2800" b="1" i="1" kern="1200" cap="none" spc="0" normalizeH="0" baseline="0" noProof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I &lt; I</a:t>
            </a:r>
            <a:r>
              <a:rPr kumimoji="1" lang="en-US" altLang="zh-CN" sz="2800" b="1" kern="1200" cap="none" spc="0" normalizeH="0" baseline="-25000" noProof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N</a:t>
            </a:r>
            <a:r>
              <a:rPr kumimoji="1" lang="en-US" altLang="zh-CN" sz="2800" b="1" i="1" kern="1200" cap="none" spc="0" normalizeH="0" baseline="0" noProof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</a:t>
            </a:r>
            <a:r>
              <a:rPr kumimoji="1" lang="zh-CN" altLang="en-US" sz="2800" b="1" kern="1200" cap="none" spc="0" normalizeH="0" baseline="0" noProof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，</a:t>
            </a:r>
            <a:r>
              <a:rPr kumimoji="1" lang="en-US" altLang="zh-CN" sz="2800" b="1" i="1" kern="1200" cap="none" spc="0" normalizeH="0" baseline="0" noProof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P &lt; P</a:t>
            </a:r>
            <a:r>
              <a:rPr kumimoji="1" lang="en-US" altLang="zh-CN" sz="2800" b="1" kern="1200" cap="none" spc="0" normalizeH="0" baseline="-25000" noProof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N   </a:t>
            </a:r>
            <a:r>
              <a:rPr kumimoji="1" lang="en-US" altLang="zh-CN" sz="2800" b="1" kern="1200" cap="none" spc="0" normalizeH="0" baseline="0" noProof="0">
                <a:solidFill>
                  <a:srgbClr val="0066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(</a:t>
            </a:r>
            <a:r>
              <a:rPr kumimoji="1" lang="zh-CN" altLang="en-US" sz="2800" b="1" kern="1200" cap="none" spc="0" normalizeH="0" baseline="0" noProof="0">
                <a:solidFill>
                  <a:srgbClr val="0066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不经济</a:t>
            </a:r>
            <a:r>
              <a:rPr kumimoji="1" lang="en-US" altLang="zh-CN" sz="2800" b="1" kern="1200" cap="none" spc="0" normalizeH="0" baseline="0" noProof="0">
                <a:solidFill>
                  <a:srgbClr val="0066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)</a:t>
            </a:r>
            <a:r>
              <a:rPr kumimoji="1" lang="en-US" altLang="zh-CN" sz="2800" b="1" i="1" kern="1200" cap="none" spc="0" normalizeH="0" baseline="0" noProof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</a:t>
            </a:r>
          </a:p>
        </p:txBody>
      </p:sp>
      <p:graphicFrame>
        <p:nvGraphicFramePr>
          <p:cNvPr id="23557" name="Object 6"/>
          <p:cNvGraphicFramePr/>
          <p:nvPr/>
        </p:nvGraphicFramePr>
        <p:xfrm>
          <a:off x="4514850" y="6186488"/>
          <a:ext cx="112713" cy="2143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2743200" imgH="5181600" progId="">
                  <p:embed/>
                </p:oleObj>
              </mc:Choice>
              <mc:Fallback>
                <p:oleObj r:id="rId2" imgW="2743200" imgH="5181600" progId="">
                  <p:embed/>
                  <p:pic>
                    <p:nvPicPr>
                      <p:cNvPr id="0" name="图片 9216" descr="image47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4514850" y="6186488"/>
                        <a:ext cx="112713" cy="214312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463" name="Text Box 7"/>
          <p:cNvSpPr txBox="1">
            <a:spLocks noChangeArrowheads="1"/>
          </p:cNvSpPr>
          <p:nvPr/>
        </p:nvSpPr>
        <p:spPr bwMode="auto">
          <a:xfrm>
            <a:off x="573088" y="5206683"/>
            <a:ext cx="8116888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FF0000"/>
                </a:solidFill>
                <a:miter lim="800000"/>
                <a:headEnd type="none" w="sm" len="sm"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1435" tIns="45718" rIns="91435" bIns="45718" anchor="ctr">
            <a:spAutoFit/>
          </a:bodyPr>
          <a:lstStyle/>
          <a:p>
            <a:pPr marR="0" defTabSz="914400">
              <a:spcBef>
                <a:spcPct val="50000"/>
              </a:spcBef>
              <a:buClrTx/>
              <a:buSzTx/>
              <a:buFontTx/>
              <a:buNone/>
              <a:defRPr/>
            </a:pPr>
            <a:r>
              <a:rPr kumimoji="1" lang="zh-CN" altLang="en-US" sz="2800" b="1" kern="1200" cap="none" spc="0" normalizeH="0" baseline="0" noProof="0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过载</a:t>
            </a:r>
            <a:r>
              <a:rPr kumimoji="1" lang="en-US" altLang="zh-CN" sz="2800" b="1" kern="1200" cap="none" spc="0" normalizeH="0" baseline="0" noProof="0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(</a:t>
            </a:r>
            <a:r>
              <a:rPr kumimoji="1" lang="zh-CN" altLang="en-US" sz="2800" b="1" kern="1200" cap="none" spc="0" normalizeH="0" baseline="0" noProof="0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超载</a:t>
            </a:r>
            <a:r>
              <a:rPr kumimoji="1" lang="en-US" altLang="zh-CN" sz="2800" b="1" kern="1200" cap="none" spc="0" normalizeH="0" baseline="0" noProof="0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)</a:t>
            </a:r>
            <a:r>
              <a:rPr kumimoji="1" lang="zh-CN" altLang="en-US" sz="2800" b="1" kern="1200" cap="none" spc="0" normalizeH="0" baseline="0" noProof="0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：</a:t>
            </a:r>
            <a:r>
              <a:rPr kumimoji="1" lang="zh-CN" altLang="en-US" sz="2800" b="1" kern="1200" cap="none" spc="0" normalizeH="0" baseline="0" noProof="0">
                <a:solidFill>
                  <a:srgbClr val="0000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</a:t>
            </a:r>
            <a:r>
              <a:rPr kumimoji="1" lang="en-US" altLang="zh-CN" sz="2800" b="1" i="1" kern="1200" cap="none" spc="0" normalizeH="0" baseline="0" noProof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I &gt; I</a:t>
            </a:r>
            <a:r>
              <a:rPr kumimoji="1" lang="en-US" altLang="zh-CN" sz="2800" b="1" kern="1200" cap="none" spc="0" normalizeH="0" baseline="-25000" noProof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N</a:t>
            </a:r>
            <a:r>
              <a:rPr kumimoji="1" lang="en-US" altLang="zh-CN" sz="2800" b="1" i="1" kern="1200" cap="none" spc="0" normalizeH="0" baseline="0" noProof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</a:t>
            </a:r>
            <a:r>
              <a:rPr kumimoji="1" lang="zh-CN" altLang="en-US" sz="2800" b="1" kern="1200" cap="none" spc="0" normalizeH="0" baseline="0" noProof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，</a:t>
            </a:r>
            <a:r>
              <a:rPr kumimoji="1" lang="en-US" altLang="zh-CN" sz="2800" b="1" i="1" kern="1200" cap="none" spc="0" normalizeH="0" baseline="0" noProof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P &gt; P</a:t>
            </a:r>
            <a:r>
              <a:rPr kumimoji="1" lang="en-US" altLang="zh-CN" sz="2800" b="1" kern="1200" cap="none" spc="0" normalizeH="0" baseline="-25000" noProof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N  </a:t>
            </a:r>
            <a:r>
              <a:rPr kumimoji="1" lang="en-US" altLang="zh-CN" sz="2800" b="1" kern="1200" cap="none" spc="0" normalizeH="0" baseline="0" noProof="0">
                <a:solidFill>
                  <a:srgbClr val="0066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(</a:t>
            </a:r>
            <a:r>
              <a:rPr kumimoji="1" lang="zh-CN" altLang="en-US" sz="2800" b="1" kern="1200" cap="none" spc="0" normalizeH="0" baseline="0" noProof="0">
                <a:solidFill>
                  <a:srgbClr val="0066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设备易损坏</a:t>
            </a:r>
            <a:r>
              <a:rPr kumimoji="1" lang="en-US" altLang="zh-CN" sz="2800" b="1" kern="1200" cap="none" spc="0" normalizeH="0" baseline="0" noProof="0">
                <a:solidFill>
                  <a:srgbClr val="0066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)</a:t>
            </a:r>
            <a:endParaRPr kumimoji="1" lang="en-US" altLang="zh-CN" sz="2800" b="1" kern="1200" cap="none" spc="0" normalizeH="0" baseline="-25000" noProof="0">
              <a:solidFill>
                <a:srgbClr val="000000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9464" name="Text Box 8"/>
          <p:cNvSpPr txBox="1">
            <a:spLocks noChangeArrowheads="1"/>
          </p:cNvSpPr>
          <p:nvPr/>
        </p:nvSpPr>
        <p:spPr bwMode="auto">
          <a:xfrm>
            <a:off x="611188" y="4580890"/>
            <a:ext cx="8459788" cy="520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1435" tIns="45718" rIns="91435" bIns="45718">
            <a:spAutoFit/>
          </a:bodyPr>
          <a:lstStyle/>
          <a:p>
            <a:pPr marR="0" defTabSz="914400">
              <a:spcBef>
                <a:spcPct val="10000"/>
              </a:spcBef>
              <a:buClrTx/>
              <a:buSzTx/>
              <a:buFontTx/>
              <a:buNone/>
              <a:defRPr/>
            </a:pPr>
            <a:r>
              <a:rPr kumimoji="1" lang="zh-CN" altLang="en-US" sz="2800" b="1" kern="1200" cap="none" spc="0" normalizeH="0" baseline="0" noProof="0">
                <a:solidFill>
                  <a:srgbClr val="0000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额定工作状态： </a:t>
            </a:r>
            <a:r>
              <a:rPr kumimoji="1" lang="en-US" altLang="zh-CN" sz="2800" b="1" i="1" kern="1200" cap="none" spc="0" normalizeH="0" baseline="0" noProof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I = I</a:t>
            </a:r>
            <a:r>
              <a:rPr kumimoji="1" lang="en-US" altLang="zh-CN" sz="2800" b="1" kern="1200" cap="none" spc="0" normalizeH="0" baseline="-25000" noProof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N</a:t>
            </a:r>
            <a:r>
              <a:rPr kumimoji="1" lang="en-US" altLang="zh-CN" sz="2800" b="1" i="1" kern="1200" cap="none" spc="0" normalizeH="0" baseline="0" noProof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</a:t>
            </a:r>
            <a:r>
              <a:rPr kumimoji="1" lang="zh-CN" altLang="en-US" sz="2800" b="1" kern="1200" cap="none" spc="0" normalizeH="0" baseline="0" noProof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，</a:t>
            </a:r>
            <a:r>
              <a:rPr kumimoji="1" lang="en-US" altLang="zh-CN" sz="2800" b="1" i="1" kern="1200" cap="none" spc="0" normalizeH="0" baseline="0" noProof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P = P</a:t>
            </a:r>
            <a:r>
              <a:rPr kumimoji="1" lang="en-US" altLang="zh-CN" sz="2800" b="1" kern="1200" cap="none" spc="0" normalizeH="0" baseline="-25000" noProof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N    </a:t>
            </a:r>
            <a:r>
              <a:rPr kumimoji="1" lang="en-US" altLang="zh-CN" sz="2800" b="1" kern="1200" cap="none" spc="0" normalizeH="0" baseline="0" noProof="0">
                <a:solidFill>
                  <a:srgbClr val="0066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</a:t>
            </a:r>
            <a:r>
              <a:rPr kumimoji="1" lang="en-US" altLang="zh-CN" sz="2800" b="1" kern="1200" cap="none" spc="0" normalizeH="0" baseline="0" noProof="0">
                <a:solidFill>
                  <a:srgbClr val="0052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(</a:t>
            </a:r>
            <a:r>
              <a:rPr kumimoji="1" lang="zh-CN" altLang="en-US" sz="2800" b="1" kern="1200" cap="none" spc="0" normalizeH="0" baseline="0" noProof="0">
                <a:solidFill>
                  <a:srgbClr val="0052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经济合理安全可靠</a:t>
            </a:r>
            <a:r>
              <a:rPr kumimoji="1" lang="en-US" altLang="zh-CN" sz="2800" b="1" kern="1200" cap="none" spc="0" normalizeH="0" baseline="0" noProof="0">
                <a:solidFill>
                  <a:srgbClr val="0052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)</a:t>
            </a:r>
            <a:r>
              <a:rPr kumimoji="1" lang="en-US" altLang="zh-CN" sz="2800" b="1" kern="1200" cap="none" spc="0" normalizeH="0" baseline="0" noProof="0">
                <a:solidFill>
                  <a:srgbClr val="0066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     </a:t>
            </a:r>
            <a:endParaRPr kumimoji="1" lang="en-US" altLang="zh-CN" sz="2800" b="1" kern="1200" cap="none" spc="0" normalizeH="0" baseline="-25000" noProof="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19465" name="Group 9"/>
          <p:cNvGrpSpPr/>
          <p:nvPr/>
        </p:nvGrpSpPr>
        <p:grpSpPr>
          <a:xfrm>
            <a:off x="1414463" y="1385888"/>
            <a:ext cx="7162800" cy="1052512"/>
            <a:chOff x="891" y="2832"/>
            <a:chExt cx="4512" cy="663"/>
          </a:xfrm>
        </p:grpSpPr>
        <p:sp>
          <p:nvSpPr>
            <p:cNvPr id="23561" name="Text Box 10"/>
            <p:cNvSpPr txBox="1"/>
            <p:nvPr/>
          </p:nvSpPr>
          <p:spPr>
            <a:xfrm>
              <a:off x="891" y="2832"/>
              <a:ext cx="4512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91435" tIns="45718" rIns="91435" bIns="45718" anchor="t" anchorCtr="0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800" b="1" dirty="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1. </a:t>
              </a:r>
              <a:r>
                <a:rPr lang="zh-CN" altLang="en-US" sz="2800" b="1" dirty="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额定值反映电气设备的使用</a:t>
              </a:r>
              <a:r>
                <a:rPr lang="zh-CN" altLang="en-US" sz="2800" b="1" dirty="0">
                  <a:solidFill>
                    <a:srgbClr val="FF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安全性</a:t>
              </a:r>
              <a:r>
                <a:rPr lang="zh-CN" altLang="en-US" sz="2800" b="1" dirty="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；</a:t>
              </a:r>
            </a:p>
          </p:txBody>
        </p:sp>
        <p:sp>
          <p:nvSpPr>
            <p:cNvPr id="23562" name="Text Box 11"/>
            <p:cNvSpPr txBox="1"/>
            <p:nvPr/>
          </p:nvSpPr>
          <p:spPr>
            <a:xfrm>
              <a:off x="891" y="3168"/>
              <a:ext cx="4368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91435" tIns="45718" rIns="91435" bIns="45718" anchor="t" anchorCtr="0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800" b="1" dirty="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2. </a:t>
              </a:r>
              <a:r>
                <a:rPr lang="zh-CN" altLang="en-US" sz="2800" b="1" dirty="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额定值表示电气设备的</a:t>
              </a:r>
              <a:r>
                <a:rPr lang="zh-CN" altLang="en-US" sz="2800" b="1" dirty="0">
                  <a:solidFill>
                    <a:srgbClr val="FF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使用能力</a:t>
              </a:r>
              <a:r>
                <a:rPr lang="zh-CN" altLang="en-US" sz="2800" b="1" dirty="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。</a:t>
              </a:r>
            </a:p>
          </p:txBody>
        </p:sp>
      </p:grpSp>
      <p:grpSp>
        <p:nvGrpSpPr>
          <p:cNvPr id="19468" name="Group 12"/>
          <p:cNvGrpSpPr/>
          <p:nvPr/>
        </p:nvGrpSpPr>
        <p:grpSpPr>
          <a:xfrm>
            <a:off x="715963" y="2725738"/>
            <a:ext cx="6345238" cy="989012"/>
            <a:chOff x="451" y="1717"/>
            <a:chExt cx="3997" cy="623"/>
          </a:xfrm>
        </p:grpSpPr>
        <p:sp>
          <p:nvSpPr>
            <p:cNvPr id="23564" name="Text Box 13"/>
            <p:cNvSpPr txBox="1"/>
            <p:nvPr/>
          </p:nvSpPr>
          <p:spPr>
            <a:xfrm>
              <a:off x="451" y="1722"/>
              <a:ext cx="768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91435" tIns="45718" rIns="91435" bIns="45718" anchor="t" anchorCtr="0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2800" b="1" dirty="0">
                  <a:latin typeface="Times New Roman" panose="02020603050405020304" pitchFamily="18" charset="0"/>
                  <a:ea typeface="宋体" panose="02010600030101010101" pitchFamily="2" charset="-122"/>
                </a:rPr>
                <a:t>例：</a:t>
              </a:r>
            </a:p>
          </p:txBody>
        </p:sp>
        <p:sp>
          <p:nvSpPr>
            <p:cNvPr id="23565" name="Text Box 14"/>
            <p:cNvSpPr txBox="1"/>
            <p:nvPr/>
          </p:nvSpPr>
          <p:spPr>
            <a:xfrm>
              <a:off x="864" y="1717"/>
              <a:ext cx="3584" cy="623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91435" tIns="45718" rIns="91435" bIns="45718" anchor="t" anchorCtr="0">
              <a:spAutoFit/>
            </a:bodyPr>
            <a:lstStyle/>
            <a:p>
              <a:pPr>
                <a:spcBef>
                  <a:spcPct val="10000"/>
                </a:spcBef>
              </a:pPr>
              <a:r>
                <a:rPr lang="zh-CN" altLang="en-US" sz="2800" b="1" dirty="0">
                  <a:latin typeface="Times New Roman" panose="02020603050405020304" pitchFamily="18" charset="0"/>
                  <a:ea typeface="宋体" panose="02010600030101010101" pitchFamily="2" charset="-122"/>
                </a:rPr>
                <a:t>灯泡：</a:t>
              </a:r>
              <a:r>
                <a:rPr lang="en-US" altLang="zh-CN" sz="2800" b="1" i="1" dirty="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U</a:t>
              </a:r>
              <a:r>
                <a:rPr lang="en-US" altLang="zh-CN" sz="2800" b="1" baseline="-25000" dirty="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N </a:t>
              </a:r>
              <a:r>
                <a:rPr lang="en-US" altLang="zh-CN" sz="2800" b="1" i="1" dirty="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= </a:t>
              </a:r>
              <a:r>
                <a:rPr lang="en-US" altLang="zh-CN" sz="2800" b="1" dirty="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220V</a:t>
              </a:r>
              <a:r>
                <a:rPr lang="en-US" altLang="zh-CN" sz="2800" b="1" i="1" dirty="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 </a:t>
              </a:r>
              <a:r>
                <a:rPr lang="zh-CN" altLang="en-US" sz="2800" b="1" dirty="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，</a:t>
              </a:r>
              <a:r>
                <a:rPr lang="en-US" altLang="zh-CN" sz="2800" b="1" i="1" dirty="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P</a:t>
              </a:r>
              <a:r>
                <a:rPr lang="en-US" altLang="zh-CN" sz="2800" b="1" baseline="-25000" dirty="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N </a:t>
              </a:r>
              <a:r>
                <a:rPr lang="en-US" altLang="zh-CN" sz="2800" b="1" i="1" dirty="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 = </a:t>
              </a:r>
              <a:r>
                <a:rPr lang="en-US" altLang="zh-CN" sz="2800" b="1" dirty="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60W</a:t>
              </a:r>
              <a:endParaRPr lang="en-US" altLang="zh-CN" sz="2800" b="1" baseline="-250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  <a:p>
              <a:pPr>
                <a:spcBef>
                  <a:spcPct val="10000"/>
                </a:spcBef>
              </a:pPr>
              <a:r>
                <a:rPr lang="zh-CN" altLang="en-US" sz="2800" b="1" dirty="0">
                  <a:latin typeface="Times New Roman" panose="02020603050405020304" pitchFamily="18" charset="0"/>
                  <a:ea typeface="宋体" panose="02010600030101010101" pitchFamily="2" charset="-122"/>
                </a:rPr>
                <a:t>电阻： </a:t>
              </a:r>
              <a:r>
                <a:rPr lang="en-US" altLang="zh-CN" sz="2800" b="1" i="1" dirty="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R</a:t>
              </a:r>
              <a:r>
                <a:rPr lang="en-US" altLang="zh-CN" sz="2800" b="1" baseline="-25000" dirty="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N </a:t>
              </a:r>
              <a:r>
                <a:rPr lang="en-US" altLang="zh-CN" sz="2800" b="1" i="1" dirty="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= </a:t>
              </a:r>
              <a:r>
                <a:rPr lang="en-US" altLang="zh-CN" sz="2800" b="1" dirty="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100</a:t>
              </a:r>
              <a:r>
                <a:rPr lang="en-US" altLang="zh-CN" sz="2800" b="1" dirty="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</a:t>
              </a:r>
              <a:r>
                <a:rPr lang="en-US" altLang="zh-CN" sz="2800" b="1" i="1" dirty="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 </a:t>
              </a:r>
              <a:r>
                <a:rPr lang="zh-CN" altLang="en-US" sz="2800" b="1" dirty="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，</a:t>
              </a:r>
              <a:r>
                <a:rPr lang="en-US" altLang="zh-CN" sz="2800" b="1" i="1" dirty="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P</a:t>
              </a:r>
              <a:r>
                <a:rPr lang="en-US" altLang="zh-CN" sz="2800" b="1" baseline="-25000" dirty="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N </a:t>
              </a:r>
              <a:r>
                <a:rPr lang="en-US" altLang="zh-CN" sz="2800" b="1" i="1" dirty="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 =</a:t>
              </a:r>
              <a:r>
                <a:rPr lang="en-US" altLang="zh-CN" sz="2800" b="1" dirty="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1 W</a:t>
              </a:r>
              <a:r>
                <a:rPr lang="en-US" altLang="zh-CN" sz="2800" b="1" dirty="0">
                  <a:latin typeface="Times New Roman" panose="02020603050405020304" pitchFamily="18" charset="0"/>
                  <a:ea typeface="宋体" panose="02010600030101010101" pitchFamily="2" charset="-122"/>
                </a:rPr>
                <a:t> 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94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94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94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94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94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94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94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459" grpId="0"/>
      <p:bldP spid="19460" grpId="0" bldLvl="0" animBg="1"/>
      <p:bldP spid="19461" grpId="0" bldLvl="0" animBg="1"/>
      <p:bldP spid="19463" grpId="0" bldLvl="0" animBg="1"/>
      <p:bldP spid="19464" grpId="0" bldLvl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577" name="Picture 2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323850" y="549275"/>
            <a:ext cx="8569325" cy="1366838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" name="文本框 1"/>
          <p:cNvSpPr txBox="1"/>
          <p:nvPr/>
        </p:nvSpPr>
        <p:spPr>
          <a:xfrm>
            <a:off x="7833995" y="44450"/>
            <a:ext cx="1205230" cy="470535"/>
          </a:xfrm>
          <a:prstGeom prst="rect">
            <a:avLst/>
          </a:prstGeom>
          <a:noFill/>
        </p:spPr>
        <p:txBody>
          <a:bodyPr wrap="square" lIns="0" rIns="0" rtlCol="0" anchor="t">
            <a:noAutofit/>
          </a:bodyPr>
          <a:lstStyle/>
          <a:p>
            <a:r>
              <a:rPr kumimoji="1" lang="zh-CN" altLang="en-US" sz="2800" b="1" noProof="0">
                <a:solidFill>
                  <a:srgbClr val="00B05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highlight>
                  <a:srgbClr val="FFFF00"/>
                </a:highlight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+mn-ea"/>
              </a:rPr>
              <a:t>自</a:t>
            </a:r>
            <a:r>
              <a:rPr kumimoji="1" lang="en-US" altLang="zh-CN" sz="2800" b="1" noProof="0">
                <a:solidFill>
                  <a:srgbClr val="00B05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highlight>
                  <a:srgbClr val="FFFF00"/>
                </a:highlight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+mn-ea"/>
              </a:rPr>
              <a:t>     </a:t>
            </a:r>
            <a:r>
              <a:rPr kumimoji="1" lang="zh-CN" altLang="en-US" sz="2800" b="1" noProof="0">
                <a:solidFill>
                  <a:srgbClr val="00B05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highlight>
                  <a:srgbClr val="FFFF00"/>
                </a:highlight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+mn-ea"/>
              </a:rPr>
              <a:t>习</a:t>
            </a:r>
            <a:endParaRPr kumimoji="1" lang="zh-CN" altLang="en-US" sz="2800" b="1" noProof="0">
              <a:solidFill>
                <a:srgbClr val="00B050"/>
              </a:solidFill>
              <a:effectLst>
                <a:outerShdw blurRad="38100" dist="38100" dir="2700000" algn="tl">
                  <a:srgbClr val="C0C0C0"/>
                </a:outerShdw>
              </a:effectLst>
              <a:highlight>
                <a:srgbClr val="FFFF00"/>
              </a:highlight>
              <a:sym typeface="+mn-ea"/>
            </a:endParaRPr>
          </a:p>
        </p:txBody>
      </p:sp>
      <p:sp>
        <p:nvSpPr>
          <p:cNvPr id="23561" name="Text Box 10"/>
          <p:cNvSpPr txBox="1"/>
          <p:nvPr/>
        </p:nvSpPr>
        <p:spPr>
          <a:xfrm>
            <a:off x="1115695" y="4953000"/>
            <a:ext cx="3964305" cy="397510"/>
          </a:xfrm>
          <a:prstGeom prst="rect">
            <a:avLst/>
          </a:prstGeom>
          <a:noFill/>
          <a:ln w="9525">
            <a:noFill/>
          </a:ln>
        </p:spPr>
        <p:txBody>
          <a:bodyPr wrap="square" lIns="91435" tIns="45718" rIns="91435" bIns="45718" anchor="t" anchorCtr="0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000" b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3</a:t>
            </a:r>
            <a:r>
              <a:rPr lang="zh-CN" altLang="en-US" sz="2000" b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）</a:t>
            </a:r>
            <a:r>
              <a:rPr lang="zh-CN" altLang="en-US" sz="2000" b="1" strike="sngStrike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一个月消耗的电能：</a:t>
            </a:r>
          </a:p>
        </p:txBody>
      </p:sp>
      <p:graphicFrame>
        <p:nvGraphicFramePr>
          <p:cNvPr id="3" name="对象 2">
            <a:hlinkClick r:id="" action="ppaction://ole?verb=0"/>
          </p:cNvPr>
          <p:cNvGraphicFramePr/>
          <p:nvPr/>
        </p:nvGraphicFramePr>
        <p:xfrm>
          <a:off x="1546225" y="5373370"/>
          <a:ext cx="3096260" cy="117221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3" imgW="40233600" imgH="15240000" progId="">
                  <p:embed/>
                </p:oleObj>
              </mc:Choice>
              <mc:Fallback>
                <p:oleObj r:id="rId3" imgW="40233600" imgH="15240000" progId="">
                  <p:embed/>
                  <p:pic>
                    <p:nvPicPr>
                      <p:cNvPr id="0" name="图片 10240" descr="image49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46225" y="5373370"/>
                        <a:ext cx="3096260" cy="117221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Text Box 10"/>
          <p:cNvSpPr txBox="1"/>
          <p:nvPr/>
        </p:nvSpPr>
        <p:spPr>
          <a:xfrm>
            <a:off x="611505" y="2197735"/>
            <a:ext cx="3964305" cy="397510"/>
          </a:xfrm>
          <a:prstGeom prst="rect">
            <a:avLst/>
          </a:prstGeom>
          <a:noFill/>
          <a:ln w="9525">
            <a:noFill/>
          </a:ln>
        </p:spPr>
        <p:txBody>
          <a:bodyPr wrap="square" lIns="91435" tIns="45718" rIns="91435" bIns="45718" anchor="t" anchorCtr="0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000" b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解：</a:t>
            </a:r>
            <a:r>
              <a:rPr lang="en-US" altLang="zh-CN" sz="2000" b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1</a:t>
            </a:r>
            <a:r>
              <a:rPr lang="zh-CN" altLang="en-US" sz="2000" b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）</a:t>
            </a:r>
            <a:r>
              <a:rPr lang="zh-CN" altLang="en-US" sz="2000" b="1" strike="sngStrike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</a:rPr>
              <a:t>通过点灯的电流为：</a:t>
            </a:r>
          </a:p>
        </p:txBody>
      </p:sp>
      <p:graphicFrame>
        <p:nvGraphicFramePr>
          <p:cNvPr id="6" name="对象 5">
            <a:hlinkClick r:id="" action="ppaction://ole?verb=0"/>
          </p:cNvPr>
          <p:cNvGraphicFramePr/>
          <p:nvPr/>
        </p:nvGraphicFramePr>
        <p:xfrm>
          <a:off x="1619250" y="2637155"/>
          <a:ext cx="2639060" cy="65976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5" imgW="37795200" imgH="9448800" progId="">
                  <p:embed/>
                </p:oleObj>
              </mc:Choice>
              <mc:Fallback>
                <p:oleObj r:id="rId5" imgW="37795200" imgH="9448800" progId="">
                  <p:embed/>
                  <p:pic>
                    <p:nvPicPr>
                      <p:cNvPr id="0" name="图片 10241" descr="image50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619250" y="2637155"/>
                        <a:ext cx="2639060" cy="65976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Text Box 10"/>
          <p:cNvSpPr txBox="1"/>
          <p:nvPr/>
        </p:nvSpPr>
        <p:spPr>
          <a:xfrm>
            <a:off x="1113790" y="3501390"/>
            <a:ext cx="3964305" cy="397510"/>
          </a:xfrm>
          <a:prstGeom prst="rect">
            <a:avLst/>
          </a:prstGeom>
          <a:noFill/>
          <a:ln w="9525">
            <a:noFill/>
          </a:ln>
        </p:spPr>
        <p:txBody>
          <a:bodyPr wrap="square" lIns="91435" tIns="45718" rIns="91435" bIns="45718" anchor="t" anchorCtr="0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000" b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2</a:t>
            </a:r>
            <a:r>
              <a:rPr lang="zh-CN" altLang="en-US" sz="2000" b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）</a:t>
            </a:r>
            <a:r>
              <a:rPr lang="zh-CN" altLang="en-US" sz="2000" b="1" strike="sngStrike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在</a:t>
            </a:r>
            <a:r>
              <a:rPr lang="en-US" altLang="zh-CN" sz="2000" b="1" strike="sngStrike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220V</a:t>
            </a:r>
            <a:r>
              <a:rPr lang="zh-CN" altLang="en-US" sz="2000" b="1" strike="sngStrike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电压下工作时的电阻为：</a:t>
            </a:r>
          </a:p>
        </p:txBody>
      </p:sp>
      <p:graphicFrame>
        <p:nvGraphicFramePr>
          <p:cNvPr id="9" name="对象 8">
            <a:hlinkClick r:id="" action="ppaction://ole?verb=0"/>
          </p:cNvPr>
          <p:cNvGraphicFramePr/>
          <p:nvPr/>
        </p:nvGraphicFramePr>
        <p:xfrm>
          <a:off x="1619885" y="4017645"/>
          <a:ext cx="2752090" cy="682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7" imgW="38100000" imgH="9448800" progId="">
                  <p:embed/>
                </p:oleObj>
              </mc:Choice>
              <mc:Fallback>
                <p:oleObj r:id="rId7" imgW="38100000" imgH="9448800" progId="">
                  <p:embed/>
                  <p:pic>
                    <p:nvPicPr>
                      <p:cNvPr id="0" name="图片 10242" descr="image51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619885" y="4017645"/>
                        <a:ext cx="2752090" cy="68262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椭圆 9"/>
          <p:cNvSpPr/>
          <p:nvPr/>
        </p:nvSpPr>
        <p:spPr>
          <a:xfrm>
            <a:off x="1547495" y="2565400"/>
            <a:ext cx="935990" cy="863600"/>
          </a:xfrm>
          <a:prstGeom prst="ellipse">
            <a:avLst/>
          </a:prstGeom>
          <a:noFill/>
          <a:ln w="28575" cap="flat" cmpd="dbl" algn="ctr">
            <a:solidFill>
              <a:srgbClr val="CC0000"/>
            </a:solidFill>
            <a:prstDash val="sysDot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zh-CN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1" name="椭圆 10"/>
          <p:cNvSpPr/>
          <p:nvPr/>
        </p:nvSpPr>
        <p:spPr>
          <a:xfrm>
            <a:off x="1546225" y="3937000"/>
            <a:ext cx="935990" cy="863600"/>
          </a:xfrm>
          <a:prstGeom prst="ellipse">
            <a:avLst/>
          </a:prstGeom>
          <a:noFill/>
          <a:ln w="28575" cap="flat" cmpd="dbl" algn="ctr">
            <a:solidFill>
              <a:srgbClr val="CC0000"/>
            </a:solidFill>
            <a:prstDash val="sysDot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zh-CN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2" name="椭圆 11"/>
          <p:cNvSpPr/>
          <p:nvPr/>
        </p:nvSpPr>
        <p:spPr>
          <a:xfrm>
            <a:off x="1331595" y="5308600"/>
            <a:ext cx="1483360" cy="446405"/>
          </a:xfrm>
          <a:prstGeom prst="ellipse">
            <a:avLst/>
          </a:prstGeom>
          <a:noFill/>
          <a:ln w="28575" cap="flat" cmpd="dbl" algn="ctr">
            <a:solidFill>
              <a:srgbClr val="CC0000"/>
            </a:solidFill>
            <a:prstDash val="sysDot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zh-CN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1" name="Rectangle 2"/>
          <p:cNvSpPr/>
          <p:nvPr/>
        </p:nvSpPr>
        <p:spPr>
          <a:xfrm>
            <a:off x="544513" y="304800"/>
            <a:ext cx="4484687" cy="762000"/>
          </a:xfrm>
          <a:prstGeom prst="rect">
            <a:avLst/>
          </a:prstGeom>
          <a:noFill/>
          <a:ln w="9525">
            <a:noFill/>
          </a:ln>
        </p:spPr>
        <p:txBody>
          <a:bodyPr lIns="91435" tIns="45718" rIns="91435" bIns="45718" anchor="t" anchorCtr="0"/>
          <a:lstStyle/>
          <a:p>
            <a:pPr marL="342900" indent="-342900">
              <a:spcBef>
                <a:spcPct val="20000"/>
              </a:spcBef>
              <a:buChar char="•"/>
            </a:pPr>
            <a:endParaRPr lang="zh-CN" altLang="zh-CN" sz="2800" b="1" dirty="0">
              <a:solidFill>
                <a:srgbClr val="FFFF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0483" name="Text Box 3"/>
          <p:cNvSpPr txBox="1"/>
          <p:nvPr/>
        </p:nvSpPr>
        <p:spPr>
          <a:xfrm>
            <a:off x="679450" y="1752600"/>
            <a:ext cx="1219200" cy="519113"/>
          </a:xfrm>
          <a:prstGeom prst="rect">
            <a:avLst/>
          </a:prstGeom>
          <a:noFill/>
          <a:ln w="38100">
            <a:noFill/>
          </a:ln>
        </p:spPr>
        <p:txBody>
          <a:bodyPr lIns="91435" tIns="45718" rIns="91435" bIns="45718" anchor="ctr" anchorCtr="0">
            <a:spAutoFit/>
          </a:bodyPr>
          <a:lstStyle/>
          <a:p>
            <a:pPr algn="ctr"/>
            <a:r>
              <a:rPr lang="zh-CN" altLang="en-US" sz="2800" b="1" dirty="0">
                <a:solidFill>
                  <a:srgbClr val="CC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特征</a:t>
            </a:r>
            <a:r>
              <a:rPr lang="en-US" altLang="zh-CN" sz="2800" b="1" dirty="0">
                <a:solidFill>
                  <a:srgbClr val="CC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:</a:t>
            </a:r>
          </a:p>
        </p:txBody>
      </p:sp>
      <p:sp>
        <p:nvSpPr>
          <p:cNvPr id="20484" name="Text Box 4"/>
          <p:cNvSpPr txBox="1"/>
          <p:nvPr/>
        </p:nvSpPr>
        <p:spPr>
          <a:xfrm>
            <a:off x="866775" y="1309688"/>
            <a:ext cx="1790700" cy="519112"/>
          </a:xfrm>
          <a:prstGeom prst="rect">
            <a:avLst/>
          </a:prstGeom>
          <a:noFill/>
          <a:ln w="38100">
            <a:noFill/>
          </a:ln>
        </p:spPr>
        <p:txBody>
          <a:bodyPr wrap="none" lIns="91435" tIns="45718" rIns="91435" bIns="45718" anchor="ctr" anchorCtr="0">
            <a:spAutoFit/>
          </a:bodyPr>
          <a:lstStyle/>
          <a:p>
            <a:pPr algn="ctr"/>
            <a:r>
              <a:rPr lang="en-US" altLang="zh-CN" sz="2800" b="1" dirty="0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zh-CN" altLang="en-US" sz="2800" b="1" dirty="0">
                <a:latin typeface="Times New Roman" panose="02020603050405020304" pitchFamily="18" charset="0"/>
                <a:ea typeface="宋体" panose="02010600030101010101" pitchFamily="2" charset="-122"/>
              </a:rPr>
              <a:t>开关 断开</a:t>
            </a:r>
          </a:p>
        </p:txBody>
      </p:sp>
      <p:grpSp>
        <p:nvGrpSpPr>
          <p:cNvPr id="25604" name="Group 5"/>
          <p:cNvGrpSpPr/>
          <p:nvPr/>
        </p:nvGrpSpPr>
        <p:grpSpPr>
          <a:xfrm>
            <a:off x="593725" y="1123950"/>
            <a:ext cx="3819525" cy="171450"/>
            <a:chOff x="144" y="612"/>
            <a:chExt cx="2406" cy="108"/>
          </a:xfrm>
        </p:grpSpPr>
        <p:pic>
          <p:nvPicPr>
            <p:cNvPr id="25605" name="Picture 6" descr="Green and Black Diamond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098" y="612"/>
              <a:ext cx="108" cy="108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25606" name="Picture 7" descr="Green and Black Diamond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200" y="612"/>
              <a:ext cx="108" cy="108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25607" name="Picture 8" descr="Green and Black Diamond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296" y="612"/>
              <a:ext cx="108" cy="108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25608" name="Picture 9" descr="Green and Black Diamond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386" y="612"/>
              <a:ext cx="108" cy="108"/>
            </a:xfrm>
            <a:prstGeom prst="rect">
              <a:avLst/>
            </a:prstGeom>
            <a:noFill/>
            <a:ln w="9525">
              <a:noFill/>
            </a:ln>
          </p:spPr>
        </p:pic>
        <p:grpSp>
          <p:nvGrpSpPr>
            <p:cNvPr id="25609" name="Group 10"/>
            <p:cNvGrpSpPr/>
            <p:nvPr/>
          </p:nvGrpSpPr>
          <p:grpSpPr>
            <a:xfrm>
              <a:off x="144" y="612"/>
              <a:ext cx="876" cy="108"/>
              <a:chOff x="858" y="672"/>
              <a:chExt cx="876" cy="108"/>
            </a:xfrm>
          </p:grpSpPr>
          <p:pic>
            <p:nvPicPr>
              <p:cNvPr id="25610" name="Picture 11" descr="Green and Black Diamond"/>
              <p:cNvPicPr>
                <a:picLocks noChangeAspect="1"/>
              </p:cNvPicPr>
              <p:nvPr/>
            </p:nvPicPr>
            <p:blipFill>
              <a:blip r:embed="rId2" cstate="print"/>
              <a:stretch>
                <a:fillRect/>
              </a:stretch>
            </p:blipFill>
            <p:spPr>
              <a:xfrm>
                <a:off x="858" y="672"/>
                <a:ext cx="108" cy="108"/>
              </a:xfrm>
              <a:prstGeom prst="rect">
                <a:avLst/>
              </a:prstGeom>
              <a:noFill/>
              <a:ln w="9525">
                <a:noFill/>
              </a:ln>
            </p:spPr>
          </p:pic>
          <p:pic>
            <p:nvPicPr>
              <p:cNvPr id="25611" name="Picture 12" descr="Green and Black Diamond"/>
              <p:cNvPicPr>
                <a:picLocks noChangeAspect="1"/>
              </p:cNvPicPr>
              <p:nvPr/>
            </p:nvPicPr>
            <p:blipFill>
              <a:blip r:embed="rId2" cstate="print"/>
              <a:stretch>
                <a:fillRect/>
              </a:stretch>
            </p:blipFill>
            <p:spPr>
              <a:xfrm>
                <a:off x="948" y="672"/>
                <a:ext cx="108" cy="108"/>
              </a:xfrm>
              <a:prstGeom prst="rect">
                <a:avLst/>
              </a:prstGeom>
              <a:noFill/>
              <a:ln w="9525">
                <a:noFill/>
              </a:ln>
            </p:spPr>
          </p:pic>
          <p:pic>
            <p:nvPicPr>
              <p:cNvPr id="25612" name="Picture 13" descr="Green and Black Diamond"/>
              <p:cNvPicPr>
                <a:picLocks noChangeAspect="1"/>
              </p:cNvPicPr>
              <p:nvPr/>
            </p:nvPicPr>
            <p:blipFill>
              <a:blip r:embed="rId2" cstate="print"/>
              <a:stretch>
                <a:fillRect/>
              </a:stretch>
            </p:blipFill>
            <p:spPr>
              <a:xfrm>
                <a:off x="1050" y="672"/>
                <a:ext cx="108" cy="108"/>
              </a:xfrm>
              <a:prstGeom prst="rect">
                <a:avLst/>
              </a:prstGeom>
              <a:noFill/>
              <a:ln w="9525">
                <a:noFill/>
              </a:ln>
            </p:spPr>
          </p:pic>
          <p:pic>
            <p:nvPicPr>
              <p:cNvPr id="25613" name="Picture 14" descr="Green and Black Diamond"/>
              <p:cNvPicPr>
                <a:picLocks noChangeAspect="1"/>
              </p:cNvPicPr>
              <p:nvPr/>
            </p:nvPicPr>
            <p:blipFill>
              <a:blip r:embed="rId2" cstate="print"/>
              <a:stretch>
                <a:fillRect/>
              </a:stretch>
            </p:blipFill>
            <p:spPr>
              <a:xfrm>
                <a:off x="1236" y="672"/>
                <a:ext cx="108" cy="108"/>
              </a:xfrm>
              <a:prstGeom prst="rect">
                <a:avLst/>
              </a:prstGeom>
              <a:noFill/>
              <a:ln w="9525">
                <a:noFill/>
              </a:ln>
            </p:spPr>
          </p:pic>
          <p:pic>
            <p:nvPicPr>
              <p:cNvPr id="25614" name="Picture 15" descr="Green and Black Diamond"/>
              <p:cNvPicPr>
                <a:picLocks noChangeAspect="1"/>
              </p:cNvPicPr>
              <p:nvPr/>
            </p:nvPicPr>
            <p:blipFill>
              <a:blip r:embed="rId2" cstate="print"/>
              <a:stretch>
                <a:fillRect/>
              </a:stretch>
            </p:blipFill>
            <p:spPr>
              <a:xfrm>
                <a:off x="1338" y="672"/>
                <a:ext cx="108" cy="108"/>
              </a:xfrm>
              <a:prstGeom prst="rect">
                <a:avLst/>
              </a:prstGeom>
              <a:noFill/>
              <a:ln w="9525">
                <a:noFill/>
              </a:ln>
            </p:spPr>
          </p:pic>
          <p:pic>
            <p:nvPicPr>
              <p:cNvPr id="25615" name="Picture 16" descr="Green and Black Diamond"/>
              <p:cNvPicPr>
                <a:picLocks noChangeAspect="1"/>
              </p:cNvPicPr>
              <p:nvPr/>
            </p:nvPicPr>
            <p:blipFill>
              <a:blip r:embed="rId2" cstate="print"/>
              <a:stretch>
                <a:fillRect/>
              </a:stretch>
            </p:blipFill>
            <p:spPr>
              <a:xfrm>
                <a:off x="1434" y="672"/>
                <a:ext cx="108" cy="108"/>
              </a:xfrm>
              <a:prstGeom prst="rect">
                <a:avLst/>
              </a:prstGeom>
              <a:noFill/>
              <a:ln w="9525">
                <a:noFill/>
              </a:ln>
            </p:spPr>
          </p:pic>
          <p:pic>
            <p:nvPicPr>
              <p:cNvPr id="25616" name="Picture 17" descr="Green and Black Diamond"/>
              <p:cNvPicPr>
                <a:picLocks noChangeAspect="1"/>
              </p:cNvPicPr>
              <p:nvPr/>
            </p:nvPicPr>
            <p:blipFill>
              <a:blip r:embed="rId2" cstate="print"/>
              <a:stretch>
                <a:fillRect/>
              </a:stretch>
            </p:blipFill>
            <p:spPr>
              <a:xfrm>
                <a:off x="1524" y="672"/>
                <a:ext cx="108" cy="108"/>
              </a:xfrm>
              <a:prstGeom prst="rect">
                <a:avLst/>
              </a:prstGeom>
              <a:noFill/>
              <a:ln w="9525">
                <a:noFill/>
              </a:ln>
            </p:spPr>
          </p:pic>
          <p:pic>
            <p:nvPicPr>
              <p:cNvPr id="25617" name="Picture 18" descr="Green and Black Diamond"/>
              <p:cNvPicPr>
                <a:picLocks noChangeAspect="1"/>
              </p:cNvPicPr>
              <p:nvPr/>
            </p:nvPicPr>
            <p:blipFill>
              <a:blip r:embed="rId2" cstate="print"/>
              <a:stretch>
                <a:fillRect/>
              </a:stretch>
            </p:blipFill>
            <p:spPr>
              <a:xfrm>
                <a:off x="1626" y="672"/>
                <a:ext cx="108" cy="108"/>
              </a:xfrm>
              <a:prstGeom prst="rect">
                <a:avLst/>
              </a:prstGeom>
              <a:noFill/>
              <a:ln w="9525">
                <a:noFill/>
              </a:ln>
            </p:spPr>
          </p:pic>
          <p:pic>
            <p:nvPicPr>
              <p:cNvPr id="25618" name="Picture 19" descr="Green and Black Diamond"/>
              <p:cNvPicPr>
                <a:picLocks noChangeAspect="1"/>
              </p:cNvPicPr>
              <p:nvPr/>
            </p:nvPicPr>
            <p:blipFill>
              <a:blip r:embed="rId2" cstate="print"/>
              <a:stretch>
                <a:fillRect/>
              </a:stretch>
            </p:blipFill>
            <p:spPr>
              <a:xfrm>
                <a:off x="1146" y="672"/>
                <a:ext cx="108" cy="108"/>
              </a:xfrm>
              <a:prstGeom prst="rect">
                <a:avLst/>
              </a:prstGeom>
              <a:noFill/>
              <a:ln w="9525">
                <a:noFill/>
              </a:ln>
            </p:spPr>
          </p:pic>
        </p:grpSp>
        <p:pic>
          <p:nvPicPr>
            <p:cNvPr id="25619" name="Picture 20" descr="Green and Black Diamond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008" y="612"/>
              <a:ext cx="108" cy="108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25620" name="Picture 21" descr="Green and Black Diamond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488" y="612"/>
              <a:ext cx="102" cy="102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25621" name="Picture 22" descr="Green and Black Diamond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584" y="612"/>
              <a:ext cx="102" cy="102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25622" name="Picture 23" descr="Green and Black Diamond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674" y="612"/>
              <a:ext cx="102" cy="102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25623" name="Picture 24" descr="Green and Black Diamond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776" y="612"/>
              <a:ext cx="102" cy="102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25624" name="Picture 25" descr="Green and Black Diamond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872" y="612"/>
              <a:ext cx="102" cy="102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25625" name="Picture 26" descr="Green and Black Diamond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962" y="612"/>
              <a:ext cx="102" cy="102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25626" name="Picture 27" descr="Green and Black Diamond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064" y="612"/>
              <a:ext cx="102" cy="102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25627" name="Picture 28" descr="Green and Black Diamond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250" y="612"/>
              <a:ext cx="102" cy="102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25628" name="Picture 29" descr="Green and Black Diamond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352" y="612"/>
              <a:ext cx="102" cy="102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25629" name="Picture 30" descr="Green and Black Diamond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448" y="612"/>
              <a:ext cx="102" cy="102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25630" name="Picture 31" descr="Green and Black Diamond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160" y="612"/>
              <a:ext cx="102" cy="102"/>
            </a:xfrm>
            <a:prstGeom prst="rect">
              <a:avLst/>
            </a:prstGeom>
            <a:noFill/>
            <a:ln w="9525">
              <a:noFill/>
            </a:ln>
          </p:spPr>
        </p:pic>
      </p:grpSp>
      <p:sp>
        <p:nvSpPr>
          <p:cNvPr id="20512" name="Rectangle 32"/>
          <p:cNvSpPr>
            <a:spLocks noChangeArrowheads="1"/>
          </p:cNvSpPr>
          <p:nvPr/>
        </p:nvSpPr>
        <p:spPr bwMode="auto">
          <a:xfrm>
            <a:off x="838200" y="425450"/>
            <a:ext cx="3276600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1435" tIns="45718" rIns="91435" bIns="45718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3600" b="1" i="0" u="none" strike="noStrike" kern="1200" cap="none" spc="0" normalizeH="0" baseline="0" noProof="0">
                <a:ln>
                  <a:noFill/>
                </a:ln>
                <a:solidFill>
                  <a:srgbClr val="CC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华文新魏" panose="02010800040101010101" pitchFamily="2" charset="-122"/>
                <a:cs typeface="+mn-cs"/>
              </a:rPr>
              <a:t>1.5.2</a:t>
            </a:r>
            <a:r>
              <a:rPr kumimoji="1" lang="en-US" altLang="zh-CN" sz="3600" b="1" i="0" u="none" strike="noStrike" kern="1200" cap="none" spc="0" normalizeH="0" baseline="0" noProof="0">
                <a:ln>
                  <a:noFill/>
                </a:ln>
                <a:solidFill>
                  <a:srgbClr val="CC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rPr>
              <a:t>  </a:t>
            </a:r>
            <a:r>
              <a:rPr kumimoji="1" lang="zh-CN" altLang="en-US" sz="3600" b="1" i="0" u="none" strike="noStrike" kern="1200" cap="none" spc="0" normalizeH="0" baseline="0" noProof="0">
                <a:ln>
                  <a:noFill/>
                </a:ln>
                <a:solidFill>
                  <a:srgbClr val="CC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rPr>
              <a:t>电源开路</a:t>
            </a:r>
          </a:p>
        </p:txBody>
      </p:sp>
      <p:grpSp>
        <p:nvGrpSpPr>
          <p:cNvPr id="20513" name="Group 33"/>
          <p:cNvGrpSpPr/>
          <p:nvPr/>
        </p:nvGrpSpPr>
        <p:grpSpPr>
          <a:xfrm>
            <a:off x="838200" y="2362200"/>
            <a:ext cx="6272213" cy="1597025"/>
            <a:chOff x="528" y="1393"/>
            <a:chExt cx="3951" cy="1006"/>
          </a:xfrm>
        </p:grpSpPr>
        <p:sp>
          <p:nvSpPr>
            <p:cNvPr id="25633" name="Rectangle 34"/>
            <p:cNvSpPr/>
            <p:nvPr/>
          </p:nvSpPr>
          <p:spPr>
            <a:xfrm>
              <a:off x="624" y="1393"/>
              <a:ext cx="837" cy="287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91435" tIns="45718" rIns="91435" bIns="45718" anchor="t" anchorCtr="0">
              <a:spAutoFit/>
            </a:bodyPr>
            <a:lstStyle/>
            <a:p>
              <a:pPr algn="ctr">
                <a:lnSpc>
                  <a:spcPct val="85000"/>
                </a:lnSpc>
                <a:spcBef>
                  <a:spcPct val="10000"/>
                </a:spcBef>
              </a:pPr>
              <a:r>
                <a:rPr lang="en-US" altLang="zh-CN" sz="2800" b="1" i="1" dirty="0">
                  <a:solidFill>
                    <a:srgbClr val="FF00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highlight>
                    <a:srgbClr val="FFFF00"/>
                  </a:highlight>
                  <a:latin typeface="Times New Roman" panose="02020603050405020304" pitchFamily="18" charset="0"/>
                  <a:ea typeface="宋体" panose="02010600030101010101" pitchFamily="2" charset="-122"/>
                </a:rPr>
                <a:t>I = </a:t>
              </a:r>
              <a:r>
                <a:rPr lang="en-US" altLang="zh-CN" sz="2800" b="1" dirty="0">
                  <a:solidFill>
                    <a:srgbClr val="FF00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highlight>
                    <a:srgbClr val="FFFF00"/>
                  </a:highlight>
                  <a:latin typeface="Times New Roman" panose="02020603050405020304" pitchFamily="18" charset="0"/>
                  <a:ea typeface="宋体" panose="02010600030101010101" pitchFamily="2" charset="-122"/>
                </a:rPr>
                <a:t>0</a:t>
              </a:r>
            </a:p>
          </p:txBody>
        </p:sp>
        <p:sp>
          <p:nvSpPr>
            <p:cNvPr id="25634" name="Text Box 35"/>
            <p:cNvSpPr txBox="1"/>
            <p:nvPr/>
          </p:nvSpPr>
          <p:spPr>
            <a:xfrm>
              <a:off x="2020" y="1757"/>
              <a:ext cx="2459" cy="287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lIns="91435" tIns="45718" rIns="91435" bIns="45718" anchor="ctr" anchorCtr="0">
              <a:spAutoFit/>
            </a:bodyPr>
            <a:lstStyle/>
            <a:p>
              <a:pPr algn="ctr">
                <a:lnSpc>
                  <a:spcPct val="85000"/>
                </a:lnSpc>
              </a:pPr>
              <a:r>
                <a:rPr lang="zh-CN" altLang="en-US" sz="2800" b="1" dirty="0">
                  <a:latin typeface="Times New Roman" panose="02020603050405020304" pitchFamily="18" charset="0"/>
                  <a:ea typeface="宋体" panose="02010600030101010101" pitchFamily="2" charset="-122"/>
                </a:rPr>
                <a:t>电源端电压</a:t>
              </a:r>
              <a:r>
                <a:rPr lang="zh-CN" altLang="en-US" sz="2800" b="1" dirty="0">
                  <a:solidFill>
                    <a:srgbClr val="000099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 </a:t>
              </a:r>
              <a:r>
                <a:rPr lang="en-US" altLang="zh-CN" sz="2800" b="1" dirty="0">
                  <a:solidFill>
                    <a:srgbClr val="000099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( </a:t>
              </a:r>
              <a:r>
                <a:rPr lang="zh-CN" altLang="en-US" sz="2800" b="1" dirty="0">
                  <a:solidFill>
                    <a:srgbClr val="000099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开路电压 </a:t>
              </a:r>
              <a:r>
                <a:rPr lang="en-US" altLang="zh-CN" sz="2800" b="1" dirty="0">
                  <a:solidFill>
                    <a:srgbClr val="000099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)</a:t>
              </a:r>
            </a:p>
          </p:txBody>
        </p:sp>
        <p:sp>
          <p:nvSpPr>
            <p:cNvPr id="25635" name="Text Box 36"/>
            <p:cNvSpPr txBox="1"/>
            <p:nvPr/>
          </p:nvSpPr>
          <p:spPr>
            <a:xfrm>
              <a:off x="1634" y="2064"/>
              <a:ext cx="1016" cy="287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lIns="91435" tIns="45718" rIns="91435" bIns="45718" anchor="ctr" anchorCtr="0">
              <a:spAutoFit/>
            </a:bodyPr>
            <a:lstStyle/>
            <a:p>
              <a:pPr algn="ctr">
                <a:lnSpc>
                  <a:spcPct val="85000"/>
                </a:lnSpc>
              </a:pPr>
              <a:r>
                <a:rPr lang="zh-CN" altLang="en-US" sz="2800" b="1" dirty="0">
                  <a:latin typeface="Times New Roman" panose="02020603050405020304" pitchFamily="18" charset="0"/>
                  <a:ea typeface="宋体" panose="02010600030101010101" pitchFamily="2" charset="-122"/>
                </a:rPr>
                <a:t>负载功率</a:t>
              </a:r>
              <a:endParaRPr lang="zh-CN" altLang="en-US" sz="28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5636" name="AutoShape 37"/>
            <p:cNvSpPr/>
            <p:nvPr/>
          </p:nvSpPr>
          <p:spPr>
            <a:xfrm>
              <a:off x="528" y="1488"/>
              <a:ext cx="192" cy="768"/>
            </a:xfrm>
            <a:prstGeom prst="leftBrace">
              <a:avLst>
                <a:gd name="adj1" fmla="val 33277"/>
                <a:gd name="adj2" fmla="val 50000"/>
              </a:avLst>
            </a:prstGeom>
            <a:noFill/>
            <a:ln w="38100" cap="flat" cmpd="sng">
              <a:solidFill>
                <a:srgbClr val="FF0000"/>
              </a:solidFill>
              <a:prstDash val="solid"/>
              <a:round/>
              <a:headEnd type="none" w="sm" len="sm"/>
              <a:tailEnd type="none" w="med" len="med"/>
            </a:ln>
          </p:spPr>
          <p:txBody>
            <a:bodyPr wrap="none" anchor="ctr" anchorCtr="0"/>
            <a:lstStyle/>
            <a:p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5637" name="Rectangle 38"/>
            <p:cNvSpPr/>
            <p:nvPr/>
          </p:nvSpPr>
          <p:spPr>
            <a:xfrm>
              <a:off x="741" y="1761"/>
              <a:ext cx="1127" cy="28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91435" tIns="45718" rIns="91435" bIns="45718" anchor="t" anchorCtr="0">
              <a:spAutoFit/>
            </a:bodyPr>
            <a:lstStyle/>
            <a:p>
              <a:pPr algn="ctr">
                <a:lnSpc>
                  <a:spcPct val="85000"/>
                </a:lnSpc>
                <a:spcBef>
                  <a:spcPct val="10000"/>
                </a:spcBef>
              </a:pPr>
              <a:r>
                <a:rPr lang="en-US" altLang="zh-CN" sz="2800" b="1" i="1" dirty="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U</a:t>
              </a:r>
              <a:r>
                <a:rPr lang="en-US" altLang="zh-CN" sz="2800" b="1" baseline="-25000" dirty="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 </a:t>
              </a:r>
              <a:r>
                <a:rPr lang="en-US" altLang="zh-CN" sz="2800" b="1" i="1" dirty="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= U</a:t>
              </a:r>
              <a:r>
                <a:rPr lang="en-US" altLang="zh-CN" sz="2800" b="1" baseline="-25000" dirty="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0</a:t>
              </a:r>
              <a:r>
                <a:rPr lang="en-US" altLang="zh-CN" sz="2800" b="1" i="1" dirty="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 = E</a:t>
              </a:r>
              <a:endPara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5638" name="Rectangle 39"/>
            <p:cNvSpPr/>
            <p:nvPr/>
          </p:nvSpPr>
          <p:spPr>
            <a:xfrm>
              <a:off x="528" y="2112"/>
              <a:ext cx="945" cy="287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91435" tIns="45718" rIns="91435" bIns="45718" anchor="t" anchorCtr="0">
              <a:spAutoFit/>
            </a:bodyPr>
            <a:lstStyle/>
            <a:p>
              <a:pPr algn="ctr">
                <a:lnSpc>
                  <a:spcPct val="85000"/>
                </a:lnSpc>
                <a:spcBef>
                  <a:spcPct val="10000"/>
                </a:spcBef>
              </a:pPr>
              <a:r>
                <a:rPr lang="en-US" altLang="zh-CN" sz="2800" b="1" i="1" dirty="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P</a:t>
              </a:r>
              <a:r>
                <a:rPr lang="en-US" altLang="zh-CN" sz="2800" b="1" baseline="-25000" dirty="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 </a:t>
              </a:r>
              <a:r>
                <a:rPr lang="en-US" altLang="zh-CN" sz="2800" b="1" i="1" dirty="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= </a:t>
              </a:r>
              <a:r>
                <a:rPr lang="en-US" altLang="zh-CN" sz="2800" b="1" dirty="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0</a:t>
              </a:r>
            </a:p>
          </p:txBody>
        </p:sp>
      </p:grpSp>
      <p:sp>
        <p:nvSpPr>
          <p:cNvPr id="20520" name="Text Box 40"/>
          <p:cNvSpPr txBox="1"/>
          <p:nvPr/>
        </p:nvSpPr>
        <p:spPr>
          <a:xfrm>
            <a:off x="908050" y="4637088"/>
            <a:ext cx="6838950" cy="1458912"/>
          </a:xfrm>
          <a:prstGeom prst="rect">
            <a:avLst/>
          </a:prstGeom>
          <a:noFill/>
          <a:ln w="38100">
            <a:noFill/>
          </a:ln>
        </p:spPr>
        <p:txBody>
          <a:bodyPr lIns="91435" tIns="45718" rIns="91435" bIns="45718" anchor="ctr" anchorCtr="0">
            <a:spAutoFit/>
          </a:bodyPr>
          <a:lstStyle/>
          <a:p>
            <a:pPr>
              <a:spcBef>
                <a:spcPct val="10000"/>
              </a:spcBef>
            </a:pPr>
            <a:r>
              <a:rPr lang="en-US" altLang="zh-CN" sz="2800" b="1" dirty="0">
                <a:latin typeface="Times New Roman" panose="02020603050405020304" pitchFamily="18" charset="0"/>
                <a:ea typeface="宋体" panose="02010600030101010101" pitchFamily="2" charset="-122"/>
              </a:rPr>
              <a:t>1. </a:t>
            </a:r>
            <a:r>
              <a:rPr lang="zh-CN" altLang="en-US" sz="2800" b="1" dirty="0">
                <a:latin typeface="Times New Roman" panose="02020603050405020304" pitchFamily="18" charset="0"/>
                <a:ea typeface="宋体" panose="02010600030101010101" pitchFamily="2" charset="-122"/>
              </a:rPr>
              <a:t>开路处的电流等于零；</a:t>
            </a:r>
          </a:p>
          <a:p>
            <a:pPr>
              <a:spcBef>
                <a:spcPct val="10000"/>
              </a:spcBef>
            </a:pPr>
            <a:r>
              <a:rPr lang="zh-CN" altLang="en-US" sz="2800" b="1" dirty="0">
                <a:latin typeface="Times New Roman" panose="02020603050405020304" pitchFamily="18" charset="0"/>
                <a:ea typeface="宋体" panose="02010600030101010101" pitchFamily="2" charset="-122"/>
              </a:rPr>
              <a:t>     </a:t>
            </a:r>
            <a:r>
              <a:rPr lang="zh-CN" altLang="en-US" sz="2800" b="1" dirty="0">
                <a:solidFill>
                  <a:srgbClr val="FF0000"/>
                </a:solidFill>
                <a:highlight>
                  <a:srgbClr val="FFFF00"/>
                </a:highlight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altLang="zh-CN" sz="2800" b="1" i="1" dirty="0">
                <a:solidFill>
                  <a:srgbClr val="FF0000"/>
                </a:solidFill>
                <a:highlight>
                  <a:srgbClr val="FFFF00"/>
                </a:highlight>
                <a:latin typeface="Times New Roman" panose="02020603050405020304" pitchFamily="18" charset="0"/>
                <a:ea typeface="宋体" panose="02010600030101010101" pitchFamily="2" charset="-122"/>
              </a:rPr>
              <a:t>I</a:t>
            </a:r>
            <a:r>
              <a:rPr lang="en-US" altLang="zh-CN" sz="2800" b="1" baseline="-25000" dirty="0">
                <a:solidFill>
                  <a:srgbClr val="FF0000"/>
                </a:solidFill>
                <a:highlight>
                  <a:srgbClr val="FFFF00"/>
                </a:highlight>
                <a:latin typeface="Times New Roman" panose="02020603050405020304" pitchFamily="18" charset="0"/>
                <a:ea typeface="宋体" panose="02010600030101010101" pitchFamily="2" charset="-122"/>
              </a:rPr>
              <a:t>  </a:t>
            </a:r>
            <a:r>
              <a:rPr lang="en-US" altLang="zh-CN" sz="2800" b="1" dirty="0">
                <a:solidFill>
                  <a:srgbClr val="FF0000"/>
                </a:solidFill>
                <a:highlight>
                  <a:srgbClr val="FFFF00"/>
                </a:highlight>
                <a:latin typeface="Times New Roman" panose="02020603050405020304" pitchFamily="18" charset="0"/>
                <a:ea typeface="宋体" panose="02010600030101010101" pitchFamily="2" charset="-122"/>
              </a:rPr>
              <a:t>= 0</a:t>
            </a:r>
            <a:endParaRPr lang="en-US" altLang="zh-CN" sz="2800" b="1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>
              <a:spcBef>
                <a:spcPct val="10000"/>
              </a:spcBef>
            </a:pPr>
            <a:r>
              <a:rPr lang="en-US" altLang="zh-CN" sz="2800" b="1" dirty="0">
                <a:latin typeface="Times New Roman" panose="02020603050405020304" pitchFamily="18" charset="0"/>
                <a:ea typeface="宋体" panose="02010600030101010101" pitchFamily="2" charset="-122"/>
              </a:rPr>
              <a:t>2. </a:t>
            </a:r>
            <a:r>
              <a:rPr lang="zh-CN" altLang="en-US" sz="2800" b="1" dirty="0">
                <a:latin typeface="Times New Roman" panose="02020603050405020304" pitchFamily="18" charset="0"/>
                <a:ea typeface="宋体" panose="02010600030101010101" pitchFamily="2" charset="-122"/>
              </a:rPr>
              <a:t>开路处的电压 </a:t>
            </a:r>
            <a:r>
              <a:rPr lang="en-US" altLang="zh-CN" sz="2800" b="1" i="1" dirty="0">
                <a:latin typeface="Times New Roman" panose="02020603050405020304" pitchFamily="18" charset="0"/>
                <a:ea typeface="宋体" panose="02010600030101010101" pitchFamily="2" charset="-122"/>
              </a:rPr>
              <a:t>U </a:t>
            </a:r>
            <a:r>
              <a:rPr lang="zh-CN" altLang="en-US" sz="2800" b="1" dirty="0">
                <a:latin typeface="Times New Roman" panose="02020603050405020304" pitchFamily="18" charset="0"/>
                <a:ea typeface="宋体" panose="02010600030101010101" pitchFamily="2" charset="-122"/>
              </a:rPr>
              <a:t>视电路情况而定。</a:t>
            </a:r>
          </a:p>
        </p:txBody>
      </p:sp>
      <p:sp>
        <p:nvSpPr>
          <p:cNvPr id="20521" name="Text Box 41"/>
          <p:cNvSpPr txBox="1"/>
          <p:nvPr/>
        </p:nvSpPr>
        <p:spPr>
          <a:xfrm>
            <a:off x="722313" y="4038600"/>
            <a:ext cx="4292600" cy="519113"/>
          </a:xfrm>
          <a:prstGeom prst="rect">
            <a:avLst/>
          </a:prstGeom>
          <a:noFill/>
          <a:ln w="38100">
            <a:noFill/>
          </a:ln>
        </p:spPr>
        <p:txBody>
          <a:bodyPr wrap="none" lIns="91435" tIns="45718" rIns="91435" bIns="45718" anchor="ctr" anchorCtr="0">
            <a:spAutoFit/>
          </a:bodyPr>
          <a:lstStyle/>
          <a:p>
            <a:pPr algn="ctr"/>
            <a:r>
              <a:rPr lang="zh-CN" altLang="en-US" sz="2800" b="1" dirty="0">
                <a:solidFill>
                  <a:srgbClr val="CC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电路中某处断开时的特征</a:t>
            </a:r>
            <a:r>
              <a:rPr lang="en-US" altLang="zh-CN" sz="2800" b="1" dirty="0">
                <a:solidFill>
                  <a:srgbClr val="CC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:</a:t>
            </a:r>
            <a:endParaRPr lang="en-US" altLang="zh-CN" sz="2800" b="1" dirty="0">
              <a:solidFill>
                <a:srgbClr val="CC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pSp>
        <p:nvGrpSpPr>
          <p:cNvPr id="20522" name="Group 42"/>
          <p:cNvGrpSpPr/>
          <p:nvPr/>
        </p:nvGrpSpPr>
        <p:grpSpPr>
          <a:xfrm>
            <a:off x="5556250" y="3595688"/>
            <a:ext cx="2444750" cy="1757362"/>
            <a:chOff x="3456" y="2169"/>
            <a:chExt cx="1540" cy="1107"/>
          </a:xfrm>
        </p:grpSpPr>
        <p:sp>
          <p:nvSpPr>
            <p:cNvPr id="25642" name="Line 43"/>
            <p:cNvSpPr/>
            <p:nvPr/>
          </p:nvSpPr>
          <p:spPr>
            <a:xfrm>
              <a:off x="4080" y="2496"/>
              <a:ext cx="624" cy="0"/>
            </a:xfrm>
            <a:prstGeom prst="line">
              <a:avLst/>
            </a:prstGeom>
            <a:ln w="3810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25643" name="Line 44"/>
            <p:cNvSpPr/>
            <p:nvPr/>
          </p:nvSpPr>
          <p:spPr>
            <a:xfrm flipV="1">
              <a:off x="4080" y="2976"/>
              <a:ext cx="624" cy="0"/>
            </a:xfrm>
            <a:prstGeom prst="line">
              <a:avLst/>
            </a:prstGeom>
            <a:ln w="3810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25644" name="Oval 45"/>
            <p:cNvSpPr/>
            <p:nvPr/>
          </p:nvSpPr>
          <p:spPr>
            <a:xfrm>
              <a:off x="4698" y="2473"/>
              <a:ext cx="54" cy="54"/>
            </a:xfrm>
            <a:prstGeom prst="ellipse">
              <a:avLst/>
            </a:prstGeom>
            <a:noFill/>
            <a:ln w="3810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lstStyle/>
            <a:p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5645" name="Oval 46"/>
            <p:cNvSpPr/>
            <p:nvPr/>
          </p:nvSpPr>
          <p:spPr>
            <a:xfrm>
              <a:off x="4698" y="2951"/>
              <a:ext cx="54" cy="54"/>
            </a:xfrm>
            <a:prstGeom prst="ellipse">
              <a:avLst/>
            </a:prstGeom>
            <a:noFill/>
            <a:ln w="3810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lstStyle/>
            <a:p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5646" name="Line 47"/>
            <p:cNvSpPr/>
            <p:nvPr/>
          </p:nvSpPr>
          <p:spPr>
            <a:xfrm>
              <a:off x="4320" y="2448"/>
              <a:ext cx="288" cy="0"/>
            </a:xfrm>
            <a:prstGeom prst="line">
              <a:avLst/>
            </a:prstGeom>
            <a:ln w="38100" cap="flat" cmpd="sng">
              <a:solidFill>
                <a:srgbClr val="FF0000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25647" name="Text Box 48"/>
            <p:cNvSpPr txBox="1"/>
            <p:nvPr/>
          </p:nvSpPr>
          <p:spPr>
            <a:xfrm>
              <a:off x="4315" y="2169"/>
              <a:ext cx="245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91435" tIns="45718" rIns="91435" bIns="45718" anchor="t" anchorCtr="0">
              <a:spAutoFit/>
            </a:bodyPr>
            <a:lstStyle/>
            <a:p>
              <a:pPr algn="ctr"/>
              <a:r>
                <a:rPr lang="en-US" altLang="zh-CN" sz="2800" b="1" i="1" dirty="0">
                  <a:solidFill>
                    <a:srgbClr val="FF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I</a:t>
              </a:r>
            </a:p>
          </p:txBody>
        </p:sp>
        <p:sp>
          <p:nvSpPr>
            <p:cNvPr id="25648" name="Text Box 49"/>
            <p:cNvSpPr txBox="1"/>
            <p:nvPr/>
          </p:nvSpPr>
          <p:spPr>
            <a:xfrm>
              <a:off x="4752" y="2352"/>
              <a:ext cx="244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91435" tIns="45718" rIns="91435" bIns="45718" anchor="t" anchorCtr="0">
              <a:spAutoFit/>
            </a:bodyPr>
            <a:lstStyle/>
            <a:p>
              <a:pPr algn="ctr"/>
              <a:r>
                <a:rPr lang="en-US" altLang="zh-CN" sz="2800" b="1" i="1" dirty="0">
                  <a:solidFill>
                    <a:srgbClr val="FF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+</a:t>
              </a:r>
            </a:p>
          </p:txBody>
        </p:sp>
        <p:sp>
          <p:nvSpPr>
            <p:cNvPr id="25649" name="Text Box 50"/>
            <p:cNvSpPr txBox="1"/>
            <p:nvPr/>
          </p:nvSpPr>
          <p:spPr>
            <a:xfrm>
              <a:off x="4764" y="2832"/>
              <a:ext cx="228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91435" tIns="45718" rIns="91435" bIns="45718" anchor="t" anchorCtr="0">
              <a:spAutoFit/>
            </a:bodyPr>
            <a:lstStyle/>
            <a:p>
              <a:pPr algn="ctr"/>
              <a:r>
                <a:rPr lang="en-US" altLang="zh-CN" sz="2800" b="1" i="1" dirty="0">
                  <a:solidFill>
                    <a:srgbClr val="FF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–</a:t>
              </a:r>
            </a:p>
          </p:txBody>
        </p:sp>
        <p:sp>
          <p:nvSpPr>
            <p:cNvPr id="25650" name="Text Box 51"/>
            <p:cNvSpPr txBox="1"/>
            <p:nvPr/>
          </p:nvSpPr>
          <p:spPr>
            <a:xfrm>
              <a:off x="4714" y="2592"/>
              <a:ext cx="278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91435" tIns="45718" rIns="91435" bIns="45718" anchor="t" anchorCtr="0">
              <a:spAutoFit/>
            </a:bodyPr>
            <a:lstStyle/>
            <a:p>
              <a:pPr algn="ctr"/>
              <a:r>
                <a:rPr lang="en-US" altLang="zh-CN" sz="2800" b="1" i="1" dirty="0">
                  <a:solidFill>
                    <a:srgbClr val="FF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U</a:t>
              </a:r>
            </a:p>
          </p:txBody>
        </p:sp>
        <p:sp>
          <p:nvSpPr>
            <p:cNvPr id="25651" name="Text Box 52"/>
            <p:cNvSpPr txBox="1"/>
            <p:nvPr/>
          </p:nvSpPr>
          <p:spPr>
            <a:xfrm>
              <a:off x="3456" y="2226"/>
              <a:ext cx="624" cy="1050"/>
            </a:xfrm>
            <a:prstGeom prst="rect">
              <a:avLst/>
            </a:prstGeom>
            <a:noFill/>
            <a:ln w="381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lIns="91435" tIns="45718" rIns="91435" bIns="45718" anchor="t" anchorCtr="0">
              <a:spAutoFit/>
            </a:bodyPr>
            <a:lstStyle/>
            <a:p>
              <a:pPr algn="ctr">
                <a:lnSpc>
                  <a:spcPct val="90000"/>
                </a:lnSpc>
              </a:pPr>
              <a:r>
                <a:rPr lang="zh-CN" altLang="en-US" sz="2800" b="1" dirty="0">
                  <a:latin typeface="Times New Roman" panose="02020603050405020304" pitchFamily="18" charset="0"/>
                  <a:ea typeface="宋体" panose="02010600030101010101" pitchFamily="2" charset="-122"/>
                </a:rPr>
                <a:t>有</a:t>
              </a:r>
            </a:p>
            <a:p>
              <a:pPr algn="ctr">
                <a:lnSpc>
                  <a:spcPct val="90000"/>
                </a:lnSpc>
              </a:pPr>
              <a:r>
                <a:rPr lang="zh-CN" altLang="en-US" sz="2800" b="1" dirty="0">
                  <a:latin typeface="Times New Roman" panose="02020603050405020304" pitchFamily="18" charset="0"/>
                  <a:ea typeface="宋体" panose="02010600030101010101" pitchFamily="2" charset="-122"/>
                </a:rPr>
                <a:t>源</a:t>
              </a:r>
            </a:p>
            <a:p>
              <a:pPr algn="ctr">
                <a:lnSpc>
                  <a:spcPct val="90000"/>
                </a:lnSpc>
              </a:pPr>
              <a:r>
                <a:rPr lang="zh-CN" altLang="en-US" sz="2800" b="1" dirty="0">
                  <a:latin typeface="Times New Roman" panose="02020603050405020304" pitchFamily="18" charset="0"/>
                  <a:ea typeface="宋体" panose="02010600030101010101" pitchFamily="2" charset="-122"/>
                </a:rPr>
                <a:t>电</a:t>
              </a:r>
            </a:p>
            <a:p>
              <a:pPr algn="ctr">
                <a:lnSpc>
                  <a:spcPct val="90000"/>
                </a:lnSpc>
              </a:pPr>
              <a:r>
                <a:rPr lang="zh-CN" altLang="en-US" sz="2800" b="1" dirty="0">
                  <a:latin typeface="Times New Roman" panose="02020603050405020304" pitchFamily="18" charset="0"/>
                  <a:ea typeface="宋体" panose="02010600030101010101" pitchFamily="2" charset="-122"/>
                </a:rPr>
                <a:t>路</a:t>
              </a:r>
            </a:p>
          </p:txBody>
        </p:sp>
      </p:grpSp>
      <p:grpSp>
        <p:nvGrpSpPr>
          <p:cNvPr id="25652" name="Group 53"/>
          <p:cNvGrpSpPr/>
          <p:nvPr/>
        </p:nvGrpSpPr>
        <p:grpSpPr>
          <a:xfrm>
            <a:off x="4578350" y="565150"/>
            <a:ext cx="3956050" cy="2098675"/>
            <a:chOff x="2884" y="356"/>
            <a:chExt cx="2492" cy="1322"/>
          </a:xfrm>
        </p:grpSpPr>
        <p:sp>
          <p:nvSpPr>
            <p:cNvPr id="25653" name="Text Box 54"/>
            <p:cNvSpPr txBox="1"/>
            <p:nvPr/>
          </p:nvSpPr>
          <p:spPr>
            <a:xfrm>
              <a:off x="3472" y="356"/>
              <a:ext cx="226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91435" tIns="45718" rIns="91435" bIns="45718" anchor="ctr" anchorCtr="0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zh-CN" sz="2800" b="1" i="1" dirty="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I</a:t>
              </a:r>
            </a:p>
          </p:txBody>
        </p:sp>
        <p:sp>
          <p:nvSpPr>
            <p:cNvPr id="25654" name="Oval 55"/>
            <p:cNvSpPr/>
            <p:nvPr/>
          </p:nvSpPr>
          <p:spPr>
            <a:xfrm>
              <a:off x="3153" y="848"/>
              <a:ext cx="266" cy="243"/>
            </a:xfrm>
            <a:prstGeom prst="ellipse">
              <a:avLst/>
            </a:prstGeom>
            <a:noFill/>
            <a:ln w="3810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t" anchorCtr="0"/>
            <a:lstStyle/>
            <a:p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5655" name="Rectangle 56"/>
            <p:cNvSpPr/>
            <p:nvPr/>
          </p:nvSpPr>
          <p:spPr>
            <a:xfrm>
              <a:off x="3219" y="1209"/>
              <a:ext cx="107" cy="261"/>
            </a:xfrm>
            <a:prstGeom prst="rect">
              <a:avLst/>
            </a:prstGeom>
            <a:noFill/>
            <a:ln w="38100" cap="flat" cmpd="sng">
              <a:solidFill>
                <a:srgbClr val="00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anchor="t" anchorCtr="0"/>
            <a:lstStyle/>
            <a:p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5656" name="Rectangle 57"/>
            <p:cNvSpPr/>
            <p:nvPr/>
          </p:nvSpPr>
          <p:spPr>
            <a:xfrm>
              <a:off x="5037" y="1071"/>
              <a:ext cx="108" cy="254"/>
            </a:xfrm>
            <a:prstGeom prst="rect">
              <a:avLst/>
            </a:prstGeom>
            <a:noFill/>
            <a:ln w="38100" cap="flat" cmpd="sng">
              <a:solidFill>
                <a:srgbClr val="00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anchor="t" anchorCtr="0"/>
            <a:lstStyle/>
            <a:p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5657" name="Line 58"/>
            <p:cNvSpPr/>
            <p:nvPr/>
          </p:nvSpPr>
          <p:spPr>
            <a:xfrm flipV="1">
              <a:off x="3273" y="729"/>
              <a:ext cx="806" cy="0"/>
            </a:xfrm>
            <a:prstGeom prst="line">
              <a:avLst/>
            </a:prstGeom>
            <a:ln w="3810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25658" name="Line 59"/>
            <p:cNvSpPr/>
            <p:nvPr/>
          </p:nvSpPr>
          <p:spPr>
            <a:xfrm>
              <a:off x="5092" y="729"/>
              <a:ext cx="0" cy="342"/>
            </a:xfrm>
            <a:prstGeom prst="line">
              <a:avLst/>
            </a:prstGeom>
            <a:ln w="3810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25659" name="Line 60"/>
            <p:cNvSpPr/>
            <p:nvPr/>
          </p:nvSpPr>
          <p:spPr>
            <a:xfrm>
              <a:off x="5092" y="1557"/>
              <a:ext cx="0" cy="87"/>
            </a:xfrm>
            <a:prstGeom prst="line">
              <a:avLst/>
            </a:prstGeom>
            <a:ln w="39688" cap="flat" cmpd="sng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25660" name="Line 61"/>
            <p:cNvSpPr/>
            <p:nvPr/>
          </p:nvSpPr>
          <p:spPr>
            <a:xfrm>
              <a:off x="5092" y="1325"/>
              <a:ext cx="0" cy="348"/>
            </a:xfrm>
            <a:prstGeom prst="line">
              <a:avLst/>
            </a:prstGeom>
            <a:ln w="3810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25661" name="Line 62"/>
            <p:cNvSpPr/>
            <p:nvPr/>
          </p:nvSpPr>
          <p:spPr>
            <a:xfrm>
              <a:off x="3273" y="729"/>
              <a:ext cx="0" cy="0"/>
            </a:xfrm>
            <a:prstGeom prst="line">
              <a:avLst/>
            </a:prstGeom>
            <a:ln w="19050" cap="flat" cmpd="sng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25662" name="Line 63"/>
            <p:cNvSpPr/>
            <p:nvPr/>
          </p:nvSpPr>
          <p:spPr>
            <a:xfrm>
              <a:off x="3273" y="729"/>
              <a:ext cx="0" cy="480"/>
            </a:xfrm>
            <a:prstGeom prst="line">
              <a:avLst/>
            </a:prstGeom>
            <a:ln w="3810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25663" name="Rectangle 64"/>
            <p:cNvSpPr/>
            <p:nvPr/>
          </p:nvSpPr>
          <p:spPr>
            <a:xfrm>
              <a:off x="4346" y="1295"/>
              <a:ext cx="156" cy="218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/>
            <a:lstStyle/>
            <a:p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5664" name="Rectangle 65"/>
            <p:cNvSpPr/>
            <p:nvPr/>
          </p:nvSpPr>
          <p:spPr>
            <a:xfrm>
              <a:off x="2962" y="1267"/>
              <a:ext cx="225" cy="269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altLang="zh-CN" sz="2800" b="1" i="1" dirty="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R</a:t>
              </a:r>
              <a:r>
                <a:rPr lang="en-US" altLang="zh-CN" sz="2800" b="1" baseline="-25000" dirty="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o</a:t>
              </a:r>
              <a:endPara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5665" name="Rectangle 66"/>
            <p:cNvSpPr/>
            <p:nvPr/>
          </p:nvSpPr>
          <p:spPr>
            <a:xfrm>
              <a:off x="5173" y="1100"/>
              <a:ext cx="203" cy="218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/>
            <a:lstStyle/>
            <a:p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5666" name="Rectangle 67"/>
            <p:cNvSpPr/>
            <p:nvPr/>
          </p:nvSpPr>
          <p:spPr>
            <a:xfrm>
              <a:off x="5208" y="1123"/>
              <a:ext cx="148" cy="269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altLang="zh-CN" sz="2800" b="1" i="1" dirty="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R</a:t>
              </a:r>
              <a:endPara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5667" name="Rectangle 68"/>
            <p:cNvSpPr/>
            <p:nvPr/>
          </p:nvSpPr>
          <p:spPr>
            <a:xfrm>
              <a:off x="3117" y="671"/>
              <a:ext cx="142" cy="218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/>
            <a:lstStyle/>
            <a:p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5668" name="Rectangle 69"/>
            <p:cNvSpPr/>
            <p:nvPr/>
          </p:nvSpPr>
          <p:spPr>
            <a:xfrm>
              <a:off x="3125" y="627"/>
              <a:ext cx="123" cy="269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altLang="zh-CN" sz="2800" b="1" dirty="0">
                  <a:solidFill>
                    <a:srgbClr val="FF3300"/>
                  </a:solidFill>
                  <a:latin typeface="Symbol" panose="05050102010706020507" pitchFamily="18" charset="2"/>
                  <a:ea typeface="宋体" panose="02010600030101010101" pitchFamily="2" charset="-122"/>
                </a:rPr>
                <a:t>+</a:t>
              </a:r>
              <a:endParaRPr lang="en-US" altLang="zh-CN" sz="2800" dirty="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5669" name="Rectangle 70"/>
            <p:cNvSpPr/>
            <p:nvPr/>
          </p:nvSpPr>
          <p:spPr>
            <a:xfrm>
              <a:off x="3062" y="1013"/>
              <a:ext cx="176" cy="217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/>
            <a:lstStyle/>
            <a:p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5670" name="Rectangle 71"/>
            <p:cNvSpPr/>
            <p:nvPr/>
          </p:nvSpPr>
          <p:spPr>
            <a:xfrm>
              <a:off x="3078" y="999"/>
              <a:ext cx="179" cy="269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altLang="zh-CN" sz="2800" dirty="0">
                  <a:solidFill>
                    <a:srgbClr val="FF3300"/>
                  </a:solidFill>
                  <a:latin typeface="Symbol" panose="05050102010706020507" pitchFamily="18" charset="2"/>
                  <a:ea typeface="宋体" panose="02010600030101010101" pitchFamily="2" charset="-122"/>
                </a:rPr>
                <a:t> </a:t>
              </a:r>
              <a:r>
                <a:rPr lang="en-US" altLang="zh-CN" sz="2800" b="1" dirty="0">
                  <a:solidFill>
                    <a:srgbClr val="FF3300"/>
                  </a:solidFill>
                  <a:latin typeface="Symbol" panose="05050102010706020507" pitchFamily="18" charset="2"/>
                  <a:ea typeface="宋体" panose="02010600030101010101" pitchFamily="2" charset="-122"/>
                </a:rPr>
                <a:t>-</a:t>
              </a:r>
              <a:endParaRPr lang="en-US" altLang="zh-CN" sz="2800" dirty="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5671" name="Rectangle 72"/>
            <p:cNvSpPr/>
            <p:nvPr/>
          </p:nvSpPr>
          <p:spPr>
            <a:xfrm>
              <a:off x="2884" y="840"/>
              <a:ext cx="304" cy="269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0" tIns="0" rIns="0" bIns="0" anchor="t" anchorCtr="0">
              <a:spAutoFit/>
            </a:bodyPr>
            <a:lstStyle/>
            <a:p>
              <a:pPr algn="ctr"/>
              <a:r>
                <a:rPr lang="en-US" altLang="zh-CN" sz="2800" b="1" i="1" dirty="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E</a:t>
              </a:r>
              <a:endParaRPr lang="en-US" altLang="zh-CN" sz="2800" i="1" dirty="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5672" name="Rectangle 73"/>
            <p:cNvSpPr/>
            <p:nvPr/>
          </p:nvSpPr>
          <p:spPr>
            <a:xfrm>
              <a:off x="3651" y="1076"/>
              <a:ext cx="395" cy="269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0" tIns="0" rIns="0" bIns="0" anchor="t" anchorCtr="0">
              <a:spAutoFit/>
            </a:bodyPr>
            <a:lstStyle/>
            <a:p>
              <a:pPr algn="ctr"/>
              <a:r>
                <a:rPr lang="en-US" altLang="zh-CN" sz="2800" b="1" i="1" dirty="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U</a:t>
              </a:r>
              <a:r>
                <a:rPr lang="en-US" altLang="zh-CN" sz="2800" b="1" baseline="-25000" dirty="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0</a:t>
              </a:r>
              <a:endParaRPr lang="en-US" altLang="zh-CN" sz="2800" i="1" dirty="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5673" name="Oval 74"/>
            <p:cNvSpPr/>
            <p:nvPr/>
          </p:nvSpPr>
          <p:spPr>
            <a:xfrm flipH="1">
              <a:off x="4285" y="1639"/>
              <a:ext cx="39" cy="39"/>
            </a:xfrm>
            <a:prstGeom prst="ellipse">
              <a:avLst/>
            </a:prstGeom>
            <a:noFill/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lstStyle/>
            <a:p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5674" name="Line 75"/>
            <p:cNvSpPr/>
            <p:nvPr/>
          </p:nvSpPr>
          <p:spPr>
            <a:xfrm flipH="1" flipV="1">
              <a:off x="4118" y="1551"/>
              <a:ext cx="182" cy="88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25675" name="Oval 76"/>
            <p:cNvSpPr/>
            <p:nvPr/>
          </p:nvSpPr>
          <p:spPr>
            <a:xfrm flipH="1">
              <a:off x="4275" y="709"/>
              <a:ext cx="39" cy="39"/>
            </a:xfrm>
            <a:prstGeom prst="ellipse">
              <a:avLst/>
            </a:prstGeom>
            <a:noFill/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lstStyle/>
            <a:p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5676" name="Line 77"/>
            <p:cNvSpPr/>
            <p:nvPr/>
          </p:nvSpPr>
          <p:spPr>
            <a:xfrm flipH="1" flipV="1">
              <a:off x="4108" y="621"/>
              <a:ext cx="182" cy="88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25677" name="Line 78"/>
            <p:cNvSpPr/>
            <p:nvPr/>
          </p:nvSpPr>
          <p:spPr>
            <a:xfrm flipV="1">
              <a:off x="4324" y="729"/>
              <a:ext cx="778" cy="0"/>
            </a:xfrm>
            <a:prstGeom prst="line">
              <a:avLst/>
            </a:prstGeom>
            <a:ln w="3810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25678" name="Line 79"/>
            <p:cNvSpPr/>
            <p:nvPr/>
          </p:nvSpPr>
          <p:spPr>
            <a:xfrm>
              <a:off x="3269" y="1466"/>
              <a:ext cx="0" cy="205"/>
            </a:xfrm>
            <a:prstGeom prst="line">
              <a:avLst/>
            </a:prstGeom>
            <a:ln w="3810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25679" name="Line 80"/>
            <p:cNvSpPr/>
            <p:nvPr/>
          </p:nvSpPr>
          <p:spPr>
            <a:xfrm>
              <a:off x="4221" y="683"/>
              <a:ext cx="0" cy="931"/>
            </a:xfrm>
            <a:prstGeom prst="line">
              <a:avLst/>
            </a:prstGeom>
            <a:ln w="38100" cap="flat" cmpd="sng">
              <a:solidFill>
                <a:srgbClr val="006600"/>
              </a:solidFill>
              <a:prstDash val="dash"/>
              <a:round/>
              <a:headEnd type="none" w="med" len="med"/>
              <a:tailEnd type="none" w="med" len="med"/>
            </a:ln>
          </p:spPr>
        </p:sp>
        <p:sp>
          <p:nvSpPr>
            <p:cNvPr id="25680" name="Line 81"/>
            <p:cNvSpPr/>
            <p:nvPr/>
          </p:nvSpPr>
          <p:spPr>
            <a:xfrm>
              <a:off x="3419" y="651"/>
              <a:ext cx="389" cy="0"/>
            </a:xfrm>
            <a:prstGeom prst="line">
              <a:avLst/>
            </a:prstGeom>
            <a:ln w="38100" cap="flat" cmpd="sng">
              <a:solidFill>
                <a:srgbClr val="FF3300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25681" name="Rectangle 82"/>
            <p:cNvSpPr/>
            <p:nvPr/>
          </p:nvSpPr>
          <p:spPr>
            <a:xfrm>
              <a:off x="3782" y="700"/>
              <a:ext cx="123" cy="269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altLang="zh-CN" sz="2800" b="1" dirty="0">
                  <a:solidFill>
                    <a:srgbClr val="FF3300"/>
                  </a:solidFill>
                  <a:latin typeface="Symbol" panose="05050102010706020507" pitchFamily="18" charset="2"/>
                  <a:ea typeface="宋体" panose="02010600030101010101" pitchFamily="2" charset="-122"/>
                </a:rPr>
                <a:t>+</a:t>
              </a:r>
              <a:endParaRPr lang="en-US" altLang="zh-CN" sz="2800" dirty="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5682" name="Rectangle 83"/>
            <p:cNvSpPr/>
            <p:nvPr/>
          </p:nvSpPr>
          <p:spPr>
            <a:xfrm>
              <a:off x="3740" y="1389"/>
              <a:ext cx="180" cy="269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altLang="zh-CN" sz="2800" dirty="0">
                  <a:solidFill>
                    <a:srgbClr val="FFFFFF"/>
                  </a:solidFill>
                  <a:latin typeface="Symbol" panose="05050102010706020507" pitchFamily="18" charset="2"/>
                  <a:ea typeface="宋体" panose="02010600030101010101" pitchFamily="2" charset="-122"/>
                </a:rPr>
                <a:t> </a:t>
              </a:r>
              <a:r>
                <a:rPr lang="en-US" altLang="zh-CN" sz="2800" b="1" dirty="0">
                  <a:solidFill>
                    <a:srgbClr val="FF3300"/>
                  </a:solidFill>
                  <a:latin typeface="Symbol" panose="05050102010706020507" pitchFamily="18" charset="2"/>
                  <a:ea typeface="宋体" panose="02010600030101010101" pitchFamily="2" charset="-122"/>
                </a:rPr>
                <a:t>-</a:t>
              </a:r>
              <a:endParaRPr lang="en-US" altLang="zh-CN" sz="2800" dirty="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5683" name="Line 84"/>
            <p:cNvSpPr/>
            <p:nvPr/>
          </p:nvSpPr>
          <p:spPr>
            <a:xfrm>
              <a:off x="3269" y="1655"/>
              <a:ext cx="832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25684" name="Line 85"/>
            <p:cNvSpPr/>
            <p:nvPr/>
          </p:nvSpPr>
          <p:spPr>
            <a:xfrm>
              <a:off x="4336" y="1652"/>
              <a:ext cx="780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</p:grpSp>
      <p:sp>
        <p:nvSpPr>
          <p:cNvPr id="86" name="Rectangle 73"/>
          <p:cNvSpPr/>
          <p:nvPr/>
        </p:nvSpPr>
        <p:spPr>
          <a:xfrm>
            <a:off x="6249193" y="1712986"/>
            <a:ext cx="627063" cy="427038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 anchor="t" anchorCtr="0">
            <a:spAutoFit/>
          </a:bodyPr>
          <a:lstStyle/>
          <a:p>
            <a:pPr algn="ctr"/>
            <a:r>
              <a:rPr lang="en-US" altLang="zh-CN" sz="2800" b="1" i="1" dirty="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U</a:t>
            </a:r>
            <a:endParaRPr lang="en-US" altLang="zh-CN" sz="2800" i="1" dirty="0">
              <a:solidFill>
                <a:srgbClr val="FF33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87" name="Rectangle 82"/>
          <p:cNvSpPr/>
          <p:nvPr/>
        </p:nvSpPr>
        <p:spPr>
          <a:xfrm>
            <a:off x="6457155" y="1116086"/>
            <a:ext cx="195263" cy="427038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altLang="zh-CN" sz="2800" b="1" dirty="0">
                <a:solidFill>
                  <a:srgbClr val="FF3300"/>
                </a:solidFill>
                <a:latin typeface="Symbol" panose="05050102010706020507" pitchFamily="18" charset="2"/>
                <a:ea typeface="宋体" panose="02010600030101010101" pitchFamily="2" charset="-122"/>
              </a:rPr>
              <a:t>+</a:t>
            </a:r>
            <a:endParaRPr lang="en-US" altLang="zh-CN" sz="2800" dirty="0">
              <a:solidFill>
                <a:srgbClr val="FF33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88" name="Rectangle 83"/>
          <p:cNvSpPr/>
          <p:nvPr/>
        </p:nvSpPr>
        <p:spPr>
          <a:xfrm>
            <a:off x="6390480" y="2209874"/>
            <a:ext cx="285750" cy="427038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altLang="zh-CN" sz="2800" dirty="0">
                <a:solidFill>
                  <a:srgbClr val="FFFFFF"/>
                </a:solidFill>
                <a:latin typeface="Symbol" panose="05050102010706020507" pitchFamily="18" charset="2"/>
                <a:ea typeface="宋体" panose="02010600030101010101" pitchFamily="2" charset="-122"/>
              </a:rPr>
              <a:t> </a:t>
            </a:r>
            <a:r>
              <a:rPr lang="en-US" altLang="zh-CN" sz="2800" b="1" dirty="0">
                <a:solidFill>
                  <a:srgbClr val="FF3300"/>
                </a:solidFill>
                <a:latin typeface="Symbol" panose="05050102010706020507" pitchFamily="18" charset="2"/>
                <a:ea typeface="宋体" panose="02010600030101010101" pitchFamily="2" charset="-122"/>
              </a:rPr>
              <a:t>-</a:t>
            </a:r>
            <a:endParaRPr lang="en-US" altLang="zh-CN" sz="2800" dirty="0">
              <a:solidFill>
                <a:srgbClr val="FF33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04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04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05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205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500"/>
                            </p:stCondLst>
                            <p:childTnLst>
                              <p:par>
                                <p:cTn id="2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205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205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2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2052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2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2052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483" grpId="0"/>
      <p:bldP spid="20484" grpId="0"/>
      <p:bldP spid="20520" grpId="0" build="p"/>
      <p:bldP spid="20521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5" name="Rectangle 2"/>
          <p:cNvSpPr/>
          <p:nvPr/>
        </p:nvSpPr>
        <p:spPr>
          <a:xfrm>
            <a:off x="560388" y="457200"/>
            <a:ext cx="3935412" cy="685800"/>
          </a:xfrm>
          <a:prstGeom prst="rect">
            <a:avLst/>
          </a:prstGeom>
          <a:noFill/>
          <a:ln w="9525">
            <a:noFill/>
          </a:ln>
        </p:spPr>
        <p:txBody>
          <a:bodyPr lIns="91435" tIns="45718" rIns="91435" bIns="45718" anchor="t" anchorCtr="0"/>
          <a:lstStyle/>
          <a:p>
            <a:pPr marL="342900" indent="-342900">
              <a:spcBef>
                <a:spcPct val="20000"/>
              </a:spcBef>
              <a:buChar char="•"/>
            </a:pPr>
            <a:endParaRPr lang="zh-CN" altLang="zh-CN" sz="2800" b="1" dirty="0">
              <a:solidFill>
                <a:srgbClr val="FFFF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grpSp>
        <p:nvGrpSpPr>
          <p:cNvPr id="21507" name="Group 3"/>
          <p:cNvGrpSpPr/>
          <p:nvPr/>
        </p:nvGrpSpPr>
        <p:grpSpPr>
          <a:xfrm>
            <a:off x="5257800" y="762000"/>
            <a:ext cx="687388" cy="1600200"/>
            <a:chOff x="3743" y="733"/>
            <a:chExt cx="433" cy="1481"/>
          </a:xfrm>
        </p:grpSpPr>
        <p:sp>
          <p:nvSpPr>
            <p:cNvPr id="26627" name="Line 4"/>
            <p:cNvSpPr/>
            <p:nvPr/>
          </p:nvSpPr>
          <p:spPr>
            <a:xfrm rot="440138" flipH="1">
              <a:off x="3743" y="1488"/>
              <a:ext cx="276" cy="726"/>
            </a:xfrm>
            <a:prstGeom prst="line">
              <a:avLst/>
            </a:prstGeom>
            <a:ln w="57150" cap="flat" cmpd="sng">
              <a:solidFill>
                <a:srgbClr val="FF3300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26628" name="Line 5"/>
            <p:cNvSpPr/>
            <p:nvPr/>
          </p:nvSpPr>
          <p:spPr>
            <a:xfrm>
              <a:off x="3887" y="1501"/>
              <a:ext cx="191" cy="0"/>
            </a:xfrm>
            <a:prstGeom prst="line">
              <a:avLst/>
            </a:prstGeom>
            <a:ln w="57150" cap="flat" cmpd="sng">
              <a:solidFill>
                <a:srgbClr val="FF3300"/>
              </a:solidFill>
              <a:prstDash val="solid"/>
              <a:round/>
              <a:headEnd type="none" w="sm" len="sm"/>
              <a:tailEnd type="none" w="med" len="med"/>
            </a:ln>
          </p:spPr>
        </p:sp>
        <p:sp>
          <p:nvSpPr>
            <p:cNvPr id="26629" name="Line 6"/>
            <p:cNvSpPr/>
            <p:nvPr/>
          </p:nvSpPr>
          <p:spPr>
            <a:xfrm rot="843663" flipH="1">
              <a:off x="3971" y="733"/>
              <a:ext cx="205" cy="816"/>
            </a:xfrm>
            <a:prstGeom prst="line">
              <a:avLst/>
            </a:prstGeom>
            <a:ln w="57150" cap="flat" cmpd="sng">
              <a:solidFill>
                <a:srgbClr val="FF3300"/>
              </a:solidFill>
              <a:prstDash val="solid"/>
              <a:round/>
              <a:headEnd type="none" w="sm" len="sm"/>
              <a:tailEnd type="none" w="med" len="med"/>
            </a:ln>
          </p:spPr>
        </p:sp>
      </p:grpSp>
      <p:grpSp>
        <p:nvGrpSpPr>
          <p:cNvPr id="26630" name="Group 7"/>
          <p:cNvGrpSpPr/>
          <p:nvPr/>
        </p:nvGrpSpPr>
        <p:grpSpPr>
          <a:xfrm>
            <a:off x="228600" y="971550"/>
            <a:ext cx="3819525" cy="171450"/>
            <a:chOff x="144" y="612"/>
            <a:chExt cx="2406" cy="108"/>
          </a:xfrm>
        </p:grpSpPr>
        <p:pic>
          <p:nvPicPr>
            <p:cNvPr id="26631" name="Picture 8" descr="Green and Black Diamond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098" y="612"/>
              <a:ext cx="108" cy="108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26632" name="Picture 9" descr="Green and Black Diamond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200" y="612"/>
              <a:ext cx="108" cy="108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26633" name="Picture 10" descr="Green and Black Diamond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296" y="612"/>
              <a:ext cx="108" cy="108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26634" name="Picture 11" descr="Green and Black Diamond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386" y="612"/>
              <a:ext cx="108" cy="108"/>
            </a:xfrm>
            <a:prstGeom prst="rect">
              <a:avLst/>
            </a:prstGeom>
            <a:noFill/>
            <a:ln w="9525">
              <a:noFill/>
            </a:ln>
          </p:spPr>
        </p:pic>
        <p:grpSp>
          <p:nvGrpSpPr>
            <p:cNvPr id="26635" name="Group 12"/>
            <p:cNvGrpSpPr/>
            <p:nvPr/>
          </p:nvGrpSpPr>
          <p:grpSpPr>
            <a:xfrm>
              <a:off x="144" y="612"/>
              <a:ext cx="876" cy="108"/>
              <a:chOff x="858" y="672"/>
              <a:chExt cx="876" cy="108"/>
            </a:xfrm>
          </p:grpSpPr>
          <p:pic>
            <p:nvPicPr>
              <p:cNvPr id="26636" name="Picture 13" descr="Green and Black Diamond"/>
              <p:cNvPicPr>
                <a:picLocks noChangeAspect="1"/>
              </p:cNvPicPr>
              <p:nvPr/>
            </p:nvPicPr>
            <p:blipFill>
              <a:blip r:embed="rId2" cstate="print"/>
              <a:stretch>
                <a:fillRect/>
              </a:stretch>
            </p:blipFill>
            <p:spPr>
              <a:xfrm>
                <a:off x="858" y="672"/>
                <a:ext cx="108" cy="108"/>
              </a:xfrm>
              <a:prstGeom prst="rect">
                <a:avLst/>
              </a:prstGeom>
              <a:noFill/>
              <a:ln w="9525">
                <a:noFill/>
              </a:ln>
            </p:spPr>
          </p:pic>
          <p:pic>
            <p:nvPicPr>
              <p:cNvPr id="26637" name="Picture 14" descr="Green and Black Diamond"/>
              <p:cNvPicPr>
                <a:picLocks noChangeAspect="1"/>
              </p:cNvPicPr>
              <p:nvPr/>
            </p:nvPicPr>
            <p:blipFill>
              <a:blip r:embed="rId2" cstate="print"/>
              <a:stretch>
                <a:fillRect/>
              </a:stretch>
            </p:blipFill>
            <p:spPr>
              <a:xfrm>
                <a:off x="948" y="672"/>
                <a:ext cx="108" cy="108"/>
              </a:xfrm>
              <a:prstGeom prst="rect">
                <a:avLst/>
              </a:prstGeom>
              <a:noFill/>
              <a:ln w="9525">
                <a:noFill/>
              </a:ln>
            </p:spPr>
          </p:pic>
          <p:pic>
            <p:nvPicPr>
              <p:cNvPr id="26638" name="Picture 15" descr="Green and Black Diamond"/>
              <p:cNvPicPr>
                <a:picLocks noChangeAspect="1"/>
              </p:cNvPicPr>
              <p:nvPr/>
            </p:nvPicPr>
            <p:blipFill>
              <a:blip r:embed="rId2" cstate="print"/>
              <a:stretch>
                <a:fillRect/>
              </a:stretch>
            </p:blipFill>
            <p:spPr>
              <a:xfrm>
                <a:off x="1050" y="672"/>
                <a:ext cx="108" cy="108"/>
              </a:xfrm>
              <a:prstGeom prst="rect">
                <a:avLst/>
              </a:prstGeom>
              <a:noFill/>
              <a:ln w="9525">
                <a:noFill/>
              </a:ln>
            </p:spPr>
          </p:pic>
          <p:pic>
            <p:nvPicPr>
              <p:cNvPr id="26639" name="Picture 16" descr="Green and Black Diamond"/>
              <p:cNvPicPr>
                <a:picLocks noChangeAspect="1"/>
              </p:cNvPicPr>
              <p:nvPr/>
            </p:nvPicPr>
            <p:blipFill>
              <a:blip r:embed="rId2" cstate="print"/>
              <a:stretch>
                <a:fillRect/>
              </a:stretch>
            </p:blipFill>
            <p:spPr>
              <a:xfrm>
                <a:off x="1236" y="672"/>
                <a:ext cx="108" cy="108"/>
              </a:xfrm>
              <a:prstGeom prst="rect">
                <a:avLst/>
              </a:prstGeom>
              <a:noFill/>
              <a:ln w="9525">
                <a:noFill/>
              </a:ln>
            </p:spPr>
          </p:pic>
          <p:pic>
            <p:nvPicPr>
              <p:cNvPr id="26640" name="Picture 17" descr="Green and Black Diamond"/>
              <p:cNvPicPr>
                <a:picLocks noChangeAspect="1"/>
              </p:cNvPicPr>
              <p:nvPr/>
            </p:nvPicPr>
            <p:blipFill>
              <a:blip r:embed="rId2" cstate="print"/>
              <a:stretch>
                <a:fillRect/>
              </a:stretch>
            </p:blipFill>
            <p:spPr>
              <a:xfrm>
                <a:off x="1338" y="672"/>
                <a:ext cx="108" cy="108"/>
              </a:xfrm>
              <a:prstGeom prst="rect">
                <a:avLst/>
              </a:prstGeom>
              <a:noFill/>
              <a:ln w="9525">
                <a:noFill/>
              </a:ln>
            </p:spPr>
          </p:pic>
          <p:pic>
            <p:nvPicPr>
              <p:cNvPr id="26641" name="Picture 18" descr="Green and Black Diamond"/>
              <p:cNvPicPr>
                <a:picLocks noChangeAspect="1"/>
              </p:cNvPicPr>
              <p:nvPr/>
            </p:nvPicPr>
            <p:blipFill>
              <a:blip r:embed="rId2" cstate="print"/>
              <a:stretch>
                <a:fillRect/>
              </a:stretch>
            </p:blipFill>
            <p:spPr>
              <a:xfrm>
                <a:off x="1434" y="672"/>
                <a:ext cx="108" cy="108"/>
              </a:xfrm>
              <a:prstGeom prst="rect">
                <a:avLst/>
              </a:prstGeom>
              <a:noFill/>
              <a:ln w="9525">
                <a:noFill/>
              </a:ln>
            </p:spPr>
          </p:pic>
          <p:pic>
            <p:nvPicPr>
              <p:cNvPr id="26642" name="Picture 19" descr="Green and Black Diamond"/>
              <p:cNvPicPr>
                <a:picLocks noChangeAspect="1"/>
              </p:cNvPicPr>
              <p:nvPr/>
            </p:nvPicPr>
            <p:blipFill>
              <a:blip r:embed="rId2" cstate="print"/>
              <a:stretch>
                <a:fillRect/>
              </a:stretch>
            </p:blipFill>
            <p:spPr>
              <a:xfrm>
                <a:off x="1524" y="672"/>
                <a:ext cx="108" cy="108"/>
              </a:xfrm>
              <a:prstGeom prst="rect">
                <a:avLst/>
              </a:prstGeom>
              <a:noFill/>
              <a:ln w="9525">
                <a:noFill/>
              </a:ln>
            </p:spPr>
          </p:pic>
          <p:pic>
            <p:nvPicPr>
              <p:cNvPr id="26643" name="Picture 20" descr="Green and Black Diamond"/>
              <p:cNvPicPr>
                <a:picLocks noChangeAspect="1"/>
              </p:cNvPicPr>
              <p:nvPr/>
            </p:nvPicPr>
            <p:blipFill>
              <a:blip r:embed="rId2" cstate="print"/>
              <a:stretch>
                <a:fillRect/>
              </a:stretch>
            </p:blipFill>
            <p:spPr>
              <a:xfrm>
                <a:off x="1626" y="672"/>
                <a:ext cx="108" cy="108"/>
              </a:xfrm>
              <a:prstGeom prst="rect">
                <a:avLst/>
              </a:prstGeom>
              <a:noFill/>
              <a:ln w="9525">
                <a:noFill/>
              </a:ln>
            </p:spPr>
          </p:pic>
          <p:pic>
            <p:nvPicPr>
              <p:cNvPr id="26644" name="Picture 21" descr="Green and Black Diamond"/>
              <p:cNvPicPr>
                <a:picLocks noChangeAspect="1"/>
              </p:cNvPicPr>
              <p:nvPr/>
            </p:nvPicPr>
            <p:blipFill>
              <a:blip r:embed="rId2" cstate="print"/>
              <a:stretch>
                <a:fillRect/>
              </a:stretch>
            </p:blipFill>
            <p:spPr>
              <a:xfrm>
                <a:off x="1146" y="672"/>
                <a:ext cx="108" cy="108"/>
              </a:xfrm>
              <a:prstGeom prst="rect">
                <a:avLst/>
              </a:prstGeom>
              <a:noFill/>
              <a:ln w="9525">
                <a:noFill/>
              </a:ln>
            </p:spPr>
          </p:pic>
        </p:grpSp>
        <p:pic>
          <p:nvPicPr>
            <p:cNvPr id="26645" name="Picture 22" descr="Green and Black Diamond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008" y="612"/>
              <a:ext cx="108" cy="108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26646" name="Picture 23" descr="Green and Black Diamond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488" y="612"/>
              <a:ext cx="102" cy="102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26647" name="Picture 24" descr="Green and Black Diamond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584" y="612"/>
              <a:ext cx="102" cy="102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26648" name="Picture 25" descr="Green and Black Diamond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674" y="612"/>
              <a:ext cx="102" cy="102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26649" name="Picture 26" descr="Green and Black Diamond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776" y="612"/>
              <a:ext cx="102" cy="102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26650" name="Picture 27" descr="Green and Black Diamond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872" y="612"/>
              <a:ext cx="102" cy="102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26651" name="Picture 28" descr="Green and Black Diamond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962" y="612"/>
              <a:ext cx="102" cy="102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26652" name="Picture 29" descr="Green and Black Diamond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064" y="612"/>
              <a:ext cx="102" cy="102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26653" name="Picture 30" descr="Green and Black Diamond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250" y="612"/>
              <a:ext cx="102" cy="102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26654" name="Picture 31" descr="Green and Black Diamond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352" y="612"/>
              <a:ext cx="102" cy="102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26655" name="Picture 32" descr="Green and Black Diamond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448" y="612"/>
              <a:ext cx="102" cy="102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26656" name="Picture 33" descr="Green and Black Diamond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160" y="612"/>
              <a:ext cx="102" cy="102"/>
            </a:xfrm>
            <a:prstGeom prst="rect">
              <a:avLst/>
            </a:prstGeom>
            <a:noFill/>
            <a:ln w="9525">
              <a:noFill/>
            </a:ln>
          </p:spPr>
        </p:pic>
      </p:grpSp>
      <p:sp>
        <p:nvSpPr>
          <p:cNvPr id="21538" name="Text Box 34"/>
          <p:cNvSpPr txBox="1"/>
          <p:nvPr/>
        </p:nvSpPr>
        <p:spPr>
          <a:xfrm>
            <a:off x="457200" y="1066800"/>
            <a:ext cx="3581400" cy="519113"/>
          </a:xfrm>
          <a:prstGeom prst="rect">
            <a:avLst/>
          </a:prstGeom>
          <a:noFill/>
          <a:ln w="38100">
            <a:noFill/>
          </a:ln>
        </p:spPr>
        <p:txBody>
          <a:bodyPr lIns="91435" tIns="45718" rIns="91435" bIns="45718" anchor="ctr" anchorCtr="0">
            <a:spAutoFit/>
          </a:bodyPr>
          <a:lstStyle/>
          <a:p>
            <a:pPr algn="ctr"/>
            <a:r>
              <a:rPr lang="zh-CN" altLang="en-US" sz="2800" b="1" dirty="0">
                <a:latin typeface="Times New Roman" panose="02020603050405020304" pitchFamily="18" charset="0"/>
                <a:ea typeface="宋体" panose="02010600030101010101" pitchFamily="2" charset="-122"/>
              </a:rPr>
              <a:t>电源外部端子被短接</a:t>
            </a:r>
          </a:p>
        </p:txBody>
      </p:sp>
      <p:sp>
        <p:nvSpPr>
          <p:cNvPr id="21539" name="Rectangle 35"/>
          <p:cNvSpPr>
            <a:spLocks noChangeArrowheads="1"/>
          </p:cNvSpPr>
          <p:nvPr/>
        </p:nvSpPr>
        <p:spPr bwMode="auto">
          <a:xfrm>
            <a:off x="609600" y="304800"/>
            <a:ext cx="3276600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1435" tIns="45718" rIns="91435" bIns="45718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3600" b="1" i="0" u="none" strike="noStrike" kern="1200" cap="none" spc="0" normalizeH="0" baseline="0" noProof="0">
                <a:ln>
                  <a:noFill/>
                </a:ln>
                <a:solidFill>
                  <a:srgbClr val="CC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华文新魏" panose="02010800040101010101" pitchFamily="2" charset="-122"/>
                <a:cs typeface="+mn-cs"/>
              </a:rPr>
              <a:t>1.5.3</a:t>
            </a:r>
            <a:r>
              <a:rPr kumimoji="1" lang="en-US" altLang="zh-CN" sz="3600" b="1" i="0" u="none" strike="noStrike" kern="1200" cap="none" spc="0" normalizeH="0" baseline="0" noProof="0">
                <a:ln>
                  <a:noFill/>
                </a:ln>
                <a:solidFill>
                  <a:srgbClr val="CC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rPr>
              <a:t>  </a:t>
            </a:r>
            <a:r>
              <a:rPr kumimoji="1" lang="zh-CN" altLang="en-US" sz="3600" b="1" i="0" u="none" strike="noStrike" kern="1200" cap="none" spc="0" normalizeH="0" baseline="0" noProof="0">
                <a:ln>
                  <a:noFill/>
                </a:ln>
                <a:solidFill>
                  <a:srgbClr val="CC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rPr>
              <a:t>电源短路</a:t>
            </a:r>
          </a:p>
        </p:txBody>
      </p:sp>
      <p:sp>
        <p:nvSpPr>
          <p:cNvPr id="21551" name="Text Box 47"/>
          <p:cNvSpPr txBox="1"/>
          <p:nvPr/>
        </p:nvSpPr>
        <p:spPr>
          <a:xfrm>
            <a:off x="803275" y="4840288"/>
            <a:ext cx="6838950" cy="1458912"/>
          </a:xfrm>
          <a:prstGeom prst="rect">
            <a:avLst/>
          </a:prstGeom>
          <a:noFill/>
          <a:ln w="38100">
            <a:noFill/>
          </a:ln>
        </p:spPr>
        <p:txBody>
          <a:bodyPr lIns="91435" tIns="45718" rIns="91435" bIns="45718" anchor="ctr" anchorCtr="0">
            <a:spAutoFit/>
          </a:bodyPr>
          <a:lstStyle/>
          <a:p>
            <a:pPr>
              <a:spcBef>
                <a:spcPct val="10000"/>
              </a:spcBef>
            </a:pPr>
            <a:r>
              <a:rPr lang="en-US" altLang="zh-CN" sz="2800" b="1" dirty="0">
                <a:latin typeface="宋体" panose="02010600030101010101" pitchFamily="2" charset="-122"/>
                <a:ea typeface="宋体" panose="02010600030101010101" pitchFamily="2" charset="-122"/>
              </a:rPr>
              <a:t>1.</a:t>
            </a:r>
            <a:r>
              <a:rPr lang="en-US" altLang="zh-CN" sz="2800" b="1" dirty="0">
                <a:latin typeface="Times New Roman" panose="02020603050405020304" pitchFamily="18" charset="0"/>
                <a:ea typeface="宋体" panose="02010600030101010101" pitchFamily="2" charset="-122"/>
              </a:rPr>
              <a:t>  </a:t>
            </a:r>
            <a:r>
              <a:rPr lang="zh-CN" altLang="en-US" sz="2800" b="1" dirty="0">
                <a:latin typeface="Times New Roman" panose="02020603050405020304" pitchFamily="18" charset="0"/>
                <a:ea typeface="宋体" panose="02010600030101010101" pitchFamily="2" charset="-122"/>
              </a:rPr>
              <a:t>短路处的电压等于零；</a:t>
            </a:r>
          </a:p>
          <a:p>
            <a:pPr>
              <a:spcBef>
                <a:spcPct val="10000"/>
              </a:spcBef>
            </a:pPr>
            <a:r>
              <a:rPr lang="zh-CN" altLang="en-US" sz="2800" b="1" dirty="0">
                <a:latin typeface="Times New Roman" panose="02020603050405020304" pitchFamily="18" charset="0"/>
                <a:ea typeface="宋体" panose="02010600030101010101" pitchFamily="2" charset="-122"/>
              </a:rPr>
              <a:t>      </a:t>
            </a:r>
            <a:r>
              <a:rPr lang="en-US" altLang="zh-CN" sz="2800" b="1" i="1" dirty="0">
                <a:solidFill>
                  <a:srgbClr val="FF0000"/>
                </a:solidFill>
                <a:highlight>
                  <a:srgbClr val="FFFF00"/>
                </a:highlight>
                <a:latin typeface="Times New Roman" panose="02020603050405020304" pitchFamily="18" charset="0"/>
                <a:ea typeface="宋体" panose="02010600030101010101" pitchFamily="2" charset="-122"/>
              </a:rPr>
              <a:t>U</a:t>
            </a:r>
            <a:r>
              <a:rPr lang="en-US" altLang="zh-CN" sz="2800" b="1" baseline="-25000" dirty="0">
                <a:solidFill>
                  <a:srgbClr val="FF0000"/>
                </a:solidFill>
                <a:highlight>
                  <a:srgbClr val="FFFF00"/>
                </a:highlight>
                <a:latin typeface="Times New Roman" panose="02020603050405020304" pitchFamily="18" charset="0"/>
                <a:ea typeface="宋体" panose="02010600030101010101" pitchFamily="2" charset="-122"/>
              </a:rPr>
              <a:t>  </a:t>
            </a:r>
            <a:r>
              <a:rPr lang="en-US" altLang="zh-CN" sz="2800" b="1" dirty="0">
                <a:solidFill>
                  <a:srgbClr val="FF0000"/>
                </a:solidFill>
                <a:highlight>
                  <a:srgbClr val="FFFF00"/>
                </a:highlight>
                <a:latin typeface="Times New Roman" panose="02020603050405020304" pitchFamily="18" charset="0"/>
                <a:ea typeface="宋体" panose="02010600030101010101" pitchFamily="2" charset="-122"/>
              </a:rPr>
              <a:t>= 0</a:t>
            </a:r>
            <a:endParaRPr lang="en-US" altLang="zh-CN" sz="2800" b="1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>
              <a:spcBef>
                <a:spcPct val="10000"/>
              </a:spcBef>
            </a:pPr>
            <a:r>
              <a:rPr lang="en-US" altLang="zh-CN" sz="2800" b="1" dirty="0">
                <a:latin typeface="宋体" panose="02010600030101010101" pitchFamily="2" charset="-122"/>
                <a:ea typeface="宋体" panose="02010600030101010101" pitchFamily="2" charset="-122"/>
              </a:rPr>
              <a:t>2. </a:t>
            </a:r>
            <a:r>
              <a:rPr lang="zh-CN" altLang="en-US" sz="2800" b="1" dirty="0">
                <a:latin typeface="Times New Roman" panose="02020603050405020304" pitchFamily="18" charset="0"/>
                <a:ea typeface="宋体" panose="02010600030101010101" pitchFamily="2" charset="-122"/>
              </a:rPr>
              <a:t>短路处的电流 </a:t>
            </a:r>
            <a:r>
              <a:rPr lang="en-US" altLang="zh-CN" sz="2800" b="1" i="1" dirty="0">
                <a:latin typeface="Times New Roman" panose="02020603050405020304" pitchFamily="18" charset="0"/>
                <a:ea typeface="宋体" panose="02010600030101010101" pitchFamily="2" charset="-122"/>
              </a:rPr>
              <a:t>I </a:t>
            </a:r>
            <a:r>
              <a:rPr lang="zh-CN" altLang="en-US" sz="2800" b="1" dirty="0">
                <a:latin typeface="Times New Roman" panose="02020603050405020304" pitchFamily="18" charset="0"/>
                <a:ea typeface="宋体" panose="02010600030101010101" pitchFamily="2" charset="-122"/>
              </a:rPr>
              <a:t>视电路情况而定。</a:t>
            </a:r>
          </a:p>
        </p:txBody>
      </p:sp>
      <p:sp>
        <p:nvSpPr>
          <p:cNvPr id="21552" name="Text Box 48"/>
          <p:cNvSpPr txBox="1">
            <a:spLocks noChangeArrowheads="1"/>
          </p:cNvSpPr>
          <p:nvPr/>
        </p:nvSpPr>
        <p:spPr bwMode="auto">
          <a:xfrm>
            <a:off x="617538" y="4241800"/>
            <a:ext cx="42926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FF0000"/>
                </a:solidFill>
                <a:miter lim="800000"/>
                <a:headEnd type="none" w="sm" len="sm"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35" tIns="45718" rIns="91435" bIns="45718" anchor="ctr">
            <a:spAutoFit/>
          </a:bodyPr>
          <a:lstStyle/>
          <a:p>
            <a:pPr marR="0" algn="ctr" defTabSz="914400">
              <a:buClrTx/>
              <a:buSzTx/>
              <a:buFontTx/>
              <a:buNone/>
              <a:defRPr/>
            </a:pPr>
            <a:r>
              <a:rPr kumimoji="1" lang="zh-CN" altLang="en-US" sz="2800" b="1" kern="1200" cap="none" spc="0" normalizeH="0" baseline="0" noProof="0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电路中某处短路时的特征</a:t>
            </a:r>
            <a:r>
              <a:rPr kumimoji="1" lang="en-US" altLang="zh-CN" sz="2800" b="1" kern="1200" cap="none" spc="0" normalizeH="0" baseline="0" noProof="0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:</a:t>
            </a:r>
            <a:endParaRPr kumimoji="1" lang="en-US" altLang="zh-CN" sz="2800" b="1" kern="1200" cap="none" spc="0" normalizeH="0" baseline="0" noProof="0">
              <a:solidFill>
                <a:srgbClr val="000099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21553" name="Group 49"/>
          <p:cNvGrpSpPr/>
          <p:nvPr/>
        </p:nvGrpSpPr>
        <p:grpSpPr>
          <a:xfrm>
            <a:off x="5632450" y="4143375"/>
            <a:ext cx="2511425" cy="1535113"/>
            <a:chOff x="3548" y="2610"/>
            <a:chExt cx="1582" cy="967"/>
          </a:xfrm>
        </p:grpSpPr>
        <p:sp>
          <p:nvSpPr>
            <p:cNvPr id="26673" name="Line 50"/>
            <p:cNvSpPr/>
            <p:nvPr/>
          </p:nvSpPr>
          <p:spPr>
            <a:xfrm>
              <a:off x="4172" y="2937"/>
              <a:ext cx="624" cy="0"/>
            </a:xfrm>
            <a:prstGeom prst="line">
              <a:avLst/>
            </a:prstGeom>
            <a:ln w="3810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26674" name="Line 51"/>
            <p:cNvSpPr/>
            <p:nvPr/>
          </p:nvSpPr>
          <p:spPr>
            <a:xfrm flipV="1">
              <a:off x="4172" y="3417"/>
              <a:ext cx="624" cy="0"/>
            </a:xfrm>
            <a:prstGeom prst="line">
              <a:avLst/>
            </a:prstGeom>
            <a:ln w="3810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26675" name="Oval 52"/>
            <p:cNvSpPr/>
            <p:nvPr/>
          </p:nvSpPr>
          <p:spPr>
            <a:xfrm>
              <a:off x="4790" y="2914"/>
              <a:ext cx="54" cy="54"/>
            </a:xfrm>
            <a:prstGeom prst="ellipse">
              <a:avLst/>
            </a:prstGeom>
            <a:noFill/>
            <a:ln w="3810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lstStyle/>
            <a:p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6676" name="Oval 53"/>
            <p:cNvSpPr/>
            <p:nvPr/>
          </p:nvSpPr>
          <p:spPr>
            <a:xfrm>
              <a:off x="4790" y="3392"/>
              <a:ext cx="54" cy="54"/>
            </a:xfrm>
            <a:prstGeom prst="ellipse">
              <a:avLst/>
            </a:prstGeom>
            <a:noFill/>
            <a:ln w="3810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lstStyle/>
            <a:p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6677" name="Line 54"/>
            <p:cNvSpPr/>
            <p:nvPr/>
          </p:nvSpPr>
          <p:spPr>
            <a:xfrm>
              <a:off x="4412" y="2889"/>
              <a:ext cx="288" cy="0"/>
            </a:xfrm>
            <a:prstGeom prst="line">
              <a:avLst/>
            </a:prstGeom>
            <a:ln w="38100" cap="flat" cmpd="sng">
              <a:solidFill>
                <a:srgbClr val="FF0000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26678" name="Text Box 55"/>
            <p:cNvSpPr txBox="1"/>
            <p:nvPr/>
          </p:nvSpPr>
          <p:spPr>
            <a:xfrm>
              <a:off x="4407" y="2610"/>
              <a:ext cx="245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91435" tIns="45718" rIns="91435" bIns="45718" anchor="t" anchorCtr="0">
              <a:spAutoFit/>
            </a:bodyPr>
            <a:lstStyle/>
            <a:p>
              <a:pPr algn="ctr"/>
              <a:r>
                <a:rPr lang="en-US" altLang="zh-CN" sz="2800" b="1" i="1" dirty="0">
                  <a:solidFill>
                    <a:srgbClr val="FF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I</a:t>
              </a:r>
            </a:p>
          </p:txBody>
        </p:sp>
        <p:sp>
          <p:nvSpPr>
            <p:cNvPr id="26679" name="Text Box 56"/>
            <p:cNvSpPr txBox="1"/>
            <p:nvPr/>
          </p:nvSpPr>
          <p:spPr>
            <a:xfrm>
              <a:off x="4886" y="2793"/>
              <a:ext cx="244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91435" tIns="45718" rIns="91435" bIns="45718" anchor="t" anchorCtr="0">
              <a:spAutoFit/>
            </a:bodyPr>
            <a:lstStyle/>
            <a:p>
              <a:pPr algn="ctr"/>
              <a:r>
                <a:rPr lang="en-US" altLang="zh-CN" sz="2800" b="1" i="1" dirty="0">
                  <a:solidFill>
                    <a:srgbClr val="FF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+</a:t>
              </a:r>
            </a:p>
          </p:txBody>
        </p:sp>
        <p:sp>
          <p:nvSpPr>
            <p:cNvPr id="26680" name="Text Box 57"/>
            <p:cNvSpPr txBox="1"/>
            <p:nvPr/>
          </p:nvSpPr>
          <p:spPr>
            <a:xfrm>
              <a:off x="4898" y="3225"/>
              <a:ext cx="228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91435" tIns="45718" rIns="91435" bIns="45718" anchor="t" anchorCtr="0">
              <a:spAutoFit/>
            </a:bodyPr>
            <a:lstStyle/>
            <a:p>
              <a:pPr algn="ctr"/>
              <a:r>
                <a:rPr lang="en-US" altLang="zh-CN" sz="2800" b="1" i="1" dirty="0">
                  <a:solidFill>
                    <a:srgbClr val="FF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–</a:t>
              </a:r>
            </a:p>
          </p:txBody>
        </p:sp>
        <p:sp>
          <p:nvSpPr>
            <p:cNvPr id="26681" name="Text Box 58"/>
            <p:cNvSpPr txBox="1"/>
            <p:nvPr/>
          </p:nvSpPr>
          <p:spPr>
            <a:xfrm>
              <a:off x="4848" y="3033"/>
              <a:ext cx="278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91435" tIns="45718" rIns="91435" bIns="45718" anchor="t" anchorCtr="0">
              <a:spAutoFit/>
            </a:bodyPr>
            <a:lstStyle/>
            <a:p>
              <a:pPr algn="ctr"/>
              <a:r>
                <a:rPr lang="en-US" altLang="zh-CN" sz="2800" b="1" i="1" dirty="0">
                  <a:solidFill>
                    <a:srgbClr val="FF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U</a:t>
              </a:r>
            </a:p>
          </p:txBody>
        </p:sp>
        <p:sp>
          <p:nvSpPr>
            <p:cNvPr id="26682" name="Text Box 59"/>
            <p:cNvSpPr txBox="1"/>
            <p:nvPr/>
          </p:nvSpPr>
          <p:spPr>
            <a:xfrm>
              <a:off x="3548" y="2667"/>
              <a:ext cx="624" cy="910"/>
            </a:xfrm>
            <a:prstGeom prst="rect">
              <a:avLst/>
            </a:prstGeom>
            <a:noFill/>
            <a:ln w="381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lIns="91435" tIns="45718" rIns="91435" bIns="45718" anchor="t" anchorCtr="0">
              <a:spAutoFit/>
            </a:bodyPr>
            <a:lstStyle/>
            <a:p>
              <a:pPr algn="ctr">
                <a:lnSpc>
                  <a:spcPct val="90000"/>
                </a:lnSpc>
              </a:pPr>
              <a:r>
                <a:rPr lang="zh-CN" altLang="en-US" b="1" dirty="0">
                  <a:latin typeface="Times New Roman" panose="02020603050405020304" pitchFamily="18" charset="0"/>
                  <a:ea typeface="宋体" panose="02010600030101010101" pitchFamily="2" charset="-122"/>
                </a:rPr>
                <a:t>有</a:t>
              </a:r>
            </a:p>
            <a:p>
              <a:pPr algn="ctr">
                <a:lnSpc>
                  <a:spcPct val="90000"/>
                </a:lnSpc>
              </a:pPr>
              <a:r>
                <a:rPr lang="zh-CN" altLang="en-US" b="1" dirty="0">
                  <a:latin typeface="Times New Roman" panose="02020603050405020304" pitchFamily="18" charset="0"/>
                  <a:ea typeface="宋体" panose="02010600030101010101" pitchFamily="2" charset="-122"/>
                </a:rPr>
                <a:t>源</a:t>
              </a:r>
            </a:p>
            <a:p>
              <a:pPr algn="ctr">
                <a:lnSpc>
                  <a:spcPct val="90000"/>
                </a:lnSpc>
              </a:pPr>
              <a:r>
                <a:rPr lang="zh-CN" altLang="en-US" b="1" dirty="0">
                  <a:latin typeface="Times New Roman" panose="02020603050405020304" pitchFamily="18" charset="0"/>
                  <a:ea typeface="宋体" panose="02010600030101010101" pitchFamily="2" charset="-122"/>
                </a:rPr>
                <a:t>电</a:t>
              </a:r>
            </a:p>
            <a:p>
              <a:pPr algn="ctr">
                <a:lnSpc>
                  <a:spcPct val="90000"/>
                </a:lnSpc>
              </a:pPr>
              <a:r>
                <a:rPr lang="zh-CN" altLang="en-US" b="1" dirty="0">
                  <a:latin typeface="Times New Roman" panose="02020603050405020304" pitchFamily="18" charset="0"/>
                  <a:ea typeface="宋体" panose="02010600030101010101" pitchFamily="2" charset="-122"/>
                </a:rPr>
                <a:t>路</a:t>
              </a:r>
              <a:endParaRPr lang="zh-CN" altLang="en-US" sz="2800" b="1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6683" name="Line 60"/>
            <p:cNvSpPr/>
            <p:nvPr/>
          </p:nvSpPr>
          <p:spPr>
            <a:xfrm>
              <a:off x="4821" y="2976"/>
              <a:ext cx="0" cy="406"/>
            </a:xfrm>
            <a:prstGeom prst="line">
              <a:avLst/>
            </a:prstGeom>
            <a:ln w="38100" cap="flat" cmpd="sng">
              <a:solidFill>
                <a:srgbClr val="003399"/>
              </a:solidFill>
              <a:prstDash val="solid"/>
              <a:round/>
              <a:headEnd type="none" w="med" len="med"/>
              <a:tailEnd type="none" w="med" len="med"/>
            </a:ln>
          </p:spPr>
        </p:sp>
      </p:grpSp>
      <p:grpSp>
        <p:nvGrpSpPr>
          <p:cNvPr id="26684" name="Group 61"/>
          <p:cNvGrpSpPr/>
          <p:nvPr/>
        </p:nvGrpSpPr>
        <p:grpSpPr>
          <a:xfrm>
            <a:off x="4349750" y="263525"/>
            <a:ext cx="3956050" cy="2098675"/>
            <a:chOff x="2884" y="356"/>
            <a:chExt cx="2492" cy="1322"/>
          </a:xfrm>
        </p:grpSpPr>
        <p:sp>
          <p:nvSpPr>
            <p:cNvPr id="26685" name="Text Box 62"/>
            <p:cNvSpPr txBox="1"/>
            <p:nvPr/>
          </p:nvSpPr>
          <p:spPr>
            <a:xfrm>
              <a:off x="3472" y="356"/>
              <a:ext cx="226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91435" tIns="45718" rIns="91435" bIns="45718" anchor="ctr" anchorCtr="0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zh-CN" sz="2800" b="1" i="1" dirty="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I</a:t>
              </a:r>
            </a:p>
          </p:txBody>
        </p:sp>
        <p:sp>
          <p:nvSpPr>
            <p:cNvPr id="26686" name="Oval 63"/>
            <p:cNvSpPr/>
            <p:nvPr/>
          </p:nvSpPr>
          <p:spPr>
            <a:xfrm>
              <a:off x="3153" y="848"/>
              <a:ext cx="266" cy="243"/>
            </a:xfrm>
            <a:prstGeom prst="ellipse">
              <a:avLst/>
            </a:prstGeom>
            <a:noFill/>
            <a:ln w="3810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t" anchorCtr="0"/>
            <a:lstStyle/>
            <a:p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6687" name="Rectangle 64"/>
            <p:cNvSpPr/>
            <p:nvPr/>
          </p:nvSpPr>
          <p:spPr>
            <a:xfrm>
              <a:off x="3219" y="1209"/>
              <a:ext cx="107" cy="261"/>
            </a:xfrm>
            <a:prstGeom prst="rect">
              <a:avLst/>
            </a:prstGeom>
            <a:noFill/>
            <a:ln w="38100" cap="flat" cmpd="sng">
              <a:solidFill>
                <a:srgbClr val="00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anchor="t" anchorCtr="0"/>
            <a:lstStyle/>
            <a:p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6688" name="Rectangle 65"/>
            <p:cNvSpPr/>
            <p:nvPr/>
          </p:nvSpPr>
          <p:spPr>
            <a:xfrm>
              <a:off x="5037" y="1071"/>
              <a:ext cx="108" cy="254"/>
            </a:xfrm>
            <a:prstGeom prst="rect">
              <a:avLst/>
            </a:prstGeom>
            <a:noFill/>
            <a:ln w="38100" cap="flat" cmpd="sng">
              <a:solidFill>
                <a:srgbClr val="00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anchor="t" anchorCtr="0"/>
            <a:lstStyle/>
            <a:p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6689" name="Line 66"/>
            <p:cNvSpPr/>
            <p:nvPr/>
          </p:nvSpPr>
          <p:spPr>
            <a:xfrm flipV="1">
              <a:off x="3273" y="729"/>
              <a:ext cx="806" cy="0"/>
            </a:xfrm>
            <a:prstGeom prst="line">
              <a:avLst/>
            </a:prstGeom>
            <a:ln w="3810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26690" name="Line 67"/>
            <p:cNvSpPr/>
            <p:nvPr/>
          </p:nvSpPr>
          <p:spPr>
            <a:xfrm>
              <a:off x="5092" y="729"/>
              <a:ext cx="0" cy="342"/>
            </a:xfrm>
            <a:prstGeom prst="line">
              <a:avLst/>
            </a:prstGeom>
            <a:ln w="3810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26691" name="Line 68"/>
            <p:cNvSpPr/>
            <p:nvPr/>
          </p:nvSpPr>
          <p:spPr>
            <a:xfrm>
              <a:off x="5092" y="1557"/>
              <a:ext cx="0" cy="87"/>
            </a:xfrm>
            <a:prstGeom prst="line">
              <a:avLst/>
            </a:prstGeom>
            <a:ln w="39688" cap="flat" cmpd="sng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26692" name="Line 69"/>
            <p:cNvSpPr/>
            <p:nvPr/>
          </p:nvSpPr>
          <p:spPr>
            <a:xfrm>
              <a:off x="5092" y="1325"/>
              <a:ext cx="0" cy="348"/>
            </a:xfrm>
            <a:prstGeom prst="line">
              <a:avLst/>
            </a:prstGeom>
            <a:ln w="3810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26693" name="Line 70"/>
            <p:cNvSpPr/>
            <p:nvPr/>
          </p:nvSpPr>
          <p:spPr>
            <a:xfrm>
              <a:off x="3273" y="729"/>
              <a:ext cx="0" cy="0"/>
            </a:xfrm>
            <a:prstGeom prst="line">
              <a:avLst/>
            </a:prstGeom>
            <a:ln w="19050" cap="flat" cmpd="sng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26694" name="Line 71"/>
            <p:cNvSpPr/>
            <p:nvPr/>
          </p:nvSpPr>
          <p:spPr>
            <a:xfrm>
              <a:off x="3273" y="729"/>
              <a:ext cx="0" cy="480"/>
            </a:xfrm>
            <a:prstGeom prst="line">
              <a:avLst/>
            </a:prstGeom>
            <a:ln w="3810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26695" name="Rectangle 72"/>
            <p:cNvSpPr/>
            <p:nvPr/>
          </p:nvSpPr>
          <p:spPr>
            <a:xfrm>
              <a:off x="4346" y="1295"/>
              <a:ext cx="156" cy="218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/>
            <a:lstStyle/>
            <a:p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6696" name="Rectangle 73"/>
            <p:cNvSpPr/>
            <p:nvPr/>
          </p:nvSpPr>
          <p:spPr>
            <a:xfrm>
              <a:off x="2962" y="1267"/>
              <a:ext cx="225" cy="269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altLang="zh-CN" sz="2800" b="1" i="1" dirty="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R</a:t>
              </a:r>
              <a:r>
                <a:rPr lang="en-US" altLang="zh-CN" sz="2800" b="1" baseline="-25000" dirty="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0</a:t>
              </a:r>
              <a:endPara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6697" name="Rectangle 74"/>
            <p:cNvSpPr/>
            <p:nvPr/>
          </p:nvSpPr>
          <p:spPr>
            <a:xfrm>
              <a:off x="5173" y="1100"/>
              <a:ext cx="203" cy="218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/>
            <a:lstStyle/>
            <a:p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6698" name="Rectangle 75"/>
            <p:cNvSpPr/>
            <p:nvPr/>
          </p:nvSpPr>
          <p:spPr>
            <a:xfrm>
              <a:off x="5208" y="1123"/>
              <a:ext cx="148" cy="269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altLang="zh-CN" sz="2800" b="1" i="1" dirty="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R</a:t>
              </a:r>
              <a:endPara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6699" name="Rectangle 76"/>
            <p:cNvSpPr/>
            <p:nvPr/>
          </p:nvSpPr>
          <p:spPr>
            <a:xfrm>
              <a:off x="3117" y="671"/>
              <a:ext cx="142" cy="218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/>
            <a:lstStyle/>
            <a:p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6700" name="Rectangle 77"/>
            <p:cNvSpPr/>
            <p:nvPr/>
          </p:nvSpPr>
          <p:spPr>
            <a:xfrm>
              <a:off x="3125" y="627"/>
              <a:ext cx="123" cy="269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altLang="zh-CN" sz="2800" b="1" dirty="0">
                  <a:solidFill>
                    <a:srgbClr val="FF3300"/>
                  </a:solidFill>
                  <a:latin typeface="Symbol" panose="05050102010706020507" pitchFamily="18" charset="2"/>
                  <a:ea typeface="宋体" panose="02010600030101010101" pitchFamily="2" charset="-122"/>
                </a:rPr>
                <a:t>+</a:t>
              </a:r>
              <a:endParaRPr lang="en-US" altLang="zh-CN" sz="2800" dirty="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6701" name="Rectangle 78"/>
            <p:cNvSpPr/>
            <p:nvPr/>
          </p:nvSpPr>
          <p:spPr>
            <a:xfrm>
              <a:off x="3062" y="1013"/>
              <a:ext cx="176" cy="217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/>
            <a:lstStyle/>
            <a:p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6702" name="Rectangle 79"/>
            <p:cNvSpPr/>
            <p:nvPr/>
          </p:nvSpPr>
          <p:spPr>
            <a:xfrm>
              <a:off x="3078" y="999"/>
              <a:ext cx="179" cy="269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altLang="zh-CN" sz="2800" dirty="0">
                  <a:solidFill>
                    <a:srgbClr val="FF3300"/>
                  </a:solidFill>
                  <a:latin typeface="Symbol" panose="05050102010706020507" pitchFamily="18" charset="2"/>
                  <a:ea typeface="宋体" panose="02010600030101010101" pitchFamily="2" charset="-122"/>
                </a:rPr>
                <a:t> </a:t>
              </a:r>
              <a:r>
                <a:rPr lang="en-US" altLang="zh-CN" sz="2800" b="1" dirty="0">
                  <a:solidFill>
                    <a:srgbClr val="FF3300"/>
                  </a:solidFill>
                  <a:latin typeface="Symbol" panose="05050102010706020507" pitchFamily="18" charset="2"/>
                  <a:ea typeface="宋体" panose="02010600030101010101" pitchFamily="2" charset="-122"/>
                </a:rPr>
                <a:t>-</a:t>
              </a:r>
              <a:endParaRPr lang="en-US" altLang="zh-CN" sz="2800" dirty="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6703" name="Rectangle 80"/>
            <p:cNvSpPr/>
            <p:nvPr/>
          </p:nvSpPr>
          <p:spPr>
            <a:xfrm>
              <a:off x="2884" y="840"/>
              <a:ext cx="304" cy="269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0" tIns="0" rIns="0" bIns="0" anchor="t" anchorCtr="0">
              <a:spAutoFit/>
            </a:bodyPr>
            <a:lstStyle/>
            <a:p>
              <a:pPr algn="ctr"/>
              <a:r>
                <a:rPr lang="en-US" altLang="zh-CN" sz="2800" b="1" i="1" dirty="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E</a:t>
              </a:r>
              <a:endParaRPr lang="en-US" altLang="zh-CN" sz="2800" i="1" dirty="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6704" name="Rectangle 81"/>
            <p:cNvSpPr/>
            <p:nvPr/>
          </p:nvSpPr>
          <p:spPr>
            <a:xfrm>
              <a:off x="3761" y="1076"/>
              <a:ext cx="395" cy="269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0" tIns="0" rIns="0" bIns="0" anchor="t" anchorCtr="0">
              <a:spAutoFit/>
            </a:bodyPr>
            <a:lstStyle/>
            <a:p>
              <a:pPr algn="ctr"/>
              <a:r>
                <a:rPr lang="en-US" altLang="zh-CN" sz="2800" b="1" i="1" dirty="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U</a:t>
              </a:r>
              <a:r>
                <a:rPr lang="en-US" altLang="zh-CN" sz="2800" b="1" baseline="-25000" dirty="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0</a:t>
              </a:r>
              <a:endParaRPr lang="en-US" altLang="zh-CN" sz="2800" i="1" dirty="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6705" name="Oval 82"/>
            <p:cNvSpPr/>
            <p:nvPr/>
          </p:nvSpPr>
          <p:spPr>
            <a:xfrm flipH="1">
              <a:off x="4285" y="1639"/>
              <a:ext cx="39" cy="39"/>
            </a:xfrm>
            <a:prstGeom prst="ellipse">
              <a:avLst/>
            </a:prstGeom>
            <a:noFill/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lstStyle/>
            <a:p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6706" name="Line 83"/>
            <p:cNvSpPr/>
            <p:nvPr/>
          </p:nvSpPr>
          <p:spPr>
            <a:xfrm flipH="1" flipV="1">
              <a:off x="4118" y="1551"/>
              <a:ext cx="182" cy="88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26707" name="Oval 84"/>
            <p:cNvSpPr/>
            <p:nvPr/>
          </p:nvSpPr>
          <p:spPr>
            <a:xfrm flipH="1">
              <a:off x="4275" y="709"/>
              <a:ext cx="39" cy="39"/>
            </a:xfrm>
            <a:prstGeom prst="ellipse">
              <a:avLst/>
            </a:prstGeom>
            <a:noFill/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lstStyle/>
            <a:p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6708" name="Line 85"/>
            <p:cNvSpPr/>
            <p:nvPr/>
          </p:nvSpPr>
          <p:spPr>
            <a:xfrm flipH="1" flipV="1">
              <a:off x="4108" y="621"/>
              <a:ext cx="182" cy="88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26709" name="Line 86"/>
            <p:cNvSpPr/>
            <p:nvPr/>
          </p:nvSpPr>
          <p:spPr>
            <a:xfrm flipV="1">
              <a:off x="4324" y="729"/>
              <a:ext cx="778" cy="0"/>
            </a:xfrm>
            <a:prstGeom prst="line">
              <a:avLst/>
            </a:prstGeom>
            <a:ln w="3810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26710" name="Line 87"/>
            <p:cNvSpPr/>
            <p:nvPr/>
          </p:nvSpPr>
          <p:spPr>
            <a:xfrm>
              <a:off x="3269" y="1466"/>
              <a:ext cx="0" cy="205"/>
            </a:xfrm>
            <a:prstGeom prst="line">
              <a:avLst/>
            </a:prstGeom>
            <a:ln w="3810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26711" name="Line 88"/>
            <p:cNvSpPr/>
            <p:nvPr/>
          </p:nvSpPr>
          <p:spPr>
            <a:xfrm>
              <a:off x="4221" y="683"/>
              <a:ext cx="0" cy="931"/>
            </a:xfrm>
            <a:prstGeom prst="line">
              <a:avLst/>
            </a:prstGeom>
            <a:ln w="38100" cap="flat" cmpd="sng">
              <a:solidFill>
                <a:srgbClr val="006600"/>
              </a:solidFill>
              <a:prstDash val="dash"/>
              <a:round/>
              <a:headEnd type="none" w="med" len="med"/>
              <a:tailEnd type="none" w="med" len="med"/>
            </a:ln>
          </p:spPr>
        </p:sp>
        <p:sp>
          <p:nvSpPr>
            <p:cNvPr id="26712" name="Line 89"/>
            <p:cNvSpPr/>
            <p:nvPr/>
          </p:nvSpPr>
          <p:spPr>
            <a:xfrm>
              <a:off x="3419" y="651"/>
              <a:ext cx="389" cy="0"/>
            </a:xfrm>
            <a:prstGeom prst="line">
              <a:avLst/>
            </a:prstGeom>
            <a:ln w="38100" cap="flat" cmpd="sng">
              <a:solidFill>
                <a:srgbClr val="FF3300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26713" name="Rectangle 90"/>
            <p:cNvSpPr/>
            <p:nvPr/>
          </p:nvSpPr>
          <p:spPr>
            <a:xfrm>
              <a:off x="3892" y="700"/>
              <a:ext cx="123" cy="269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altLang="zh-CN" sz="2800" b="1" dirty="0">
                  <a:solidFill>
                    <a:srgbClr val="FF3300"/>
                  </a:solidFill>
                  <a:latin typeface="Symbol" panose="05050102010706020507" pitchFamily="18" charset="2"/>
                  <a:ea typeface="宋体" panose="02010600030101010101" pitchFamily="2" charset="-122"/>
                </a:rPr>
                <a:t>+</a:t>
              </a:r>
              <a:endParaRPr lang="en-US" altLang="zh-CN" sz="2800" dirty="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6714" name="Rectangle 91"/>
            <p:cNvSpPr/>
            <p:nvPr/>
          </p:nvSpPr>
          <p:spPr>
            <a:xfrm>
              <a:off x="3850" y="1389"/>
              <a:ext cx="180" cy="269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altLang="zh-CN" sz="2800" dirty="0">
                  <a:solidFill>
                    <a:srgbClr val="FFFFFF"/>
                  </a:solidFill>
                  <a:latin typeface="Symbol" panose="05050102010706020507" pitchFamily="18" charset="2"/>
                  <a:ea typeface="宋体" panose="02010600030101010101" pitchFamily="2" charset="-122"/>
                </a:rPr>
                <a:t> </a:t>
              </a:r>
              <a:r>
                <a:rPr lang="en-US" altLang="zh-CN" sz="2800" b="1" dirty="0">
                  <a:solidFill>
                    <a:srgbClr val="FF3300"/>
                  </a:solidFill>
                  <a:latin typeface="Symbol" panose="05050102010706020507" pitchFamily="18" charset="2"/>
                  <a:ea typeface="宋体" panose="02010600030101010101" pitchFamily="2" charset="-122"/>
                </a:rPr>
                <a:t>-</a:t>
              </a:r>
              <a:endParaRPr lang="en-US" altLang="zh-CN" sz="2800" dirty="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6715" name="Line 92"/>
            <p:cNvSpPr/>
            <p:nvPr/>
          </p:nvSpPr>
          <p:spPr>
            <a:xfrm>
              <a:off x="3269" y="1655"/>
              <a:ext cx="832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26716" name="Line 93"/>
            <p:cNvSpPr/>
            <p:nvPr/>
          </p:nvSpPr>
          <p:spPr>
            <a:xfrm>
              <a:off x="4336" y="1652"/>
              <a:ext cx="780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</p:grpSp>
      <p:sp>
        <p:nvSpPr>
          <p:cNvPr id="94" name="AutoShape 106" descr="90%"/>
          <p:cNvSpPr/>
          <p:nvPr/>
        </p:nvSpPr>
        <p:spPr>
          <a:xfrm>
            <a:off x="6284913" y="2608263"/>
            <a:ext cx="2319337" cy="1104900"/>
          </a:xfrm>
          <a:prstGeom prst="wedgeRoundRectCallout">
            <a:avLst>
              <a:gd name="adj1" fmla="val -65778"/>
              <a:gd name="adj2" fmla="val -74620"/>
              <a:gd name="adj3" fmla="val 16667"/>
            </a:avLst>
          </a:prstGeom>
          <a:pattFill prst="pct90">
            <a:fgClr>
              <a:srgbClr val="FFFF00"/>
            </a:fgClr>
            <a:bgClr>
              <a:srgbClr val="FFFFFF"/>
            </a:bgClr>
          </a:pattFill>
          <a:ln w="28575" cap="flat" cmpd="sng">
            <a:solidFill>
              <a:srgbClr val="FF3300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/>
          <a:p>
            <a:pPr eaLnBrk="0" hangingPunct="0"/>
            <a:r>
              <a:rPr lang="zh-CN" altLang="en-US" sz="1800" b="1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      为防止事故发生</a:t>
            </a:r>
            <a:r>
              <a:rPr lang="en-US" altLang="zh-CN" sz="1800" b="1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,</a:t>
            </a:r>
          </a:p>
          <a:p>
            <a:pPr eaLnBrk="0" hangingPunct="0"/>
            <a:r>
              <a:rPr lang="zh-CN" altLang="en-US" sz="1800" b="1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需在电路中接入熔断</a:t>
            </a:r>
            <a:endParaRPr lang="en-US" altLang="zh-CN" sz="1800" b="1" dirty="0">
              <a:solidFill>
                <a:schemeClr val="tx2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eaLnBrk="0" hangingPunct="0"/>
            <a:r>
              <a:rPr lang="zh-CN" altLang="en-US" sz="1800" b="1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器或自动断路器</a:t>
            </a:r>
            <a:r>
              <a:rPr lang="en-US" altLang="zh-CN" sz="1800" b="1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,</a:t>
            </a:r>
            <a:r>
              <a:rPr lang="zh-CN" altLang="en-US" sz="1800" b="1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用来</a:t>
            </a:r>
            <a:endParaRPr lang="en-US" altLang="zh-CN" sz="1800" b="1" dirty="0">
              <a:solidFill>
                <a:schemeClr val="tx2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eaLnBrk="0" hangingPunct="0"/>
            <a:r>
              <a:rPr lang="zh-CN" altLang="en-US" sz="1800" b="1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保护电路。</a:t>
            </a:r>
          </a:p>
        </p:txBody>
      </p:sp>
      <p:grpSp>
        <p:nvGrpSpPr>
          <p:cNvPr id="3" name="组合 2"/>
          <p:cNvGrpSpPr/>
          <p:nvPr/>
        </p:nvGrpSpPr>
        <p:grpSpPr>
          <a:xfrm>
            <a:off x="533400" y="1691005"/>
            <a:ext cx="8001000" cy="2555240"/>
            <a:chOff x="840" y="2663"/>
            <a:chExt cx="12600" cy="4024"/>
          </a:xfrm>
        </p:grpSpPr>
        <p:grpSp>
          <p:nvGrpSpPr>
            <p:cNvPr id="21540" name="Group 36"/>
            <p:cNvGrpSpPr/>
            <p:nvPr/>
          </p:nvGrpSpPr>
          <p:grpSpPr>
            <a:xfrm>
              <a:off x="840" y="2663"/>
              <a:ext cx="12600" cy="4025"/>
              <a:chOff x="336" y="1065"/>
              <a:chExt cx="5040" cy="1610"/>
            </a:xfrm>
          </p:grpSpPr>
          <p:sp>
            <p:nvSpPr>
              <p:cNvPr id="26660" name="Text Box 37"/>
              <p:cNvSpPr txBox="1"/>
              <p:nvPr/>
            </p:nvSpPr>
            <p:spPr>
              <a:xfrm>
                <a:off x="384" y="1065"/>
                <a:ext cx="1104" cy="327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lIns="91435" tIns="45718" rIns="91435" bIns="45718" anchor="ctr" anchorCtr="0">
                <a:spAutoFit/>
              </a:bodyPr>
              <a:lstStyle/>
              <a:p>
                <a:r>
                  <a:rPr lang="en-US" altLang="zh-CN" sz="2800" b="1" dirty="0">
                    <a:solidFill>
                      <a:srgbClr val="CC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 </a:t>
                </a:r>
                <a:r>
                  <a:rPr lang="zh-CN" altLang="en-US" sz="2800" b="1" dirty="0">
                    <a:solidFill>
                      <a:srgbClr val="CC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特征</a:t>
                </a:r>
                <a:r>
                  <a:rPr lang="en-US" altLang="zh-CN" sz="2800" b="1" dirty="0">
                    <a:solidFill>
                      <a:srgbClr val="CC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:</a:t>
                </a:r>
              </a:p>
            </p:txBody>
          </p:sp>
          <p:sp>
            <p:nvSpPr>
              <p:cNvPr id="21543" name="Text Box 39"/>
              <p:cNvSpPr txBox="1">
                <a:spLocks noChangeArrowheads="1"/>
              </p:cNvSpPr>
              <p:nvPr/>
            </p:nvSpPr>
            <p:spPr bwMode="auto">
              <a:xfrm>
                <a:off x="1723" y="1763"/>
                <a:ext cx="1877" cy="32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38100">
                    <a:solidFill>
                      <a:srgbClr val="FF0000"/>
                    </a:solidFill>
                    <a:miter lim="800000"/>
                    <a:headEnd type="none" w="sm" len="sm"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91435" tIns="45718" rIns="91435" bIns="45718" anchor="ctr">
                <a:spAutoFit/>
              </a:bodyPr>
              <a:lstStyle/>
              <a:p>
                <a:pPr marR="0" algn="ctr" defTabSz="914400">
                  <a:buClrTx/>
                  <a:buSzTx/>
                  <a:buFontTx/>
                  <a:buNone/>
                  <a:defRPr/>
                </a:pPr>
                <a:r>
                  <a:rPr kumimoji="1" lang="zh-CN" altLang="en-US" sz="2800" b="1" kern="1200" cap="none" spc="0" normalizeH="0" baseline="0" noProof="0">
                    <a:solidFill>
                      <a:srgbClr val="000099"/>
                    </a:solidFill>
                    <a:effectLst>
                      <a:outerShdw blurRad="38100" dist="38100" dir="2700000" algn="tl">
                        <a:srgbClr val="C0C0C0"/>
                      </a:outerShdw>
                    </a:effectLst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电源端电压</a:t>
                </a:r>
              </a:p>
            </p:txBody>
          </p:sp>
          <p:sp>
            <p:nvSpPr>
              <p:cNvPr id="21544" name="Text Box 40"/>
              <p:cNvSpPr txBox="1">
                <a:spLocks noChangeArrowheads="1"/>
              </p:cNvSpPr>
              <p:nvPr/>
            </p:nvSpPr>
            <p:spPr bwMode="auto">
              <a:xfrm>
                <a:off x="1920" y="2051"/>
                <a:ext cx="1164" cy="32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38100">
                    <a:solidFill>
                      <a:srgbClr val="FF0000"/>
                    </a:solidFill>
                    <a:miter lim="800000"/>
                    <a:headEnd type="none" w="sm" len="sm"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91435" tIns="45718" rIns="91435" bIns="45718" anchor="ctr">
                <a:spAutoFit/>
              </a:bodyPr>
              <a:lstStyle/>
              <a:p>
                <a:pPr marR="0" algn="ctr" defTabSz="914400">
                  <a:buClrTx/>
                  <a:buSzTx/>
                  <a:buFontTx/>
                  <a:buNone/>
                  <a:defRPr/>
                </a:pPr>
                <a:r>
                  <a:rPr kumimoji="1" lang="zh-CN" altLang="en-US" sz="2800" b="1" kern="1200" cap="none" spc="0" normalizeH="0" baseline="0" noProof="0">
                    <a:solidFill>
                      <a:srgbClr val="000099"/>
                    </a:solidFill>
                    <a:effectLst>
                      <a:outerShdw blurRad="38100" dist="38100" dir="2700000" algn="tl">
                        <a:srgbClr val="C0C0C0"/>
                      </a:outerShdw>
                    </a:effectLst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负载功率</a:t>
                </a:r>
              </a:p>
            </p:txBody>
          </p:sp>
          <p:sp>
            <p:nvSpPr>
              <p:cNvPr id="26664" name="AutoShape 41"/>
              <p:cNvSpPr/>
              <p:nvPr/>
            </p:nvSpPr>
            <p:spPr>
              <a:xfrm>
                <a:off x="336" y="1532"/>
                <a:ext cx="95" cy="993"/>
              </a:xfrm>
              <a:prstGeom prst="leftBrace">
                <a:avLst>
                  <a:gd name="adj1" fmla="val 86960"/>
                  <a:gd name="adj2" fmla="val 56440"/>
                </a:avLst>
              </a:prstGeom>
              <a:noFill/>
              <a:ln w="38100" cap="flat" cmpd="sng">
                <a:solidFill>
                  <a:srgbClr val="FF0000"/>
                </a:solidFill>
                <a:prstDash val="solid"/>
                <a:round/>
                <a:headEnd type="none" w="sm" len="sm"/>
                <a:tailEnd type="none" w="med" len="med"/>
              </a:ln>
            </p:spPr>
            <p:txBody>
              <a:bodyPr wrap="none" anchor="ctr" anchorCtr="0"/>
              <a:lstStyle/>
              <a:p>
                <a:endParaRPr lang="zh-CN" altLang="en-US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1546" name="Text Box 42"/>
              <p:cNvSpPr txBox="1">
                <a:spLocks noChangeArrowheads="1"/>
              </p:cNvSpPr>
              <p:nvPr/>
            </p:nvSpPr>
            <p:spPr bwMode="auto">
              <a:xfrm>
                <a:off x="1872" y="2339"/>
                <a:ext cx="3504" cy="32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38100">
                    <a:solidFill>
                      <a:srgbClr val="FF0000"/>
                    </a:solidFill>
                    <a:miter lim="800000"/>
                    <a:headEnd type="none" w="sm" len="sm"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91435" tIns="45718" rIns="91435" bIns="45718" anchor="ctr">
                <a:spAutoFit/>
              </a:bodyPr>
              <a:lstStyle/>
              <a:p>
                <a:pPr marR="0" algn="ctr" defTabSz="914400">
                  <a:buClrTx/>
                  <a:buSzTx/>
                  <a:buFontTx/>
                  <a:buNone/>
                  <a:defRPr/>
                </a:pPr>
                <a:r>
                  <a:rPr kumimoji="1" lang="zh-CN" altLang="en-US" sz="2800" b="1" kern="1200" cap="none" spc="0" normalizeH="0" baseline="0" noProof="0">
                    <a:solidFill>
                      <a:srgbClr val="000099"/>
                    </a:solidFill>
                    <a:effectLst>
                      <a:outerShdw blurRad="38100" dist="38100" dir="2700000" algn="tl">
                        <a:srgbClr val="C0C0C0"/>
                      </a:outerShdw>
                    </a:effectLst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电源产生的能量全被内阻消耗掉</a:t>
                </a:r>
              </a:p>
            </p:txBody>
          </p:sp>
          <p:sp>
            <p:nvSpPr>
              <p:cNvPr id="21547" name="Text Box 43"/>
              <p:cNvSpPr txBox="1">
                <a:spLocks noChangeArrowheads="1"/>
              </p:cNvSpPr>
              <p:nvPr/>
            </p:nvSpPr>
            <p:spPr bwMode="auto">
              <a:xfrm>
                <a:off x="2016" y="1475"/>
                <a:ext cx="1968" cy="32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38100">
                    <a:solidFill>
                      <a:srgbClr val="FF0000"/>
                    </a:solidFill>
                    <a:miter lim="800000"/>
                    <a:headEnd type="none" w="sm" len="sm"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91435" tIns="45718" rIns="91435" bIns="45718" anchor="ctr">
                <a:spAutoFit/>
              </a:bodyPr>
              <a:lstStyle/>
              <a:p>
                <a:pPr marR="0" algn="ctr" defTabSz="914400">
                  <a:buClrTx/>
                  <a:buSzTx/>
                  <a:buFontTx/>
                  <a:buNone/>
                  <a:defRPr/>
                </a:pPr>
                <a:r>
                  <a:rPr kumimoji="1" lang="zh-CN" altLang="en-US" sz="2800" b="1" kern="1200" cap="none" spc="0" normalizeH="0" baseline="0" noProof="0" dirty="0">
                    <a:solidFill>
                      <a:srgbClr val="CC0000"/>
                    </a:solidFill>
                    <a:effectLst>
                      <a:outerShdw blurRad="38100" dist="38100" dir="2700000" algn="tl">
                        <a:srgbClr val="C0C0C0"/>
                      </a:outerShdw>
                    </a:effectLst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短路电流（很大）</a:t>
                </a:r>
              </a:p>
            </p:txBody>
          </p:sp>
          <p:sp>
            <p:nvSpPr>
              <p:cNvPr id="26667" name="Rectangle 44"/>
              <p:cNvSpPr/>
              <p:nvPr/>
            </p:nvSpPr>
            <p:spPr>
              <a:xfrm>
                <a:off x="431" y="1724"/>
                <a:ext cx="668" cy="327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91435" tIns="45718" rIns="91435" bIns="45718" anchor="t" anchorCtr="0">
                <a:spAutoFit/>
              </a:bodyPr>
              <a:lstStyle/>
              <a:p>
                <a:pPr algn="ctr">
                  <a:spcBef>
                    <a:spcPct val="10000"/>
                  </a:spcBef>
                </a:pPr>
                <a:r>
                  <a:rPr lang="en-US" altLang="zh-CN" sz="2800" b="1" i="1" dirty="0">
                    <a:solidFill>
                      <a:srgbClr val="FF0000"/>
                    </a:solidFill>
                    <a:highlight>
                      <a:srgbClr val="FFFF00"/>
                    </a:highlight>
                    <a:latin typeface="Times New Roman" panose="02020603050405020304" pitchFamily="18" charset="0"/>
                    <a:ea typeface="宋体" panose="02010600030101010101" pitchFamily="2" charset="-122"/>
                  </a:rPr>
                  <a:t>U</a:t>
                </a:r>
                <a:r>
                  <a:rPr lang="en-US" altLang="zh-CN" sz="2800" b="1" baseline="-25000" dirty="0">
                    <a:solidFill>
                      <a:srgbClr val="FF0000"/>
                    </a:solidFill>
                    <a:highlight>
                      <a:srgbClr val="FFFF00"/>
                    </a:highlight>
                    <a:latin typeface="Times New Roman" panose="02020603050405020304" pitchFamily="18" charset="0"/>
                    <a:ea typeface="宋体" panose="02010600030101010101" pitchFamily="2" charset="-122"/>
                  </a:rPr>
                  <a:t> </a:t>
                </a:r>
                <a:r>
                  <a:rPr lang="en-US" altLang="zh-CN" sz="2800" b="1" i="1" dirty="0">
                    <a:solidFill>
                      <a:srgbClr val="FF0000"/>
                    </a:solidFill>
                    <a:highlight>
                      <a:srgbClr val="FFFF00"/>
                    </a:highlight>
                    <a:latin typeface="Times New Roman" panose="02020603050405020304" pitchFamily="18" charset="0"/>
                    <a:ea typeface="宋体" panose="02010600030101010101" pitchFamily="2" charset="-122"/>
                  </a:rPr>
                  <a:t>= </a:t>
                </a:r>
                <a:r>
                  <a:rPr lang="en-US" altLang="zh-CN" sz="2800" b="1" dirty="0">
                    <a:solidFill>
                      <a:srgbClr val="FF0000"/>
                    </a:solidFill>
                    <a:highlight>
                      <a:srgbClr val="FFFF00"/>
                    </a:highlight>
                    <a:latin typeface="Times New Roman" panose="02020603050405020304" pitchFamily="18" charset="0"/>
                    <a:ea typeface="宋体" panose="02010600030101010101" pitchFamily="2" charset="-122"/>
                  </a:rPr>
                  <a:t>0</a:t>
                </a:r>
                <a:r>
                  <a:rPr lang="en-US" altLang="zh-CN" sz="2800" b="1" i="1" dirty="0">
                    <a:solidFill>
                      <a:srgbClr val="FF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 </a:t>
                </a:r>
              </a:p>
            </p:txBody>
          </p:sp>
          <p:sp>
            <p:nvSpPr>
              <p:cNvPr id="26668" name="Rectangle 45"/>
              <p:cNvSpPr/>
              <p:nvPr/>
            </p:nvSpPr>
            <p:spPr>
              <a:xfrm>
                <a:off x="483" y="2348"/>
                <a:ext cx="1457" cy="327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91435" tIns="45718" rIns="91435" bIns="45718" anchor="t" anchorCtr="0">
                <a:spAutoFit/>
              </a:bodyPr>
              <a:lstStyle/>
              <a:p>
                <a:pPr algn="ctr">
                  <a:spcBef>
                    <a:spcPct val="10000"/>
                  </a:spcBef>
                </a:pPr>
                <a:r>
                  <a:rPr lang="en-US" altLang="zh-CN" sz="2800" b="1" i="1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P</a:t>
                </a:r>
                <a:r>
                  <a:rPr lang="en-US" altLang="zh-CN" sz="2800" b="1" baseline="-25000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E </a:t>
                </a:r>
                <a:r>
                  <a:rPr lang="en-US" altLang="zh-CN" sz="2800" b="1" i="1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= </a:t>
                </a:r>
                <a:r>
                  <a:rPr lang="en-US" altLang="zh-CN" sz="2800" b="1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sym typeface="Symbol" panose="05050102010706020507" pitchFamily="18" charset="2"/>
                  </a:rPr>
                  <a:t></a:t>
                </a:r>
                <a:r>
                  <a:rPr lang="en-US" altLang="zh-CN" sz="2800" b="1" i="1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P = I</a:t>
                </a:r>
                <a:r>
                  <a:rPr lang="en-US" altLang="zh-CN" sz="2800" b="1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²</a:t>
                </a:r>
                <a:r>
                  <a:rPr lang="en-US" altLang="zh-CN" sz="2800" b="1" i="1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R</a:t>
                </a:r>
                <a:r>
                  <a:rPr lang="en-US" altLang="zh-CN" b="1" baseline="-25000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0</a:t>
                </a:r>
                <a:endParaRPr lang="en-US" altLang="zh-CN" b="1" dirty="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6669" name="Rectangle 46"/>
              <p:cNvSpPr/>
              <p:nvPr/>
            </p:nvSpPr>
            <p:spPr>
              <a:xfrm>
                <a:off x="431" y="2021"/>
                <a:ext cx="587" cy="327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91435" tIns="45718" rIns="91435" bIns="45718" anchor="t" anchorCtr="0">
                <a:spAutoFit/>
              </a:bodyPr>
              <a:lstStyle/>
              <a:p>
                <a:pPr algn="ctr"/>
                <a:r>
                  <a:rPr lang="en-US" altLang="zh-CN" sz="2800" b="1" i="1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P</a:t>
                </a:r>
                <a:r>
                  <a:rPr lang="en-US" altLang="zh-CN" sz="2800" b="1" baseline="-25000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 </a:t>
                </a:r>
                <a:r>
                  <a:rPr lang="en-US" altLang="zh-CN" sz="2800" b="1" i="1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= </a:t>
                </a:r>
                <a:r>
                  <a:rPr lang="en-US" altLang="zh-CN" sz="2800" b="1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0</a:t>
                </a:r>
              </a:p>
            </p:txBody>
          </p:sp>
        </p:grpSp>
        <p:graphicFrame>
          <p:nvGraphicFramePr>
            <p:cNvPr id="2" name="对象 1">
              <a:hlinkClick r:id="" action="ppaction://ole?verb=0"/>
            </p:cNvPr>
            <p:cNvGraphicFramePr/>
            <p:nvPr/>
          </p:nvGraphicFramePr>
          <p:xfrm>
            <a:off x="1190" y="3200"/>
            <a:ext cx="2450" cy="139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3" imgW="13411200" imgH="7620000" progId="">
                    <p:embed/>
                  </p:oleObj>
                </mc:Choice>
                <mc:Fallback>
                  <p:oleObj r:id="rId3" imgW="13411200" imgH="7620000" progId="">
                    <p:embed/>
                    <p:pic>
                      <p:nvPicPr>
                        <p:cNvPr id="0" name="图片 11264" descr="image52"/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1190" y="3200"/>
                          <a:ext cx="2450" cy="1390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15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215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15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215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215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215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5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2155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1" dur="5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538" grpId="0"/>
      <p:bldP spid="21551" grpId="0" build="p"/>
      <p:bldP spid="21552" grpId="0"/>
      <p:bldP spid="94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3" name="Rectangle 3">
            <a:hlinkClick r:id="rId2" action="ppaction://hlinksldjump"/>
          </p:cNvPr>
          <p:cNvSpPr>
            <a:spLocks noChangeArrowheads="1"/>
          </p:cNvSpPr>
          <p:nvPr/>
        </p:nvSpPr>
        <p:spPr bwMode="auto">
          <a:xfrm>
            <a:off x="1374775" y="911225"/>
            <a:ext cx="7007225" cy="490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CC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1435" tIns="45718" rIns="91435" bIns="45718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2600" b="1" i="0" u="none" strike="noStrike" kern="1200" cap="none" spc="0" normalizeH="0" baseline="0" noProof="0">
                <a:ln>
                  <a:noFill/>
                </a:ln>
                <a:solidFill>
                  <a:schemeClr val="bg1">
                    <a:lumMod val="75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1.1</a:t>
            </a:r>
            <a:r>
              <a:rPr kumimoji="1" lang="en-US" altLang="zh-CN" sz="2600" b="1" i="0" u="none" strike="noStrike" kern="1200" cap="none" spc="0" normalizeH="0" baseline="0" noProof="0">
                <a:ln>
                  <a:noFill/>
                </a:ln>
                <a:solidFill>
                  <a:schemeClr val="bg1">
                    <a:lumMod val="75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 </a:t>
            </a:r>
            <a:r>
              <a:rPr kumimoji="1" lang="zh-CN" altLang="en-US" sz="2600" b="1" i="0" u="none" strike="noStrike" kern="1200" cap="none" spc="0" normalizeH="0" baseline="0" noProof="0">
                <a:ln>
                  <a:noFill/>
                </a:ln>
                <a:solidFill>
                  <a:schemeClr val="bg1">
                    <a:lumMod val="75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电路的作用与组成部分</a:t>
            </a:r>
          </a:p>
        </p:txBody>
      </p:sp>
      <p:sp>
        <p:nvSpPr>
          <p:cNvPr id="51204" name="Rectangle 4">
            <a:hlinkClick r:id="" action="ppaction://noaction"/>
          </p:cNvPr>
          <p:cNvSpPr>
            <a:spLocks noChangeArrowheads="1"/>
          </p:cNvSpPr>
          <p:nvPr/>
        </p:nvSpPr>
        <p:spPr bwMode="auto">
          <a:xfrm>
            <a:off x="1371600" y="1306513"/>
            <a:ext cx="3810000" cy="488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CC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1435" tIns="45718" rIns="91435" bIns="45718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2600" b="1" i="0" u="none" strike="noStrike" kern="1200" cap="none" spc="0" normalizeH="0" baseline="0" noProof="0">
                <a:ln>
                  <a:noFill/>
                </a:ln>
                <a:solidFill>
                  <a:schemeClr val="bg1">
                    <a:lumMod val="75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1.2</a:t>
            </a:r>
            <a:r>
              <a:rPr kumimoji="1" lang="en-US" altLang="zh-CN" sz="2600" b="1" i="0" u="none" strike="noStrike" kern="1200" cap="none" spc="0" normalizeH="0" baseline="0" noProof="0">
                <a:ln>
                  <a:noFill/>
                </a:ln>
                <a:solidFill>
                  <a:schemeClr val="bg1">
                    <a:lumMod val="75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 </a:t>
            </a:r>
            <a:r>
              <a:rPr kumimoji="1" lang="zh-CN" altLang="en-US" sz="2600" b="1" i="0" u="none" strike="noStrike" kern="1200" cap="none" spc="0" normalizeH="0" baseline="0" noProof="0">
                <a:ln>
                  <a:noFill/>
                </a:ln>
                <a:solidFill>
                  <a:schemeClr val="bg1">
                    <a:lumMod val="75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电路模型</a:t>
            </a:r>
          </a:p>
        </p:txBody>
      </p:sp>
      <p:sp>
        <p:nvSpPr>
          <p:cNvPr id="51205" name="Rectangle 5">
            <a:hlinkClick r:id="" action="ppaction://noaction"/>
          </p:cNvPr>
          <p:cNvSpPr>
            <a:spLocks noChangeArrowheads="1"/>
          </p:cNvSpPr>
          <p:nvPr/>
        </p:nvSpPr>
        <p:spPr bwMode="auto">
          <a:xfrm>
            <a:off x="1371600" y="1716405"/>
            <a:ext cx="8238490" cy="490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CC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1435" tIns="45718" rIns="91435" bIns="45718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26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1.3</a:t>
            </a:r>
            <a:r>
              <a:rPr kumimoji="1" lang="en-US" altLang="zh-CN" sz="26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 </a:t>
            </a:r>
            <a:r>
              <a:rPr kumimoji="1" lang="zh-CN" altLang="en-US" sz="26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电压和电流的</a:t>
            </a:r>
            <a:r>
              <a:rPr kumimoji="1" lang="zh-CN" altLang="en-US" sz="2600" b="1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参考方向</a:t>
            </a:r>
            <a:r>
              <a:rPr kumimoji="1" lang="en-US" altLang="zh-CN" sz="2600" b="1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-</a:t>
            </a:r>
            <a:r>
              <a:rPr kumimoji="1" lang="en-US" altLang="zh-CN" sz="2600" b="1" i="0" u="none" strike="noStrike" kern="1200" cap="none" spc="0" normalizeH="0" baseline="0" noProof="0">
                <a:ln>
                  <a:noFill/>
                </a:ln>
                <a:solidFill>
                  <a:srgbClr val="00B05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highlight>
                  <a:srgbClr val="FFFF00"/>
                </a:highlight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-</a:t>
            </a:r>
            <a:r>
              <a:rPr kumimoji="1" lang="zh-CN" altLang="en-US" sz="2600" b="1" i="0" u="none" strike="noStrike" kern="1200" cap="none" spc="0" normalizeH="0" baseline="0" noProof="0">
                <a:ln>
                  <a:noFill/>
                </a:ln>
                <a:solidFill>
                  <a:srgbClr val="00B05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highlight>
                  <a:srgbClr val="FFFF00"/>
                </a:highlight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分析电路的首要步骤！</a:t>
            </a:r>
            <a:r>
              <a:rPr kumimoji="1" lang="en-US" altLang="zh-CN" sz="2600" b="1" i="0" u="none" strike="noStrike" kern="1200" cap="none" spc="0" normalizeH="0" baseline="0" noProof="0">
                <a:ln>
                  <a:noFill/>
                </a:ln>
                <a:solidFill>
                  <a:srgbClr val="00B05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highlight>
                  <a:srgbClr val="FFFF00"/>
                </a:highlight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   </a:t>
            </a:r>
          </a:p>
        </p:txBody>
      </p:sp>
      <p:sp>
        <p:nvSpPr>
          <p:cNvPr id="51206" name="Rectangle 6">
            <a:hlinkClick r:id="rId3" action="ppaction://hlinksldjump"/>
          </p:cNvPr>
          <p:cNvSpPr>
            <a:spLocks noChangeArrowheads="1"/>
          </p:cNvSpPr>
          <p:nvPr/>
        </p:nvSpPr>
        <p:spPr bwMode="auto">
          <a:xfrm>
            <a:off x="1371600" y="3146425"/>
            <a:ext cx="3124200" cy="488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CC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1435" tIns="45718" rIns="91435" bIns="45718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26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1.4</a:t>
            </a:r>
            <a:r>
              <a:rPr kumimoji="1" lang="en-US" altLang="zh-CN" sz="26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 </a:t>
            </a:r>
            <a:r>
              <a:rPr kumimoji="1" lang="zh-CN" altLang="en-US" sz="26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欧姆定律</a:t>
            </a:r>
          </a:p>
        </p:txBody>
      </p:sp>
      <p:sp>
        <p:nvSpPr>
          <p:cNvPr id="51207" name="Rectangle 7">
            <a:hlinkClick r:id="rId3" action="ppaction://hlinksldjump"/>
          </p:cNvPr>
          <p:cNvSpPr>
            <a:spLocks noChangeArrowheads="1"/>
          </p:cNvSpPr>
          <p:nvPr/>
        </p:nvSpPr>
        <p:spPr bwMode="auto">
          <a:xfrm>
            <a:off x="1371600" y="4340225"/>
            <a:ext cx="7721600" cy="490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CC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1435" tIns="45718" rIns="91435" bIns="45718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26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1.5</a:t>
            </a:r>
            <a:r>
              <a:rPr kumimoji="1" lang="en-US" altLang="zh-CN" sz="26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 </a:t>
            </a:r>
            <a:r>
              <a:rPr kumimoji="1" lang="zh-CN" altLang="en-US" sz="26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电源有载工作、开路与短路（</a:t>
            </a:r>
            <a:r>
              <a:rPr kumimoji="1" lang="zh-CN" altLang="en-US" sz="26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电源的工作状态</a:t>
            </a:r>
            <a:r>
              <a:rPr kumimoji="1" lang="zh-CN" altLang="en-US" sz="26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）</a:t>
            </a:r>
          </a:p>
        </p:txBody>
      </p:sp>
      <p:sp>
        <p:nvSpPr>
          <p:cNvPr id="51211" name="Rectangle 11">
            <a:hlinkClick r:id="rId4" action="ppaction://hlinksldjump"/>
          </p:cNvPr>
          <p:cNvSpPr>
            <a:spLocks noChangeArrowheads="1"/>
          </p:cNvSpPr>
          <p:nvPr/>
        </p:nvSpPr>
        <p:spPr bwMode="auto">
          <a:xfrm>
            <a:off x="611188" y="404813"/>
            <a:ext cx="1439863" cy="520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CC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 lIns="91435" tIns="45718" rIns="91435" bIns="45718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小结：</a:t>
            </a:r>
          </a:p>
        </p:txBody>
      </p:sp>
      <p:sp>
        <p:nvSpPr>
          <p:cNvPr id="2" name="Rectangle 11">
            <a:hlinkClick r:id="rId4" action="ppaction://hlinksldjump"/>
          </p:cNvPr>
          <p:cNvSpPr>
            <a:spLocks noChangeArrowheads="1"/>
          </p:cNvSpPr>
          <p:nvPr/>
        </p:nvSpPr>
        <p:spPr bwMode="auto">
          <a:xfrm>
            <a:off x="1475740" y="2157095"/>
            <a:ext cx="6410960" cy="10134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CC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 lIns="91435" tIns="45718" rIns="91435" bIns="45718">
            <a:spAutoFit/>
          </a:bodyPr>
          <a:lstStyle/>
          <a:p>
            <a:pPr marL="457200" marR="0" lvl="0" indent="-45720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charset="0"/>
              <a:buChar char="l"/>
              <a:defRPr/>
            </a:pPr>
            <a:r>
              <a:rPr kumimoji="1" lang="zh-CN" altLang="en-US" sz="20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电流的参考方向</a:t>
            </a:r>
            <a:r>
              <a:rPr kumimoji="1" lang="zh-CN" altLang="en-US" sz="2000" b="0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highlight>
                  <a:srgbClr val="FFFF00"/>
                </a:highlight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标识的两种方法</a:t>
            </a:r>
          </a:p>
          <a:p>
            <a:pPr marL="457200" marR="0" lvl="0" indent="-45720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charset="0"/>
              <a:buChar char="l"/>
              <a:defRPr/>
            </a:pPr>
            <a:r>
              <a:rPr kumimoji="1" lang="zh-CN" altLang="en-US" sz="2000" strike="noStrike" noProof="0">
                <a:ln>
                  <a:noFill/>
                </a:ln>
                <a:effectLst>
                  <a:outerShdw blurRad="38100" dist="38100" dir="2700000" algn="tl">
                    <a:srgbClr val="C0C0C0"/>
                  </a:outerShdw>
                </a:effectLst>
                <a:highlight>
                  <a:srgbClr val="FFFF00"/>
                </a:highlight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  <a:sym typeface="+mn-ea"/>
              </a:rPr>
              <a:t>电压的参考方向</a:t>
            </a:r>
            <a:r>
              <a:rPr kumimoji="1" lang="zh-CN" altLang="en-US" sz="2000" strike="noStrike" noProof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highlight>
                  <a:srgbClr val="FFFF00"/>
                </a:highlight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  <a:sym typeface="+mn-ea"/>
              </a:rPr>
              <a:t>标识的两种方法</a:t>
            </a:r>
            <a:endParaRPr kumimoji="1" lang="zh-CN" altLang="en-US" sz="2000" strike="noStrike" noProof="0">
              <a:ln>
                <a:noFill/>
              </a:ln>
              <a:solidFill>
                <a:srgbClr val="FF0000"/>
              </a:solidFill>
              <a:effectLst>
                <a:outerShdw blurRad="38100" dist="38100" dir="2700000" algn="tl">
                  <a:srgbClr val="C0C0C0"/>
                </a:outerShdw>
              </a:effectLst>
              <a:highlight>
                <a:srgbClr val="FFFF00"/>
              </a:highlight>
              <a:uLnTx/>
              <a:uFillTx/>
              <a:latin typeface="宋体" panose="02010600030101010101" pitchFamily="2" charset="-122"/>
              <a:sym typeface="+mn-ea"/>
            </a:endParaRPr>
          </a:p>
          <a:p>
            <a:pPr marL="457200" marR="0" lvl="0" indent="-45720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charset="0"/>
              <a:buChar char="l"/>
              <a:defRPr/>
            </a:pPr>
            <a:r>
              <a:rPr kumimoji="1" lang="zh-CN" altLang="en-US" sz="2000" strike="noStrike" noProof="0">
                <a:ln>
                  <a:noFill/>
                </a:ln>
                <a:effectLst>
                  <a:outerShdw blurRad="38100" dist="38100" dir="2700000" algn="tl">
                    <a:srgbClr val="C0C0C0"/>
                  </a:outerShdw>
                </a:effectLst>
                <a:highlight>
                  <a:srgbClr val="FFFF00"/>
                </a:highlight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  <a:sym typeface="+mn-ea"/>
              </a:rPr>
              <a:t>参考方向下，电压</a:t>
            </a:r>
            <a:r>
              <a:rPr kumimoji="1" lang="en-US" altLang="zh-CN" sz="2000" strike="noStrike" noProof="0">
                <a:ln>
                  <a:noFill/>
                </a:ln>
                <a:effectLst>
                  <a:outerShdw blurRad="38100" dist="38100" dir="2700000" algn="tl">
                    <a:srgbClr val="C0C0C0"/>
                  </a:outerShdw>
                </a:effectLst>
                <a:highlight>
                  <a:srgbClr val="FFFF00"/>
                </a:highlight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  <a:sym typeface="+mn-ea"/>
              </a:rPr>
              <a:t>/</a:t>
            </a:r>
            <a:r>
              <a:rPr kumimoji="1" lang="zh-CN" altLang="en-US" sz="2000" strike="noStrike" noProof="0">
                <a:ln>
                  <a:noFill/>
                </a:ln>
                <a:effectLst>
                  <a:outerShdw blurRad="38100" dist="38100" dir="2700000" algn="tl">
                    <a:srgbClr val="C0C0C0"/>
                  </a:outerShdw>
                </a:effectLst>
                <a:highlight>
                  <a:srgbClr val="FFFF00"/>
                </a:highlight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  <a:sym typeface="+mn-ea"/>
              </a:rPr>
              <a:t>电流数值</a:t>
            </a:r>
            <a:r>
              <a:rPr kumimoji="1" lang="zh-CN" altLang="en-US" sz="2000" strike="noStrike" noProof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highlight>
                  <a:srgbClr val="FFFF00"/>
                </a:highlight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  <a:sym typeface="+mn-ea"/>
              </a:rPr>
              <a:t>的正负值的含义</a:t>
            </a:r>
            <a:endParaRPr kumimoji="1" lang="zh-CN" altLang="en-US" sz="2000" b="0" i="0" u="none" strike="noStrike" kern="1200" cap="none" spc="0" normalizeH="0" baseline="0" noProof="0">
              <a:ln>
                <a:noFill/>
              </a:ln>
              <a:solidFill>
                <a:srgbClr val="FF0000"/>
              </a:solidFill>
              <a:effectLst>
                <a:outerShdw blurRad="38100" dist="38100" dir="2700000" algn="tl">
                  <a:srgbClr val="C0C0C0"/>
                </a:outerShdw>
              </a:effectLst>
              <a:highlight>
                <a:srgbClr val="FFFF00"/>
              </a:highlight>
              <a:uLnTx/>
              <a:uFillTx/>
              <a:latin typeface="宋体" panose="02010600030101010101" pitchFamily="2" charset="-122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Rectangle 11">
            <a:hlinkClick r:id="rId4" action="ppaction://hlinksldjump"/>
          </p:cNvPr>
          <p:cNvSpPr>
            <a:spLocks noChangeArrowheads="1"/>
          </p:cNvSpPr>
          <p:nvPr/>
        </p:nvSpPr>
        <p:spPr bwMode="auto">
          <a:xfrm>
            <a:off x="1459230" y="3647440"/>
            <a:ext cx="6410960" cy="10134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CC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 lIns="91435" tIns="45718" rIns="91435" bIns="45718">
            <a:spAutoFit/>
          </a:bodyPr>
          <a:lstStyle/>
          <a:p>
            <a:pPr marL="457200" marR="0" lvl="0" indent="-45720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charset="0"/>
              <a:buChar char="l"/>
              <a:defRPr/>
            </a:pPr>
            <a:r>
              <a:rPr kumimoji="1" lang="zh-CN" altLang="en-US" sz="20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电压和电流参考方向</a:t>
            </a:r>
            <a:r>
              <a:rPr kumimoji="1" lang="zh-CN" altLang="en-US" sz="2000" b="0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highlight>
                  <a:srgbClr val="FFFF00"/>
                </a:highlight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相同</a:t>
            </a:r>
            <a:r>
              <a:rPr kumimoji="1" lang="en-US" altLang="zh-CN" sz="2000" b="0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highlight>
                  <a:srgbClr val="FFFF00"/>
                </a:highlight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/</a:t>
            </a:r>
            <a:r>
              <a:rPr kumimoji="1" lang="zh-CN" altLang="en-US" sz="2000" b="0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highlight>
                  <a:srgbClr val="FFFF00"/>
                </a:highlight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相反的</a:t>
            </a:r>
            <a:r>
              <a:rPr kumimoji="1" lang="zh-CN" altLang="en-US" sz="2000" b="0" i="0" u="none" strike="noStrike" kern="1200" cap="none" spc="0" normalizeH="0" baseline="0" noProof="0">
                <a:ln>
                  <a:noFill/>
                </a:ln>
                <a:solidFill>
                  <a:srgbClr val="00B05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highlight>
                  <a:srgbClr val="FFFF00"/>
                </a:highlight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判定方法</a:t>
            </a:r>
            <a:endParaRPr kumimoji="1" lang="zh-CN" altLang="en-US" sz="2000" b="0" i="0" u="none" strike="noStrike" kern="1200" cap="none" spc="0" normalizeH="0" baseline="0" noProof="0">
              <a:ln>
                <a:noFill/>
              </a:ln>
              <a:solidFill>
                <a:srgbClr val="FF0000"/>
              </a:solidFill>
              <a:effectLst>
                <a:outerShdw blurRad="38100" dist="38100" dir="2700000" algn="tl">
                  <a:srgbClr val="C0C0C0"/>
                </a:outerShdw>
              </a:effectLst>
              <a:highlight>
                <a:srgbClr val="FFFF00"/>
              </a:highlight>
              <a:uLnTx/>
              <a:uFillTx/>
              <a:latin typeface="宋体" panose="02010600030101010101" pitchFamily="2" charset="-122"/>
              <a:ea typeface="宋体" panose="02010600030101010101" pitchFamily="2" charset="-122"/>
              <a:cs typeface="+mn-cs"/>
            </a:endParaRPr>
          </a:p>
          <a:p>
            <a:pPr marL="457200" marR="0" lvl="0" indent="-45720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charset="0"/>
              <a:buChar char="l"/>
              <a:defRPr/>
            </a:pPr>
            <a:r>
              <a:rPr kumimoji="1" lang="zh-CN" altLang="en-US" sz="2000" strike="noStrike" noProof="0">
                <a:ln>
                  <a:noFill/>
                </a:ln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  <a:sym typeface="+mn-ea"/>
              </a:rPr>
              <a:t>电压和电流参考方向</a:t>
            </a:r>
            <a:r>
              <a:rPr kumimoji="1" lang="zh-CN" altLang="en-US" sz="2000" strike="noStrike" noProof="0">
                <a:ln>
                  <a:noFill/>
                </a:ln>
                <a:solidFill>
                  <a:srgbClr val="00B05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highlight>
                  <a:srgbClr val="FFFF00"/>
                </a:highlight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  <a:sym typeface="+mn-ea"/>
              </a:rPr>
              <a:t>相同</a:t>
            </a:r>
            <a:r>
              <a:rPr kumimoji="1" lang="en-US" altLang="zh-CN" sz="2000" strike="noStrike" noProof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highlight>
                  <a:srgbClr val="FFFF00"/>
                </a:highlight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  <a:sym typeface="+mn-ea"/>
              </a:rPr>
              <a:t>/</a:t>
            </a:r>
            <a:r>
              <a:rPr kumimoji="1" lang="zh-CN" altLang="en-US" sz="2000" strike="noStrike" noProof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highlight>
                  <a:srgbClr val="FFFF00"/>
                </a:highlight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  <a:sym typeface="+mn-ea"/>
              </a:rPr>
              <a:t>相反的</a:t>
            </a:r>
            <a:r>
              <a:rPr kumimoji="1" lang="zh-CN" altLang="en-US" sz="2000" strike="noStrike" noProof="0">
                <a:ln>
                  <a:noFill/>
                </a:ln>
                <a:solidFill>
                  <a:srgbClr val="00B05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highlight>
                  <a:srgbClr val="FFFF00"/>
                </a:highlight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  <a:sym typeface="+mn-ea"/>
              </a:rPr>
              <a:t>欧姆定律</a:t>
            </a:r>
            <a:endParaRPr kumimoji="1" lang="zh-CN" altLang="en-US" sz="2000" strike="noStrike" noProof="0">
              <a:ln>
                <a:noFill/>
              </a:ln>
              <a:solidFill>
                <a:srgbClr val="FF0000"/>
              </a:solidFill>
              <a:effectLst>
                <a:outerShdw blurRad="38100" dist="38100" dir="2700000" algn="tl">
                  <a:srgbClr val="C0C0C0"/>
                </a:outerShdw>
              </a:effectLst>
              <a:highlight>
                <a:srgbClr val="FFFF00"/>
              </a:highlight>
              <a:uLnTx/>
              <a:uFillTx/>
              <a:latin typeface="宋体" panose="02010600030101010101" pitchFamily="2" charset="-122"/>
              <a:sym typeface="+mn-ea"/>
            </a:endParaRPr>
          </a:p>
          <a:p>
            <a:pPr marL="457200" marR="0" lvl="0" indent="-45720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charset="0"/>
              <a:buChar char="l"/>
              <a:defRPr/>
            </a:pPr>
            <a:endParaRPr kumimoji="1" lang="zh-CN" altLang="en-US" sz="2000" b="0" i="0" u="none" strike="noStrike" kern="1200" cap="none" spc="0" normalizeH="0" baseline="0" noProof="0">
              <a:ln>
                <a:noFill/>
              </a:ln>
              <a:solidFill>
                <a:srgbClr val="FF0000"/>
              </a:solidFill>
              <a:effectLst>
                <a:outerShdw blurRad="38100" dist="38100" dir="2700000" algn="tl">
                  <a:srgbClr val="C0C0C0"/>
                </a:outerShdw>
              </a:effectLst>
              <a:highlight>
                <a:srgbClr val="FFFF00"/>
              </a:highlight>
              <a:uLnTx/>
              <a:uFillTx/>
              <a:latin typeface="宋体" panose="02010600030101010101" pitchFamily="2" charset="-122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Rectangle 11">
            <a:hlinkClick r:id="rId4" action="ppaction://hlinksldjump"/>
          </p:cNvPr>
          <p:cNvSpPr>
            <a:spLocks noChangeArrowheads="1"/>
          </p:cNvSpPr>
          <p:nvPr/>
        </p:nvSpPr>
        <p:spPr bwMode="auto">
          <a:xfrm>
            <a:off x="1442720" y="4779010"/>
            <a:ext cx="6410960" cy="10134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CC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 lIns="91435" tIns="45718" rIns="91435" bIns="45718">
            <a:spAutoFit/>
          </a:bodyPr>
          <a:lstStyle/>
          <a:p>
            <a:pPr marL="457200" marR="0" lvl="0" indent="-45720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charset="0"/>
              <a:buChar char="l"/>
              <a:defRPr/>
            </a:pPr>
            <a:r>
              <a:rPr kumimoji="1" lang="zh-CN" altLang="en-US" sz="20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有载工作状态：电路中负载和电源的</a:t>
            </a:r>
            <a:r>
              <a:rPr kumimoji="1" lang="zh-CN" altLang="en-US" sz="2000" b="0" i="0" u="none" strike="noStrike" kern="1200" cap="none" spc="0" normalizeH="0" baseline="0" noProof="0">
                <a:ln>
                  <a:noFill/>
                </a:ln>
                <a:solidFill>
                  <a:srgbClr val="00B05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highlight>
                  <a:srgbClr val="FFFF00"/>
                </a:highlight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判定方法</a:t>
            </a:r>
            <a:endParaRPr kumimoji="1" lang="zh-CN" altLang="en-US" sz="2000" b="0" i="0" u="none" strike="noStrike" kern="1200" cap="none" spc="0" normalizeH="0" baseline="0" noProof="0">
              <a:ln>
                <a:noFill/>
              </a:ln>
              <a:solidFill>
                <a:srgbClr val="FF0000"/>
              </a:solidFill>
              <a:effectLst>
                <a:outerShdw blurRad="38100" dist="38100" dir="2700000" algn="tl">
                  <a:srgbClr val="C0C0C0"/>
                </a:outerShdw>
              </a:effectLst>
              <a:highlight>
                <a:srgbClr val="FFFF00"/>
              </a:highlight>
              <a:uLnTx/>
              <a:uFillTx/>
              <a:latin typeface="宋体" panose="02010600030101010101" pitchFamily="2" charset="-122"/>
              <a:ea typeface="宋体" panose="02010600030101010101" pitchFamily="2" charset="-122"/>
              <a:cs typeface="+mn-cs"/>
            </a:endParaRPr>
          </a:p>
          <a:p>
            <a:pPr marL="457200" marR="0" lvl="0" indent="-45720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charset="0"/>
              <a:buChar char="l"/>
              <a:defRPr/>
            </a:pPr>
            <a:r>
              <a:rPr kumimoji="1" lang="zh-CN" altLang="en-US" sz="2000" strike="noStrike" noProof="0">
                <a:ln>
                  <a:noFill/>
                </a:ln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  <a:sym typeface="+mn-ea"/>
              </a:rPr>
              <a:t>电源开路：关键特征：电流</a:t>
            </a:r>
            <a:r>
              <a:rPr kumimoji="1" lang="en-US" altLang="zh-CN" sz="2000" strike="noStrike" noProof="0">
                <a:ln>
                  <a:noFill/>
                </a:ln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  <a:sym typeface="+mn-ea"/>
              </a:rPr>
              <a:t>=0</a:t>
            </a:r>
            <a:endParaRPr kumimoji="1" lang="en-US" altLang="zh-CN" sz="2000" strike="noStrike" noProof="0">
              <a:ln>
                <a:noFill/>
              </a:ln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宋体" panose="02010600030101010101" pitchFamily="2" charset="-122"/>
              <a:sym typeface="+mn-ea"/>
            </a:endParaRPr>
          </a:p>
          <a:p>
            <a:pPr marL="457200" marR="0" lvl="0" indent="-45720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charset="0"/>
              <a:buChar char="l"/>
              <a:defRPr/>
            </a:pPr>
            <a:r>
              <a:rPr kumimoji="1" lang="zh-CN" altLang="en-US" sz="2000" strike="noStrike" noProof="0">
                <a:ln>
                  <a:noFill/>
                </a:ln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  <a:sym typeface="+mn-ea"/>
              </a:rPr>
              <a:t>电源短路：关键特征：电压</a:t>
            </a:r>
            <a:r>
              <a:rPr kumimoji="1" lang="en-US" altLang="zh-CN" sz="2000" strike="noStrike" noProof="0">
                <a:ln>
                  <a:noFill/>
                </a:ln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  <a:sym typeface="+mn-ea"/>
              </a:rPr>
              <a:t>=0</a:t>
            </a:r>
            <a:endParaRPr kumimoji="1" lang="zh-CN" altLang="en-US" sz="2000" b="0" i="0" u="none" strike="noStrike" kern="1200" cap="none" spc="0" normalizeH="0" baseline="0" noProof="0">
              <a:ln>
                <a:noFill/>
              </a:ln>
              <a:solidFill>
                <a:srgbClr val="FF0000"/>
              </a:solidFill>
              <a:effectLst>
                <a:outerShdw blurRad="38100" dist="38100" dir="2700000" algn="tl">
                  <a:srgbClr val="C0C0C0"/>
                </a:outerShdw>
              </a:effectLst>
              <a:highlight>
                <a:srgbClr val="FFFF00"/>
              </a:highlight>
              <a:uLnTx/>
              <a:uFillTx/>
              <a:latin typeface="宋体" panose="02010600030101010101" pitchFamily="2" charset="-122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MMONDATA" val="eyJoZGlkIjoiNTBiMDI0ZTU3ZTMzNmY1YWNkZTAyM2ZmZTQzYTVkMjQifQ==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PLACING_PICTURE_USER_VIEWPORT" val="{&quot;height&quot;:2747.5007874015746,&quot;width&quot;:13722.500787401576}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52.75,&quot;left&quot;:42,&quot;top&quot;:70.12503937007874,&quot;width&quot;:648}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52.75,&quot;left&quot;:42,&quot;top&quot;:70.12503937007874,&quot;width&quot;:648}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52.75,&quot;left&quot;:42,&quot;top&quot;:70.12503937007874,&quot;width&quot;:648}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52.75,&quot;left&quot;:42,&quot;top&quot;:70.12503937007874,&quot;width&quot;:648}"/>
</p:tagLst>
</file>

<file path=ppt/theme/theme1.xml><?xml version="1.0" encoding="utf-8"?>
<a:theme xmlns:a="http://schemas.openxmlformats.org/drawingml/2006/main" name="演示文稿1">
  <a:themeElements>
    <a:clrScheme name="演示文稿1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演示文稿1">
      <a:majorFont>
        <a:latin typeface="Times New Roman"/>
        <a:ea typeface="宋体"/>
        <a:cs typeface=""/>
      </a:majorFont>
      <a:minorFont>
        <a:latin typeface="Times New Roman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1" lang="zh-CN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1" lang="zh-CN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演示文稿1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演示文稿1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演示文稿1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演示文稿1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演示文稿1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演示文稿1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演示文稿1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C:\Documents and Settings\王香婷\桌面\电工技术课件修改\演示文稿1.pot</Template>
  <TotalTime>6</TotalTime>
  <Words>2271</Words>
  <Application>Microsoft Office PowerPoint</Application>
  <PresentationFormat>全屏显示(4:3)</PresentationFormat>
  <Paragraphs>495</Paragraphs>
  <Slides>29</Slides>
  <Notes>0</Notes>
  <HiddenSlides>0</HiddenSlides>
  <MMClips>0</MMClips>
  <ScaleCrop>false</ScaleCrop>
  <HeadingPairs>
    <vt:vector size="8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3</vt:i4>
      </vt:variant>
      <vt:variant>
        <vt:lpstr>幻灯片标题</vt:lpstr>
      </vt:variant>
      <vt:variant>
        <vt:i4>29</vt:i4>
      </vt:variant>
    </vt:vector>
  </HeadingPairs>
  <TitlesOfParts>
    <vt:vector size="44" baseType="lpstr">
      <vt:lpstr>华文彩云</vt:lpstr>
      <vt:lpstr>华文新魏</vt:lpstr>
      <vt:lpstr>华文行楷</vt:lpstr>
      <vt:lpstr>楷体_GB2312</vt:lpstr>
      <vt:lpstr>宋体</vt:lpstr>
      <vt:lpstr>Bookman Old Style</vt:lpstr>
      <vt:lpstr>Calibri</vt:lpstr>
      <vt:lpstr>Symbol</vt:lpstr>
      <vt:lpstr>Tahoma</vt:lpstr>
      <vt:lpstr>Times New Roman</vt:lpstr>
      <vt:lpstr>Wingdings</vt:lpstr>
      <vt:lpstr>演示文稿1</vt:lpstr>
      <vt:lpstr>PBrush</vt:lpstr>
      <vt:lpstr>Paintbrush Picture</vt:lpstr>
      <vt:lpstr>Bitmap Image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1.5 电源有载工作、开路与短路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王香婷</dc:creator>
  <cp:lastModifiedBy>lishan liu</cp:lastModifiedBy>
  <cp:revision>95</cp:revision>
  <dcterms:created xsi:type="dcterms:W3CDTF">2003-07-18T00:16:00Z</dcterms:created>
  <dcterms:modified xsi:type="dcterms:W3CDTF">2026-03-03T11:09:13Z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94072078C64447B59E367EC7E73E33EB</vt:lpwstr>
  </property>
  <property fmtid="{D5CDD505-2E9C-101B-9397-08002B2CF9AE}" pid="3" name="KSOProductBuildVer">
    <vt:lpwstr>2052-12.1.0.23542</vt:lpwstr>
  </property>
</Properties>
</file>