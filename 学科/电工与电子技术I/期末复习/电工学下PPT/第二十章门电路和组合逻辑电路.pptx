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9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  <p:sldId id="277" r:id="rId23"/>
    <p:sldId id="278" r:id="rId24"/>
    <p:sldId id="300" r:id="rId25"/>
    <p:sldId id="279" r:id="rId26"/>
    <p:sldId id="280" r:id="rId27"/>
    <p:sldId id="281" r:id="rId28"/>
    <p:sldId id="282" r:id="rId29"/>
    <p:sldId id="283" r:id="rId30"/>
    <p:sldId id="284" r:id="rId3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7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7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18-01-22T11:46:27.0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13618 12105,'0'198,"-25"-148,1 24,24 25,-25-24,-25 24,25-25,0 50,25-49,-49-1,49-24,-25-1,0 1,25 0,-25-25,25-1,-24 1,24 0,-25 0,25 0,0-50</inkml:trace>
  <inkml:trace contextRef="#ctx0" brushRef="#br0" timeOffset="713.6292">13693 12328,'24'0,"1"0,0 50,25 24,-1 0,26 50,-51-24,26-1,-25-25,0 1,24 49,-49-75,25 1,0-25,-25 24,0-24,25 25,-25-25,24-1</inkml:trace>
  <inkml:trace contextRef="#ctx0" brushRef="#br0" timeOffset="1374.4353">13569 12898,'49'0,"1"0,-1 0,1 0,0 0,-26 0,26 0,-25 0,0 0,-1 0,1 0,0 0</inkml:trace>
  <inkml:trace contextRef="#ctx0" brushRef="#br0" timeOffset="2262.9858">13320 12129,'25'0,"50"0,24 0,0 0,0 0,1 0,24 0,-75-24,1 24,-25-25</inkml:trace>
  <inkml:trace contextRef="#ctx0" brushRef="#br0" timeOffset="3062.9227">13221 11906,'0'25,"25"-25,25 0,24 0,0 0,26 0,24 0,25 0,-25 0,-25 0,0 0,-25 0,-24 0,24 0,-49 0,25 0</inkml:trace>
  <inkml:trace contextRef="#ctx0" brushRef="#br0" timeOffset="3670.9158">14809 12601,'49'0,"51"0,-51 0,26 0,-51 0,26 0,-25 0,0 0,-1 0</inkml:trace>
  <inkml:trace contextRef="#ctx0" brushRef="#br0" timeOffset="4127.8966">14834 12923,'24'0,"51"0,24 0,0-25,-24 25,-26-24,1 24,-1 0,-24 0,50-50</inkml:trace>
  <inkml:trace contextRef="#ctx0" brushRef="#br0" timeOffset="4756.7028">16173 11931,'0'50,"0"24,-50 50,26-25,-26 50,50-74,-74 49,24 24,0-73,26-26,-1 26,0-26,0 1,25 0,-25-50,25 24,0 1,0 0,-24-25,24 25</inkml:trace>
  <inkml:trace contextRef="#ctx0" brushRef="#br0" timeOffset="5492.6094">15999 12005,'25'0,"0"0,0 0,24 50,-24-25,25 24,-25 26,-1-25,26 24,0 0,-1 26,1-26,-25 0,49 26,-49-26,0-24,24 24,-49-24,25-1,0-24,-25 0</inkml:trace>
  <inkml:trace contextRef="#ctx0" brushRef="#br0" timeOffset="6230.2072">16099 12799,'0'-25,"24"25,26 0,0-24,24-1,-24 0,24 25,-49 0,0-25,-1 25,1 0,0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18-01-23T13:18:44.1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7888 5011,'50'0,"24"0,-24 0,24 0,1 24,-26-24,1 25,0-25,-1 0,1 0,-1 0,-24 0,25 0,-1 0,26 0,-26 0,1 0,0 0,24 0,-49 0,24 0,1 0,-25 0,0 0,24 0,-24 0,25-25,-1 25,1 0,0-24,-1 24,-24 0,0 0,0 0,-1 0,26-25,-25 0,49 0,-49 25,25-25,-1 1,-24 24,0-25,0 25,-1-25,1 25,0 0,0 0,0 0,-1 0,51 0,24 0,50-25,-25 25,0-25,0 0,-50 25,-24 0,-25-24,0-1,-1 25,-24-25,0 0,25 0,-25 1,0-1,0 0,0 0,0 0,0 1,0-1,-25-25,1 25,24 1,-25-1,0 0,0 25,25-50,-25 26,-24-26,24 50,0-25,0 25,1-25,-26 1,0 24,26 0,-26 0,0-25,1 25,24 0,-25 0,-24-25,24 25,1 0,-1 0,0 0,-24 0,0 0,24 0,-24 0,24 0,-24 0,-1 0,50 0,-24 0,-1 0,25 0,-49 0,24 0,1 0,-1 0,25 0,-24 0,24 0,-50 0,26 0,-26 0,1 0,-25 0,24 0,1 0,24 0,1 0,24 0,-49 0,49 0,0 0,-25 0,1 0,24 0,0 0,0 0,0 25,1 0,-1-1,0 1,0 0,0 25,1-26,-26 1,50 50,-25-51,0 1,1 50,-1-51,25 26,0 0,0-1,0-24,0 0,0 0,0-1,0 1,0 0,0 0,0 0,0 24,0-24,0 0,0 0,0 0,0-1,25-24,-25 25,24 0,1-25,-25 25,25-25,25 0</inkml:trace>
  <inkml:trace contextRef="#ctx0" brushRef="#br0" timeOffset="2123.1212">8434 5631,'0'-25,"0"0,0 0,-50 0,-24 25,0-24,24-1,-25 0,1 25,0 0,-1 0,1-25,24 25,1 0,-1 0,-24 0,24 0,25 0,0 0,-24 0,24 0,-25 0,1 0,24 0,-25 0,1 0,24 0,-25 0,25 0,1 0,-26 0,25 0,0 0,1 0,-26 0,0 0,50-25,-24 25,-1 0,0 0,0 0,0 0,1 0,-1 0,0 0,0 0,-24 0,24 0,0 0,0 0,0 0,-24 0,24 0,-25 0,1 0,-1 0,1 0,24 0,-50 0,50 0,1 25,-26 0,25-25,0 0,1 0,-1 25,0 0,25-1,0 1,-50 0,50 0,-24-25,24 25,0-1,-25 1,25 0,0 0,0 0,0-1,0 1,0 0,0 25,25-25,24 24,1 1,-1-25,1-1,-25-24,24 25,1 0,-25-25,0 0,24 25,1-25,0 0,-1 25,26-25,-1 0,25 0,-24 0,-1 0,0 0,1 0,-1 0,1 0,-26 0,1 0,-25 0,24 0,-24 0,25 0,-25 0,49 0,-24 0,-1 0,-24 0,25 0,-1 0,-24 0,25 0,-26 0,26 0,-25 0,24 0,-24 0,50 0,-26 0,26 0,-51-25,26 25,-25 0,25-25,-26 25,1-25,0 25,0-25,0 25,-1 0,-24-24,50 24,-50-25,25 25,0-25,-1 25,-24-25,25 25,-25-49,25 24,-25 0,0 0,0 0,0 0,0 1,0-1,0 0,0 0,0 0,0 1,0-1,-25 0,0 0,1 25,24-25,-25 25,25-24,-25-1</inkml:trace>
  <inkml:trace contextRef="#ctx0" brushRef="#br0" timeOffset="4149.6067">6822 6623,'0'0,"0"-25,0 0,0 0,-25 1,0-1,0 25,-24-25,-1 0,0 0,1 1,-1-1,-24 25,24-25,-24 0,-1 25,1-25,-1 25,1 0,0 0,24 0,0 0,-24-24,24 24,26 0,-1 0,-25 0,1 0,-1 0,0 0,1 0,-1 0,25 0,-24 0,-1 0,25 0,1 0,-1 0,0 0,0 0,-24 0,24 0,0 0,0 0,-49-25,24 25,25 0,0 0,-24 0,24-25,0 25,-49 0,24 0,25 0,-24 0,-26 0,26 0,24 0,-49 0,-1 0,26 0,-1 0,0 25,1 0,-26-1,26 1,24 0,-50 0,51 0,-26-1,0 1,1 25,24-1,25-24,0 0,0 0,0 0,0-1,0 1,25 0,-25 0,49 24,-24-24,0 0,25 0,-26 0,51-25,-50 25,24-1,26-24,-26 25,51-25,-26 25,25-25,0 0,-24 0,24 0,0 25,-24-25,-1 0,0 0,1 0,-50 0,24 0,-24 0,25 0,-1 0,1 0,0 0,-1 0,1 0,-1 0,26 0,-50 0,24 0,-24 0,25 0,-1 0,1 0,-25 0,24 0,1 0,-1 0,-24 0,25 0,-25 0,24 0,1 0,-25 0,24 0,-24 0,25-25,-1 25,-24 0,25 0,-1-25,1 0,-25 25,24 0,26-24,-50-1,-1 25,1 0,-25-25,25 0,25 25,-26-50,1 50,-25-24,0-1,0 0,0 0,0-24,0 24,0 0,0 0,0 0,0 1,-25 24,1 0</inkml:trace>
  <inkml:trace contextRef="#ctx0" brushRef="#br0" timeOffset="5935.2098">4068 7317,'25'0,"50"0,-26 25,-24-25,49 25,-24-25,0 0,-26 0,1 0,50 0,-26 0,-24 0,25 0,-26 0,26 0,-25 0,0 0,-1 0,1 25,0-25,0 25,-25-1,25-24,-25 25,24 0,-24 0,0 0,25-1,0 1,-25 0,0 0,0 0,0-1,0 1,0 0,0 0,0 0,-25-1,-24 26,-1-25,25 0,0-25,1 0,-1 24,-25-24,25 50,1-50,-26 25,25-25,0 25,-49 0,24-25,26 0,-1 24,-25-24,25 0,1 0,-1 0,0 0,0 25,0 0,1-25,-1 0,0 0,0 0,0 0</inkml:trace>
  <inkml:trace contextRef="#ctx0" brushRef="#br0" timeOffset="7805.064">11088 7392,'0'0,"-25"0,0 0,1 0,-1 0,-25-25,25 25,-24-25,-26 25,26 0,-26 0,26 0,-26 0,26 0,24 0,-25 0,26 0,-1 0,0 0,0 0,0 0,0 0,1 0,-1 0,0 0,0 0,0 0,1 0,-1 0,0 0,-25 50,26-50,-1 0,0 25,0-25,0 24,1 1,-26-25,50 25,-25 0,0 0,1-1,24 1,-25 0,25 0,-25 0,25-1,-25 1,25 0,0 0,0 0,0-1,0 1,0 0,0 0,0 0,25-25,-25 24,25 1,0 0,-1-25,1 25,0 0,25-25,-26 25,1-1,50-24,-51 0,1 0,25 25,-1 0,1-25,0 0,-26 0,26 25,25-25,-51 25,26-25,-25 0,0 0,-1 0,26 0,-25 0,24 0,-24 0,0 0,0 0,0 0,-1 0,1 0,0 0,25 0,-1 0,-24 0,0 0,0 0,24 0,-24 0,0 0,0 0,-1-50</inkml:trace>
  <inkml:trace contextRef="#ctx0" brushRef="#br0" timeOffset="10489.4738">19571 4738,'0'-25,"0"0,0 0,0 0,0 1,0-1,0-25,-25 25,1-24,-1-1,0 25,0 1,0 24,1-25,-1 25,0 0,0 0,0 0,-24-25,24 25,0 0,0 0,-24 0,24 0,0 0,0 0,1 0,-1 0,0 0,0 0,0 0,1 0,-1 0,0 0,0 0,0 0,0 25,1 0,-1-1,0 1,0 0,0 25,-24-1,49-24,-25 25,0-1,0 1,25-1,0-24,0 50,0-50,0 24,0-24,0 25,0-1,0-24,0 0,0 24,0 1,0 0,0-1,0-24,0 25,0-26,25 1,-25 0,0 0,0 0,25 24,0 1,-25-25,25 24,-1 1,-24-25,0-1,25-24,-25 25,25 0,0 0,-25 0,25-25,-25 25,0-1,24 1,1-25,-25 25,25 0,0-25,0 0,0 0,-1 0,1 0,25 0,-1 0,1 0,0 0,-26 0,1 0,0 0,0 0,0-25,24 0,-24 0,0 1,0-1,-1 0,-24-25,25 1,0 24,-25-25,25 1,0-1,-25 25,0 0,0 1,0-26,0 25,0 0,24 1,-24-1,0-50,25 26,-25-1,0 25,0-24,0 24,0-25,0 26,0-1,0 0,0 0,25 0,0 25,-25-24,0-1,0 0,0 0,0 0,0 0,0 1,0-1</inkml:trace>
  <inkml:trace contextRef="#ctx0" brushRef="#br0" timeOffset="12397.0882">17934 5383,'-25'0,"1"0,-26 0,25-25,-24 0,-1 0,-25 25,51 0,-26 0,0-25,1 1,-1-1,-24 25,24 0,1 0,-1-25,0 25,26 0,-26 0,25 0,-24 0,24 0,-25 0,25 25,1-25,-1 25,-25-1,50 1,-25 0,1 25,-26-1,50-24,-25 25,25-1,-25-24,25 25,-25-1,25 1,0 24,0-24,-24 24,24-49,0 25,0-1,0 1,0 0,0-26,0 1,0 25,0-1,0-24,0 0,0 25,0-26,0 1,0 0,0 0,24 24,1-24,-25 25,25-25,-25-1,25 1,0 25,-25-25,25-25,-25 24,24-24,1 25,0-25,25 25,-26-25,1 25,0-25,0 0,24 0,-24 25,0-25,0 0,24 0,-24 25,25-25,-1 24,1-24,-50 25,25-25,0 0,-1 0,1 0,-25-25,25 25,0 0,0-24,-1 24,-24-25,25 0,50 0,-26-25,-24 26,-25-1,25 0,0-25,-25 26,0-1,25-50,24 1,-49 49,25 0,0-49,-25 24,25-24,-25 49,24-49,1 24,0-24,-25-1,0 51,25-1,-25 0,0-25,0 25,0 1,0-1,0 0,0 0,0-24,0-1,0 25,0 0,0 1,0-1,0 0,0 0,0 0,0 1,-25 24,25-25,0 0,-25 0,0 25</inkml:trace>
  <inkml:trace contextRef="#ctx0" brushRef="#br0" timeOffset="14257.476">15578 6598,'24'0,"-24"-25,0 0,-49 1,49-1,-50 0,25-25,1 50,24-24,-25 24,0 0,0-25,0 25,-49-25,49 25,-24 0,24 0,-50 0,1 0,49 0,-24 0,-1 0,0 0,26 0,-1 25,-25-25,25 25,1-1,-1 1,0 0,-49 49,49-49,-25 0,25 49,0-49,1 0,-1 49,0 1,25-50,0 49,0 1,0-1,0 0,0 1,0-26,0 26,0-50,0 49,25 0,0-24,-1-25,-24 24,25-24,-25 0,25 25,25 24,-50-49,25 0,-1-1,-24 1,25 0,0 0,-25 0,25 0,0-1,-1 1,1-25,0 25,-25 0,25-25,0 0,24 0,-24 0,49 0,-24 0,0 0,24 0,0-25,-49 25,25-25,-25 25,-1 0,1-25,0 25,0 0,0-24,-1 24,-24-25,50 25,-25-25,0-25,-1 50,1-49,0 24,-25 0,0 0,25-24,-25 24,25 0,-25 0,25-24,-25 24,0-25,0 25,24-24,1-1,0 1,-25 24,0 0,0-25,0 1,0-1,25 1,-25-1,0 0,0 26,0-1,0-25,0 25,0 1,0-1,0 0,0 0,0-25,0 26,0-1,0 0,0 0,0 0,0 1,0-1,0 0,0 0,0 0,0 1,-25-1,25 0,-25 25,0-25</inkml:trace>
  <inkml:trace contextRef="#ctx0" brushRef="#br0" timeOffset="15869.1889">20514 4118,'-25'0,"0"0,0 24,25 26,0 0,0-1,0 1,0-1,0 1,0-25,0 24,0 1,0-25,0 24,0-24,0 0,0 0,0 0,25 24,0-24,0 0,0 0,-1 0,-24-1,25 1,0-25,0 0,0 25,-1-25,1 0,0 0,0 0,0 0,24 0,-24 0,25 0,-1 0,1 0,-25 0,0 0,-1 0,26 0,0-25,-1-24,1 24,-1-25,-24 25,0 0,0 1,0-26,-1 25,26-24,-25-1,-25 25,74-49,-49 24,-25 25,25-24,-25 24,0 0</inkml:trace>
  <inkml:trace contextRef="#ctx0" brushRef="#br0" timeOffset="17538.3781">21580 7714,'0'-25,"0"1,0-1,0 0,0 0,0 0,0 1,-24-1,-1 0,25 0,-25 0,0-24,0 24,1 0,-1 0,0 1,25-1,-25 25,0-25,1 25,24-25,-25 25,-25-25,25 25,1 0,-1 0,0 0,0 0,0 0,1 0,-1 0,0 0,-25 0,26 0,-1 0,0 25,-25-25,25 25,1-25,-1 25,0-25,0 0,0 0,1 25,-1-1,-25-24,50 25,-25-25,1 25,-26 25,50-26,-25-24,25 50,0-25,-25 0,25 24,0-24,0 25,-24-26,24 1,0 25,0-25,0-1,0 1,0 0,0 0,0 0,0-1,0 1,0 0,0 0,0 25,0-26,0 1,0 0,0 0,0 0,0-1,0 1,0 0,0 0,0 0,0-1</inkml:trace>
  <inkml:trace contextRef="#ctx0" brushRef="#br0" timeOffset="18439.6164">21531 7590,'25'0,"-25"25,0 25,24-26,-24 1,0 25,25-25,-25-1,0 1,0 25,0-25,0 24,0 1,0-25,0 0,0-1,0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BBC73-E718-4ABA-8DAF-7594C8869E85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A3D72-2DCC-4B0E-8F8A-C2B798F93C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166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customXml" Target="../ink/ink1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1.bin"/><Relationship Id="rId18" Type="http://schemas.openxmlformats.org/officeDocument/2006/relationships/oleObject" Target="../embeddings/oleObject16.bin"/><Relationship Id="rId26" Type="http://schemas.openxmlformats.org/officeDocument/2006/relationships/oleObject" Target="../embeddings/oleObject22.bin"/><Relationship Id="rId3" Type="http://schemas.openxmlformats.org/officeDocument/2006/relationships/oleObject" Target="../embeddings/oleObject4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5.bin"/><Relationship Id="rId25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.bin"/><Relationship Id="rId20" Type="http://schemas.openxmlformats.org/officeDocument/2006/relationships/oleObject" Target="../embeddings/oleObject18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11" Type="http://schemas.openxmlformats.org/officeDocument/2006/relationships/oleObject" Target="../embeddings/oleObject10.bin"/><Relationship Id="rId24" Type="http://schemas.openxmlformats.org/officeDocument/2006/relationships/image" Target="../media/image17.wmf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3.bin"/><Relationship Id="rId23" Type="http://schemas.openxmlformats.org/officeDocument/2006/relationships/oleObject" Target="../embeddings/oleObject20.bin"/><Relationship Id="rId10" Type="http://schemas.openxmlformats.org/officeDocument/2006/relationships/oleObject" Target="../embeddings/oleObject9.bin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8.bin"/><Relationship Id="rId14" Type="http://schemas.openxmlformats.org/officeDocument/2006/relationships/oleObject" Target="../embeddings/oleObject12.bin"/><Relationship Id="rId22" Type="http://schemas.openxmlformats.org/officeDocument/2006/relationships/image" Target="../media/image16.wmf"/><Relationship Id="rId27" Type="http://schemas.openxmlformats.org/officeDocument/2006/relationships/image" Target="../media/image18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7" Type="http://schemas.openxmlformats.org/officeDocument/2006/relationships/image" Target="../media/image21.jp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19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39552" y="332656"/>
            <a:ext cx="7772400" cy="1470025"/>
          </a:xfrm>
        </p:spPr>
        <p:txBody>
          <a:bodyPr/>
          <a:lstStyle/>
          <a:p>
            <a:r>
              <a:rPr lang="zh-CN" altLang="en-US" dirty="0" smtClean="0"/>
              <a:t>第二十章 门电路和组合逻辑电路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772816"/>
            <a:ext cx="2301720" cy="30689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890" y="1124744"/>
            <a:ext cx="1939018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9384" y="465711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微博：易水两岸灯火阑珊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492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04664"/>
            <a:ext cx="629050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数制和</a:t>
            </a:r>
            <a:r>
              <a:rPr lang="en-US" altLang="zh-CN" dirty="0" smtClean="0"/>
              <a:t>BCD</a:t>
            </a:r>
            <a:r>
              <a:rPr lang="zh-CN" altLang="en-US" dirty="0" smtClean="0"/>
              <a:t>编制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十进制</a:t>
            </a:r>
            <a:r>
              <a:rPr lang="en-US" altLang="zh-CN" dirty="0" smtClean="0"/>
              <a:t>D</a:t>
            </a:r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二进制</a:t>
            </a:r>
            <a:r>
              <a:rPr lang="en-US" altLang="zh-CN" dirty="0" smtClean="0"/>
              <a:t>B</a:t>
            </a:r>
            <a:r>
              <a:rPr lang="zh-CN" altLang="en-US" dirty="0" smtClean="0"/>
              <a:t>（</a:t>
            </a:r>
            <a:r>
              <a:rPr lang="en-US" altLang="zh-CN" dirty="0" smtClean="0"/>
              <a:t>0,1</a:t>
            </a:r>
            <a:r>
              <a:rPr lang="zh-CN" altLang="en-US" dirty="0" smtClean="0"/>
              <a:t>）逢二进一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1101</a:t>
            </a:r>
            <a:r>
              <a:rPr lang="zh-CN" altLang="en-US" dirty="0" smtClean="0"/>
              <a:t>）</a:t>
            </a:r>
            <a:r>
              <a:rPr lang="en-US" altLang="zh-CN" baseline="-25000" dirty="0" smtClean="0"/>
              <a:t>B</a:t>
            </a:r>
            <a:r>
              <a:rPr lang="en-US" altLang="zh-CN" dirty="0" smtClean="0"/>
              <a:t>=1×2</a:t>
            </a:r>
            <a:r>
              <a:rPr lang="en-US" altLang="zh-CN" baseline="30000" dirty="0" smtClean="0"/>
              <a:t>3</a:t>
            </a:r>
            <a:r>
              <a:rPr lang="en-US" altLang="zh-CN" dirty="0" smtClean="0"/>
              <a:t>+1×2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+0×2</a:t>
            </a:r>
            <a:r>
              <a:rPr lang="en-US" altLang="zh-CN" baseline="30000" dirty="0" smtClean="0"/>
              <a:t>1</a:t>
            </a:r>
            <a:r>
              <a:rPr lang="en-US" altLang="zh-CN" dirty="0" smtClean="0"/>
              <a:t>+1×2</a:t>
            </a:r>
            <a:r>
              <a:rPr lang="en-US" altLang="zh-CN" baseline="30000" dirty="0" smtClean="0"/>
              <a:t>0</a:t>
            </a:r>
            <a:r>
              <a:rPr lang="en-US" altLang="zh-CN" dirty="0" smtClean="0"/>
              <a:t>=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13</a:t>
            </a:r>
            <a:r>
              <a:rPr lang="zh-CN" altLang="en-US" dirty="0" smtClean="0"/>
              <a:t>）</a:t>
            </a:r>
            <a:r>
              <a:rPr lang="en-US" altLang="zh-CN" baseline="-25000" dirty="0" smtClean="0"/>
              <a:t>D</a:t>
            </a:r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101101</a:t>
            </a:r>
            <a:r>
              <a:rPr lang="zh-CN" altLang="en-US" dirty="0" smtClean="0"/>
              <a:t>）</a:t>
            </a:r>
            <a:r>
              <a:rPr lang="en-US" altLang="zh-CN" baseline="-25000" dirty="0" smtClean="0"/>
              <a:t>B</a:t>
            </a:r>
            <a:r>
              <a:rPr lang="en-US" altLang="zh-CN" dirty="0" smtClean="0"/>
              <a:t>=1×2</a:t>
            </a:r>
            <a:r>
              <a:rPr lang="en-US" altLang="zh-CN" baseline="30000" dirty="0" smtClean="0"/>
              <a:t>5</a:t>
            </a:r>
            <a:r>
              <a:rPr lang="en-US" altLang="zh-CN" dirty="0" smtClean="0"/>
              <a:t>+0×2</a:t>
            </a:r>
            <a:r>
              <a:rPr lang="en-US" altLang="zh-CN" baseline="30000" dirty="0" smtClean="0"/>
              <a:t>4</a:t>
            </a:r>
            <a:r>
              <a:rPr lang="en-US" altLang="zh-CN" dirty="0" smtClean="0"/>
              <a:t>+1×2</a:t>
            </a:r>
            <a:r>
              <a:rPr lang="en-US" altLang="zh-CN" baseline="30000" dirty="0" smtClean="0"/>
              <a:t>3</a:t>
            </a:r>
            <a:r>
              <a:rPr lang="en-US" altLang="zh-CN" dirty="0" smtClean="0"/>
              <a:t>+1×2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+0×2</a:t>
            </a:r>
            <a:r>
              <a:rPr lang="en-US" altLang="zh-CN" baseline="30000" dirty="0" smtClean="0"/>
              <a:t>1</a:t>
            </a:r>
            <a:r>
              <a:rPr lang="en-US" altLang="zh-CN" dirty="0" smtClean="0"/>
              <a:t>+1×2</a:t>
            </a:r>
            <a:r>
              <a:rPr lang="en-US" altLang="zh-CN" baseline="30000" dirty="0" smtClean="0"/>
              <a:t>0</a:t>
            </a:r>
            <a:r>
              <a:rPr lang="en-US" altLang="zh-CN" dirty="0" smtClean="0"/>
              <a:t>=</a:t>
            </a:r>
            <a:r>
              <a:rPr lang="zh-CN" altLang="en-US" dirty="0" smtClean="0"/>
              <a:t>（</a:t>
            </a:r>
            <a:r>
              <a:rPr lang="en-US" altLang="zh-CN" dirty="0" smtClean="0"/>
              <a:t>43</a:t>
            </a:r>
            <a:r>
              <a:rPr lang="zh-CN" altLang="en-US" dirty="0" smtClean="0"/>
              <a:t>）</a:t>
            </a:r>
            <a:r>
              <a:rPr lang="en-US" altLang="zh-CN" baseline="-25000" dirty="0" smtClean="0"/>
              <a:t>D</a:t>
            </a:r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十六进制</a:t>
            </a:r>
            <a:r>
              <a:rPr lang="en-US" altLang="zh-CN" dirty="0" smtClean="0"/>
              <a:t>H</a:t>
            </a:r>
            <a:r>
              <a:rPr lang="zh-CN" altLang="en-US" dirty="0" smtClean="0"/>
              <a:t>（</a:t>
            </a:r>
            <a:r>
              <a:rPr lang="en-US" altLang="zh-CN" dirty="0" smtClean="0"/>
              <a:t>0-9</a:t>
            </a:r>
            <a:r>
              <a:rPr lang="zh-CN" altLang="en-US" dirty="0" smtClean="0"/>
              <a:t>，</a:t>
            </a:r>
            <a:r>
              <a:rPr lang="en-US" altLang="zh-CN" dirty="0" smtClean="0"/>
              <a:t>A-F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2AF5</a:t>
            </a:r>
            <a:r>
              <a:rPr lang="zh-CN" altLang="en-US" dirty="0" smtClean="0"/>
              <a:t>）</a:t>
            </a:r>
            <a:r>
              <a:rPr lang="en-US" altLang="zh-CN" baseline="-25000" dirty="0" smtClean="0"/>
              <a:t>H</a:t>
            </a:r>
            <a:r>
              <a:rPr lang="en-US" altLang="zh-CN" dirty="0" smtClean="0"/>
              <a:t>=2×16</a:t>
            </a:r>
            <a:r>
              <a:rPr lang="en-US" altLang="zh-CN" baseline="30000" dirty="0" smtClean="0"/>
              <a:t>3</a:t>
            </a:r>
            <a:r>
              <a:rPr lang="en-US" altLang="zh-CN" dirty="0" smtClean="0"/>
              <a:t>+10×16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+15×16</a:t>
            </a:r>
            <a:r>
              <a:rPr lang="en-US" altLang="zh-CN" baseline="30000" dirty="0" smtClean="0"/>
              <a:t>1</a:t>
            </a:r>
            <a:r>
              <a:rPr lang="en-US" altLang="zh-CN" dirty="0" smtClean="0"/>
              <a:t>+5×16</a:t>
            </a:r>
            <a:r>
              <a:rPr lang="en-US" altLang="zh-CN" baseline="30000" dirty="0" smtClean="0"/>
              <a:t>0</a:t>
            </a:r>
            <a:r>
              <a:rPr lang="en-US" altLang="zh-CN" dirty="0" smtClean="0"/>
              <a:t>=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10997</a:t>
            </a:r>
            <a:r>
              <a:rPr lang="zh-CN" altLang="en-US" dirty="0" smtClean="0"/>
              <a:t>）</a:t>
            </a:r>
            <a:r>
              <a:rPr lang="en-US" altLang="zh-CN" baseline="-25000" dirty="0" smtClean="0"/>
              <a:t>D</a:t>
            </a:r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十进制和二进制的转化</a:t>
            </a:r>
            <a:endParaRPr lang="en-US" altLang="zh-CN" dirty="0" smtClean="0"/>
          </a:p>
          <a:p>
            <a:r>
              <a:rPr lang="zh-CN" altLang="en-US" dirty="0" smtClean="0"/>
              <a:t>整数部分：除二取余，逆序</a:t>
            </a:r>
            <a:endParaRPr lang="en-US" altLang="zh-CN" dirty="0" smtClean="0"/>
          </a:p>
          <a:p>
            <a:r>
              <a:rPr lang="zh-CN" altLang="en-US" dirty="0"/>
              <a:t>小数</a:t>
            </a:r>
            <a:r>
              <a:rPr lang="zh-CN" altLang="en-US" dirty="0" smtClean="0"/>
              <a:t>部分：乘二取整，正序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25.375</a:t>
            </a:r>
            <a:r>
              <a:rPr lang="zh-CN" altLang="en-US" dirty="0" smtClean="0"/>
              <a:t>）</a:t>
            </a:r>
            <a:r>
              <a:rPr lang="en-US" altLang="zh-CN" baseline="-25000" dirty="0" smtClean="0"/>
              <a:t>D</a:t>
            </a:r>
            <a:r>
              <a:rPr lang="en-US" altLang="zh-CN" dirty="0" smtClean="0"/>
              <a:t>=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11001.011</a:t>
            </a:r>
            <a:r>
              <a:rPr lang="zh-CN" altLang="en-US" dirty="0" smtClean="0"/>
              <a:t>）</a:t>
            </a:r>
            <a:r>
              <a:rPr lang="en-US" altLang="zh-CN" baseline="-25000" dirty="0" smtClean="0"/>
              <a:t>B</a:t>
            </a:r>
            <a:endParaRPr lang="zh-CN" altLang="en-US" baseline="-25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8" t="4921" r="45696" b="8518"/>
          <a:stretch/>
        </p:blipFill>
        <p:spPr>
          <a:xfrm rot="16200000">
            <a:off x="2084130" y="1787757"/>
            <a:ext cx="2423887" cy="593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14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476672"/>
            <a:ext cx="849463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5.</a:t>
            </a:r>
            <a:r>
              <a:rPr lang="zh-CN" altLang="en-US" dirty="0" smtClean="0"/>
              <a:t>二进制和十六进制的转化</a:t>
            </a:r>
            <a:endParaRPr lang="en-US" altLang="zh-CN" dirty="0" smtClean="0"/>
          </a:p>
          <a:p>
            <a:r>
              <a:rPr lang="zh-CN" altLang="en-US" dirty="0" smtClean="0"/>
              <a:t>二到十六：以小数点为界，沿前后两个方向把四位二进制划分为一组，把每一组用</a:t>
            </a:r>
            <a:endParaRPr lang="en-US" altLang="zh-CN" dirty="0" smtClean="0"/>
          </a:p>
          <a:p>
            <a:r>
              <a:rPr lang="zh-CN" altLang="en-US" dirty="0" smtClean="0"/>
              <a:t>一位等值的十六进制的数代替</a:t>
            </a:r>
            <a:endParaRPr lang="en-US" altLang="zh-CN" dirty="0" smtClean="0"/>
          </a:p>
          <a:p>
            <a:r>
              <a:rPr lang="zh-CN" altLang="en-US" dirty="0" smtClean="0"/>
              <a:t>（ </a:t>
            </a:r>
            <a:r>
              <a:rPr lang="en-US" altLang="zh-CN" dirty="0" smtClean="0"/>
              <a:t>101  1110  .  1011  001</a:t>
            </a:r>
            <a:r>
              <a:rPr lang="zh-CN" altLang="en-US" dirty="0" smtClean="0"/>
              <a:t>）</a:t>
            </a:r>
            <a:r>
              <a:rPr lang="en-US" altLang="zh-CN" baseline="-25000" dirty="0" smtClean="0"/>
              <a:t>B</a:t>
            </a:r>
            <a:r>
              <a:rPr lang="en-US" altLang="zh-CN" dirty="0" smtClean="0"/>
              <a:t>=</a:t>
            </a:r>
            <a:r>
              <a:rPr lang="zh-CN" altLang="en-US" dirty="0" smtClean="0"/>
              <a:t>（</a:t>
            </a:r>
            <a:r>
              <a:rPr lang="en-US" altLang="zh-CN" dirty="0" smtClean="0"/>
              <a:t>5E. B2</a:t>
            </a:r>
            <a:r>
              <a:rPr lang="zh-CN" altLang="en-US" dirty="0" smtClean="0"/>
              <a:t>）</a:t>
            </a:r>
            <a:r>
              <a:rPr lang="en-US" altLang="zh-CN" baseline="-25000" dirty="0" smtClean="0"/>
              <a:t>H</a:t>
            </a:r>
          </a:p>
          <a:p>
            <a:r>
              <a:rPr lang="zh-CN" altLang="en-US" dirty="0" smtClean="0"/>
              <a:t>十六到二：一位十六进制数，用四位二进制数表示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BCD</a:t>
            </a:r>
            <a:r>
              <a:rPr lang="zh-CN" altLang="en-US" dirty="0" smtClean="0"/>
              <a:t>编码      </a:t>
            </a:r>
            <a:r>
              <a:rPr lang="en-US" altLang="zh-CN" dirty="0" smtClean="0"/>
              <a:t>8421 BCD</a:t>
            </a:r>
            <a:r>
              <a:rPr lang="zh-CN" altLang="en-US" dirty="0" smtClean="0"/>
              <a:t>码（</a:t>
            </a:r>
            <a:r>
              <a:rPr lang="en-US" altLang="zh-CN" dirty="0" smtClean="0"/>
              <a:t>0011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                                      8421</a:t>
            </a:r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27</a:t>
            </a:r>
            <a:r>
              <a:rPr lang="zh-CN" altLang="en-US" dirty="0" smtClean="0"/>
              <a:t>）</a:t>
            </a:r>
            <a:r>
              <a:rPr lang="en-US" altLang="zh-CN" baseline="-25000" dirty="0" smtClean="0"/>
              <a:t>D</a:t>
            </a:r>
            <a:r>
              <a:rPr lang="en-US" altLang="zh-CN" dirty="0" smtClean="0"/>
              <a:t>=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11011</a:t>
            </a:r>
            <a:r>
              <a:rPr lang="zh-CN" altLang="en-US" dirty="0" smtClean="0"/>
              <a:t>）</a:t>
            </a:r>
            <a:r>
              <a:rPr lang="en-US" altLang="zh-CN" baseline="-25000" dirty="0" smtClean="0"/>
              <a:t>B</a:t>
            </a:r>
            <a:r>
              <a:rPr lang="en-US" altLang="zh-CN" dirty="0" smtClean="0"/>
              <a:t>=</a:t>
            </a:r>
            <a:r>
              <a:rPr lang="zh-CN" altLang="en-US" dirty="0" smtClean="0"/>
              <a:t>（</a:t>
            </a:r>
            <a:r>
              <a:rPr lang="en-US" altLang="zh-CN" dirty="0" smtClean="0"/>
              <a:t>0010  0111</a:t>
            </a:r>
            <a:r>
              <a:rPr lang="zh-CN" altLang="en-US" dirty="0" smtClean="0"/>
              <a:t>）</a:t>
            </a:r>
            <a:r>
              <a:rPr lang="en-US" altLang="zh-CN" baseline="-25000" dirty="0" smtClean="0"/>
              <a:t>BCD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                                         2        7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9" t="17593" r="48236" b="62487"/>
          <a:stretch/>
        </p:blipFill>
        <p:spPr>
          <a:xfrm rot="16200000">
            <a:off x="-284037" y="3532510"/>
            <a:ext cx="2293257" cy="13661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71800" y="4005064"/>
            <a:ext cx="288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二进制与</a:t>
            </a:r>
            <a:r>
              <a:rPr lang="en-US" altLang="zh-CN" dirty="0" smtClean="0"/>
              <a:t>BCD</a:t>
            </a:r>
            <a:r>
              <a:rPr lang="zh-CN" altLang="en-US" dirty="0" smtClean="0"/>
              <a:t>编码是不同的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922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4858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与门电路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6" t="48677" r="4128" b="3281"/>
          <a:stretch/>
        </p:blipFill>
        <p:spPr>
          <a:xfrm>
            <a:off x="268153" y="535385"/>
            <a:ext cx="8273143" cy="32947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47482" y="9036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05333" y="9036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298070" y="9179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586698" y="9036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888384" y="9179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039227" y="9179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340913" y="9179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046819" y="13611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03647" y="13132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307019" y="13497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573775" y="13641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888384" y="13641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190070" y="1396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491756" y="1396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781684" y="1819037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0  0</a:t>
            </a:r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398608" y="19980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802945" y="1998090"/>
            <a:ext cx="1075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0  0   0   0</a:t>
            </a:r>
            <a:endParaRPr lang="zh-CN" altLang="en-US" dirty="0"/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85468"/>
              </p:ext>
            </p:extLst>
          </p:nvPr>
        </p:nvGraphicFramePr>
        <p:xfrm>
          <a:off x="539553" y="4252544"/>
          <a:ext cx="1800198" cy="22240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0066"/>
                <a:gridCol w="600066"/>
                <a:gridCol w="600066"/>
              </a:tblGrid>
              <a:tr h="342461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</a:t>
                      </a:r>
                      <a:endParaRPr lang="zh-CN" altLang="en-US" dirty="0"/>
                    </a:p>
                  </a:txBody>
                  <a:tcPr/>
                </a:tc>
              </a:tr>
              <a:tr h="46458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46458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46458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46458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267744" y="3916898"/>
            <a:ext cx="198002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/>
              <a:t>逻辑表达式</a:t>
            </a:r>
            <a:endParaRPr lang="en-US" altLang="zh-CN" sz="2800" dirty="0" smtClean="0"/>
          </a:p>
          <a:p>
            <a:r>
              <a:rPr lang="en-US" altLang="zh-CN" sz="2800" dirty="0" smtClean="0"/>
              <a:t>F=A·B</a:t>
            </a:r>
            <a:endParaRPr lang="zh-CN" altLang="en-US" sz="2800" dirty="0"/>
          </a:p>
        </p:txBody>
      </p:sp>
      <p:sp>
        <p:nvSpPr>
          <p:cNvPr id="25" name="TextBox 24"/>
          <p:cNvSpPr txBox="1"/>
          <p:nvPr/>
        </p:nvSpPr>
        <p:spPr>
          <a:xfrm>
            <a:off x="920934" y="391689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真值表</a:t>
            </a:r>
            <a:endParaRPr lang="zh-CN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576780" y="4101563"/>
            <a:ext cx="925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A·A=1</a:t>
            </a:r>
            <a:endParaRPr lang="en-US" altLang="zh-CN" dirty="0" smtClean="0"/>
          </a:p>
          <a:p>
            <a:r>
              <a:rPr lang="en-US" altLang="zh-CN" dirty="0"/>
              <a:t>A·  </a:t>
            </a:r>
            <a:r>
              <a:rPr lang="en-US" altLang="zh-CN" dirty="0" smtClean="0"/>
              <a:t>    =0</a:t>
            </a:r>
            <a:endParaRPr lang="zh-CN" altLang="en-US" dirty="0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022369"/>
              </p:ext>
            </p:extLst>
          </p:nvPr>
        </p:nvGraphicFramePr>
        <p:xfrm>
          <a:off x="4821009" y="4393950"/>
          <a:ext cx="328945" cy="384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公式" r:id="rId4" imgW="126720" imgH="215640" progId="Equation.3">
                  <p:embed/>
                </p:oleObj>
              </mc:Choice>
              <mc:Fallback>
                <p:oleObj name="公式" r:id="rId4" imgW="12672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21009" y="4393950"/>
                        <a:ext cx="328945" cy="3841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991676" y="4120594"/>
            <a:ext cx="3204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A</a:t>
            </a:r>
            <a:r>
              <a:rPr lang="zh-CN" altLang="en-US" dirty="0" smtClean="0"/>
              <a:t>取</a:t>
            </a:r>
            <a:r>
              <a:rPr lang="en-US" altLang="zh-CN" dirty="0" smtClean="0"/>
              <a:t>1</a:t>
            </a:r>
            <a:r>
              <a:rPr lang="zh-CN" altLang="en-US" dirty="0" smtClean="0"/>
              <a:t>和</a:t>
            </a:r>
            <a:r>
              <a:rPr lang="en-US" altLang="zh-CN" dirty="0" smtClean="0"/>
              <a:t>0</a:t>
            </a:r>
            <a:r>
              <a:rPr lang="zh-CN" altLang="en-US" dirty="0" smtClean="0"/>
              <a:t>分别带一下就能明白</a:t>
            </a:r>
            <a:endParaRPr lang="zh-CN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467129" y="9034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479998" y="12872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5502033" y="18190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4247773" y="55892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全一出一</a:t>
            </a:r>
            <a:endParaRPr lang="zh-CN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656539" y="1412733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F</a:t>
            </a:r>
            <a:endParaRPr lang="zh-CN" alt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5355769" y="2188369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F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514139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4799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或门电路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25" b="15387"/>
          <a:stretch/>
        </p:blipFill>
        <p:spPr>
          <a:xfrm rot="16200000">
            <a:off x="2235358" y="-1704264"/>
            <a:ext cx="3236373" cy="7707085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525645"/>
              </p:ext>
            </p:extLst>
          </p:nvPr>
        </p:nvGraphicFramePr>
        <p:xfrm>
          <a:off x="611560" y="4318353"/>
          <a:ext cx="1535832" cy="1910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1944"/>
                <a:gridCol w="511944"/>
                <a:gridCol w="511944"/>
              </a:tblGrid>
              <a:tr h="38208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</a:t>
                      </a:r>
                      <a:endParaRPr lang="zh-CN" altLang="en-US" dirty="0"/>
                    </a:p>
                  </a:txBody>
                  <a:tcPr/>
                </a:tc>
              </a:tr>
              <a:tr h="38208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8208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8208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8208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8926" y="394902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真值表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435289" y="4133687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逻辑表达式</a:t>
            </a:r>
            <a:endParaRPr lang="en-US" altLang="zh-CN" sz="2400" dirty="0" smtClean="0"/>
          </a:p>
          <a:p>
            <a:r>
              <a:rPr lang="en-US" altLang="zh-CN" sz="2400" dirty="0" smtClean="0"/>
              <a:t>F=A+B</a:t>
            </a:r>
            <a:endParaRPr lang="zh-CN" alt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5004048" y="4133687"/>
            <a:ext cx="930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A+A=A</a:t>
            </a:r>
          </a:p>
          <a:p>
            <a:r>
              <a:rPr lang="en-US" altLang="zh-CN" dirty="0" smtClean="0"/>
              <a:t>A+     =1</a:t>
            </a:r>
            <a:endParaRPr lang="zh-CN" altLang="en-US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627648"/>
              </p:ext>
            </p:extLst>
          </p:nvPr>
        </p:nvGraphicFramePr>
        <p:xfrm>
          <a:off x="5304773" y="4428790"/>
          <a:ext cx="3286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公式" r:id="rId4" imgW="126720" imgH="215640" progId="Equation.3">
                  <p:embed/>
                </p:oleObj>
              </mc:Choice>
              <mc:Fallback>
                <p:oleObj name="公式" r:id="rId4" imgW="126720" imgH="215640" progId="Equation.3">
                  <p:embed/>
                  <p:pic>
                    <p:nvPicPr>
                      <p:cNvPr id="0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4773" y="4428790"/>
                        <a:ext cx="32861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213245" y="761917"/>
            <a:ext cx="2178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0   1  0   1   0   1   0   1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86795" y="1228110"/>
            <a:ext cx="2178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0   0   1   1  0    0   0  0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213245" y="1779946"/>
            <a:ext cx="2231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0   1    1   1   0  1   0   1</a:t>
            </a:r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297063" y="544522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有一出一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572000" y="1412776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F</a:t>
            </a:r>
            <a:endParaRPr lang="zh-CN" alt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004048" y="196461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F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95060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4799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非门电路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06" r="25714" b="34391"/>
          <a:stretch/>
        </p:blipFill>
        <p:spPr>
          <a:xfrm>
            <a:off x="33625" y="517322"/>
            <a:ext cx="6792686" cy="3120573"/>
          </a:xfrm>
          <a:prstGeom prst="rect">
            <a:avLst/>
          </a:prstGeom>
        </p:spPr>
      </p:pic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988713"/>
              </p:ext>
            </p:extLst>
          </p:nvPr>
        </p:nvGraphicFramePr>
        <p:xfrm>
          <a:off x="539552" y="4509120"/>
          <a:ext cx="1103784" cy="11687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1892"/>
                <a:gridCol w="551892"/>
              </a:tblGrid>
              <a:tr h="38958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</a:t>
                      </a:r>
                      <a:endParaRPr lang="zh-CN" altLang="en-US" dirty="0"/>
                    </a:p>
                  </a:txBody>
                  <a:tcPr/>
                </a:tc>
              </a:tr>
              <a:tr h="38958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8958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395015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真值表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339752" y="4319489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逻辑表达式</a:t>
            </a:r>
            <a:endParaRPr lang="en-US" altLang="zh-CN" dirty="0" smtClean="0"/>
          </a:p>
          <a:p>
            <a:r>
              <a:rPr lang="en-US" altLang="zh-CN" dirty="0" smtClean="0"/>
              <a:t>F=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888267"/>
              </p:ext>
            </p:extLst>
          </p:nvPr>
        </p:nvGraphicFramePr>
        <p:xfrm>
          <a:off x="2702257" y="4581645"/>
          <a:ext cx="3286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公式" r:id="rId4" imgW="126780" imgH="215526" progId="Equation.3">
                  <p:embed/>
                </p:oleObj>
              </mc:Choice>
              <mc:Fallback>
                <p:oleObj name="公式" r:id="rId4" imgW="126780" imgH="215526" progId="Equation.3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2257" y="4581645"/>
                        <a:ext cx="32861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墨迹 7"/>
              <p14:cNvContentPartPr/>
              <p14:nvPr/>
            </p14:nvContentPartPr>
            <p14:xfrm>
              <a:off x="4759560" y="4286160"/>
              <a:ext cx="1250640" cy="545040"/>
            </p14:xfrm>
          </p:contentPart>
        </mc:Choice>
        <mc:Fallback xmlns="">
          <p:pic>
            <p:nvPicPr>
              <p:cNvPr id="8" name="墨迹 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50200" y="4276800"/>
                <a:ext cx="1269360" cy="5637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/>
          <p:cNvSpPr txBox="1"/>
          <p:nvPr/>
        </p:nvSpPr>
        <p:spPr>
          <a:xfrm>
            <a:off x="3971504" y="1052736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F</a:t>
            </a:r>
            <a:endParaRPr lang="zh-CN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261968" y="16288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F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741562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0165" y="481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与非门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0" t="58624" r="12698" b="6667"/>
          <a:stretch/>
        </p:blipFill>
        <p:spPr>
          <a:xfrm>
            <a:off x="0" y="417441"/>
            <a:ext cx="8172400" cy="34103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16786" y="7366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逻辑表达式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564093"/>
              </p:ext>
            </p:extLst>
          </p:nvPr>
        </p:nvGraphicFramePr>
        <p:xfrm>
          <a:off x="818746" y="4365104"/>
          <a:ext cx="1535832" cy="1910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1944"/>
                <a:gridCol w="511944"/>
                <a:gridCol w="511944"/>
              </a:tblGrid>
              <a:tr h="38208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</a:t>
                      </a:r>
                      <a:endParaRPr lang="zh-CN" altLang="en-US" dirty="0"/>
                    </a:p>
                  </a:txBody>
                  <a:tcPr/>
                </a:tc>
              </a:tr>
              <a:tr h="38208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8208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8208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8208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43608" y="407707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真值表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416786" y="58003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F</a:t>
            </a:r>
            <a:endParaRPr lang="zh-CN" alt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150070" y="1620597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F</a:t>
            </a:r>
            <a:endParaRPr lang="zh-CN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440534" y="201359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F</a:t>
            </a:r>
            <a:endParaRPr lang="zh-CN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995936" y="4446404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比较重要，后面用与非门设计逻辑电路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52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26064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或非门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55230" r="16984" b="8791"/>
          <a:stretch/>
        </p:blipFill>
        <p:spPr>
          <a:xfrm>
            <a:off x="18887" y="836712"/>
            <a:ext cx="8153513" cy="3261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07904" y="44531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逻辑表达式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43061" y="191683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F</a:t>
            </a:r>
            <a:endParaRPr lang="zh-CN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833525" y="2561419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F</a:t>
            </a:r>
            <a:endParaRPr lang="zh-CN" altLang="en-US" b="1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6308"/>
              </p:ext>
            </p:extLst>
          </p:nvPr>
        </p:nvGraphicFramePr>
        <p:xfrm>
          <a:off x="288759" y="4797152"/>
          <a:ext cx="1679847" cy="19104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949"/>
                <a:gridCol w="559949"/>
                <a:gridCol w="559949"/>
              </a:tblGrid>
              <a:tr h="43969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</a:t>
                      </a:r>
                      <a:endParaRPr lang="zh-CN" altLang="en-US" dirty="0"/>
                    </a:p>
                  </a:txBody>
                  <a:tcPr/>
                </a:tc>
              </a:tr>
              <a:tr h="36768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6768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6768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6768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9552" y="436510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真值表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1439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68"/>
          <a:stretch/>
        </p:blipFill>
        <p:spPr>
          <a:xfrm>
            <a:off x="249266" y="-10187"/>
            <a:ext cx="6952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794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" t="26455" r="16667" b="8783"/>
          <a:stretch/>
        </p:blipFill>
        <p:spPr>
          <a:xfrm>
            <a:off x="-26346" y="0"/>
            <a:ext cx="9231448" cy="551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31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7" y="332656"/>
            <a:ext cx="7524560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运算律（</a:t>
            </a:r>
            <a:r>
              <a:rPr lang="zh-CN" altLang="en-US" b="1" dirty="0" smtClean="0">
                <a:solidFill>
                  <a:srgbClr val="FF0000"/>
                </a:solidFill>
              </a:rPr>
              <a:t>全都得记下来，千万别记错了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/>
              <a:t>1.A+B=B+A    </a:t>
            </a:r>
            <a:r>
              <a:rPr lang="en-US" altLang="zh-CN" dirty="0" smtClean="0"/>
              <a:t>A·B=B·A</a:t>
            </a:r>
          </a:p>
          <a:p>
            <a:r>
              <a:rPr lang="en-US" altLang="zh-CN" dirty="0"/>
              <a:t>2.A·(B·C)=(A·B) </a:t>
            </a:r>
            <a:r>
              <a:rPr lang="en-US" altLang="zh-CN" dirty="0" smtClean="0"/>
              <a:t>·C     A+(B+C)=(A+B)+C</a:t>
            </a:r>
          </a:p>
          <a:p>
            <a:r>
              <a:rPr lang="en-US" altLang="zh-CN" dirty="0" smtClean="0"/>
              <a:t>3.A(B+C)=AB+AC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A+BC=(A+B)(A+C)</a:t>
            </a:r>
          </a:p>
          <a:p>
            <a:r>
              <a:rPr lang="zh-CN" altLang="en-US" dirty="0" smtClean="0"/>
              <a:t>证明：</a:t>
            </a:r>
            <a:r>
              <a:rPr lang="en-US" altLang="zh-CN" dirty="0" smtClean="0"/>
              <a:t>(</a:t>
            </a:r>
            <a:r>
              <a:rPr lang="en-US" altLang="zh-CN" dirty="0"/>
              <a:t>A+B)(A+C)=</a:t>
            </a:r>
            <a:r>
              <a:rPr lang="en-US" altLang="zh-CN" dirty="0" smtClean="0"/>
              <a:t>A·A+A·C+A·B+B·C</a:t>
            </a:r>
            <a:endParaRPr lang="en-US" altLang="zh-CN" dirty="0"/>
          </a:p>
          <a:p>
            <a:r>
              <a:rPr lang="en-US" altLang="zh-CN" dirty="0" smtClean="0"/>
              <a:t> </a:t>
            </a:r>
            <a:r>
              <a:rPr lang="en-US" altLang="zh-CN" dirty="0"/>
              <a:t>                                =A(1+C+B)+</a:t>
            </a:r>
            <a:r>
              <a:rPr lang="en-US" altLang="zh-CN" dirty="0" smtClean="0"/>
              <a:t>B·C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                      =A+BC</a:t>
            </a:r>
          </a:p>
          <a:p>
            <a:r>
              <a:rPr lang="en-US" altLang="zh-CN" dirty="0" smtClean="0"/>
              <a:t>4.</a:t>
            </a:r>
            <a:r>
              <a:rPr lang="en-US" altLang="zh-CN" dirty="0"/>
              <a:t> </a:t>
            </a:r>
            <a:r>
              <a:rPr lang="en-US" altLang="zh-CN" dirty="0" smtClean="0"/>
              <a:t>A·A=A     </a:t>
            </a:r>
            <a:r>
              <a:rPr lang="en-US" altLang="zh-CN" dirty="0"/>
              <a:t>A+A=A</a:t>
            </a:r>
          </a:p>
          <a:p>
            <a:r>
              <a:rPr lang="en-US" altLang="zh-CN" dirty="0" smtClean="0"/>
              <a:t>5.</a:t>
            </a:r>
            <a:r>
              <a:rPr lang="en-US" altLang="zh-CN" dirty="0"/>
              <a:t> A+   =1     A</a:t>
            </a:r>
            <a:r>
              <a:rPr lang="en-US" altLang="zh-CN" dirty="0" smtClean="0"/>
              <a:t>·     =0</a:t>
            </a:r>
            <a:endParaRPr lang="zh-CN" altLang="en-US" dirty="0"/>
          </a:p>
          <a:p>
            <a:r>
              <a:rPr lang="en-US" altLang="zh-CN" dirty="0" smtClean="0"/>
              <a:t>6.</a:t>
            </a:r>
          </a:p>
          <a:p>
            <a:r>
              <a:rPr lang="en-US" altLang="zh-CN" dirty="0" smtClean="0"/>
              <a:t>7.</a:t>
            </a:r>
            <a:r>
              <a:rPr lang="en-US" altLang="zh-CN" dirty="0"/>
              <a:t> </a:t>
            </a:r>
            <a:r>
              <a:rPr lang="en-US" altLang="zh-CN" dirty="0" smtClean="0"/>
              <a:t>1+A=1     1·A=A</a:t>
            </a:r>
          </a:p>
          <a:p>
            <a:r>
              <a:rPr lang="en-US" altLang="zh-CN" dirty="0" smtClean="0"/>
              <a:t>8.</a:t>
            </a:r>
            <a:r>
              <a:rPr lang="zh-CN" altLang="en-US" dirty="0" smtClean="0">
                <a:solidFill>
                  <a:srgbClr val="FF0000"/>
                </a:solidFill>
              </a:rPr>
              <a:t>吸收律   </a:t>
            </a:r>
            <a:r>
              <a:rPr lang="en-US" altLang="zh-CN" dirty="0" smtClean="0">
                <a:solidFill>
                  <a:srgbClr val="FF0000"/>
                </a:solidFill>
              </a:rPr>
              <a:t>A+     B=A+B</a:t>
            </a:r>
          </a:p>
          <a:p>
            <a:r>
              <a:rPr lang="zh-CN" altLang="en-US" dirty="0" smtClean="0"/>
              <a:t>证明：</a:t>
            </a:r>
            <a:r>
              <a:rPr lang="en-US" altLang="zh-CN" dirty="0"/>
              <a:t> A+     B</a:t>
            </a:r>
            <a:r>
              <a:rPr lang="en-US" altLang="zh-CN" dirty="0" smtClean="0"/>
              <a:t>= (A+   )(A+B)=A+B</a:t>
            </a:r>
            <a:r>
              <a:rPr lang="zh-CN" altLang="en-US" dirty="0" smtClean="0"/>
              <a:t>（用第三条总结）</a:t>
            </a:r>
            <a:endParaRPr lang="en-US" altLang="zh-CN" dirty="0" smtClean="0"/>
          </a:p>
          <a:p>
            <a:r>
              <a:rPr lang="en-US" altLang="zh-CN" dirty="0" smtClean="0"/>
              <a:t>9.AB+   C+BC=AB+   C</a:t>
            </a:r>
          </a:p>
          <a:p>
            <a:r>
              <a:rPr lang="zh-CN" altLang="en-US" dirty="0" smtClean="0"/>
              <a:t>证明：</a:t>
            </a:r>
            <a:r>
              <a:rPr lang="en-US" altLang="zh-CN" dirty="0"/>
              <a:t>9.AB+   </a:t>
            </a:r>
            <a:r>
              <a:rPr lang="en-US" altLang="zh-CN" dirty="0" smtClean="0"/>
              <a:t>C+BC=</a:t>
            </a:r>
            <a:r>
              <a:rPr lang="en-US" altLang="zh-CN" dirty="0"/>
              <a:t>AB+   </a:t>
            </a:r>
            <a:r>
              <a:rPr lang="en-US" altLang="zh-CN" dirty="0" smtClean="0"/>
              <a:t>C+BC(A+    )=AB+    C+BCA+BC    =AB(C+1)+    C(1+B)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                                                                                              =AB+    C</a:t>
            </a:r>
          </a:p>
          <a:p>
            <a:r>
              <a:rPr lang="en-US" altLang="zh-CN" dirty="0" smtClean="0"/>
              <a:t>10.</a:t>
            </a:r>
            <a:r>
              <a:rPr lang="zh-CN" altLang="en-US" dirty="0" smtClean="0">
                <a:solidFill>
                  <a:srgbClr val="FF0000"/>
                </a:solidFill>
              </a:rPr>
              <a:t>摩根定律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en-US" altLang="zh-CN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6116345" y="188640"/>
            <a:ext cx="8242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0·A=0</a:t>
            </a:r>
          </a:p>
          <a:p>
            <a:r>
              <a:rPr lang="en-US" altLang="zh-CN" dirty="0" smtClean="0"/>
              <a:t>1·A=A</a:t>
            </a:r>
          </a:p>
          <a:p>
            <a:r>
              <a:rPr lang="en-US" altLang="zh-CN" dirty="0" smtClean="0"/>
              <a:t>A·A=A</a:t>
            </a:r>
          </a:p>
          <a:p>
            <a:r>
              <a:rPr lang="en-US" altLang="zh-CN" dirty="0" smtClean="0"/>
              <a:t>0+A=A</a:t>
            </a:r>
          </a:p>
          <a:p>
            <a:r>
              <a:rPr lang="en-US" altLang="zh-CN" dirty="0" smtClean="0"/>
              <a:t>1+A=1</a:t>
            </a:r>
          </a:p>
          <a:p>
            <a:r>
              <a:rPr lang="en-US" altLang="zh-CN" dirty="0" smtClean="0"/>
              <a:t>A+A=A</a:t>
            </a:r>
          </a:p>
          <a:p>
            <a:r>
              <a:rPr lang="en-US" altLang="zh-CN" dirty="0" smtClean="0"/>
              <a:t>A+   =1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206663"/>
              </p:ext>
            </p:extLst>
          </p:nvPr>
        </p:nvGraphicFramePr>
        <p:xfrm>
          <a:off x="6364170" y="1835790"/>
          <a:ext cx="3286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79" name="公式" r:id="rId3" imgW="126780" imgH="215526" progId="Equation.3">
                  <p:embed/>
                </p:oleObj>
              </mc:Choice>
              <mc:Fallback>
                <p:oleObj name="公式" r:id="rId3" imgW="126780" imgH="215526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4170" y="1835790"/>
                        <a:ext cx="32861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165038"/>
              </p:ext>
            </p:extLst>
          </p:nvPr>
        </p:nvGraphicFramePr>
        <p:xfrm>
          <a:off x="827584" y="2780928"/>
          <a:ext cx="3286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0" name="公式" r:id="rId5" imgW="126780" imgH="215526" progId="Equation.3">
                  <p:embed/>
                </p:oleObj>
              </mc:Choice>
              <mc:Fallback>
                <p:oleObj name="公式" r:id="rId5" imgW="126780" imgH="215526" progId="Equation.3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780928"/>
                        <a:ext cx="32861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715345"/>
              </p:ext>
            </p:extLst>
          </p:nvPr>
        </p:nvGraphicFramePr>
        <p:xfrm>
          <a:off x="1691680" y="2780928"/>
          <a:ext cx="3286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1" name="公式" r:id="rId6" imgW="126780" imgH="215526" progId="Equation.3">
                  <p:embed/>
                </p:oleObj>
              </mc:Choice>
              <mc:Fallback>
                <p:oleObj name="公式" r:id="rId6" imgW="126780" imgH="215526" progId="Equation.3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2780928"/>
                        <a:ext cx="32861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444"/>
              </p:ext>
            </p:extLst>
          </p:nvPr>
        </p:nvGraphicFramePr>
        <p:xfrm>
          <a:off x="1619672" y="3641800"/>
          <a:ext cx="3286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2" name="公式" r:id="rId7" imgW="126720" imgH="215640" progId="Equation.3">
                  <p:embed/>
                </p:oleObj>
              </mc:Choice>
              <mc:Fallback>
                <p:oleObj name="公式" r:id="rId7" imgW="126720" imgH="215640" progId="Equation.3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3641800"/>
                        <a:ext cx="32861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187468"/>
              </p:ext>
            </p:extLst>
          </p:nvPr>
        </p:nvGraphicFramePr>
        <p:xfrm>
          <a:off x="1403648" y="3918484"/>
          <a:ext cx="3286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3" name="公式" r:id="rId9" imgW="126780" imgH="215526" progId="Equation.3">
                  <p:embed/>
                </p:oleObj>
              </mc:Choice>
              <mc:Fallback>
                <p:oleObj name="公式" r:id="rId9" imgW="126780" imgH="215526" progId="Equation.3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918484"/>
                        <a:ext cx="32861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836793"/>
              </p:ext>
            </p:extLst>
          </p:nvPr>
        </p:nvGraphicFramePr>
        <p:xfrm>
          <a:off x="2175159" y="3918799"/>
          <a:ext cx="3286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4" name="公式" r:id="rId10" imgW="126780" imgH="215526" progId="Equation.3">
                  <p:embed/>
                </p:oleObj>
              </mc:Choice>
              <mc:Fallback>
                <p:oleObj name="公式" r:id="rId10" imgW="126780" imgH="215526" progId="Equation.3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159" y="3918799"/>
                        <a:ext cx="32861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079202"/>
              </p:ext>
            </p:extLst>
          </p:nvPr>
        </p:nvGraphicFramePr>
        <p:xfrm>
          <a:off x="1979712" y="4149080"/>
          <a:ext cx="3286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5" name="公式" r:id="rId11" imgW="126720" imgH="215640" progId="Equation.3">
                  <p:embed/>
                </p:oleObj>
              </mc:Choice>
              <mc:Fallback>
                <p:oleObj name="公式" r:id="rId11" imgW="126720" imgH="215640" progId="Equation.3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4149080"/>
                        <a:ext cx="32861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528116"/>
              </p:ext>
            </p:extLst>
          </p:nvPr>
        </p:nvGraphicFramePr>
        <p:xfrm>
          <a:off x="899592" y="4077072"/>
          <a:ext cx="3286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6" name="公式" r:id="rId13" imgW="126720" imgH="215640" progId="Equation.3">
                  <p:embed/>
                </p:oleObj>
              </mc:Choice>
              <mc:Fallback>
                <p:oleObj name="公式" r:id="rId13" imgW="126720" imgH="215640" progId="Equation.3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077072"/>
                        <a:ext cx="32861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902227"/>
              </p:ext>
            </p:extLst>
          </p:nvPr>
        </p:nvGraphicFramePr>
        <p:xfrm>
          <a:off x="1547664" y="4472796"/>
          <a:ext cx="3286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7" name="公式" r:id="rId14" imgW="126780" imgH="215526" progId="Equation.3">
                  <p:embed/>
                </p:oleObj>
              </mc:Choice>
              <mc:Fallback>
                <p:oleObj name="公式" r:id="rId14" imgW="126780" imgH="215526" progId="Equation.3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472796"/>
                        <a:ext cx="32861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254395"/>
              </p:ext>
            </p:extLst>
          </p:nvPr>
        </p:nvGraphicFramePr>
        <p:xfrm>
          <a:off x="2726590" y="4365104"/>
          <a:ext cx="3286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8" name="公式" r:id="rId15" imgW="126780" imgH="215526" progId="Equation.3">
                  <p:embed/>
                </p:oleObj>
              </mc:Choice>
              <mc:Fallback>
                <p:oleObj name="公式" r:id="rId15" imgW="126780" imgH="215526" progId="Equation.3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590" y="4365104"/>
                        <a:ext cx="32861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170468"/>
              </p:ext>
            </p:extLst>
          </p:nvPr>
        </p:nvGraphicFramePr>
        <p:xfrm>
          <a:off x="3707904" y="4472796"/>
          <a:ext cx="3286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89" name="公式" r:id="rId16" imgW="126780" imgH="215526" progId="Equation.3">
                  <p:embed/>
                </p:oleObj>
              </mc:Choice>
              <mc:Fallback>
                <p:oleObj name="公式" r:id="rId16" imgW="126780" imgH="215526" progId="Equation.3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4472796"/>
                        <a:ext cx="32861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285315"/>
              </p:ext>
            </p:extLst>
          </p:nvPr>
        </p:nvGraphicFramePr>
        <p:xfrm>
          <a:off x="4499992" y="4365104"/>
          <a:ext cx="3286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0" name="公式" r:id="rId17" imgW="126780" imgH="215526" progId="Equation.3">
                  <p:embed/>
                </p:oleObj>
              </mc:Choice>
              <mc:Fallback>
                <p:oleObj name="公式" r:id="rId17" imgW="126780" imgH="215526" progId="Equation.3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4365104"/>
                        <a:ext cx="32861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467273"/>
              </p:ext>
            </p:extLst>
          </p:nvPr>
        </p:nvGraphicFramePr>
        <p:xfrm>
          <a:off x="5652776" y="4453459"/>
          <a:ext cx="3286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1" name="公式" r:id="rId18" imgW="126780" imgH="215526" progId="Equation.3">
                  <p:embed/>
                </p:oleObj>
              </mc:Choice>
              <mc:Fallback>
                <p:oleObj name="公式" r:id="rId18" imgW="126780" imgH="215526" progId="Equation.3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776" y="4453459"/>
                        <a:ext cx="32861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997257"/>
              </p:ext>
            </p:extLst>
          </p:nvPr>
        </p:nvGraphicFramePr>
        <p:xfrm>
          <a:off x="6850220" y="4467973"/>
          <a:ext cx="3286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2" name="公式" r:id="rId19" imgW="126780" imgH="215526" progId="Equation.3">
                  <p:embed/>
                </p:oleObj>
              </mc:Choice>
              <mc:Fallback>
                <p:oleObj name="公式" r:id="rId19" imgW="126780" imgH="215526" progId="Equation.3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0220" y="4467973"/>
                        <a:ext cx="32861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736528"/>
              </p:ext>
            </p:extLst>
          </p:nvPr>
        </p:nvGraphicFramePr>
        <p:xfrm>
          <a:off x="6364171" y="4717070"/>
          <a:ext cx="3286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3" name="公式" r:id="rId20" imgW="126780" imgH="215526" progId="Equation.3">
                  <p:embed/>
                </p:oleObj>
              </mc:Choice>
              <mc:Fallback>
                <p:oleObj name="公式" r:id="rId20" imgW="126780" imgH="215526" progId="Equation.3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4171" y="4717070"/>
                        <a:ext cx="32861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392976"/>
              </p:ext>
            </p:extLst>
          </p:nvPr>
        </p:nvGraphicFramePr>
        <p:xfrm>
          <a:off x="323527" y="5372459"/>
          <a:ext cx="2664297" cy="631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4" name="公式" r:id="rId21" imgW="965160" imgH="228600" progId="Equation.3">
                  <p:embed/>
                </p:oleObj>
              </mc:Choice>
              <mc:Fallback>
                <p:oleObj name="公式" r:id="rId21" imgW="96516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3527" y="5372459"/>
                        <a:ext cx="2664297" cy="631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855567"/>
              </p:ext>
            </p:extLst>
          </p:nvPr>
        </p:nvGraphicFramePr>
        <p:xfrm>
          <a:off x="3347864" y="5402979"/>
          <a:ext cx="3024336" cy="626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5" name="公式" r:id="rId23" imgW="1041120" imgH="215640" progId="Equation.3">
                  <p:embed/>
                </p:oleObj>
              </mc:Choice>
              <mc:Fallback>
                <p:oleObj name="公式" r:id="rId23" imgW="104112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47864" y="5402979"/>
                        <a:ext cx="3024336" cy="6269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960509" y="2533546"/>
            <a:ext cx="1205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A+AB=A</a:t>
            </a:r>
          </a:p>
          <a:p>
            <a:r>
              <a:rPr lang="en-US" altLang="zh-CN" dirty="0" smtClean="0"/>
              <a:t>A+   B=A+B</a:t>
            </a:r>
            <a:endParaRPr lang="zh-CN" altLang="en-US" dirty="0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993459"/>
              </p:ext>
            </p:extLst>
          </p:nvPr>
        </p:nvGraphicFramePr>
        <p:xfrm>
          <a:off x="6214993" y="2787043"/>
          <a:ext cx="3286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6" name="公式" r:id="rId25" imgW="126780" imgH="215526" progId="Equation.3">
                  <p:embed/>
                </p:oleObj>
              </mc:Choice>
              <mc:Fallback>
                <p:oleObj name="公式" r:id="rId25" imgW="126780" imgH="215526" progId="Equation.3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4993" y="2787043"/>
                        <a:ext cx="32861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9064926"/>
              </p:ext>
            </p:extLst>
          </p:nvPr>
        </p:nvGraphicFramePr>
        <p:xfrm>
          <a:off x="683568" y="3179877"/>
          <a:ext cx="457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7" name="公式" r:id="rId26" imgW="457200" imgH="241200" progId="Equation.3">
                  <p:embed/>
                </p:oleObj>
              </mc:Choice>
              <mc:Fallback>
                <p:oleObj name="公式" r:id="rId26" imgW="457200" imgH="241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83568" y="3179877"/>
                        <a:ext cx="457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544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88640"/>
            <a:ext cx="190629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反演定律</a:t>
            </a:r>
            <a:endParaRPr lang="en-US" altLang="zh-CN" dirty="0" smtClean="0"/>
          </a:p>
          <a:p>
            <a:r>
              <a:rPr lang="en-US" altLang="zh-CN" dirty="0" smtClean="0"/>
              <a:t>·</a:t>
            </a:r>
            <a:r>
              <a:rPr lang="zh-CN" altLang="en-US" dirty="0" smtClean="0"/>
              <a:t>变</a:t>
            </a:r>
            <a:r>
              <a:rPr lang="en-US" altLang="zh-CN" dirty="0" smtClean="0"/>
              <a:t>+</a:t>
            </a:r>
          </a:p>
          <a:p>
            <a:r>
              <a:rPr lang="en-US" altLang="zh-CN" dirty="0" smtClean="0"/>
              <a:t>+</a:t>
            </a:r>
            <a:r>
              <a:rPr lang="zh-CN" altLang="en-US" dirty="0" smtClean="0"/>
              <a:t>变</a:t>
            </a:r>
            <a:r>
              <a:rPr lang="en-US" altLang="zh-CN" dirty="0" smtClean="0"/>
              <a:t>·</a:t>
            </a:r>
          </a:p>
          <a:p>
            <a:r>
              <a:rPr lang="en-US" altLang="zh-CN" dirty="0" smtClean="0"/>
              <a:t>0</a:t>
            </a:r>
            <a:r>
              <a:rPr lang="zh-CN" altLang="en-US" dirty="0" smtClean="0"/>
              <a:t>变</a:t>
            </a:r>
            <a:r>
              <a:rPr lang="en-US" altLang="zh-CN" dirty="0" smtClean="0"/>
              <a:t>1</a:t>
            </a:r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变</a:t>
            </a:r>
            <a:r>
              <a:rPr lang="en-US" altLang="zh-CN" dirty="0" smtClean="0"/>
              <a:t>0</a:t>
            </a:r>
          </a:p>
          <a:p>
            <a:r>
              <a:rPr lang="zh-CN" altLang="en-US" dirty="0"/>
              <a:t>原</a:t>
            </a:r>
            <a:r>
              <a:rPr lang="zh-CN" altLang="en-US" dirty="0" smtClean="0"/>
              <a:t>变量 变 反变量</a:t>
            </a:r>
            <a:endParaRPr lang="en-US" altLang="zh-CN" dirty="0" smtClean="0"/>
          </a:p>
          <a:p>
            <a:r>
              <a:rPr lang="zh-CN" altLang="en-US" dirty="0"/>
              <a:t>反变</a:t>
            </a:r>
            <a:r>
              <a:rPr lang="zh-CN" altLang="en-US" dirty="0" smtClean="0"/>
              <a:t>量 变 原变量</a:t>
            </a:r>
            <a:endParaRPr lang="en-US" altLang="zh-CN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3199926"/>
              </p:ext>
            </p:extLst>
          </p:nvPr>
        </p:nvGraphicFramePr>
        <p:xfrm>
          <a:off x="2411760" y="188640"/>
          <a:ext cx="266382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8" name="公式" r:id="rId3" imgW="965160" imgH="228600" progId="Equation.3">
                  <p:embed/>
                </p:oleObj>
              </mc:Choice>
              <mc:Fallback>
                <p:oleObj name="公式" r:id="rId3" imgW="965160" imgH="228600" progId="Equation.3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88640"/>
                        <a:ext cx="266382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467996"/>
              </p:ext>
            </p:extLst>
          </p:nvPr>
        </p:nvGraphicFramePr>
        <p:xfrm>
          <a:off x="5508104" y="188640"/>
          <a:ext cx="3024187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9" name="公式" r:id="rId5" imgW="1041120" imgH="215640" progId="Equation.3">
                  <p:embed/>
                </p:oleObj>
              </mc:Choice>
              <mc:Fallback>
                <p:oleObj name="公式" r:id="rId5" imgW="1041120" imgH="215640" progId="Equation.3">
                  <p:embed/>
                  <p:pic>
                    <p:nvPicPr>
                      <p:cNvPr id="0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188640"/>
                        <a:ext cx="3024187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34" r="16826" b="36296"/>
          <a:stretch/>
        </p:blipFill>
        <p:spPr>
          <a:xfrm>
            <a:off x="164863" y="2348880"/>
            <a:ext cx="7605486" cy="283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02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260648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用与非门表示与门，或门，非门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011195"/>
              </p:ext>
            </p:extLst>
          </p:nvPr>
        </p:nvGraphicFramePr>
        <p:xfrm>
          <a:off x="6910084" y="445314"/>
          <a:ext cx="1535832" cy="1910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1944"/>
                <a:gridCol w="511944"/>
                <a:gridCol w="511944"/>
              </a:tblGrid>
              <a:tr h="38208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</a:t>
                      </a:r>
                      <a:endParaRPr lang="zh-CN" altLang="en-US" dirty="0"/>
                    </a:p>
                  </a:txBody>
                  <a:tcPr/>
                </a:tc>
              </a:tr>
              <a:tr h="38208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8208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8208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8208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76256" y="759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与非门真值表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6" t="1534" r="26627" b="8519"/>
          <a:stretch/>
        </p:blipFill>
        <p:spPr>
          <a:xfrm rot="16200000">
            <a:off x="687114" y="554248"/>
            <a:ext cx="5747659" cy="616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21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4" t="25608" r="21970" b="20636"/>
          <a:stretch/>
        </p:blipFill>
        <p:spPr>
          <a:xfrm>
            <a:off x="9443" y="12643"/>
            <a:ext cx="9150625" cy="492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61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65721"/>
            <a:ext cx="65309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逻辑函数的表示法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真值表</a:t>
            </a:r>
            <a:r>
              <a:rPr lang="en-US" altLang="zh-CN" dirty="0" smtClean="0"/>
              <a:t>2.</a:t>
            </a:r>
            <a:r>
              <a:rPr lang="zh-CN" altLang="en-US" dirty="0" smtClean="0"/>
              <a:t>逻辑表达式（找了吗</a:t>
            </a:r>
            <a:r>
              <a:rPr lang="en-US" altLang="zh-CN" dirty="0" smtClean="0"/>
              <a:t>F=1</a:t>
            </a:r>
            <a:r>
              <a:rPr lang="zh-CN" altLang="en-US" dirty="0" smtClean="0"/>
              <a:t>的写）</a:t>
            </a:r>
            <a:r>
              <a:rPr lang="en-US" altLang="zh-CN" dirty="0" smtClean="0"/>
              <a:t>3.</a:t>
            </a:r>
            <a:r>
              <a:rPr lang="zh-CN" altLang="en-US" dirty="0" smtClean="0"/>
              <a:t>逻辑电路图</a:t>
            </a:r>
            <a:r>
              <a:rPr lang="en-US" altLang="zh-CN" dirty="0" smtClean="0"/>
              <a:t>4.</a:t>
            </a:r>
            <a:r>
              <a:rPr lang="zh-CN" altLang="en-US" dirty="0" smtClean="0"/>
              <a:t>卡诺图</a:t>
            </a:r>
            <a:endParaRPr lang="en-US" altLang="zh-CN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323528" y="980728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三人表决电路（三个人投票，超过半数就算成功）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982715"/>
              </p:ext>
            </p:extLst>
          </p:nvPr>
        </p:nvGraphicFramePr>
        <p:xfrm>
          <a:off x="611560" y="1350060"/>
          <a:ext cx="1679848" cy="3384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962"/>
                <a:gridCol w="419962"/>
                <a:gridCol w="419962"/>
                <a:gridCol w="419962"/>
              </a:tblGrid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032228"/>
              </p:ext>
            </p:extLst>
          </p:nvPr>
        </p:nvGraphicFramePr>
        <p:xfrm>
          <a:off x="3131840" y="1350060"/>
          <a:ext cx="2111896" cy="3384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974"/>
                <a:gridCol w="527974"/>
                <a:gridCol w="527974"/>
                <a:gridCol w="527974"/>
              </a:tblGrid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86507" y="1165394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设通过为</a:t>
            </a:r>
            <a:r>
              <a:rPr lang="en-US" altLang="zh-CN" dirty="0" smtClean="0"/>
              <a:t>1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10" t="24762" r="30276" b="66560"/>
          <a:stretch/>
        </p:blipFill>
        <p:spPr>
          <a:xfrm>
            <a:off x="2955017" y="5229200"/>
            <a:ext cx="2407879" cy="59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2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332656"/>
            <a:ext cx="5427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三台电机，</a:t>
            </a:r>
            <a:r>
              <a:rPr lang="en-US" altLang="zh-CN" dirty="0" smtClean="0"/>
              <a:t>1.A</a:t>
            </a:r>
            <a:r>
              <a:rPr lang="zh-CN" altLang="en-US" dirty="0" smtClean="0"/>
              <a:t>动，</a:t>
            </a:r>
            <a:r>
              <a:rPr lang="en-US" altLang="zh-CN" dirty="0" smtClean="0"/>
              <a:t>B</a:t>
            </a:r>
            <a:r>
              <a:rPr lang="zh-CN" altLang="en-US" dirty="0" smtClean="0"/>
              <a:t>必动；</a:t>
            </a:r>
            <a:r>
              <a:rPr lang="en-US" altLang="zh-CN" dirty="0" smtClean="0"/>
              <a:t>2.B</a:t>
            </a:r>
            <a:r>
              <a:rPr lang="zh-CN" altLang="en-US" dirty="0" smtClean="0"/>
              <a:t>动，</a:t>
            </a:r>
            <a:r>
              <a:rPr lang="en-US" altLang="zh-CN" dirty="0" smtClean="0"/>
              <a:t>C</a:t>
            </a:r>
            <a:r>
              <a:rPr lang="zh-CN" altLang="en-US" dirty="0" smtClean="0"/>
              <a:t>必动，否则报警</a:t>
            </a:r>
            <a:endParaRPr lang="en-US" altLang="zh-CN" dirty="0" smtClean="0"/>
          </a:p>
          <a:p>
            <a:r>
              <a:rPr lang="zh-CN" altLang="en-US" dirty="0" smtClean="0"/>
              <a:t>设报警为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665476"/>
              </p:ext>
            </p:extLst>
          </p:nvPr>
        </p:nvGraphicFramePr>
        <p:xfrm>
          <a:off x="467544" y="1196752"/>
          <a:ext cx="2111896" cy="3384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974"/>
                <a:gridCol w="527974"/>
                <a:gridCol w="527974"/>
                <a:gridCol w="527974"/>
              </a:tblGrid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605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56" t="63069" r="9929" b="28042"/>
          <a:stretch/>
        </p:blipFill>
        <p:spPr>
          <a:xfrm>
            <a:off x="3256030" y="4640311"/>
            <a:ext cx="2351315" cy="60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19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88640"/>
            <a:ext cx="61302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最小项（标准与项）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每项都含有三个输入变量，每个变量是他的因子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每项中每个因子以原变量的形式或反变量的形式出现一次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个输入变量有</a:t>
            </a:r>
            <a:r>
              <a:rPr lang="en-US" altLang="zh-CN" dirty="0" smtClean="0"/>
              <a:t>2</a:t>
            </a:r>
            <a:r>
              <a:rPr lang="en-US" altLang="zh-CN" baseline="30000" dirty="0" smtClean="0"/>
              <a:t>n</a:t>
            </a:r>
            <a:r>
              <a:rPr lang="zh-CN" altLang="en-US" dirty="0" smtClean="0"/>
              <a:t>个最小项）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1772816"/>
            <a:ext cx="31293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逻辑函数的化简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应用逻辑代数运算法则化简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卡诺图化简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83" r="30247" b="50688"/>
          <a:stretch/>
        </p:blipFill>
        <p:spPr>
          <a:xfrm>
            <a:off x="0" y="2852936"/>
            <a:ext cx="4644008" cy="322491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8" t="48254" r="29118" b="8148"/>
          <a:stretch/>
        </p:blipFill>
        <p:spPr>
          <a:xfrm>
            <a:off x="4644008" y="2420888"/>
            <a:ext cx="4179260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27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3" t="19260" r="22857" b="14285"/>
          <a:stretch/>
        </p:blipFill>
        <p:spPr>
          <a:xfrm>
            <a:off x="0" y="-1"/>
            <a:ext cx="7596336" cy="65890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84168" y="1268760"/>
            <a:ext cx="2581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书上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p255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20.5.1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91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0" t="42116" r="34286" b="13651"/>
          <a:stretch/>
        </p:blipFill>
        <p:spPr>
          <a:xfrm>
            <a:off x="119899" y="190015"/>
            <a:ext cx="6656430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21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47667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卡诺图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593827"/>
              </p:ext>
            </p:extLst>
          </p:nvPr>
        </p:nvGraphicFramePr>
        <p:xfrm>
          <a:off x="442594" y="854275"/>
          <a:ext cx="1103784" cy="1456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1892"/>
                <a:gridCol w="551892"/>
              </a:tblGrid>
              <a:tr h="48559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r>
                        <a:rPr lang="en-US" altLang="zh-CN" baseline="30000" dirty="0" smtClean="0"/>
                        <a:t>2</a:t>
                      </a:r>
                      <a:endParaRPr lang="zh-CN" altLang="en-US" baseline="30000" dirty="0"/>
                    </a:p>
                  </a:txBody>
                  <a:tcPr/>
                </a:tc>
              </a:tr>
              <a:tr h="48559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r>
                        <a:rPr lang="en-US" altLang="zh-CN" baseline="30000" dirty="0" smtClean="0"/>
                        <a:t>3</a:t>
                      </a:r>
                      <a:endParaRPr lang="zh-CN" altLang="en-US" baseline="30000" dirty="0"/>
                    </a:p>
                  </a:txBody>
                  <a:tcPr/>
                </a:tc>
              </a:tr>
              <a:tr h="48559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r>
                        <a:rPr lang="en-US" altLang="zh-CN" baseline="30000" dirty="0" smtClean="0"/>
                        <a:t>4</a:t>
                      </a:r>
                      <a:endParaRPr lang="zh-CN" altLang="en-US" baseline="30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338487"/>
              </p:ext>
            </p:extLst>
          </p:nvPr>
        </p:nvGraphicFramePr>
        <p:xfrm>
          <a:off x="3059832" y="661338"/>
          <a:ext cx="1751856" cy="797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/>
                <a:gridCol w="875928"/>
              </a:tblGrid>
              <a:tr h="39895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9895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>
          <a:xfrm flipH="1" flipV="1">
            <a:off x="2627784" y="476672"/>
            <a:ext cx="432048" cy="184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83258" y="42435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A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726438" y="21066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B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354691" y="2954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283968" y="2920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692965" y="6399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692965" y="10092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233280"/>
              </p:ext>
            </p:extLst>
          </p:nvPr>
        </p:nvGraphicFramePr>
        <p:xfrm>
          <a:off x="2994651" y="2348880"/>
          <a:ext cx="4114468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617"/>
                <a:gridCol w="1028617"/>
                <a:gridCol w="1028617"/>
                <a:gridCol w="1028617"/>
              </a:tblGrid>
              <a:tr h="2909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9094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5" name="直接连接符 14"/>
          <p:cNvCxnSpPr/>
          <p:nvPr/>
        </p:nvCxnSpPr>
        <p:spPr>
          <a:xfrm flipH="1" flipV="1">
            <a:off x="2627784" y="2060848"/>
            <a:ext cx="366867" cy="288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26092" y="208856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A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603006" y="1878894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BC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203848" y="1979367"/>
            <a:ext cx="3659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00                  01              11                10</a:t>
            </a:r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627784" y="2348880"/>
            <a:ext cx="301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</a:p>
          <a:p>
            <a:r>
              <a:rPr lang="en-US" altLang="zh-CN" dirty="0"/>
              <a:t>1</a:t>
            </a:r>
            <a:endParaRPr lang="zh-CN" altLang="en-US" dirty="0"/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927309"/>
              </p:ext>
            </p:extLst>
          </p:nvPr>
        </p:nvGraphicFramePr>
        <p:xfrm>
          <a:off x="2994649" y="3717032"/>
          <a:ext cx="416964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2410"/>
                <a:gridCol w="1042410"/>
                <a:gridCol w="1042410"/>
                <a:gridCol w="1042410"/>
              </a:tblGrid>
              <a:tr h="35283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5283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5283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5283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2" name="直接连接符 21"/>
          <p:cNvCxnSpPr/>
          <p:nvPr/>
        </p:nvCxnSpPr>
        <p:spPr>
          <a:xfrm flipH="1" flipV="1">
            <a:off x="2627784" y="3429000"/>
            <a:ext cx="366867" cy="288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38538" y="346053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AB</a:t>
            </a:r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675592" y="326537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CD</a:t>
            </a:r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226679" y="3348730"/>
            <a:ext cx="3659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00             01                    11               10</a:t>
            </a:r>
            <a:endParaRPr lang="zh-CN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17086" y="371806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03711" y="408739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01</a:t>
            </a:r>
            <a:endParaRPr lang="zh-CN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510766" y="44567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11</a:t>
            </a:r>
            <a:endParaRPr lang="zh-CN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532764" y="48457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10</a:t>
            </a:r>
            <a:endParaRPr lang="zh-CN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64411" y="5535316"/>
            <a:ext cx="8842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相邻最小项：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个最小项，只有一个变量分别以原变量和反变量出现，其余变量均相同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81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7" y="260648"/>
            <a:ext cx="52100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圈越大越好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圈越少越好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“</a:t>
            </a:r>
            <a:r>
              <a:rPr lang="en-US" altLang="zh-CN" dirty="0" smtClean="0"/>
              <a:t>1</a:t>
            </a:r>
            <a:r>
              <a:rPr lang="zh-CN" altLang="en-US" dirty="0" smtClean="0"/>
              <a:t>”可被重复使用，但至少一个“</a:t>
            </a:r>
            <a:r>
              <a:rPr lang="en-US" altLang="zh-CN" dirty="0" smtClean="0"/>
              <a:t>1</a:t>
            </a:r>
            <a:r>
              <a:rPr lang="zh-CN" altLang="en-US" dirty="0" smtClean="0"/>
              <a:t>”没被圈过</a:t>
            </a:r>
            <a:endParaRPr lang="en-US" altLang="zh-CN" dirty="0" smtClean="0"/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独立的“</a:t>
            </a:r>
            <a:r>
              <a:rPr lang="en-US" altLang="zh-CN" dirty="0" smtClean="0"/>
              <a:t>1</a:t>
            </a:r>
            <a:r>
              <a:rPr lang="zh-CN" altLang="en-US" dirty="0" smtClean="0"/>
              <a:t>”自己圈</a:t>
            </a:r>
            <a:endParaRPr lang="en-US" altLang="zh-CN" dirty="0" smtClean="0"/>
          </a:p>
          <a:p>
            <a:r>
              <a:rPr lang="en-US" altLang="zh-CN" dirty="0" smtClean="0"/>
              <a:t>5.</a:t>
            </a:r>
            <a:r>
              <a:rPr lang="zh-CN" altLang="en-US" dirty="0" smtClean="0"/>
              <a:t>卡诺图是闭合的</a:t>
            </a:r>
            <a:endParaRPr lang="en-US" altLang="zh-CN" dirty="0" smtClean="0"/>
          </a:p>
          <a:p>
            <a:r>
              <a:rPr lang="en-US" altLang="zh-CN" dirty="0" smtClean="0"/>
              <a:t>6.</a:t>
            </a:r>
            <a:r>
              <a:rPr lang="zh-CN" altLang="en-US" dirty="0" smtClean="0"/>
              <a:t>取各个圈中的公共项再相加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6" t="30053" r="23492" b="8571"/>
          <a:stretch/>
        </p:blipFill>
        <p:spPr>
          <a:xfrm>
            <a:off x="323527" y="2017476"/>
            <a:ext cx="7077180" cy="48405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48514" y="151614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卡诺图是闭合的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394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6" t="50000" r="11905" b="5608"/>
          <a:stretch/>
        </p:blipFill>
        <p:spPr>
          <a:xfrm>
            <a:off x="48344" y="908720"/>
            <a:ext cx="7663543" cy="304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0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19" r="20317"/>
          <a:stretch/>
        </p:blipFill>
        <p:spPr>
          <a:xfrm>
            <a:off x="0" y="0"/>
            <a:ext cx="8416444" cy="659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974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364014"/>
            <a:ext cx="5955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卡诺图画圈方法一般是唯一的，考试的时候一般是惟一的</a:t>
            </a:r>
            <a:endParaRPr lang="en-US" altLang="zh-CN" dirty="0" smtClean="0"/>
          </a:p>
          <a:p>
            <a:r>
              <a:rPr lang="zh-CN" altLang="en-US" dirty="0" smtClean="0"/>
              <a:t>我们看一个特殊的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430925"/>
              </p:ext>
            </p:extLst>
          </p:nvPr>
        </p:nvGraphicFramePr>
        <p:xfrm>
          <a:off x="1403648" y="1484784"/>
          <a:ext cx="2759968" cy="14675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992"/>
                <a:gridCol w="689992"/>
                <a:gridCol w="689992"/>
                <a:gridCol w="689992"/>
              </a:tblGrid>
              <a:tr h="36689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6689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6689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6689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434826"/>
              </p:ext>
            </p:extLst>
          </p:nvPr>
        </p:nvGraphicFramePr>
        <p:xfrm>
          <a:off x="5292080" y="1484784"/>
          <a:ext cx="2759968" cy="14675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992"/>
                <a:gridCol w="689992"/>
                <a:gridCol w="689992"/>
                <a:gridCol w="689992"/>
              </a:tblGrid>
              <a:tr h="36689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6689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6689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66896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>
          <a:xfrm flipH="1" flipV="1">
            <a:off x="971600" y="1268760"/>
            <a:ext cx="432048" cy="2160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 flipV="1">
            <a:off x="4788024" y="1252161"/>
            <a:ext cx="504056" cy="2160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55576" y="130011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AB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178266" y="108409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CD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748076" y="128351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AB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007360" y="10674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CD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629030" y="1140311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00      01         11         10</a:t>
            </a:r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427270" y="1175507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00      01         11         10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20527" y="152238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00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20527" y="18917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01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914656" y="226104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11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952848" y="26239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10</a:t>
            </a:r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822918" y="14877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00</a:t>
            </a:r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798008" y="185704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01</a:t>
            </a:r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795516" y="22175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11</a:t>
            </a:r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873376" y="264827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10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墨迹 24"/>
              <p14:cNvContentPartPr/>
              <p14:nvPr/>
            </p14:nvContentPartPr>
            <p14:xfrm>
              <a:off x="1294920" y="1464480"/>
              <a:ext cx="6501240" cy="1536120"/>
            </p14:xfrm>
          </p:contentPart>
        </mc:Choice>
        <mc:Fallback xmlns="">
          <p:pic>
            <p:nvPicPr>
              <p:cNvPr id="25" name="墨迹 2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5560" y="1455120"/>
                <a:ext cx="6519960" cy="155484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/>
          <p:cNvSpPr txBox="1"/>
          <p:nvPr/>
        </p:nvSpPr>
        <p:spPr>
          <a:xfrm>
            <a:off x="1403648" y="357301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横着圈竖着圈都可以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6712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3" t="31216" r="8992" b="3176"/>
          <a:stretch/>
        </p:blipFill>
        <p:spPr>
          <a:xfrm>
            <a:off x="0" y="0"/>
            <a:ext cx="6588224" cy="694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44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9" t="24549" r="20158" b="6454"/>
          <a:stretch/>
        </p:blipFill>
        <p:spPr>
          <a:xfrm>
            <a:off x="-53256" y="188640"/>
            <a:ext cx="7993773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02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15" r="8749" b="12848"/>
          <a:stretch/>
        </p:blipFill>
        <p:spPr>
          <a:xfrm rot="16200000">
            <a:off x="431974" y="-431974"/>
            <a:ext cx="6876405" cy="774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1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66644"/>
            <a:ext cx="8832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ABCD</a:t>
            </a:r>
            <a:r>
              <a:rPr lang="zh-CN" altLang="en-US" dirty="0" smtClean="0"/>
              <a:t>四台电机，要求：</a:t>
            </a:r>
            <a:r>
              <a:rPr lang="en-US" altLang="zh-CN" dirty="0" smtClean="0"/>
              <a:t>1.A</a:t>
            </a:r>
            <a:r>
              <a:rPr lang="zh-CN" altLang="en-US" dirty="0" smtClean="0"/>
              <a:t>动，</a:t>
            </a:r>
            <a:r>
              <a:rPr lang="en-US" altLang="zh-CN" dirty="0" smtClean="0"/>
              <a:t>B</a:t>
            </a:r>
            <a:r>
              <a:rPr lang="zh-CN" altLang="en-US" dirty="0" smtClean="0"/>
              <a:t>必动</a:t>
            </a:r>
            <a:r>
              <a:rPr lang="zh-CN" altLang="en-US" dirty="0"/>
              <a:t>；</a:t>
            </a:r>
            <a:r>
              <a:rPr lang="en-US" altLang="zh-CN" dirty="0" smtClean="0"/>
              <a:t>2.CD</a:t>
            </a:r>
            <a:r>
              <a:rPr lang="zh-CN" altLang="en-US" dirty="0" smtClean="0"/>
              <a:t>不能同时动，否则报警，设计报警电路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                                                                     </a:t>
            </a:r>
            <a:r>
              <a:rPr lang="zh-CN" altLang="en-US" dirty="0" smtClean="0"/>
              <a:t>设报警为</a:t>
            </a:r>
            <a:r>
              <a:rPr lang="en-US" altLang="zh-CN" dirty="0" smtClean="0"/>
              <a:t>1                                          </a:t>
            </a:r>
            <a:r>
              <a:rPr lang="zh-CN" altLang="en-US" dirty="0" smtClean="0"/>
              <a:t>与非门设计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418029"/>
              </p:ext>
            </p:extLst>
          </p:nvPr>
        </p:nvGraphicFramePr>
        <p:xfrm>
          <a:off x="395536" y="435976"/>
          <a:ext cx="2979775" cy="621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955"/>
                <a:gridCol w="595955"/>
                <a:gridCol w="595955"/>
                <a:gridCol w="595955"/>
                <a:gridCol w="595955"/>
              </a:tblGrid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5" t="22434"/>
          <a:stretch/>
        </p:blipFill>
        <p:spPr>
          <a:xfrm>
            <a:off x="3760392" y="1196752"/>
            <a:ext cx="4995636" cy="531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76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728071"/>
              </p:ext>
            </p:extLst>
          </p:nvPr>
        </p:nvGraphicFramePr>
        <p:xfrm>
          <a:off x="395536" y="435976"/>
          <a:ext cx="2979775" cy="621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5955"/>
                <a:gridCol w="595955"/>
                <a:gridCol w="595955"/>
                <a:gridCol w="595955"/>
                <a:gridCol w="595955"/>
              </a:tblGrid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572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923928" y="117150"/>
            <a:ext cx="50321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四门考试，</a:t>
            </a:r>
            <a:r>
              <a:rPr lang="en-US" altLang="zh-CN" dirty="0" smtClean="0"/>
              <a:t>A</a:t>
            </a:r>
            <a:r>
              <a:rPr lang="zh-CN" altLang="en-US" dirty="0" smtClean="0"/>
              <a:t>过得</a:t>
            </a:r>
            <a:r>
              <a:rPr lang="en-US" altLang="zh-CN" dirty="0" smtClean="0"/>
              <a:t>1</a:t>
            </a:r>
            <a:r>
              <a:rPr lang="zh-CN" altLang="en-US" dirty="0" smtClean="0"/>
              <a:t>分，否则</a:t>
            </a:r>
            <a:r>
              <a:rPr lang="en-US" altLang="zh-CN" dirty="0" smtClean="0"/>
              <a:t>0</a:t>
            </a:r>
            <a:r>
              <a:rPr lang="zh-CN" altLang="en-US" dirty="0" smtClean="0"/>
              <a:t>分</a:t>
            </a:r>
            <a:endParaRPr lang="en-US" altLang="zh-CN" dirty="0" smtClean="0"/>
          </a:p>
          <a:p>
            <a:r>
              <a:rPr lang="en-US" altLang="zh-CN" dirty="0"/>
              <a:t>B</a:t>
            </a:r>
            <a:r>
              <a:rPr lang="zh-CN" altLang="en-US" dirty="0" smtClean="0"/>
              <a:t>过得</a:t>
            </a:r>
            <a:r>
              <a:rPr lang="en-US" altLang="zh-CN" dirty="0" smtClean="0"/>
              <a:t>2</a:t>
            </a:r>
            <a:r>
              <a:rPr lang="zh-CN" altLang="en-US" dirty="0" smtClean="0"/>
              <a:t>分</a:t>
            </a:r>
            <a:r>
              <a:rPr lang="zh-CN" altLang="en-US" dirty="0"/>
              <a:t>，否则</a:t>
            </a:r>
            <a:r>
              <a:rPr lang="en-US" altLang="zh-CN" dirty="0"/>
              <a:t>0</a:t>
            </a:r>
            <a:r>
              <a:rPr lang="zh-CN" altLang="en-US" dirty="0"/>
              <a:t>分</a:t>
            </a:r>
          </a:p>
          <a:p>
            <a:r>
              <a:rPr lang="en-US" altLang="zh-CN" dirty="0" smtClean="0"/>
              <a:t>C</a:t>
            </a:r>
            <a:r>
              <a:rPr lang="zh-CN" altLang="en-US" dirty="0" smtClean="0"/>
              <a:t>过得</a:t>
            </a:r>
            <a:r>
              <a:rPr lang="en-US" altLang="zh-CN" dirty="0" smtClean="0"/>
              <a:t>4</a:t>
            </a:r>
            <a:r>
              <a:rPr lang="zh-CN" altLang="en-US" dirty="0" smtClean="0"/>
              <a:t>分</a:t>
            </a:r>
            <a:r>
              <a:rPr lang="zh-CN" altLang="en-US" dirty="0"/>
              <a:t>，否则</a:t>
            </a:r>
            <a:r>
              <a:rPr lang="en-US" altLang="zh-CN" dirty="0"/>
              <a:t>0</a:t>
            </a:r>
            <a:r>
              <a:rPr lang="zh-CN" altLang="en-US" dirty="0"/>
              <a:t>分</a:t>
            </a:r>
          </a:p>
          <a:p>
            <a:r>
              <a:rPr lang="en-US" altLang="zh-CN" dirty="0" smtClean="0"/>
              <a:t>D</a:t>
            </a:r>
            <a:r>
              <a:rPr lang="zh-CN" altLang="en-US" dirty="0" smtClean="0"/>
              <a:t>过得</a:t>
            </a:r>
            <a:r>
              <a:rPr lang="en-US" altLang="zh-CN" dirty="0" smtClean="0"/>
              <a:t>5</a:t>
            </a:r>
            <a:r>
              <a:rPr lang="zh-CN" altLang="en-US" dirty="0" smtClean="0"/>
              <a:t>分</a:t>
            </a:r>
            <a:r>
              <a:rPr lang="zh-CN" altLang="en-US" dirty="0"/>
              <a:t>，否则</a:t>
            </a:r>
            <a:r>
              <a:rPr lang="en-US" altLang="zh-CN" dirty="0"/>
              <a:t>0</a:t>
            </a:r>
            <a:r>
              <a:rPr lang="zh-CN" altLang="en-US" dirty="0" smtClean="0"/>
              <a:t>分</a:t>
            </a:r>
            <a:endParaRPr lang="en-US" altLang="zh-CN" dirty="0" smtClean="0"/>
          </a:p>
          <a:p>
            <a:r>
              <a:rPr lang="zh-CN" altLang="en-US" dirty="0" smtClean="0"/>
              <a:t>总分大于等于八分，等证书，与非门实现该电路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7" t="12116" r="16151" b="7672"/>
          <a:stretch/>
        </p:blipFill>
        <p:spPr>
          <a:xfrm rot="16200000">
            <a:off x="3752597" y="2053841"/>
            <a:ext cx="5063931" cy="414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51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332656"/>
            <a:ext cx="18533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加法器</a:t>
            </a:r>
            <a:endParaRPr lang="en-US" altLang="zh-CN" dirty="0" smtClean="0"/>
          </a:p>
          <a:p>
            <a:r>
              <a:rPr lang="zh-CN" altLang="en-US" dirty="0" smtClean="0"/>
              <a:t>半加器， 全加器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1772816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组合逻辑电路具有即时性，无记忆功能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6712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1294</Words>
  <Application>Microsoft Office PowerPoint</Application>
  <PresentationFormat>全屏显示(4:3)</PresentationFormat>
  <Paragraphs>569</Paragraphs>
  <Slides>30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2" baseType="lpstr">
      <vt:lpstr>Office 主题</vt:lpstr>
      <vt:lpstr>公式</vt:lpstr>
      <vt:lpstr>第二十章 门电路和组合逻辑电路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第二十章 门电路和组合逻辑电路</dc:title>
  <dc:creator>Administrator</dc:creator>
  <cp:lastModifiedBy>China</cp:lastModifiedBy>
  <cp:revision>41</cp:revision>
  <dcterms:created xsi:type="dcterms:W3CDTF">2018-01-22T09:34:22Z</dcterms:created>
  <dcterms:modified xsi:type="dcterms:W3CDTF">2018-01-24T14:20:55Z</dcterms:modified>
</cp:coreProperties>
</file>