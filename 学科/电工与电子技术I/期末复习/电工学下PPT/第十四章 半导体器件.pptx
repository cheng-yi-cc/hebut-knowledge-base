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B1651-7978-4E03-9F49-627167187513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31BFA-809A-4AE6-9706-336EBD6697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793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7669-F327-4F2A-BEC4-E2B13C1B4DD9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2A77-E133-4067-82B0-EAB611B9B7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127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7669-F327-4F2A-BEC4-E2B13C1B4DD9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2A77-E133-4067-82B0-EAB611B9B7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78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7669-F327-4F2A-BEC4-E2B13C1B4DD9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2A77-E133-4067-82B0-EAB611B9B7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08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7669-F327-4F2A-BEC4-E2B13C1B4DD9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2A77-E133-4067-82B0-EAB611B9B7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512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7669-F327-4F2A-BEC4-E2B13C1B4DD9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2A77-E133-4067-82B0-EAB611B9B7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638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7669-F327-4F2A-BEC4-E2B13C1B4DD9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2A77-E133-4067-82B0-EAB611B9B7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517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7669-F327-4F2A-BEC4-E2B13C1B4DD9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2A77-E133-4067-82B0-EAB611B9B7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83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7669-F327-4F2A-BEC4-E2B13C1B4DD9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2A77-E133-4067-82B0-EAB611B9B7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31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7669-F327-4F2A-BEC4-E2B13C1B4DD9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2A77-E133-4067-82B0-EAB611B9B7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14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7669-F327-4F2A-BEC4-E2B13C1B4DD9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2A77-E133-4067-82B0-EAB611B9B7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00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7669-F327-4F2A-BEC4-E2B13C1B4DD9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12A77-E133-4067-82B0-EAB611B9B7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85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77669-F327-4F2A-BEC4-E2B13C1B4DD9}" type="datetimeFigureOut">
              <a:rPr lang="zh-CN" altLang="en-US" smtClean="0"/>
              <a:t>2018/1/20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12A77-E133-4067-82B0-EAB611B9B7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83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09306" y="692696"/>
            <a:ext cx="7772400" cy="1470025"/>
          </a:xfrm>
        </p:spPr>
        <p:txBody>
          <a:bodyPr/>
          <a:lstStyle/>
          <a:p>
            <a:r>
              <a:rPr lang="zh-CN" altLang="en-US" b="1" dirty="0" smtClean="0"/>
              <a:t>第十四章 半导体器件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84168" y="615601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微博：易水两岸灯火阑珊</a:t>
            </a:r>
            <a:endParaRPr lang="en-US" altLang="zh-CN" b="1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392" y="2060848"/>
            <a:ext cx="2805776" cy="37410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059" y="3429000"/>
            <a:ext cx="1525005" cy="269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28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9552" y="404664"/>
            <a:ext cx="7366119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/>
              <a:t>14.1 </a:t>
            </a:r>
            <a:r>
              <a:rPr lang="zh-CN" altLang="en-US" sz="3600" dirty="0" smtClean="0"/>
              <a:t>半导体的导电特性</a:t>
            </a:r>
            <a:endParaRPr lang="en-US" altLang="zh-CN" sz="3600" dirty="0" smtClean="0"/>
          </a:p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本征半导体：完全纯净的，晶格完整的半导体</a:t>
            </a: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半导体的导电特性：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，光敏性和热敏性；</a:t>
            </a:r>
            <a:r>
              <a:rPr lang="en-US" altLang="zh-CN" sz="2000" dirty="0" smtClean="0"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，掺杂特性</a:t>
            </a: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自由电子（价电子挣脱原子核的束缚，成为自由电子）</a:t>
            </a: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空穴（自由电子挣脱束缚之后，共价键的中就留下了一个空穴）</a:t>
            </a: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dirty="0" smtClean="0">
                <a:latin typeface="楷体" pitchFamily="49" charset="-122"/>
                <a:ea typeface="楷体" pitchFamily="49" charset="-122"/>
              </a:rPr>
              <a:t>载流子：自由电子和空穴，统称载流子</a:t>
            </a:r>
            <a:endParaRPr lang="en-US" altLang="zh-CN" sz="2000" dirty="0" smtClean="0">
              <a:latin typeface="楷体" pitchFamily="49" charset="-122"/>
              <a:ea typeface="楷体" pitchFamily="49" charset="-122"/>
            </a:endParaRPr>
          </a:p>
          <a:p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t="23704" b="2646"/>
          <a:stretch/>
        </p:blipFill>
        <p:spPr>
          <a:xfrm>
            <a:off x="107504" y="2609506"/>
            <a:ext cx="3972101" cy="411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305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600" y="274553"/>
            <a:ext cx="714650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/>
              <a:t>14.1.2 N</a:t>
            </a:r>
            <a:r>
              <a:rPr lang="zh-CN" altLang="en-US" sz="3600" dirty="0" smtClean="0"/>
              <a:t>型半导体和</a:t>
            </a:r>
            <a:r>
              <a:rPr lang="en-US" altLang="zh-CN" sz="3600" dirty="0" smtClean="0"/>
              <a:t>P</a:t>
            </a:r>
            <a:r>
              <a:rPr lang="zh-CN" altLang="en-US" sz="3600" dirty="0" smtClean="0"/>
              <a:t>型半导体</a:t>
            </a:r>
            <a:endParaRPr lang="en-US" altLang="zh-CN" sz="3600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N</a:t>
            </a:r>
            <a:r>
              <a:rPr lang="zh-CN" altLang="en-US" dirty="0" smtClean="0"/>
              <a:t>型半导体：硅或锗中掺入磷（或其他正五价元素）</a:t>
            </a:r>
            <a:endParaRPr lang="en-US" altLang="zh-CN" dirty="0" smtClean="0"/>
          </a:p>
          <a:p>
            <a:r>
              <a:rPr lang="zh-CN" altLang="en-US" dirty="0" smtClean="0"/>
              <a:t>多数载流子（多子）：自由电子</a:t>
            </a:r>
            <a:endParaRPr lang="en-US" altLang="zh-CN" dirty="0" smtClean="0"/>
          </a:p>
          <a:p>
            <a:r>
              <a:rPr lang="zh-CN" altLang="en-US" dirty="0" smtClean="0"/>
              <a:t>少数载流子（少子）：空穴</a:t>
            </a:r>
            <a:endParaRPr lang="en-US" altLang="zh-CN" dirty="0" smtClean="0"/>
          </a:p>
          <a:p>
            <a:r>
              <a:rPr lang="en-US" altLang="zh-CN" dirty="0" smtClean="0"/>
              <a:t>P</a:t>
            </a:r>
            <a:r>
              <a:rPr lang="zh-CN" altLang="en-US" dirty="0" smtClean="0"/>
              <a:t>型半导体：硅或锗中掺入硼（或其他正三价元素</a:t>
            </a:r>
            <a:endParaRPr lang="en-US" altLang="zh-CN" dirty="0" smtClean="0"/>
          </a:p>
          <a:p>
            <a:r>
              <a:rPr lang="zh-CN" altLang="en-US" dirty="0" smtClean="0"/>
              <a:t>多数载流子（</a:t>
            </a:r>
            <a:r>
              <a:rPr lang="zh-CN" altLang="en-US" dirty="0"/>
              <a:t>多子</a:t>
            </a:r>
            <a:r>
              <a:rPr lang="zh-CN" altLang="en-US" dirty="0" smtClean="0"/>
              <a:t>）：空穴</a:t>
            </a:r>
            <a:endParaRPr lang="en-US" altLang="zh-CN" dirty="0" smtClean="0"/>
          </a:p>
          <a:p>
            <a:r>
              <a:rPr lang="zh-CN" altLang="en-US" dirty="0" smtClean="0"/>
              <a:t>少数载流子（少子）；自由电子</a:t>
            </a:r>
            <a:endParaRPr lang="en-US" altLang="zh-CN" dirty="0" smtClean="0"/>
          </a:p>
          <a:p>
            <a:r>
              <a:rPr lang="zh-CN" altLang="en-US" dirty="0"/>
              <a:t>不论</a:t>
            </a:r>
            <a:r>
              <a:rPr lang="zh-CN" altLang="en-US" dirty="0" smtClean="0"/>
              <a:t>是</a:t>
            </a:r>
            <a:r>
              <a:rPr lang="en-US" altLang="zh-CN" dirty="0" smtClean="0"/>
              <a:t>N</a:t>
            </a:r>
            <a:r>
              <a:rPr lang="zh-CN" altLang="en-US" dirty="0" smtClean="0"/>
              <a:t>型半导体还是</a:t>
            </a:r>
            <a:r>
              <a:rPr lang="en-US" altLang="zh-CN" dirty="0" smtClean="0"/>
              <a:t>P</a:t>
            </a:r>
            <a:r>
              <a:rPr lang="zh-CN" altLang="en-US" dirty="0" smtClean="0"/>
              <a:t>型半导体，虽然他们都有一种载流子占多数，</a:t>
            </a:r>
            <a:endParaRPr lang="en-US" altLang="zh-CN" dirty="0" smtClean="0"/>
          </a:p>
          <a:p>
            <a:r>
              <a:rPr lang="zh-CN" altLang="en-US" dirty="0" smtClean="0"/>
              <a:t>但是整个晶体仍然是不带电的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4" t="12251" r="26503" b="12251"/>
          <a:stretch/>
        </p:blipFill>
        <p:spPr>
          <a:xfrm rot="16200000">
            <a:off x="-136267" y="3528010"/>
            <a:ext cx="2316504" cy="20882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4" t="38095" r="11905" b="9630"/>
          <a:stretch/>
        </p:blipFill>
        <p:spPr>
          <a:xfrm>
            <a:off x="2066102" y="3381826"/>
            <a:ext cx="2882709" cy="25071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5" t="35344" r="7390" b="8818"/>
          <a:stretch/>
        </p:blipFill>
        <p:spPr>
          <a:xfrm>
            <a:off x="4970944" y="3400600"/>
            <a:ext cx="2536606" cy="241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97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332656"/>
            <a:ext cx="2813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14.2 PN </a:t>
            </a:r>
            <a:r>
              <a:rPr lang="zh-CN" altLang="en-US" dirty="0" smtClean="0"/>
              <a:t>结及其单向导电性</a:t>
            </a:r>
            <a:endParaRPr lang="en-US" altLang="zh-CN" smtClean="0"/>
          </a:p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" t="35609" r="38924" b="10635"/>
          <a:stretch/>
        </p:blipFill>
        <p:spPr>
          <a:xfrm rot="16200000">
            <a:off x="873942" y="646337"/>
            <a:ext cx="2873830" cy="36866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54171" y="1102858"/>
            <a:ext cx="51058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PN</a:t>
            </a:r>
            <a:r>
              <a:rPr lang="zh-CN" altLang="en-US" dirty="0" smtClean="0"/>
              <a:t>结加正向电压（或称正向偏置）</a:t>
            </a:r>
            <a:endParaRPr lang="en-US" altLang="zh-CN" dirty="0" smtClean="0"/>
          </a:p>
          <a:p>
            <a:r>
              <a:rPr lang="zh-CN" altLang="en-US" dirty="0" smtClean="0"/>
              <a:t>就是</a:t>
            </a:r>
            <a:r>
              <a:rPr lang="en-US" altLang="zh-CN" dirty="0" smtClean="0"/>
              <a:t>P</a:t>
            </a:r>
            <a:r>
              <a:rPr lang="zh-CN" altLang="en-US" dirty="0"/>
              <a:t>接</a:t>
            </a:r>
            <a:r>
              <a:rPr lang="zh-CN" altLang="en-US" dirty="0" smtClean="0"/>
              <a:t>高电位，</a:t>
            </a:r>
            <a:r>
              <a:rPr lang="en-US" altLang="zh-CN" dirty="0" smtClean="0"/>
              <a:t>N</a:t>
            </a:r>
            <a:r>
              <a:rPr lang="zh-CN" altLang="en-US" dirty="0"/>
              <a:t>接</a:t>
            </a:r>
            <a:r>
              <a:rPr lang="zh-CN" altLang="en-US" dirty="0" smtClean="0"/>
              <a:t>低电位，</a:t>
            </a:r>
            <a:r>
              <a:rPr lang="en-US" altLang="zh-CN" dirty="0" smtClean="0"/>
              <a:t>PN</a:t>
            </a:r>
            <a:r>
              <a:rPr lang="zh-CN" altLang="en-US" dirty="0" smtClean="0"/>
              <a:t>结处于导通状态</a:t>
            </a:r>
            <a:endParaRPr lang="en-US" altLang="zh-CN" dirty="0" smtClean="0"/>
          </a:p>
          <a:p>
            <a:r>
              <a:rPr lang="zh-CN" altLang="en-US" dirty="0"/>
              <a:t>反</a:t>
            </a:r>
            <a:r>
              <a:rPr lang="zh-CN" altLang="en-US" dirty="0" smtClean="0"/>
              <a:t>接的时候，</a:t>
            </a:r>
            <a:r>
              <a:rPr lang="en-US" altLang="zh-CN" dirty="0" smtClean="0"/>
              <a:t>PN</a:t>
            </a:r>
            <a:r>
              <a:rPr lang="zh-CN" altLang="en-US" dirty="0" smtClean="0"/>
              <a:t>结呈现高电阻，处于截止状态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23528" y="4283908"/>
            <a:ext cx="4414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rgbClr val="FF0000"/>
                </a:solidFill>
              </a:rPr>
              <a:t>PN</a:t>
            </a:r>
            <a:r>
              <a:rPr lang="zh-CN" altLang="en-US" sz="3600" b="1" dirty="0" smtClean="0">
                <a:solidFill>
                  <a:srgbClr val="FF0000"/>
                </a:solidFill>
              </a:rPr>
              <a:t>结具有单向导电性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28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6553" y="262389"/>
            <a:ext cx="250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/>
              <a:t>14.3 </a:t>
            </a:r>
            <a:r>
              <a:rPr lang="zh-CN" altLang="en-US" sz="3600" b="1" dirty="0" smtClean="0"/>
              <a:t>二极管</a:t>
            </a:r>
            <a:endParaRPr lang="zh-CN" altLang="en-US" sz="36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65" t="35344" r="565" b="-1693"/>
          <a:stretch/>
        </p:blipFill>
        <p:spPr>
          <a:xfrm>
            <a:off x="686553" y="1420415"/>
            <a:ext cx="5143500" cy="45502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94541" y="1703345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P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48055" y="2690281"/>
            <a:ext cx="421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N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78769" y="98209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基本结构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53376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188640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/>
              <a:t>二极管的伏安特性</a:t>
            </a:r>
            <a:endParaRPr lang="zh-CN" altLang="en-US" sz="36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" t="5291" b="9842"/>
          <a:stretch/>
        </p:blipFill>
        <p:spPr>
          <a:xfrm>
            <a:off x="43249" y="834971"/>
            <a:ext cx="5364088" cy="35108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11299" y="882239"/>
            <a:ext cx="364715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正向电压很小的时候，正向电流也</a:t>
            </a:r>
            <a:endParaRPr lang="en-US" altLang="zh-CN" dirty="0" smtClean="0"/>
          </a:p>
          <a:p>
            <a:r>
              <a:rPr lang="zh-CN" altLang="en-US" dirty="0" smtClean="0"/>
              <a:t>很小，几乎为零。</a:t>
            </a:r>
            <a:endParaRPr lang="en-US" altLang="zh-CN" dirty="0" smtClean="0"/>
          </a:p>
          <a:p>
            <a:r>
              <a:rPr lang="zh-CN" altLang="en-US" dirty="0" smtClean="0"/>
              <a:t>正向电压超过了一定的数值之后，</a:t>
            </a:r>
            <a:endParaRPr lang="en-US" altLang="zh-CN" dirty="0" smtClean="0"/>
          </a:p>
          <a:p>
            <a:r>
              <a:rPr lang="zh-CN" altLang="en-US" dirty="0" smtClean="0"/>
              <a:t>电流增加很快。</a:t>
            </a:r>
            <a:endParaRPr lang="en-US" altLang="zh-CN" dirty="0" smtClean="0"/>
          </a:p>
          <a:p>
            <a:r>
              <a:rPr lang="zh-CN" altLang="en-US" dirty="0" smtClean="0"/>
              <a:t>这个一定数值的正向电压，称为</a:t>
            </a:r>
            <a:endParaRPr lang="en-US" altLang="zh-CN" dirty="0" smtClean="0"/>
          </a:p>
          <a:p>
            <a:r>
              <a:rPr lang="zh-CN" altLang="en-US" dirty="0" smtClean="0"/>
              <a:t>死区电压。</a:t>
            </a:r>
            <a:endParaRPr lang="en-US" altLang="zh-CN" dirty="0" smtClean="0"/>
          </a:p>
          <a:p>
            <a:r>
              <a:rPr lang="zh-CN" altLang="en-US" dirty="0" smtClean="0"/>
              <a:t>二极管正向导通的时候，正向压降</a:t>
            </a:r>
            <a:endParaRPr lang="en-US" altLang="zh-CN" dirty="0" smtClean="0"/>
          </a:p>
          <a:p>
            <a:r>
              <a:rPr lang="zh-CN" altLang="en-US" dirty="0" smtClean="0"/>
              <a:t>不是</a:t>
            </a:r>
            <a:r>
              <a:rPr lang="en-US" altLang="zh-CN" dirty="0" smtClean="0"/>
              <a:t>0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FF0000"/>
                </a:solidFill>
              </a:rPr>
              <a:t>导</a:t>
            </a:r>
            <a:r>
              <a:rPr lang="zh-CN" altLang="en-US" dirty="0" smtClean="0">
                <a:solidFill>
                  <a:srgbClr val="FF0000"/>
                </a:solidFill>
              </a:rPr>
              <a:t>通时的正向压降，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硅管是</a:t>
            </a:r>
            <a:r>
              <a:rPr lang="en-US" altLang="zh-CN" dirty="0" smtClean="0">
                <a:solidFill>
                  <a:srgbClr val="FF0000"/>
                </a:solidFill>
              </a:rPr>
              <a:t>0.6-0.8V</a:t>
            </a:r>
            <a:r>
              <a:rPr lang="zh-CN" altLang="en-US" dirty="0" smtClean="0">
                <a:solidFill>
                  <a:srgbClr val="FF0000"/>
                </a:solidFill>
              </a:rPr>
              <a:t>，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锗管是</a:t>
            </a:r>
            <a:r>
              <a:rPr lang="en-US" altLang="zh-CN" dirty="0" smtClean="0">
                <a:solidFill>
                  <a:srgbClr val="FF0000"/>
                </a:solidFill>
              </a:rPr>
              <a:t>0.2-0.3V</a:t>
            </a:r>
            <a:r>
              <a:rPr lang="zh-CN" altLang="en-US" dirty="0" smtClean="0">
                <a:solidFill>
                  <a:srgbClr val="FF0000"/>
                </a:solidFill>
              </a:rPr>
              <a:t>。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51520" y="4509120"/>
            <a:ext cx="8725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反向电压过高的时候，反向电流会突然增大，二极管失去单向导电性，这种现象称为</a:t>
            </a:r>
            <a:endParaRPr lang="en-US" altLang="zh-CN" dirty="0" smtClean="0"/>
          </a:p>
          <a:p>
            <a:r>
              <a:rPr lang="zh-CN" altLang="en-US" dirty="0" smtClean="0"/>
              <a:t>击穿。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029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332656"/>
            <a:ext cx="7445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例：输入端</a:t>
            </a:r>
            <a:r>
              <a:rPr lang="en-US" altLang="zh-CN" dirty="0" smtClean="0"/>
              <a:t>A </a:t>
            </a:r>
            <a:r>
              <a:rPr lang="zh-CN" altLang="en-US" dirty="0" smtClean="0"/>
              <a:t>的电位是</a:t>
            </a:r>
            <a:r>
              <a:rPr lang="en-US" altLang="zh-CN" dirty="0" smtClean="0"/>
              <a:t>V</a:t>
            </a:r>
            <a:r>
              <a:rPr lang="en-US" altLang="zh-CN" baseline="-25000" dirty="0" smtClean="0"/>
              <a:t>A</a:t>
            </a:r>
            <a:r>
              <a:rPr lang="en-US" altLang="zh-CN" dirty="0" smtClean="0"/>
              <a:t>=+3V</a:t>
            </a:r>
            <a:r>
              <a:rPr lang="zh-CN" altLang="en-US" dirty="0" smtClean="0"/>
              <a:t>，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的电位是</a:t>
            </a:r>
            <a:r>
              <a:rPr lang="en-US" altLang="zh-CN" dirty="0" smtClean="0"/>
              <a:t>V</a:t>
            </a:r>
            <a:r>
              <a:rPr lang="en-US" altLang="zh-CN" baseline="-25000" dirty="0" smtClean="0"/>
              <a:t>B</a:t>
            </a:r>
            <a:r>
              <a:rPr lang="en-US" altLang="zh-CN" dirty="0" smtClean="0"/>
              <a:t>=0V</a:t>
            </a:r>
            <a:r>
              <a:rPr lang="zh-CN" altLang="en-US" dirty="0" smtClean="0"/>
              <a:t>，求输出端</a:t>
            </a:r>
            <a:r>
              <a:rPr lang="en-US" altLang="zh-CN" dirty="0" smtClean="0"/>
              <a:t>Y </a:t>
            </a:r>
            <a:r>
              <a:rPr lang="zh-CN" altLang="en-US" dirty="0" smtClean="0"/>
              <a:t>的电位</a:t>
            </a:r>
            <a:r>
              <a:rPr lang="en-US" altLang="zh-CN" dirty="0" smtClean="0"/>
              <a:t>V</a:t>
            </a:r>
            <a:r>
              <a:rPr lang="en-US" altLang="zh-CN" baseline="-25000" dirty="0" smtClean="0"/>
              <a:t>Y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电阻</a:t>
            </a:r>
            <a:r>
              <a:rPr lang="en-US" altLang="zh-CN" dirty="0" smtClean="0"/>
              <a:t>R</a:t>
            </a:r>
            <a:r>
              <a:rPr lang="zh-CN" altLang="en-US" dirty="0" smtClean="0"/>
              <a:t>接负电源</a:t>
            </a:r>
            <a:r>
              <a:rPr lang="en-US" altLang="zh-CN" dirty="0" smtClean="0"/>
              <a:t>-12V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9" t="39682" r="13880" b="7725"/>
          <a:stretch/>
        </p:blipFill>
        <p:spPr>
          <a:xfrm>
            <a:off x="179512" y="1033416"/>
            <a:ext cx="3323774" cy="360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30489" y="1033416"/>
            <a:ext cx="549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多</a:t>
            </a:r>
            <a:r>
              <a:rPr lang="zh-CN" altLang="en-US" dirty="0" smtClean="0">
                <a:solidFill>
                  <a:srgbClr val="FF0000"/>
                </a:solidFill>
              </a:rPr>
              <a:t>个二极管共阴或共阳，阴阳极之间电位差大越大，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越</a:t>
            </a:r>
            <a:r>
              <a:rPr lang="zh-CN" altLang="en-US" dirty="0" smtClean="0">
                <a:solidFill>
                  <a:srgbClr val="FF0000"/>
                </a:solidFill>
              </a:rPr>
              <a:t>先导通。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79912" y="2276872"/>
                <a:ext cx="399500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先当他是理想二极管（正向压降位</a:t>
                </a:r>
                <a:r>
                  <a:rPr lang="en-US" altLang="zh-CN" dirty="0" smtClean="0"/>
                  <a:t>0</a:t>
                </a:r>
                <a:r>
                  <a:rPr lang="zh-CN" altLang="en-US" dirty="0" smtClean="0"/>
                  <a:t>）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优先导通，</a:t>
                </a:r>
                <a:r>
                  <a:rPr lang="en-US" altLang="zh-CN" dirty="0" smtClean="0"/>
                  <a:t>V</a:t>
                </a:r>
                <a14:m>
                  <m:oMath xmlns:m="http://schemas.openxmlformats.org/officeDocument/2006/math">
                    <m:r>
                      <a:rPr lang="en-US" altLang="zh-CN" i="1" baseline="-25000" dirty="0" smtClean="0">
                        <a:latin typeface="Cambria Math"/>
                      </a:rPr>
                      <m:t>𝑌</m:t>
                    </m:r>
                  </m:oMath>
                </a14:m>
                <a:r>
                  <a:rPr lang="en-US" altLang="zh-CN" dirty="0" smtClean="0"/>
                  <a:t>=3V</a:t>
                </a:r>
              </a:p>
              <a:p>
                <a:r>
                  <a:rPr lang="zh-CN" altLang="en-US" dirty="0" smtClean="0"/>
                  <a:t>二极管正向压降为</a:t>
                </a:r>
                <a:r>
                  <a:rPr lang="en-US" altLang="zh-CN" dirty="0" smtClean="0"/>
                  <a:t>0.3V</a:t>
                </a:r>
                <a:r>
                  <a:rPr lang="zh-CN" altLang="en-US" dirty="0" smtClean="0"/>
                  <a:t>，</a:t>
                </a:r>
                <a:endParaRPr lang="en-US" altLang="zh-CN" dirty="0" smtClean="0"/>
              </a:p>
              <a:p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优先导通，</a:t>
                </a:r>
                <a:r>
                  <a:rPr lang="en-US" altLang="zh-CN" dirty="0" smtClean="0"/>
                  <a:t>V</a:t>
                </a:r>
                <a:r>
                  <a:rPr lang="en-US" altLang="zh-CN" baseline="-25000" dirty="0" smtClean="0"/>
                  <a:t>Y</a:t>
                </a:r>
                <a:r>
                  <a:rPr lang="en-US" altLang="zh-CN" dirty="0" smtClean="0"/>
                  <a:t>=2.7V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2276872"/>
                <a:ext cx="3995004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1221" t="-4082" r="-916" b="-8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067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214"/>
            <a:ext cx="51435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" b="15065"/>
          <a:stretch/>
        </p:blipFill>
        <p:spPr>
          <a:xfrm>
            <a:off x="4002455" y="-4259"/>
            <a:ext cx="5143500" cy="555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8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476672"/>
            <a:ext cx="341632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/>
              <a:t>14.4 </a:t>
            </a:r>
            <a:r>
              <a:rPr lang="zh-CN" altLang="en-US" sz="2800" dirty="0" smtClean="0"/>
              <a:t>稳压二极管</a:t>
            </a:r>
            <a:endParaRPr lang="en-US" altLang="zh-CN" sz="2800" dirty="0" smtClean="0"/>
          </a:p>
          <a:p>
            <a:r>
              <a:rPr lang="zh-CN" altLang="en-US" dirty="0" smtClean="0"/>
              <a:t>稳压二极管工作在反向击穿区，</a:t>
            </a:r>
            <a:endParaRPr lang="en-US" altLang="zh-CN" dirty="0" smtClean="0"/>
          </a:p>
          <a:p>
            <a:r>
              <a:rPr lang="zh-CN" altLang="en-US" dirty="0" smtClean="0"/>
              <a:t>有稳压管，必须有限流电阻。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51" t="4656" r="5978" b="7725"/>
          <a:stretch/>
        </p:blipFill>
        <p:spPr>
          <a:xfrm>
            <a:off x="5086334" y="0"/>
            <a:ext cx="3526973" cy="60089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742" y="1581225"/>
            <a:ext cx="495231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稳定</a:t>
            </a:r>
            <a:r>
              <a:rPr lang="zh-CN" altLang="en-US" dirty="0"/>
              <a:t>电压</a:t>
            </a:r>
            <a:r>
              <a:rPr lang="en-US" altLang="zh-CN" dirty="0" smtClean="0"/>
              <a:t>U</a:t>
            </a:r>
            <a:r>
              <a:rPr lang="en-US" altLang="zh-CN" baseline="-25000" dirty="0" smtClean="0"/>
              <a:t>Z</a:t>
            </a:r>
            <a:endParaRPr lang="en-US" altLang="zh-CN" dirty="0"/>
          </a:p>
          <a:p>
            <a:r>
              <a:rPr lang="zh-CN" altLang="en-US" dirty="0" smtClean="0"/>
              <a:t>注意，稳压值是一个范围，有一定的分散性</a:t>
            </a:r>
            <a:endParaRPr lang="en-US" altLang="zh-CN" dirty="0" smtClean="0"/>
          </a:p>
          <a:p>
            <a:r>
              <a:rPr lang="zh-CN" altLang="en-US" dirty="0" smtClean="0"/>
              <a:t>例如，</a:t>
            </a:r>
            <a:r>
              <a:rPr lang="en-US" altLang="zh-CN" dirty="0" smtClean="0"/>
              <a:t>2CW59</a:t>
            </a:r>
            <a:r>
              <a:rPr lang="zh-CN" altLang="en-US" dirty="0" smtClean="0"/>
              <a:t>稳压二极管的稳定电压是</a:t>
            </a:r>
            <a:r>
              <a:rPr lang="en-US" altLang="zh-CN" dirty="0" smtClean="0"/>
              <a:t>10-11.8v.</a:t>
            </a:r>
          </a:p>
          <a:p>
            <a:r>
              <a:rPr lang="zh-CN" altLang="en-US" dirty="0"/>
              <a:t>拿一</a:t>
            </a:r>
            <a:r>
              <a:rPr lang="zh-CN" altLang="en-US" dirty="0" smtClean="0"/>
              <a:t>个稳压管，它可能稳压在</a:t>
            </a:r>
            <a:r>
              <a:rPr lang="en-US" altLang="zh-CN" dirty="0" smtClean="0"/>
              <a:t>10.5V</a:t>
            </a:r>
            <a:r>
              <a:rPr lang="zh-CN" altLang="en-US" dirty="0" smtClean="0"/>
              <a:t>，再取一个</a:t>
            </a:r>
            <a:endParaRPr lang="en-US" altLang="zh-CN" dirty="0" smtClean="0"/>
          </a:p>
          <a:p>
            <a:r>
              <a:rPr lang="zh-CN" altLang="en-US" dirty="0" smtClean="0"/>
              <a:t>，可能稳压在</a:t>
            </a:r>
            <a:r>
              <a:rPr lang="en-US" altLang="zh-CN" dirty="0" smtClean="0"/>
              <a:t>11.8V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动态电阻</a:t>
            </a:r>
            <a:r>
              <a:rPr lang="en-US" altLang="zh-CN" dirty="0" err="1" smtClean="0"/>
              <a:t>r</a:t>
            </a:r>
            <a:r>
              <a:rPr lang="en-US" altLang="zh-CN" baseline="-25000" dirty="0" err="1" smtClean="0"/>
              <a:t>Z</a:t>
            </a:r>
            <a:endParaRPr lang="en-US" altLang="zh-CN" baseline="-25000" dirty="0" smtClean="0"/>
          </a:p>
          <a:p>
            <a:r>
              <a:rPr lang="zh-CN" altLang="en-US" dirty="0" smtClean="0"/>
              <a:t>动态电阻俞小，稳压性能愈好。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稳压管接正向电压的时候就是普通二极管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10054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06"/>
          <a:stretch/>
        </p:blipFill>
        <p:spPr>
          <a:xfrm>
            <a:off x="-15776" y="32094"/>
            <a:ext cx="9144000" cy="547914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474" y="-55555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5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225549"/>
            <a:ext cx="685155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 smtClean="0"/>
              <a:t>14.5 </a:t>
            </a:r>
            <a:r>
              <a:rPr lang="zh-CN" altLang="en-US" sz="4000" dirty="0" smtClean="0"/>
              <a:t>双晶型二极管（三极管）</a:t>
            </a:r>
            <a:endParaRPr lang="en-US" altLang="zh-CN" sz="4000" dirty="0" smtClean="0"/>
          </a:p>
          <a:p>
            <a:r>
              <a:rPr lang="en-US" altLang="zh-CN" dirty="0" smtClean="0"/>
              <a:t>NPN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PNP</a:t>
            </a:r>
            <a:r>
              <a:rPr lang="zh-CN" altLang="en-US" dirty="0" smtClean="0"/>
              <a:t>两种类型</a:t>
            </a:r>
            <a:endParaRPr lang="en-US" altLang="zh-CN" dirty="0" smtClean="0"/>
          </a:p>
          <a:p>
            <a:r>
              <a:rPr lang="zh-CN" altLang="en-US" dirty="0"/>
              <a:t>三个</a:t>
            </a:r>
            <a:r>
              <a:rPr lang="zh-CN" altLang="en-US" dirty="0" smtClean="0"/>
              <a:t>区：基区，发射区，集电区</a:t>
            </a:r>
            <a:endParaRPr lang="en-US" altLang="zh-CN" dirty="0" smtClean="0"/>
          </a:p>
          <a:p>
            <a:r>
              <a:rPr lang="zh-CN" altLang="en-US" dirty="0"/>
              <a:t>三</a:t>
            </a:r>
            <a:r>
              <a:rPr lang="zh-CN" altLang="en-US" dirty="0" smtClean="0"/>
              <a:t>个极：基极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，发射极</a:t>
            </a:r>
            <a:r>
              <a:rPr lang="en-US" altLang="zh-CN" dirty="0" smtClean="0"/>
              <a:t>E</a:t>
            </a:r>
            <a:r>
              <a:rPr lang="zh-CN" altLang="en-US" dirty="0" smtClean="0"/>
              <a:t>，集电极</a:t>
            </a:r>
            <a:r>
              <a:rPr lang="en-US" altLang="zh-CN" dirty="0" smtClean="0"/>
              <a:t>C</a:t>
            </a:r>
          </a:p>
          <a:p>
            <a:r>
              <a:rPr lang="zh-CN" altLang="en-US" dirty="0"/>
              <a:t>两</a:t>
            </a:r>
            <a:r>
              <a:rPr lang="zh-CN" altLang="en-US" dirty="0" smtClean="0"/>
              <a:t>个结（两个</a:t>
            </a:r>
            <a:r>
              <a:rPr lang="en-US" altLang="zh-CN" dirty="0" smtClean="0"/>
              <a:t>PN </a:t>
            </a:r>
            <a:r>
              <a:rPr lang="zh-CN" altLang="en-US" dirty="0" smtClean="0"/>
              <a:t>结）：发射结，集电结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44874" y="1205397"/>
            <a:ext cx="51435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24128" y="908720"/>
            <a:ext cx="15840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smtClean="0"/>
              <a:t>I</a:t>
            </a:r>
            <a:r>
              <a:rPr lang="en-US" altLang="zh-CN" sz="4400" baseline="-25000" dirty="0" smtClean="0"/>
              <a:t>C</a:t>
            </a:r>
            <a:r>
              <a:rPr lang="en-US" altLang="zh-CN" sz="4400" dirty="0" smtClean="0"/>
              <a:t>=</a:t>
            </a:r>
            <a:r>
              <a:rPr lang="el-GR" altLang="zh-CN" sz="4400" dirty="0"/>
              <a:t> </a:t>
            </a:r>
            <a:r>
              <a:rPr lang="el-GR" altLang="zh-CN" sz="4400" dirty="0" smtClean="0"/>
              <a:t>β</a:t>
            </a:r>
            <a:r>
              <a:rPr lang="en-US" altLang="zh-CN" sz="4400" dirty="0" smtClean="0"/>
              <a:t>I</a:t>
            </a:r>
            <a:r>
              <a:rPr lang="en-US" altLang="zh-CN" sz="4400" baseline="-25000" dirty="0" smtClean="0"/>
              <a:t>B</a:t>
            </a:r>
            <a:endParaRPr lang="zh-CN" altLang="en-US" sz="4400" baseline="-25000" dirty="0"/>
          </a:p>
        </p:txBody>
      </p:sp>
    </p:spTree>
    <p:extLst>
      <p:ext uri="{BB962C8B-B14F-4D97-AF65-F5344CB8AC3E}">
        <p14:creationId xmlns:p14="http://schemas.microsoft.com/office/powerpoint/2010/main" val="197640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476672"/>
            <a:ext cx="296106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/>
              <a:t>14.5.3 </a:t>
            </a:r>
            <a:r>
              <a:rPr lang="zh-CN" altLang="en-US" sz="3200" dirty="0" smtClean="0"/>
              <a:t>特性曲线</a:t>
            </a:r>
            <a:endParaRPr lang="en-US" altLang="zh-CN" sz="3200" dirty="0" smtClean="0"/>
          </a:p>
          <a:p>
            <a:r>
              <a:rPr lang="zh-CN" altLang="en-US" dirty="0" smtClean="0"/>
              <a:t>输入特性曲线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1" t="34498" r="9877" b="9629"/>
          <a:stretch/>
        </p:blipFill>
        <p:spPr>
          <a:xfrm>
            <a:off x="323528" y="1338446"/>
            <a:ext cx="3907064" cy="38317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54978" y="1074958"/>
            <a:ext cx="46426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正常工作情况下，</a:t>
            </a:r>
            <a:endParaRPr lang="en-US" altLang="zh-CN" dirty="0" smtClean="0"/>
          </a:p>
          <a:p>
            <a:r>
              <a:rPr lang="en-US" altLang="zh-CN" dirty="0" smtClean="0"/>
              <a:t>NPN</a:t>
            </a:r>
            <a:r>
              <a:rPr lang="zh-CN" altLang="en-US" dirty="0" smtClean="0"/>
              <a:t>型硅管的发射结电压</a:t>
            </a:r>
            <a:r>
              <a:rPr lang="en-US" altLang="zh-CN" dirty="0" smtClean="0"/>
              <a:t>U</a:t>
            </a:r>
            <a:r>
              <a:rPr lang="en-US" altLang="zh-CN" baseline="-25000" dirty="0" smtClean="0"/>
              <a:t>BE</a:t>
            </a:r>
            <a:r>
              <a:rPr lang="en-US" altLang="zh-CN" dirty="0" smtClean="0"/>
              <a:t>=</a:t>
            </a:r>
            <a:r>
              <a:rPr lang="zh-CN" altLang="en-US" dirty="0" smtClean="0"/>
              <a:t>（</a:t>
            </a:r>
            <a:r>
              <a:rPr lang="en-US" altLang="zh-CN" dirty="0" smtClean="0"/>
              <a:t>0.6-0.7</a:t>
            </a:r>
            <a:r>
              <a:rPr lang="zh-CN" altLang="en-US" dirty="0" smtClean="0"/>
              <a:t>）</a:t>
            </a:r>
            <a:r>
              <a:rPr lang="en-US" altLang="zh-CN" dirty="0" smtClean="0"/>
              <a:t>V</a:t>
            </a:r>
          </a:p>
          <a:p>
            <a:r>
              <a:rPr lang="en-US" altLang="zh-CN" dirty="0"/>
              <a:t>NPN</a:t>
            </a:r>
            <a:r>
              <a:rPr lang="zh-CN" altLang="en-US" dirty="0"/>
              <a:t>型</a:t>
            </a:r>
            <a:r>
              <a:rPr lang="zh-CN" altLang="en-US" dirty="0" smtClean="0"/>
              <a:t>锗管的发射结电压</a:t>
            </a:r>
            <a:r>
              <a:rPr lang="en-US" altLang="zh-CN" dirty="0" smtClean="0"/>
              <a:t>U</a:t>
            </a:r>
            <a:r>
              <a:rPr lang="en-US" altLang="zh-CN" baseline="-25000" dirty="0" smtClean="0"/>
              <a:t>BE</a:t>
            </a:r>
            <a:r>
              <a:rPr lang="en-US" altLang="zh-CN" dirty="0" smtClean="0"/>
              <a:t>=</a:t>
            </a:r>
            <a:r>
              <a:rPr lang="zh-CN" altLang="en-US" dirty="0" smtClean="0"/>
              <a:t>（</a:t>
            </a:r>
            <a:r>
              <a:rPr lang="en-US" altLang="zh-CN" dirty="0" smtClean="0"/>
              <a:t>0.2-0.3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V</a:t>
            </a:r>
          </a:p>
          <a:p>
            <a:r>
              <a:rPr lang="en-US" altLang="zh-CN" dirty="0" smtClean="0"/>
              <a:t>PNP</a:t>
            </a:r>
            <a:r>
              <a:rPr lang="zh-CN" altLang="en-US" dirty="0" smtClean="0"/>
              <a:t>型锗管的发射结电压</a:t>
            </a:r>
            <a:r>
              <a:rPr lang="en-US" altLang="zh-CN" dirty="0" smtClean="0"/>
              <a:t>U</a:t>
            </a:r>
            <a:r>
              <a:rPr lang="en-US" altLang="zh-CN" baseline="-25000" dirty="0" smtClean="0"/>
              <a:t>BE</a:t>
            </a:r>
            <a:r>
              <a:rPr lang="en-US" altLang="zh-CN" dirty="0" smtClean="0"/>
              <a:t>=</a:t>
            </a:r>
            <a:r>
              <a:rPr lang="zh-CN" altLang="en-US" dirty="0" smtClean="0"/>
              <a:t>（</a:t>
            </a:r>
            <a:r>
              <a:rPr lang="en-US" altLang="zh-CN" dirty="0" smtClean="0"/>
              <a:t>-0.2-  -0.3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V</a:t>
            </a:r>
          </a:p>
          <a:p>
            <a:r>
              <a:rPr lang="en-US" altLang="zh-CN" dirty="0" smtClean="0"/>
              <a:t>PNP</a:t>
            </a:r>
            <a:r>
              <a:rPr lang="zh-CN" altLang="en-US" dirty="0" smtClean="0"/>
              <a:t>型硅管的发射结电压</a:t>
            </a:r>
            <a:r>
              <a:rPr lang="en-US" altLang="zh-CN" dirty="0" smtClean="0"/>
              <a:t>U</a:t>
            </a:r>
            <a:r>
              <a:rPr lang="en-US" altLang="zh-CN" baseline="-25000" dirty="0" smtClean="0"/>
              <a:t>BE</a:t>
            </a:r>
            <a:r>
              <a:rPr lang="en-US" altLang="zh-CN" dirty="0" smtClean="0"/>
              <a:t>=</a:t>
            </a:r>
            <a:r>
              <a:rPr lang="zh-CN" altLang="en-US" dirty="0" smtClean="0"/>
              <a:t>（</a:t>
            </a:r>
            <a:r>
              <a:rPr lang="en-US" altLang="zh-CN" dirty="0" smtClean="0"/>
              <a:t>-0.6- -0.7</a:t>
            </a:r>
            <a:r>
              <a:rPr lang="zh-CN" altLang="en-US" dirty="0" smtClean="0"/>
              <a:t>）</a:t>
            </a:r>
            <a:r>
              <a:rPr lang="en-US" altLang="zh-CN" dirty="0" smtClean="0"/>
              <a:t>V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47" t="14021" r="9355" b="14867"/>
          <a:stretch/>
        </p:blipFill>
        <p:spPr>
          <a:xfrm rot="16200000">
            <a:off x="3960329" y="2600511"/>
            <a:ext cx="3435289" cy="437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7215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输出特性曲线</a:t>
            </a:r>
            <a:endParaRPr lang="en-US" altLang="zh-CN" sz="2400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0" b="19154"/>
          <a:stretch/>
        </p:blipFill>
        <p:spPr>
          <a:xfrm>
            <a:off x="0" y="509122"/>
            <a:ext cx="5143500" cy="47316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92080" y="302991"/>
            <a:ext cx="3185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放大区   </a:t>
            </a:r>
            <a:r>
              <a:rPr lang="en-US" altLang="zh-CN" dirty="0" smtClean="0"/>
              <a:t>I</a:t>
            </a:r>
            <a:r>
              <a:rPr lang="en-US" altLang="zh-CN" baseline="-25000" dirty="0" smtClean="0"/>
              <a:t>C</a:t>
            </a:r>
            <a:r>
              <a:rPr lang="en-US" altLang="zh-CN" dirty="0"/>
              <a:t>=</a:t>
            </a:r>
            <a:r>
              <a:rPr lang="el-GR" altLang="zh-CN" dirty="0"/>
              <a:t> β</a:t>
            </a:r>
            <a:r>
              <a:rPr lang="en-US" altLang="zh-CN" dirty="0" smtClean="0"/>
              <a:t>I</a:t>
            </a:r>
            <a:r>
              <a:rPr lang="en-US" altLang="zh-CN" baseline="-25000" dirty="0" smtClean="0"/>
              <a:t>B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晶体管处于放大状态的时候，</a:t>
            </a:r>
            <a:endParaRPr lang="en-US" altLang="zh-CN" dirty="0" smtClean="0"/>
          </a:p>
          <a:p>
            <a:r>
              <a:rPr lang="zh-CN" altLang="en-US" dirty="0" smtClean="0"/>
              <a:t>发射结正偏，集电结反偏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24" t="15941" r="36384" b="54021"/>
          <a:stretch/>
        </p:blipFill>
        <p:spPr>
          <a:xfrm rot="16200000">
            <a:off x="4185570" y="1229349"/>
            <a:ext cx="1799774" cy="20599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14974" y="2293040"/>
            <a:ext cx="400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3543" y="2074679"/>
            <a:ext cx="309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+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36151" y="1856169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8899" y="130444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+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74123" y="1153442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NPN</a:t>
            </a:r>
            <a:r>
              <a:rPr lang="zh-CN" altLang="en-US" dirty="0" smtClean="0"/>
              <a:t>型三极管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315931" y="1625336"/>
            <a:ext cx="1643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V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﹥V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﹥V</a:t>
            </a:r>
            <a:r>
              <a:rPr lang="en-US" altLang="zh-CN" sz="2400" baseline="-25000" dirty="0"/>
              <a:t>E</a:t>
            </a:r>
            <a:endParaRPr lang="zh-CN" altLang="en-US" sz="2400" baseline="-250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58" t="52505" r="35504" b="15676"/>
          <a:stretch/>
        </p:blipFill>
        <p:spPr>
          <a:xfrm rot="16200000">
            <a:off x="4691592" y="3619602"/>
            <a:ext cx="1843317" cy="21821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06093" y="3573016"/>
            <a:ext cx="149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PNP</a:t>
            </a:r>
            <a:r>
              <a:rPr lang="zh-CN" altLang="en-US" dirty="0" smtClean="0"/>
              <a:t>型三极管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410995" y="4563130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6517" y="384155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8776" y="483602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+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19546" y="42108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+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13582" y="4216534"/>
            <a:ext cx="1643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/>
              <a:t>V</a:t>
            </a:r>
            <a:r>
              <a:rPr lang="en-US" altLang="zh-CN" sz="2400" baseline="-25000" dirty="0" smtClean="0"/>
              <a:t>C</a:t>
            </a:r>
            <a:r>
              <a:rPr lang="en-US" altLang="zh-CN" sz="2400" dirty="0"/>
              <a:t>﹤</a:t>
            </a:r>
            <a:r>
              <a:rPr lang="en-US" altLang="zh-CN" sz="2400" dirty="0" smtClean="0"/>
              <a:t>V</a:t>
            </a:r>
            <a:r>
              <a:rPr lang="en-US" altLang="zh-CN" sz="2400" baseline="-25000" dirty="0" smtClean="0"/>
              <a:t>B</a:t>
            </a:r>
            <a:r>
              <a:rPr lang="en-US" altLang="zh-CN" sz="2400" dirty="0"/>
              <a:t>﹤V</a:t>
            </a:r>
            <a:r>
              <a:rPr lang="en-US" altLang="zh-CN" sz="2400" baseline="-25000" dirty="0" smtClean="0"/>
              <a:t>E</a:t>
            </a:r>
            <a:endParaRPr lang="zh-CN" alt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2907921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  <p:bldP spid="15" grpId="0"/>
      <p:bldP spid="18" grpId="0"/>
      <p:bldP spid="19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6277" y="24583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输出特性曲线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0" b="19154"/>
          <a:stretch/>
        </p:blipFill>
        <p:spPr>
          <a:xfrm>
            <a:off x="-214148" y="718840"/>
            <a:ext cx="5143500" cy="47316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48064" y="1844824"/>
            <a:ext cx="249299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2.</a:t>
            </a:r>
            <a:r>
              <a:rPr lang="zh-CN" altLang="en-US" dirty="0" smtClean="0"/>
              <a:t>截止区</a:t>
            </a:r>
            <a:endParaRPr lang="en-US" altLang="zh-CN" dirty="0" smtClean="0"/>
          </a:p>
          <a:p>
            <a:r>
              <a:rPr lang="zh-CN" altLang="en-US" dirty="0" smtClean="0"/>
              <a:t>发射结和集电结均反偏</a:t>
            </a:r>
            <a:endParaRPr lang="en-US" altLang="zh-CN" dirty="0" smtClean="0"/>
          </a:p>
          <a:p>
            <a:r>
              <a:rPr lang="en-US" altLang="zh-CN" dirty="0"/>
              <a:t>U</a:t>
            </a:r>
            <a:r>
              <a:rPr lang="en-US" altLang="zh-CN" baseline="-25000" dirty="0"/>
              <a:t>CE</a:t>
            </a:r>
            <a:r>
              <a:rPr lang="en-US" altLang="zh-CN" dirty="0" smtClean="0"/>
              <a:t>≈U</a:t>
            </a:r>
            <a:r>
              <a:rPr lang="en-US" altLang="zh-CN" baseline="-25000" dirty="0" smtClean="0"/>
              <a:t>CC</a:t>
            </a:r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饱和区</a:t>
            </a:r>
            <a:endParaRPr lang="en-US" altLang="zh-CN" dirty="0" smtClean="0"/>
          </a:p>
          <a:p>
            <a:r>
              <a:rPr lang="zh-CN" altLang="en-US" dirty="0" smtClean="0"/>
              <a:t>发射结和集电结均正偏</a:t>
            </a:r>
            <a:endParaRPr lang="en-US" altLang="zh-CN" dirty="0" smtClean="0"/>
          </a:p>
          <a:p>
            <a:r>
              <a:rPr lang="en-US" altLang="zh-CN" dirty="0"/>
              <a:t>U</a:t>
            </a:r>
            <a:r>
              <a:rPr lang="en-US" altLang="zh-CN" baseline="-25000" dirty="0"/>
              <a:t>CE</a:t>
            </a:r>
            <a:r>
              <a:rPr lang="en-US" altLang="zh-CN" dirty="0" smtClean="0"/>
              <a:t>≈0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745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9144000" cy="74614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87824" y="1444134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U</a:t>
            </a:r>
            <a:r>
              <a:rPr lang="en-US" altLang="zh-CN" baseline="-25000" dirty="0" smtClean="0"/>
              <a:t>CE</a:t>
            </a:r>
            <a:r>
              <a:rPr lang="en-US" altLang="zh-CN" dirty="0" smtClean="0"/>
              <a:t>=0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5152" y="2473542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</a:t>
            </a:r>
            <a:r>
              <a:rPr lang="en-US" altLang="zh-CN" baseline="-25000" dirty="0"/>
              <a:t>C</a:t>
            </a:r>
            <a:r>
              <a:rPr lang="en-US" altLang="zh-CN" dirty="0"/>
              <a:t>=</a:t>
            </a:r>
            <a:r>
              <a:rPr lang="el-GR" altLang="zh-CN" dirty="0"/>
              <a:t> β</a:t>
            </a:r>
            <a:r>
              <a:rPr lang="en-US" altLang="zh-CN" dirty="0"/>
              <a:t>I</a:t>
            </a:r>
            <a:r>
              <a:rPr lang="en-US" altLang="zh-CN" baseline="-25000" dirty="0"/>
              <a:t>B</a:t>
            </a:r>
            <a:endParaRPr lang="zh-CN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37056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332656"/>
            <a:ext cx="60532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对半导体而言，其正确的说法是（</a:t>
            </a:r>
            <a:r>
              <a:rPr lang="en-US" altLang="zh-CN" dirty="0" smtClean="0">
                <a:solidFill>
                  <a:srgbClr val="FF0000"/>
                </a:solidFill>
              </a:rPr>
              <a:t>c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err="1" smtClean="0"/>
              <a:t>a.P</a:t>
            </a:r>
            <a:r>
              <a:rPr lang="zh-CN" altLang="en-US" dirty="0" smtClean="0"/>
              <a:t>型半导体中由于多数载流子为空穴，所以他带正电</a:t>
            </a:r>
            <a:endParaRPr lang="en-US" altLang="zh-CN" dirty="0" smtClean="0"/>
          </a:p>
          <a:p>
            <a:r>
              <a:rPr lang="en-US" altLang="zh-CN" dirty="0" err="1" smtClean="0"/>
              <a:t>b.N</a:t>
            </a:r>
            <a:r>
              <a:rPr lang="zh-CN" altLang="en-US" dirty="0" smtClean="0"/>
              <a:t>型半导体中由于多数载流子为自由电子，所以他带负电</a:t>
            </a:r>
            <a:endParaRPr lang="en-US" altLang="zh-CN" dirty="0" smtClean="0"/>
          </a:p>
          <a:p>
            <a:r>
              <a:rPr lang="en-US" altLang="zh-CN" dirty="0" err="1" smtClean="0"/>
              <a:t>c.P</a:t>
            </a:r>
            <a:r>
              <a:rPr lang="zh-CN" altLang="en-US" dirty="0" smtClean="0"/>
              <a:t>型半导体和</a:t>
            </a:r>
            <a:r>
              <a:rPr lang="en-US" altLang="zh-CN" dirty="0" smtClean="0"/>
              <a:t>N</a:t>
            </a:r>
            <a:r>
              <a:rPr lang="zh-CN" altLang="en-US" dirty="0" smtClean="0"/>
              <a:t>型半导体本身都不带电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09"/>
          <a:stretch/>
        </p:blipFill>
        <p:spPr>
          <a:xfrm>
            <a:off x="-4079" y="1772816"/>
            <a:ext cx="9144000" cy="560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6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5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86"/>
          <a:stretch/>
        </p:blipFill>
        <p:spPr>
          <a:xfrm>
            <a:off x="0" y="0"/>
            <a:ext cx="9144000" cy="587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1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332656"/>
            <a:ext cx="76867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14.5.1 </a:t>
            </a:r>
            <a:r>
              <a:rPr lang="zh-CN" altLang="en-US" dirty="0" smtClean="0"/>
              <a:t>在放大电路中，若测得晶体管三个极的电位分别为</a:t>
            </a:r>
            <a:r>
              <a:rPr lang="en-US" altLang="zh-CN" dirty="0" smtClean="0"/>
              <a:t>9V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2.5V</a:t>
            </a:r>
            <a:r>
              <a:rPr lang="zh-CN" altLang="en-US" dirty="0" smtClean="0"/>
              <a:t>，</a:t>
            </a:r>
            <a:r>
              <a:rPr lang="en-US" altLang="zh-CN" dirty="0" smtClean="0"/>
              <a:t>3.2V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则这三个极分别为（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1.C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E       2.C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E</a:t>
            </a:r>
            <a:r>
              <a:rPr lang="zh-CN" altLang="en-US" dirty="0" smtClean="0"/>
              <a:t>，</a:t>
            </a:r>
            <a:r>
              <a:rPr lang="en-US" altLang="zh-CN" dirty="0" smtClean="0"/>
              <a:t>B      3.E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B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53" y="1236784"/>
            <a:ext cx="3782742" cy="1980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94559" y="8674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硅管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5576" y="3861048"/>
            <a:ext cx="7954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14.5.2 </a:t>
            </a:r>
            <a:r>
              <a:rPr lang="zh-CN" altLang="en-US" dirty="0" smtClean="0"/>
              <a:t>在放大电路中，若测得某晶体管三个极的电位分别为</a:t>
            </a:r>
            <a:r>
              <a:rPr lang="en-US" altLang="zh-CN" dirty="0" smtClean="0"/>
              <a:t>-9V</a:t>
            </a:r>
            <a:r>
              <a:rPr lang="zh-CN" altLang="en-US" dirty="0" smtClean="0"/>
              <a:t>，</a:t>
            </a:r>
            <a:r>
              <a:rPr lang="en-US" altLang="zh-CN" dirty="0" smtClean="0"/>
              <a:t>-6.2V</a:t>
            </a:r>
            <a:r>
              <a:rPr lang="zh-CN" altLang="en-US" dirty="0" smtClean="0"/>
              <a:t>，</a:t>
            </a:r>
            <a:r>
              <a:rPr lang="en-US" altLang="zh-CN" dirty="0" smtClean="0"/>
              <a:t>-6V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r>
              <a:rPr lang="zh-CN" altLang="en-US" dirty="0" smtClean="0"/>
              <a:t>则</a:t>
            </a:r>
            <a:r>
              <a:rPr lang="en-US" altLang="zh-CN" dirty="0" smtClean="0"/>
              <a:t>-6.2V</a:t>
            </a:r>
            <a:r>
              <a:rPr lang="zh-CN" altLang="en-US" dirty="0" smtClean="0"/>
              <a:t>的那个极为（</a:t>
            </a:r>
            <a:r>
              <a:rPr lang="zh-CN" altLang="en-US" dirty="0"/>
              <a:t>基极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4458585"/>
            <a:ext cx="4072618" cy="19947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46303" y="1734878"/>
            <a:ext cx="37721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电位相差不到</a:t>
            </a:r>
            <a:r>
              <a:rPr lang="en-US" altLang="zh-CN" dirty="0" smtClean="0"/>
              <a:t>1V</a:t>
            </a:r>
            <a:r>
              <a:rPr lang="zh-CN" altLang="en-US" dirty="0" smtClean="0"/>
              <a:t>的两极分别为</a:t>
            </a:r>
            <a:r>
              <a:rPr lang="en-US" altLang="zh-CN" dirty="0" smtClean="0"/>
              <a:t>B</a:t>
            </a:r>
            <a:r>
              <a:rPr lang="zh-CN" altLang="en-US" dirty="0" smtClean="0"/>
              <a:t>和</a:t>
            </a:r>
            <a:r>
              <a:rPr lang="en-US" altLang="zh-CN" dirty="0" smtClean="0"/>
              <a:t>E</a:t>
            </a:r>
          </a:p>
          <a:p>
            <a:r>
              <a:rPr lang="zh-CN" altLang="en-US" dirty="0" smtClean="0"/>
              <a:t>且电位位于中间的那个一定为基极</a:t>
            </a:r>
            <a:r>
              <a:rPr lang="en-US" altLang="zh-CN" dirty="0" smtClean="0"/>
              <a:t>B</a:t>
            </a:r>
          </a:p>
          <a:p>
            <a:r>
              <a:rPr lang="zh-CN" altLang="en-US" dirty="0" smtClean="0"/>
              <a:t>余下的一个为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545996" y="60965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B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355897" y="6096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948264" y="609655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E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457478" y="418421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B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028384" y="4219552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762581" y="41842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972210" y="50851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锗管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5451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33144" y="2507364"/>
            <a:ext cx="2877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发射结正偏，集电结正偏，饱和区</a:t>
            </a:r>
            <a:endParaRPr lang="zh-CN" altLang="en-US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3133144" y="3429000"/>
            <a:ext cx="2877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发射结正偏，集电结反偏，放大区</a:t>
            </a:r>
            <a:endParaRPr lang="zh-CN" alt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3133144" y="4183133"/>
            <a:ext cx="2877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发射结反偏，集电结反偏，截止区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6093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2"/>
          <a:stretch/>
        </p:blipFill>
        <p:spPr>
          <a:xfrm>
            <a:off x="0" y="812800"/>
            <a:ext cx="9144000" cy="604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048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903</Words>
  <Application>Microsoft Office PowerPoint</Application>
  <PresentationFormat>全屏显示(4:3)</PresentationFormat>
  <Paragraphs>124</Paragraphs>
  <Slides>21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2" baseType="lpstr">
      <vt:lpstr>Office 主题​​</vt:lpstr>
      <vt:lpstr>第十四章 半导体器件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第十四章 半导体器件</dc:title>
  <dc:creator>China</dc:creator>
  <cp:lastModifiedBy>China</cp:lastModifiedBy>
  <cp:revision>36</cp:revision>
  <dcterms:created xsi:type="dcterms:W3CDTF">2018-01-19T07:15:25Z</dcterms:created>
  <dcterms:modified xsi:type="dcterms:W3CDTF">2018-01-20T12:09:15Z</dcterms:modified>
</cp:coreProperties>
</file>