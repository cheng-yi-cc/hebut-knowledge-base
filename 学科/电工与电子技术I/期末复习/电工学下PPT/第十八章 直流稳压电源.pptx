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49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2018/1/22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3568" y="332656"/>
            <a:ext cx="7772400" cy="1470025"/>
          </a:xfrm>
        </p:spPr>
        <p:txBody>
          <a:bodyPr/>
          <a:lstStyle/>
          <a:p>
            <a:r>
              <a:rPr lang="zh-CN" altLang="en-US" dirty="0" smtClean="0"/>
              <a:t>第十八章 直流稳压电源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1412776"/>
            <a:ext cx="3003798" cy="400506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2096852"/>
            <a:ext cx="1491111" cy="2636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51787" y="5046367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微博：易水两岸灯火阑珊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613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87" t="47831" r="17460" b="12592"/>
          <a:stretch/>
        </p:blipFill>
        <p:spPr>
          <a:xfrm>
            <a:off x="0" y="-1"/>
            <a:ext cx="7236296" cy="3523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7482" y="3523924"/>
            <a:ext cx="916148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1.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整流变压器：将交流电源电压变为符合整流需要的电压</a:t>
            </a:r>
            <a:endParaRPr lang="en-US" altLang="zh-CN" sz="20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2.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整流电流：将交流电压变为单向脉动电压</a:t>
            </a:r>
            <a:endParaRPr lang="en-US" altLang="zh-CN" sz="20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3.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滤波器：减小整流电压的脉动程度，已适合负载的需要</a:t>
            </a:r>
            <a:endParaRPr lang="en-US" altLang="zh-CN" sz="20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4.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稳压环节：稳压输出直流电压，使其尽量不受交流电源波动和负载变化的影响</a:t>
            </a:r>
            <a:endParaRPr lang="zh-CN" altLang="en-US" sz="2000" dirty="0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1961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6262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单相半波整流电流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23" t="35185" r="45697" b="32407"/>
          <a:stretch/>
        </p:blipFill>
        <p:spPr>
          <a:xfrm rot="16200000">
            <a:off x="553643" y="238937"/>
            <a:ext cx="2160240" cy="277972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06" t="18413" r="28730" b="22328"/>
          <a:stretch/>
        </p:blipFill>
        <p:spPr>
          <a:xfrm>
            <a:off x="3347864" y="248801"/>
            <a:ext cx="2942333" cy="27844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543" y="3429000"/>
            <a:ext cx="603242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整流电路的计算</a:t>
            </a:r>
            <a:endParaRPr lang="en-US" altLang="zh-CN" sz="24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1.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输出电压的平均值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U</a:t>
            </a:r>
            <a:r>
              <a:rPr lang="en-US" altLang="zh-CN" sz="2400" baseline="-25000" dirty="0" smtClean="0">
                <a:latin typeface="楷体" pitchFamily="49" charset="-122"/>
                <a:ea typeface="楷体" pitchFamily="49" charset="-122"/>
              </a:rPr>
              <a:t>0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=0.45U</a:t>
            </a:r>
          </a:p>
          <a:p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2.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输出电流的平均值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400" baseline="-25000" dirty="0" smtClean="0">
                <a:latin typeface="楷体" pitchFamily="49" charset="-122"/>
                <a:ea typeface="楷体" pitchFamily="49" charset="-122"/>
              </a:rPr>
              <a:t>0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=0.45U/R</a:t>
            </a:r>
            <a:r>
              <a:rPr lang="en-US" altLang="zh-CN" sz="2400" baseline="-25000" dirty="0" smtClean="0">
                <a:latin typeface="楷体" pitchFamily="49" charset="-122"/>
                <a:ea typeface="楷体" pitchFamily="49" charset="-122"/>
              </a:rPr>
              <a:t>L</a:t>
            </a:r>
          </a:p>
          <a:p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3.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二极管上的平均电流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400" baseline="-25000" dirty="0" smtClean="0">
                <a:latin typeface="楷体" pitchFamily="49" charset="-122"/>
                <a:ea typeface="楷体" pitchFamily="49" charset="-122"/>
              </a:rPr>
              <a:t>D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=I</a:t>
            </a:r>
            <a:r>
              <a:rPr lang="en-US" altLang="zh-CN" sz="2400" baseline="-25000" dirty="0" smtClean="0">
                <a:latin typeface="楷体" pitchFamily="49" charset="-122"/>
                <a:ea typeface="楷体" pitchFamily="49" charset="-122"/>
              </a:rPr>
              <a:t>0</a:t>
            </a:r>
          </a:p>
          <a:p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4.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二极管上承受的最高反向电压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U</a:t>
            </a:r>
            <a:r>
              <a:rPr lang="en-US" altLang="zh-CN" sz="2400" baseline="-25000" dirty="0" smtClean="0">
                <a:latin typeface="楷体" pitchFamily="49" charset="-122"/>
                <a:ea typeface="楷体" pitchFamily="49" charset="-122"/>
              </a:rPr>
              <a:t>DRM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=     U</a:t>
            </a:r>
          </a:p>
          <a:p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5.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变压器副边电流的有效值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I=1.57I</a:t>
            </a:r>
            <a:r>
              <a:rPr lang="en-US" altLang="zh-CN" sz="2400" baseline="-25000" dirty="0" smtClean="0">
                <a:latin typeface="楷体" pitchFamily="49" charset="-122"/>
                <a:ea typeface="楷体" pitchFamily="49" charset="-122"/>
              </a:rPr>
              <a:t>0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3830463"/>
              </p:ext>
            </p:extLst>
          </p:nvPr>
        </p:nvGraphicFramePr>
        <p:xfrm>
          <a:off x="5436096" y="4797152"/>
          <a:ext cx="576064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公式" r:id="rId5" imgW="228600" imgH="228600" progId="Equation.3">
                  <p:embed/>
                </p:oleObj>
              </mc:Choice>
              <mc:Fallback>
                <p:oleObj name="公式" r:id="rId5" imgW="22860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36096" y="4797152"/>
                        <a:ext cx="576064" cy="5760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995936" y="57239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交流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19030" y="57239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直流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717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26064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单相全波整流电路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32" t="20106" r="13016" b="46455"/>
          <a:stretch/>
        </p:blipFill>
        <p:spPr>
          <a:xfrm>
            <a:off x="1" y="644493"/>
            <a:ext cx="6487886" cy="229325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24" t="50794" r="48095" b="15767"/>
          <a:stretch/>
        </p:blipFill>
        <p:spPr>
          <a:xfrm>
            <a:off x="6182252" y="644493"/>
            <a:ext cx="2960915" cy="22932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544" y="3429000"/>
            <a:ext cx="618630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楷体" pitchFamily="49" charset="-122"/>
                <a:ea typeface="楷体" pitchFamily="49" charset="-122"/>
              </a:rPr>
              <a:t>整流电路的计算</a:t>
            </a:r>
            <a:endParaRPr lang="en-US" altLang="zh-CN" sz="2400" dirty="0">
              <a:latin typeface="楷体" pitchFamily="49" charset="-122"/>
              <a:ea typeface="楷体" pitchFamily="49" charset="-122"/>
            </a:endParaRPr>
          </a:p>
          <a:p>
            <a:r>
              <a:rPr lang="en-US" altLang="zh-CN" sz="2400" dirty="0">
                <a:latin typeface="楷体" pitchFamily="49" charset="-122"/>
                <a:ea typeface="楷体" pitchFamily="49" charset="-122"/>
              </a:rPr>
              <a:t>1.</a:t>
            </a:r>
            <a:r>
              <a:rPr lang="zh-CN" altLang="en-US" sz="2400" dirty="0">
                <a:latin typeface="楷体" pitchFamily="49" charset="-122"/>
                <a:ea typeface="楷体" pitchFamily="49" charset="-122"/>
              </a:rPr>
              <a:t>输出电压的平均值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U</a:t>
            </a:r>
            <a:r>
              <a:rPr lang="en-US" altLang="zh-CN" sz="2400" baseline="-25000" dirty="0" smtClean="0">
                <a:latin typeface="楷体" pitchFamily="49" charset="-122"/>
                <a:ea typeface="楷体" pitchFamily="49" charset="-122"/>
              </a:rPr>
              <a:t>0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=0.9U</a:t>
            </a:r>
            <a:endParaRPr lang="en-US" altLang="zh-CN" sz="2400" dirty="0">
              <a:latin typeface="楷体" pitchFamily="49" charset="-122"/>
              <a:ea typeface="楷体" pitchFamily="49" charset="-122"/>
            </a:endParaRPr>
          </a:p>
          <a:p>
            <a:r>
              <a:rPr lang="en-US" altLang="zh-CN" sz="2400" dirty="0">
                <a:latin typeface="楷体" pitchFamily="49" charset="-122"/>
                <a:ea typeface="楷体" pitchFamily="49" charset="-122"/>
              </a:rPr>
              <a:t>2.</a:t>
            </a:r>
            <a:r>
              <a:rPr lang="zh-CN" altLang="en-US" sz="2400" dirty="0">
                <a:latin typeface="楷体" pitchFamily="49" charset="-122"/>
                <a:ea typeface="楷体" pitchFamily="49" charset="-122"/>
              </a:rPr>
              <a:t>输出电流的平均值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400" baseline="-25000" dirty="0" smtClean="0">
                <a:latin typeface="楷体" pitchFamily="49" charset="-122"/>
                <a:ea typeface="楷体" pitchFamily="49" charset="-122"/>
              </a:rPr>
              <a:t>0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=0.9U/R</a:t>
            </a:r>
            <a:r>
              <a:rPr lang="en-US" altLang="zh-CN" sz="2400" baseline="-25000" dirty="0" smtClean="0">
                <a:latin typeface="楷体" pitchFamily="49" charset="-122"/>
                <a:ea typeface="楷体" pitchFamily="49" charset="-122"/>
              </a:rPr>
              <a:t>L</a:t>
            </a:r>
            <a:endParaRPr lang="en-US" altLang="zh-CN" sz="2400" baseline="-25000" dirty="0">
              <a:latin typeface="楷体" pitchFamily="49" charset="-122"/>
              <a:ea typeface="楷体" pitchFamily="49" charset="-122"/>
            </a:endParaRPr>
          </a:p>
          <a:p>
            <a:r>
              <a:rPr lang="en-US" altLang="zh-CN" sz="2400" dirty="0">
                <a:latin typeface="楷体" pitchFamily="49" charset="-122"/>
                <a:ea typeface="楷体" pitchFamily="49" charset="-122"/>
              </a:rPr>
              <a:t>3.</a:t>
            </a:r>
            <a:r>
              <a:rPr lang="zh-CN" altLang="en-US" sz="2400" dirty="0">
                <a:latin typeface="楷体" pitchFamily="49" charset="-122"/>
                <a:ea typeface="楷体" pitchFamily="49" charset="-122"/>
              </a:rPr>
              <a:t>二极管上的平均电流</a:t>
            </a:r>
            <a:r>
              <a:rPr lang="en-US" altLang="zh-CN" sz="2400" dirty="0"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400" baseline="-25000" dirty="0">
                <a:latin typeface="楷体" pitchFamily="49" charset="-122"/>
                <a:ea typeface="楷体" pitchFamily="49" charset="-122"/>
              </a:rPr>
              <a:t>D</a:t>
            </a:r>
            <a:r>
              <a:rPr lang="en-US" altLang="zh-CN" sz="2400" dirty="0">
                <a:latin typeface="楷体" pitchFamily="49" charset="-122"/>
                <a:ea typeface="楷体" pitchFamily="49" charset="-122"/>
              </a:rPr>
              <a:t>=½I</a:t>
            </a:r>
            <a:r>
              <a:rPr lang="en-US" altLang="zh-CN" sz="2400" baseline="-25000" dirty="0" smtClean="0">
                <a:latin typeface="楷体" pitchFamily="49" charset="-122"/>
                <a:ea typeface="楷体" pitchFamily="49" charset="-122"/>
              </a:rPr>
              <a:t>0</a:t>
            </a:r>
            <a:endParaRPr lang="en-US" altLang="zh-CN" sz="2400" baseline="-25000" dirty="0">
              <a:latin typeface="楷体" pitchFamily="49" charset="-122"/>
              <a:ea typeface="楷体" pitchFamily="49" charset="-122"/>
            </a:endParaRPr>
          </a:p>
          <a:p>
            <a:r>
              <a:rPr lang="en-US" altLang="zh-CN" sz="2400" dirty="0">
                <a:latin typeface="楷体" pitchFamily="49" charset="-122"/>
                <a:ea typeface="楷体" pitchFamily="49" charset="-122"/>
              </a:rPr>
              <a:t>4.</a:t>
            </a:r>
            <a:r>
              <a:rPr lang="zh-CN" altLang="en-US" sz="2400" dirty="0">
                <a:latin typeface="楷体" pitchFamily="49" charset="-122"/>
                <a:ea typeface="楷体" pitchFamily="49" charset="-122"/>
              </a:rPr>
              <a:t>二极管上承受的最高反向电压</a:t>
            </a:r>
            <a:r>
              <a:rPr lang="en-US" altLang="zh-CN" sz="2400" dirty="0">
                <a:latin typeface="楷体" pitchFamily="49" charset="-122"/>
                <a:ea typeface="楷体" pitchFamily="49" charset="-122"/>
              </a:rPr>
              <a:t>U</a:t>
            </a:r>
            <a:r>
              <a:rPr lang="en-US" altLang="zh-CN" sz="2400" baseline="-25000" dirty="0">
                <a:latin typeface="楷体" pitchFamily="49" charset="-122"/>
                <a:ea typeface="楷体" pitchFamily="49" charset="-122"/>
              </a:rPr>
              <a:t>DRM</a:t>
            </a:r>
            <a:r>
              <a:rPr lang="en-US" altLang="zh-CN" sz="2400" dirty="0">
                <a:latin typeface="楷体" pitchFamily="49" charset="-122"/>
                <a:ea typeface="楷体" pitchFamily="49" charset="-122"/>
              </a:rPr>
              <a:t>= 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2    </a:t>
            </a:r>
            <a:r>
              <a:rPr lang="en-US" altLang="zh-CN" sz="2400" dirty="0">
                <a:latin typeface="楷体" pitchFamily="49" charset="-122"/>
                <a:ea typeface="楷体" pitchFamily="49" charset="-122"/>
              </a:rPr>
              <a:t>U</a:t>
            </a:r>
          </a:p>
          <a:p>
            <a:r>
              <a:rPr lang="en-US" altLang="zh-CN" sz="2400" dirty="0">
                <a:latin typeface="楷体" pitchFamily="49" charset="-122"/>
                <a:ea typeface="楷体" pitchFamily="49" charset="-122"/>
              </a:rPr>
              <a:t>5.</a:t>
            </a:r>
            <a:r>
              <a:rPr lang="zh-CN" altLang="en-US" sz="2400" dirty="0">
                <a:latin typeface="楷体" pitchFamily="49" charset="-122"/>
                <a:ea typeface="楷体" pitchFamily="49" charset="-122"/>
              </a:rPr>
              <a:t>变压器副边电流的有效值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I=0.79I</a:t>
            </a:r>
            <a:r>
              <a:rPr lang="en-US" altLang="zh-CN" sz="2400" baseline="-25000" dirty="0" smtClean="0">
                <a:latin typeface="楷体" pitchFamily="49" charset="-122"/>
                <a:ea typeface="楷体" pitchFamily="49" charset="-122"/>
              </a:rPr>
              <a:t>0</a:t>
            </a:r>
            <a:endParaRPr lang="en-US" altLang="zh-CN" sz="2400" baseline="-25000" dirty="0">
              <a:latin typeface="楷体" pitchFamily="49" charset="-122"/>
              <a:ea typeface="楷体" pitchFamily="49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8216327"/>
              </p:ext>
            </p:extLst>
          </p:nvPr>
        </p:nvGraphicFramePr>
        <p:xfrm>
          <a:off x="5605989" y="4869160"/>
          <a:ext cx="576263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公式" r:id="rId4" imgW="228600" imgH="228600" progId="Equation.3">
                  <p:embed/>
                </p:oleObj>
              </mc:Choice>
              <mc:Fallback>
                <p:oleObj name="公式" r:id="rId4" imgW="228600" imgH="228600" progId="Equation.3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5989" y="4869160"/>
                        <a:ext cx="576263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52135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7" y="19036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单相桥式整流电路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17" t="57143" r="13492" b="3281"/>
          <a:stretch/>
        </p:blipFill>
        <p:spPr>
          <a:xfrm>
            <a:off x="3809" y="574883"/>
            <a:ext cx="6966858" cy="27141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61479" y="188015"/>
            <a:ext cx="5955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自己画两遍，这四个二极管你考试的时候不一定能画明白</a:t>
            </a:r>
            <a:endParaRPr lang="en-US" altLang="zh-CN" b="1" dirty="0" smtClean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9512" y="3717032"/>
            <a:ext cx="572464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楷体" pitchFamily="49" charset="-122"/>
                <a:ea typeface="楷体" pitchFamily="49" charset="-122"/>
              </a:rPr>
              <a:t>整流电路的计算</a:t>
            </a:r>
            <a:endParaRPr lang="en-US" altLang="zh-CN" sz="2400" dirty="0">
              <a:latin typeface="楷体" pitchFamily="49" charset="-122"/>
              <a:ea typeface="楷体" pitchFamily="49" charset="-122"/>
            </a:endParaRPr>
          </a:p>
          <a:p>
            <a:r>
              <a:rPr lang="en-US" altLang="zh-CN" sz="2400" dirty="0">
                <a:latin typeface="楷体" pitchFamily="49" charset="-122"/>
                <a:ea typeface="楷体" pitchFamily="49" charset="-122"/>
              </a:rPr>
              <a:t>1.</a:t>
            </a:r>
            <a:r>
              <a:rPr lang="zh-CN" altLang="en-US" sz="2400" dirty="0">
                <a:latin typeface="楷体" pitchFamily="49" charset="-122"/>
                <a:ea typeface="楷体" pitchFamily="49" charset="-122"/>
              </a:rPr>
              <a:t>输出电压的平均值</a:t>
            </a:r>
            <a:r>
              <a:rPr lang="en-US" altLang="zh-CN" sz="2400" dirty="0">
                <a:latin typeface="楷体" pitchFamily="49" charset="-122"/>
                <a:ea typeface="楷体" pitchFamily="49" charset="-122"/>
              </a:rPr>
              <a:t>U</a:t>
            </a:r>
            <a:r>
              <a:rPr lang="en-US" altLang="zh-CN" sz="2400" baseline="-25000" dirty="0">
                <a:latin typeface="楷体" pitchFamily="49" charset="-122"/>
                <a:ea typeface="楷体" pitchFamily="49" charset="-122"/>
              </a:rPr>
              <a:t>0</a:t>
            </a:r>
            <a:r>
              <a:rPr lang="en-US" altLang="zh-CN" sz="2400" dirty="0">
                <a:latin typeface="楷体" pitchFamily="49" charset="-122"/>
                <a:ea typeface="楷体" pitchFamily="49" charset="-122"/>
              </a:rPr>
              <a:t>=0.9U</a:t>
            </a:r>
          </a:p>
          <a:p>
            <a:r>
              <a:rPr lang="en-US" altLang="zh-CN" sz="2400" dirty="0">
                <a:latin typeface="楷体" pitchFamily="49" charset="-122"/>
                <a:ea typeface="楷体" pitchFamily="49" charset="-122"/>
              </a:rPr>
              <a:t>2.</a:t>
            </a:r>
            <a:r>
              <a:rPr lang="zh-CN" altLang="en-US" sz="2400" dirty="0">
                <a:latin typeface="楷体" pitchFamily="49" charset="-122"/>
                <a:ea typeface="楷体" pitchFamily="49" charset="-122"/>
              </a:rPr>
              <a:t>输出电流的平均值</a:t>
            </a:r>
            <a:r>
              <a:rPr lang="en-US" altLang="zh-CN" sz="2400" dirty="0"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400" baseline="-25000" dirty="0">
                <a:latin typeface="楷体" pitchFamily="49" charset="-122"/>
                <a:ea typeface="楷体" pitchFamily="49" charset="-122"/>
              </a:rPr>
              <a:t>0</a:t>
            </a:r>
            <a:r>
              <a:rPr lang="en-US" altLang="zh-CN" sz="2400" dirty="0">
                <a:latin typeface="楷体" pitchFamily="49" charset="-122"/>
                <a:ea typeface="楷体" pitchFamily="49" charset="-122"/>
              </a:rPr>
              <a:t>=0.9U/R</a:t>
            </a:r>
            <a:r>
              <a:rPr lang="en-US" altLang="zh-CN" sz="2400" baseline="-25000" dirty="0">
                <a:latin typeface="楷体" pitchFamily="49" charset="-122"/>
                <a:ea typeface="楷体" pitchFamily="49" charset="-122"/>
              </a:rPr>
              <a:t>L</a:t>
            </a:r>
          </a:p>
          <a:p>
            <a:r>
              <a:rPr lang="en-US" altLang="zh-CN" sz="2400" dirty="0">
                <a:latin typeface="楷体" pitchFamily="49" charset="-122"/>
                <a:ea typeface="楷体" pitchFamily="49" charset="-122"/>
              </a:rPr>
              <a:t>3.</a:t>
            </a:r>
            <a:r>
              <a:rPr lang="zh-CN" altLang="en-US" sz="2400" dirty="0">
                <a:latin typeface="楷体" pitchFamily="49" charset="-122"/>
                <a:ea typeface="楷体" pitchFamily="49" charset="-122"/>
              </a:rPr>
              <a:t>二极管上的平均电流</a:t>
            </a:r>
            <a:r>
              <a:rPr lang="en-US" altLang="zh-CN" sz="2400" dirty="0"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400" baseline="-25000" dirty="0">
                <a:latin typeface="楷体" pitchFamily="49" charset="-122"/>
                <a:ea typeface="楷体" pitchFamily="49" charset="-122"/>
              </a:rPr>
              <a:t>D</a:t>
            </a:r>
            <a:r>
              <a:rPr lang="en-US" altLang="zh-CN" sz="2400" dirty="0">
                <a:latin typeface="楷体" pitchFamily="49" charset="-122"/>
                <a:ea typeface="楷体" pitchFamily="49" charset="-122"/>
              </a:rPr>
              <a:t>=½I</a:t>
            </a:r>
            <a:r>
              <a:rPr lang="en-US" altLang="zh-CN" sz="2400" baseline="-25000" dirty="0">
                <a:latin typeface="楷体" pitchFamily="49" charset="-122"/>
                <a:ea typeface="楷体" pitchFamily="49" charset="-122"/>
              </a:rPr>
              <a:t>0</a:t>
            </a:r>
          </a:p>
          <a:p>
            <a:r>
              <a:rPr lang="en-US" altLang="zh-CN" sz="2400" dirty="0">
                <a:latin typeface="楷体" pitchFamily="49" charset="-122"/>
                <a:ea typeface="楷体" pitchFamily="49" charset="-122"/>
              </a:rPr>
              <a:t>4.</a:t>
            </a:r>
            <a:r>
              <a:rPr lang="zh-CN" altLang="en-US" sz="2400" dirty="0">
                <a:latin typeface="楷体" pitchFamily="49" charset="-122"/>
                <a:ea typeface="楷体" pitchFamily="49" charset="-122"/>
              </a:rPr>
              <a:t>二极管上承受的最高反向电压</a:t>
            </a:r>
            <a:r>
              <a:rPr lang="en-US" altLang="zh-CN" sz="2400" dirty="0">
                <a:latin typeface="楷体" pitchFamily="49" charset="-122"/>
                <a:ea typeface="楷体" pitchFamily="49" charset="-122"/>
              </a:rPr>
              <a:t>U</a:t>
            </a:r>
            <a:r>
              <a:rPr lang="en-US" altLang="zh-CN" sz="2400" baseline="-25000" dirty="0">
                <a:latin typeface="楷体" pitchFamily="49" charset="-122"/>
                <a:ea typeface="楷体" pitchFamily="49" charset="-122"/>
              </a:rPr>
              <a:t>DRM</a:t>
            </a:r>
            <a:r>
              <a:rPr lang="en-US" altLang="zh-CN" sz="2400" dirty="0">
                <a:latin typeface="楷体" pitchFamily="49" charset="-122"/>
                <a:ea typeface="楷体" pitchFamily="49" charset="-122"/>
              </a:rPr>
              <a:t>= 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  U</a:t>
            </a:r>
            <a:endParaRPr lang="en-US" altLang="zh-CN" sz="2400" dirty="0">
              <a:latin typeface="楷体" pitchFamily="49" charset="-122"/>
              <a:ea typeface="楷体" pitchFamily="49" charset="-122"/>
            </a:endParaRPr>
          </a:p>
          <a:p>
            <a:r>
              <a:rPr lang="en-US" altLang="zh-CN" sz="2400" dirty="0">
                <a:latin typeface="楷体" pitchFamily="49" charset="-122"/>
                <a:ea typeface="楷体" pitchFamily="49" charset="-122"/>
              </a:rPr>
              <a:t>5.</a:t>
            </a:r>
            <a:r>
              <a:rPr lang="zh-CN" altLang="en-US" sz="2400" dirty="0">
                <a:latin typeface="楷体" pitchFamily="49" charset="-122"/>
                <a:ea typeface="楷体" pitchFamily="49" charset="-122"/>
              </a:rPr>
              <a:t>变压器副边电流的有效值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I=1.11I</a:t>
            </a:r>
            <a:r>
              <a:rPr lang="en-US" altLang="zh-CN" sz="2400" baseline="-25000" dirty="0" smtClean="0">
                <a:latin typeface="楷体" pitchFamily="49" charset="-122"/>
                <a:ea typeface="楷体" pitchFamily="49" charset="-122"/>
              </a:rPr>
              <a:t>0</a:t>
            </a:r>
            <a:endParaRPr lang="en-US" altLang="zh-CN" sz="2400" baseline="-25000" dirty="0">
              <a:latin typeface="楷体" pitchFamily="49" charset="-122"/>
              <a:ea typeface="楷体" pitchFamily="49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0821680"/>
              </p:ext>
            </p:extLst>
          </p:nvPr>
        </p:nvGraphicFramePr>
        <p:xfrm>
          <a:off x="5004048" y="5085184"/>
          <a:ext cx="576262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公式" r:id="rId4" imgW="228600" imgH="228600" progId="Equation.3">
                  <p:embed/>
                </p:oleObj>
              </mc:Choice>
              <mc:Fallback>
                <p:oleObj name="公式" r:id="rId4" imgW="228600" imgH="228600" progId="Equation.3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5085184"/>
                        <a:ext cx="576262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57184" y="3742928"/>
            <a:ext cx="3658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书</a:t>
            </a:r>
            <a:r>
              <a:rPr lang="en-US" altLang="zh-CN" dirty="0" smtClean="0"/>
              <a:t>p164</a:t>
            </a:r>
            <a:r>
              <a:rPr lang="zh-CN" altLang="en-US" dirty="0" smtClean="0"/>
              <a:t>有一个表格，只讲了前三种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839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1082" y="4237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电容滤波电路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61" t="21193" r="14872" b="29283"/>
          <a:stretch/>
        </p:blipFill>
        <p:spPr>
          <a:xfrm rot="16200000">
            <a:off x="582521" y="-199848"/>
            <a:ext cx="2173245" cy="33963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83" t="25600" r="39619" b="37770"/>
          <a:stretch/>
        </p:blipFill>
        <p:spPr>
          <a:xfrm rot="16200000">
            <a:off x="-832217" y="3404475"/>
            <a:ext cx="4151086" cy="25120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88660" y="411702"/>
            <a:ext cx="54553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+mn-ea"/>
              </a:rPr>
              <a:t>U0</a:t>
            </a:r>
            <a:r>
              <a:rPr lang="zh-CN" altLang="en-US" dirty="0" smtClean="0">
                <a:latin typeface="+mn-ea"/>
              </a:rPr>
              <a:t>的平滑程度取决于时间常数</a:t>
            </a:r>
            <a:r>
              <a:rPr lang="el-GR" altLang="zh-CN" dirty="0" smtClean="0">
                <a:latin typeface="+mn-ea"/>
              </a:rPr>
              <a:t>τ</a:t>
            </a:r>
            <a:r>
              <a:rPr lang="en-US" altLang="zh-CN" dirty="0" smtClean="0">
                <a:latin typeface="+mn-ea"/>
              </a:rPr>
              <a:t>=R</a:t>
            </a:r>
            <a:r>
              <a:rPr lang="en-US" altLang="zh-CN" baseline="-25000" dirty="0" smtClean="0">
                <a:latin typeface="+mn-ea"/>
              </a:rPr>
              <a:t>L</a:t>
            </a:r>
            <a:r>
              <a:rPr lang="en-US" altLang="zh-CN" dirty="0" smtClean="0">
                <a:latin typeface="+mn-ea"/>
              </a:rPr>
              <a:t>C</a:t>
            </a:r>
          </a:p>
          <a:p>
            <a:r>
              <a:rPr lang="zh-CN" altLang="en-US" dirty="0" smtClean="0">
                <a:latin typeface="+mn-ea"/>
              </a:rPr>
              <a:t>输出电压的平均值</a:t>
            </a:r>
            <a:r>
              <a:rPr lang="en-US" altLang="zh-CN" dirty="0" smtClean="0">
                <a:latin typeface="+mn-ea"/>
              </a:rPr>
              <a:t>U</a:t>
            </a:r>
            <a:r>
              <a:rPr lang="en-US" altLang="zh-CN" baseline="-25000" dirty="0" smtClean="0">
                <a:latin typeface="+mn-ea"/>
              </a:rPr>
              <a:t>0</a:t>
            </a:r>
            <a:r>
              <a:rPr lang="en-US" altLang="zh-CN" dirty="0" smtClean="0">
                <a:latin typeface="+mn-ea"/>
              </a:rPr>
              <a:t>=1.2U</a:t>
            </a:r>
            <a:r>
              <a:rPr lang="zh-CN" altLang="en-US" dirty="0" smtClean="0">
                <a:latin typeface="+mn-ea"/>
              </a:rPr>
              <a:t>（全波）</a:t>
            </a:r>
            <a:endParaRPr lang="en-US" altLang="zh-CN" dirty="0">
              <a:latin typeface="+mn-ea"/>
            </a:endParaRPr>
          </a:p>
          <a:p>
            <a:r>
              <a:rPr lang="en-US" altLang="zh-CN" dirty="0" smtClean="0">
                <a:latin typeface="+mn-ea"/>
              </a:rPr>
              <a:t>                 U</a:t>
            </a:r>
            <a:r>
              <a:rPr lang="en-US" altLang="zh-CN" baseline="-25000" dirty="0" smtClean="0">
                <a:latin typeface="+mn-ea"/>
              </a:rPr>
              <a:t>0</a:t>
            </a:r>
            <a:r>
              <a:rPr lang="en-US" altLang="zh-CN" dirty="0" smtClean="0">
                <a:latin typeface="+mn-ea"/>
              </a:rPr>
              <a:t>=1.0U</a:t>
            </a:r>
            <a:r>
              <a:rPr lang="zh-CN" altLang="en-US" dirty="0" smtClean="0">
                <a:latin typeface="+mn-ea"/>
              </a:rPr>
              <a:t>（半波）只有一个二极管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滤波使</a:t>
            </a:r>
            <a:r>
              <a:rPr lang="en-US" altLang="zh-CN" dirty="0" smtClean="0">
                <a:latin typeface="+mn-ea"/>
              </a:rPr>
              <a:t>U</a:t>
            </a:r>
            <a:r>
              <a:rPr lang="en-US" altLang="zh-CN" baseline="-25000" dirty="0" smtClean="0">
                <a:latin typeface="+mn-ea"/>
              </a:rPr>
              <a:t>0</a:t>
            </a:r>
            <a:r>
              <a:rPr lang="zh-CN" altLang="en-US" dirty="0" smtClean="0">
                <a:latin typeface="+mn-ea"/>
              </a:rPr>
              <a:t>的波形变的平缓，提高了</a:t>
            </a:r>
            <a:r>
              <a:rPr lang="en-US" altLang="zh-CN" dirty="0">
                <a:latin typeface="+mn-ea"/>
              </a:rPr>
              <a:t>U</a:t>
            </a:r>
            <a:r>
              <a:rPr lang="en-US" altLang="zh-CN" baseline="-25000" dirty="0">
                <a:latin typeface="+mn-ea"/>
              </a:rPr>
              <a:t>0</a:t>
            </a:r>
            <a:r>
              <a:rPr lang="zh-CN" altLang="en-US" dirty="0" smtClean="0">
                <a:latin typeface="+mn-ea"/>
              </a:rPr>
              <a:t>的平均值</a:t>
            </a:r>
            <a:endParaRPr lang="en-US" altLang="zh-CN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92742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17934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稳压二极管稳压电路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89" t="30106" r="65732" b="38995"/>
          <a:stretch/>
        </p:blipFill>
        <p:spPr>
          <a:xfrm rot="16200000">
            <a:off x="848666" y="-299985"/>
            <a:ext cx="2808312" cy="45056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3501008"/>
            <a:ext cx="895629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U</a:t>
            </a:r>
            <a:r>
              <a:rPr lang="en-US" altLang="zh-CN" sz="2400" baseline="-250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=20V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U</a:t>
            </a:r>
            <a:r>
              <a:rPr lang="en-US" altLang="zh-CN" sz="2400" baseline="-25000" dirty="0" smtClean="0">
                <a:latin typeface="楷体" pitchFamily="49" charset="-122"/>
                <a:ea typeface="楷体" pitchFamily="49" charset="-122"/>
              </a:rPr>
              <a:t>Z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=12V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，以下几种情况，判断电路发生了什么故障</a:t>
            </a:r>
            <a:endParaRPr lang="en-US" altLang="zh-CN" sz="24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1.U</a:t>
            </a:r>
            <a:r>
              <a:rPr lang="en-US" altLang="zh-CN" sz="2400" baseline="-25000" dirty="0" smtClean="0">
                <a:latin typeface="楷体" pitchFamily="49" charset="-122"/>
                <a:ea typeface="楷体" pitchFamily="49" charset="-122"/>
              </a:rPr>
              <a:t>0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=9V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U</a:t>
            </a:r>
            <a:r>
              <a:rPr lang="en-US" altLang="zh-CN" sz="2400" baseline="-25000" dirty="0" smtClean="0">
                <a:latin typeface="楷体" pitchFamily="49" charset="-122"/>
                <a:ea typeface="楷体" pitchFamily="49" charset="-122"/>
              </a:rPr>
              <a:t>0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=0.45U</a:t>
            </a:r>
            <a:r>
              <a:rPr lang="en-US" altLang="zh-CN" sz="2400" baseline="-250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，这个电路变成了单相半波电路，说明二极管</a:t>
            </a:r>
            <a:endParaRPr lang="en-US" altLang="zh-CN" sz="24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的一个桥臂坏了，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C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坏了</a:t>
            </a:r>
            <a:endParaRPr lang="en-US" altLang="zh-CN" sz="24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2.U</a:t>
            </a:r>
            <a:r>
              <a:rPr lang="en-US" altLang="zh-CN" sz="2400" baseline="-25000" dirty="0" smtClean="0">
                <a:latin typeface="楷体" pitchFamily="49" charset="-122"/>
                <a:ea typeface="楷体" pitchFamily="49" charset="-122"/>
              </a:rPr>
              <a:t>0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=12V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U</a:t>
            </a:r>
            <a:r>
              <a:rPr lang="en-US" altLang="zh-CN" sz="2400" baseline="-25000" dirty="0" smtClean="0">
                <a:latin typeface="楷体" pitchFamily="49" charset="-122"/>
                <a:ea typeface="楷体" pitchFamily="49" charset="-122"/>
              </a:rPr>
              <a:t>0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=U</a:t>
            </a:r>
            <a:r>
              <a:rPr lang="en-US" altLang="zh-CN" sz="2400" baseline="-25000" dirty="0" smtClean="0">
                <a:latin typeface="楷体" pitchFamily="49" charset="-122"/>
                <a:ea typeface="楷体" pitchFamily="49" charset="-122"/>
              </a:rPr>
              <a:t>Z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，一切正常</a:t>
            </a:r>
            <a:endParaRPr lang="en-US" altLang="zh-CN" sz="24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3.U</a:t>
            </a:r>
            <a:r>
              <a:rPr lang="en-US" altLang="zh-CN" sz="2400" baseline="-25000" dirty="0" smtClean="0">
                <a:latin typeface="楷体" pitchFamily="49" charset="-122"/>
                <a:ea typeface="楷体" pitchFamily="49" charset="-122"/>
              </a:rPr>
              <a:t>0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=18V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400" dirty="0">
                <a:latin typeface="楷体" pitchFamily="49" charset="-122"/>
                <a:ea typeface="楷体" pitchFamily="49" charset="-122"/>
              </a:rPr>
              <a:t> 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U</a:t>
            </a:r>
            <a:r>
              <a:rPr lang="en-US" altLang="zh-CN" sz="2400" baseline="-25000" dirty="0" smtClean="0">
                <a:latin typeface="楷体" pitchFamily="49" charset="-122"/>
                <a:ea typeface="楷体" pitchFamily="49" charset="-122"/>
              </a:rPr>
              <a:t>0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=0.9U</a:t>
            </a:r>
            <a:r>
              <a:rPr lang="en-US" altLang="zh-CN" sz="2400" baseline="-250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，单相全波电路，稳压管坏了，电容坏了</a:t>
            </a:r>
            <a:endParaRPr lang="en-US" altLang="zh-CN" sz="24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4.U</a:t>
            </a:r>
            <a:r>
              <a:rPr lang="en-US" altLang="zh-CN" sz="2400" baseline="-25000" dirty="0" smtClean="0">
                <a:latin typeface="楷体" pitchFamily="49" charset="-122"/>
                <a:ea typeface="楷体" pitchFamily="49" charset="-122"/>
              </a:rPr>
              <a:t>0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=28.28V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2   U</a:t>
            </a:r>
            <a:r>
              <a:rPr lang="en-US" altLang="zh-CN" sz="2400" baseline="-250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，负载断了</a:t>
            </a:r>
            <a:endParaRPr lang="en-US" altLang="zh-CN" sz="24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5.U</a:t>
            </a:r>
            <a:r>
              <a:rPr lang="en-US" altLang="zh-CN" sz="2400" baseline="-25000" dirty="0" smtClean="0">
                <a:latin typeface="楷体" pitchFamily="49" charset="-122"/>
                <a:ea typeface="楷体" pitchFamily="49" charset="-122"/>
              </a:rPr>
              <a:t>0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=24V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400" dirty="0">
                <a:latin typeface="楷体" pitchFamily="49" charset="-122"/>
                <a:ea typeface="楷体" pitchFamily="49" charset="-122"/>
              </a:rPr>
              <a:t> 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U</a:t>
            </a:r>
            <a:r>
              <a:rPr lang="en-US" altLang="zh-CN" sz="2400" baseline="-25000" dirty="0" smtClean="0">
                <a:latin typeface="楷体" pitchFamily="49" charset="-122"/>
                <a:ea typeface="楷体" pitchFamily="49" charset="-122"/>
              </a:rPr>
              <a:t>0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=1.2U</a:t>
            </a:r>
            <a:r>
              <a:rPr lang="en-US" altLang="zh-CN" sz="2400" baseline="-250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400" baseline="-25000" dirty="0" smtClean="0">
                <a:latin typeface="楷体" pitchFamily="49" charset="-122"/>
                <a:ea typeface="楷体" pitchFamily="49" charset="-122"/>
              </a:rPr>
              <a:t>，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变成了滤波电路，稳压管坏了</a:t>
            </a:r>
            <a:endParaRPr lang="en-US" altLang="zh-CN" sz="2400" dirty="0">
              <a:latin typeface="楷体" pitchFamily="49" charset="-122"/>
              <a:ea typeface="楷体" pitchFamily="49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9996728"/>
              </p:ext>
            </p:extLst>
          </p:nvPr>
        </p:nvGraphicFramePr>
        <p:xfrm>
          <a:off x="2112039" y="5373216"/>
          <a:ext cx="432247" cy="432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公式" r:id="rId4" imgW="228600" imgH="228600" progId="Equation.3">
                  <p:embed/>
                </p:oleObj>
              </mc:Choice>
              <mc:Fallback>
                <p:oleObj name="公式" r:id="rId4" imgW="228600" imgH="228600" progId="Equation.3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2039" y="5373216"/>
                        <a:ext cx="432247" cy="4322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24811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8640"/>
            <a:ext cx="87463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RL=80</a:t>
            </a:r>
            <a:r>
              <a:rPr lang="zh-CN" altLang="en-US" dirty="0" smtClean="0"/>
              <a:t>欧，直流电压表</a:t>
            </a:r>
            <a:r>
              <a:rPr lang="en-US" altLang="zh-CN" dirty="0" smtClean="0"/>
              <a:t>V </a:t>
            </a:r>
            <a:r>
              <a:rPr lang="zh-CN" altLang="en-US" dirty="0" smtClean="0"/>
              <a:t>的读数为</a:t>
            </a:r>
            <a:r>
              <a:rPr lang="en-US" altLang="zh-CN" dirty="0" smtClean="0"/>
              <a:t>110V</a:t>
            </a:r>
            <a:r>
              <a:rPr lang="zh-CN" altLang="en-US" dirty="0" smtClean="0"/>
              <a:t>，试求（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）直流电流表</a:t>
            </a:r>
            <a:r>
              <a:rPr lang="en-US" altLang="zh-CN" dirty="0" smtClean="0"/>
              <a:t>A</a:t>
            </a:r>
            <a:r>
              <a:rPr lang="zh-CN" altLang="en-US" dirty="0" smtClean="0"/>
              <a:t>是读数（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）整流电流</a:t>
            </a:r>
            <a:endParaRPr lang="en-US" altLang="zh-CN" dirty="0" smtClean="0"/>
          </a:p>
          <a:p>
            <a:r>
              <a:rPr lang="zh-CN" altLang="en-US" dirty="0" smtClean="0"/>
              <a:t>的最大值（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）交流电压表</a:t>
            </a:r>
            <a:r>
              <a:rPr lang="en-US" altLang="zh-CN" dirty="0" smtClean="0"/>
              <a:t>V1</a:t>
            </a:r>
            <a:r>
              <a:rPr lang="zh-CN" altLang="en-US" dirty="0" smtClean="0"/>
              <a:t>的读数（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）变压器二次电流的有效值。二极管的正向压</a:t>
            </a:r>
            <a:endParaRPr lang="en-US" altLang="zh-CN" dirty="0" smtClean="0"/>
          </a:p>
          <a:p>
            <a:r>
              <a:rPr lang="zh-CN" altLang="en-US" dirty="0" smtClean="0"/>
              <a:t>降忽略不计。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11" t="3017" r="42593" b="19523"/>
          <a:stretch/>
        </p:blipFill>
        <p:spPr>
          <a:xfrm rot="16200000">
            <a:off x="1473201" y="-374370"/>
            <a:ext cx="2365829" cy="531223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52" t="9483" r="13651" b="28254"/>
          <a:stretch/>
        </p:blipFill>
        <p:spPr>
          <a:xfrm>
            <a:off x="1907704" y="3166027"/>
            <a:ext cx="6001858" cy="37173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444640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答案调整了计算顺序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46165"/>
          <a:stretch/>
        </p:blipFill>
        <p:spPr>
          <a:xfrm>
            <a:off x="683568" y="2060848"/>
            <a:ext cx="7620000" cy="369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684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53" t="17766" r="74693" b="6891"/>
          <a:stretch/>
        </p:blipFill>
        <p:spPr>
          <a:xfrm rot="16200000">
            <a:off x="3956035" y="-4001535"/>
            <a:ext cx="1153324" cy="91563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50" t="42593" r="42028" b="16561"/>
          <a:stretch/>
        </p:blipFill>
        <p:spPr>
          <a:xfrm rot="16200000">
            <a:off x="303094" y="793711"/>
            <a:ext cx="3128389" cy="387038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3" t="6562" r="5289" b="4762"/>
          <a:stretch/>
        </p:blipFill>
        <p:spPr>
          <a:xfrm>
            <a:off x="907504" y="551262"/>
            <a:ext cx="7678057" cy="6081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40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442</Words>
  <Application>Microsoft Office PowerPoint</Application>
  <PresentationFormat>全屏显示(4:3)</PresentationFormat>
  <Paragraphs>48</Paragraphs>
  <Slides>9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1" baseType="lpstr">
      <vt:lpstr>Office 主题</vt:lpstr>
      <vt:lpstr>公式</vt:lpstr>
      <vt:lpstr>第十八章 直流稳压电源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第十八章 直流稳压电源</dc:title>
  <dc:creator>Administrator</dc:creator>
  <cp:lastModifiedBy>China</cp:lastModifiedBy>
  <cp:revision>12</cp:revision>
  <dcterms:created xsi:type="dcterms:W3CDTF">2018-01-21T10:47:33Z</dcterms:created>
  <dcterms:modified xsi:type="dcterms:W3CDTF">2018-01-22T03:07:12Z</dcterms:modified>
</cp:coreProperties>
</file>