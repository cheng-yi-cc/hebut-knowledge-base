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18-01-24T01:40:30.2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8285 5135,'50'24,"123"-24,1 0,49 0,50 0,-50 0,-49 0,-50 0,-25 0,-24 0,-1 0,-24 0,24 0,50 0,0 0,50 0,-75 0,25 0,0 0,-50 0,1 0,-1 0,1-24,-51-1,26 0,49 0,-49-24,24 24,-49 0,0 0,-25 0,0 1,0-51,0 25,0 1,0-26,0 26,-74-26,49 1,-25 0,-24-1,-26 1,1-1,-50 26,-24-26,-1 51,-49-1,-50-25,75 50,-50 0,24-25,26 25,-1 0,26 0,49 0,49 0,-73 75,73-50,1 49,-1-49,1 49,-1-24,-24 24,0 25,74-74,-24 25,24-1,0 1,25 24,0-24,0 0,0-1,0 1,25 24,0-49,24 0,-24 49,74-24,0 24,26 1,48 24,26-25,-26-24,1 0,49-1,-74-24,49-25,1 0,-26 0,-73 0,-1 0,-25 0,-49 0,25 0,-26 0,1 0</inkml:trace>
  <inkml:trace contextRef="#ctx0" brushRef="#br0" timeOffset="16640.2721">8756 5829,'25'0,"50"0,-26 0,1 0,24 0,-24 0,-1 0,-24 0,25 0,-25 0,-1 0,1 0,0 0,0 0,0 0,0 0,-1 0,1 0,0 0,0 0,24 0,-24 0,0 0,0 0,0 0</inkml:trace>
  <inkml:trace contextRef="#ctx0" brushRef="#br0" timeOffset="33680.3487">4688 13271,'149'0,"149"24,24 26,50-25,1 24,-76-49,1 50,-100-25,-24 0,-50-1,0 1,-50-25,-49 0,0 0,25 0,24 0,0 25,1 0,24-25,50 25,-25-1,50 1,-26 0,-24 0,0-25,0 0,-49 25,-1-25,1 0,-1 0,0 0,-49 0,25 0,24 0,26 0,-1 0,-25 0,1 0,-51 0,1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44.20712" units="1/cm"/>
          <inkml:channelProperty channel="Y" name="resolution" value="44.39306" units="1/cm"/>
        </inkml:channelProperties>
      </inkml:inkSource>
      <inkml:timestamp xml:id="ts0" timeString="2018-01-24T01:49:16.0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13891 14486,'0'-25,"0"0,0 1,0-26,25 25,-25 0,0-24,0-1,0 25,0-49,0 49,0 0,0 0,0 1,0-1,0 0,0 0,0 0,0 1,-25 24,25-25,0 0,-25 25,25-25,-25 25,25-25,-24 25,-1-49,0 24,0 25,25-25,-25 0,1 25,-1 0,0-24,-25 24,26-25,-1 25,-25 0,0-25,26 25,-1 0,0 0,0 0,0 0,-24 0,24 0,0 0,0 0,1 0,-1 25,0 0,-25-1,50 1,-24-25,24 25,-25-25,0 25,0 0,0-1,1-24,-1 50,0-25,25 0,-25-1,0 26,25-25,-24-25,-1 49,25-24,0 0,0 0,-25 0,25-1,0 1,0 0,0 0,0 0,0-1,0 1,0 0,0 0,0 0,0 24,25-49,0 25,-25 25,24-50,-24 49,50-24,-50 0,25-25,0 25,-1 0,26-1,-25 1,0 0,24-25,-24 25,25 0,-26-25,26 24,-25-24,24 0,1 25,-25-25,0 0,24 0,1 0,0 0,-26 0,1 0,0 0,25-25,-26 1,1-1,-25 0,50-25,-25 26,-1-26,1 0,-25 26,25-26,-25 0,25 26,-25-1,0 0,0 0,0 0,0 0,0 1,0-1,0 0,0 0</inkml:trace>
  <inkml:trace contextRef="#ctx0" brushRef="#br0" timeOffset="1329.1163">14610 13618,'0'74,"0"1,0-26,0 26,0-1,0 0,0-24,0 0,0 24,0-49,25 24,-25 1,25-25,-25 0,25 0,0-1,-25 1,24-25,-24 25,25-25,-25 25,25-25,0 0,0 0,24 0,50 0,-74-50,50 1,-1-1,0-49,1 49,-50 0,-1 1,26-26,-25 26,0-26,-25 51,24-26,-24 25,25-49,-25 49,0-25,0 26,0-1,0 0,0 0,0 0,-25 25,1 50,24 0,-25-1,25 1,0-1,0 51,0-51,0 26,0-1,0 0,0-24,0 24,0 1,0-25,0-26,0 26,25-25,-25 0,24-1,-24 1</inkml:trace>
  <inkml:trace contextRef="#ctx0" brushRef="#br0" timeOffset="2016.0431">15677 14362,'25'0,"74"0,-25 0,1 0,-1 0,-24 0,-25 0,-1 0</inkml:trace>
  <inkml:trace contextRef="#ctx0" brushRef="#br0" timeOffset="2544.0773">15950 14139,'0'24,"0"26,0-25,0 0,0-1,0 26,0-25,0 0,0 0,0-1,0 1,0 0,0 0,0 0</inkml:trace>
  <inkml:trace contextRef="#ctx0" brushRef="#br0" timeOffset="3987.9354">14958 15131,'0'25,"0"-1,0 1,0 25,0-25,0 24,0 1,24 0,-24 24,0-49,25 0,-25 24,0-24,0 25,0-26,25-24,-25 25,0 0,25 0,-25 0,25-1,-1-24,1 0,50-24,-26-26,-24 25,25-24,-1-1,1 0,-1 1,1-26,0 1,-26-1,-24 51,25-1,-25-25,0 100,0-1,0 26,0-25,0 24,-25-24,25-1,0-24,0 0,0 0,0 24,25-49,-25 25,25-25,-25 25,25-25,0 25,0-25</inkml:trace>
  <inkml:trace contextRef="#ctx0" brushRef="#br0" timeOffset="4532.3463">15826 15577,'25'0,"49"0,25 0,25 0,-74 0,-25 0,-1 0,-24-24,-49 24,24 0,0-25,-24 0,24 0,0 0</inkml:trace>
  <inkml:trace contextRef="#ctx0" brushRef="#br0" timeOffset="4952.1636">16024 15429,'-25'0,"25"24,0 1,0 25,0-1,0-24,0 0,0 0,-24 24,24-24,0 0,0 0,0 0,0-1</inkml:trace>
  <inkml:trace contextRef="#ctx0" brushRef="#br0" timeOffset="5512.1497">16520 15379,'25'0,"0"0,0 0,-1 0,51 0,-25 0,24 0,-24 0,-26 0,1 0</inkml:trace>
  <inkml:trace contextRef="#ctx0" brushRef="#br0" timeOffset="5961.7812">16644 15528,'25'0,"25"0,-25 0,-1 0,1 0</inkml:trace>
  <inkml:trace contextRef="#ctx0" brushRef="#br0" timeOffset="8720.0296">17488 15056,'-25'0,"25"25,0 50,0-51,-25 26,0 0,25-1,0-24,0 25,0-25,0 24,0-24,-25 0,25 24,0-24,0 0,0 0,0 0,0-1,0 1,25 0,25-25,24-25,-74 0,25 1,25-1,-26-25,26 25,-50 1,50-51,-50 26,25 24,-25-25,24-24,-24 49,25 0,-25 0,0 0,0 1,0-1,25 25,-25-25,0 0,0 0,0 1,0 73,-25-24,25 49,0-49,-25 50,1-26,24 1,-25 0,25-1,0 1,0-25,-25 24,25-24,0 0,25-25,0 0,-1 0,1 0,0 0,0 0,0-25,-1 25,1 0</inkml:trace>
  <inkml:trace contextRef="#ctx0" brushRef="#br0" timeOffset="11864.1765">18182 15453,'25'0,"0"0,0 0,-25 25,0 0,0 0,0 0,0-1,0 1,-25 25,25-25,0-1,0 26,0-25,0 0,0-1,0 26,0 0,0-26,0 1,-25 0,0-25,0 0,1 0,-1 0,0 0,0 0,0 0,75 0,24 0,-24 0,0 0,-1 25,1-25,-25 0,-1 0</inkml:trace>
  <inkml:trace contextRef="#ctx0" brushRef="#br0" timeOffset="15285.2002">21208 9699,'50'0,"-25"0,0 0,-1 0,26 24</inkml:trace>
  <inkml:trace contextRef="#ctx0" brushRef="#br0" timeOffset="15932.1088">21010 9971,'0'25,"0"0,25 0,0-25,-1 25,26-25,-50 25,25-25,0 0,-1 0,1 0,0 0,0 0,0 0,-1 0,1 0,0 0,0 0</inkml:trace>
  <inkml:trace contextRef="#ctx0" brushRef="#br0" timeOffset="18600.4423">20390 10393,'74'0,"75"25,49-25,1 0,24 0,0 0,-99 0,0 0,-49 0,-26 0,1 0,-25 0,0 0,-1 0,1 0,0 0,0 0,25 0,-26 0,1 25,25-25,-25 0,-1 0,1 0,25 0,-25 0,24 0,-24 0,25 0,-26 0,26 0,0 0,-1 0,1 0,-25 0,49 0,-24-25,-1 25,1-25,24 0,-24 1,0 24,-1 0,1-25,24 0,-24 25,-25 0,24-25,-24 0,49 1,-49 24,0 0,0 0,24-25,-24 0,25 25,-1-25,1 0,0 1,-1 24,26 0,-26-50,-24 50,25-25,-25 0,24 25,1-49,-25 24,24 0,1 0,-1 0,-49 1,25 24,0-25,0-25,0 50,-1-49,1 49,0-25,25 0,-50 0,24 25,-24-25,25 1,25-1,-50 0,49 0,-49 0,25 25,-25-24,25-1,25 0,-50 0,24 25,-24-25,0 1,25-1,0-25,-25 25,0 1,25-1,-25 0,0 0,0-24,0 24,0 0,0 0,0 0,0 0,0 1,0-1,-25 0,-25-25,1 1,-1 24,-24 0,24 0,-24-24,-75 24,75 0,-26 25,1 0,-50-25,25 25,-49 0,73-24,-73-1,24 0,50 25,24-25,1 0,-25 25,24 0,26 0,-26-24,1 24,24 0,-49 0,0 0,0 0,-25 0,-25 0,25 0,-25 0,0 0,25 0,-74 0,49 0,-25 24,25 1,-24-25,49 25,-25 0,50 0,24-25,1 0,24 24,1 1,-1-25,25 25,-49 25,49-50,-25 49,25-24,1 25,-26-26,50 1,-50 0,26 0,-1 24,0-49,0 50,25-25,-25 0,1 24,24 26,-25-50,25 24,-25 1,0 24,25 1,0-26,0 1,-25 24,25 1,0-26,0 1,0 24,0-24,0-1,0 26,0-50,50 24,-25 26,24-26,-24-24,25 25,24-25,-24-1,49 26,0-25,25-25,25 0,0 0,25 0,-50 0,0 0,0 0,-50 0,-24 0,-25 0,-1 0,1 0,0 0,0-25,0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2018/1/24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customXml" Target="../ink/ink1.xml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jpg"/><Relationship Id="rId4" Type="http://schemas.openxmlformats.org/officeDocument/2006/relationships/image" Target="../media/image3.wmf"/><Relationship Id="rId9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1560" y="404664"/>
            <a:ext cx="7772400" cy="1470025"/>
          </a:xfrm>
        </p:spPr>
        <p:txBody>
          <a:bodyPr/>
          <a:lstStyle/>
          <a:p>
            <a:r>
              <a:rPr lang="zh-CN" altLang="en-US" dirty="0" smtClean="0"/>
              <a:t>第十六章 集成运算放大器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1628800"/>
            <a:ext cx="2355726" cy="31409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84168" y="587727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微博：易水两岸灯火阑珊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5813" y="2736304"/>
            <a:ext cx="1776143" cy="314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483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88640"/>
            <a:ext cx="710963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集成运算放大器的电路常可分为输入级，中间级，输出级和偏置电路</a:t>
            </a:r>
            <a:endParaRPr lang="en-US" altLang="zh-CN" dirty="0" smtClean="0"/>
          </a:p>
          <a:p>
            <a:r>
              <a:rPr lang="zh-CN" altLang="en-US" dirty="0"/>
              <a:t>输入</a:t>
            </a:r>
            <a:r>
              <a:rPr lang="zh-CN" altLang="en-US" dirty="0" smtClean="0"/>
              <a:t>级：抑制零点漂移</a:t>
            </a:r>
            <a:endParaRPr lang="en-US" altLang="zh-CN" dirty="0" smtClean="0"/>
          </a:p>
          <a:p>
            <a:r>
              <a:rPr lang="zh-CN" altLang="en-US" dirty="0"/>
              <a:t>中</a:t>
            </a:r>
            <a:r>
              <a:rPr lang="zh-CN" altLang="en-US" dirty="0" smtClean="0"/>
              <a:t>间级：多级共发射极放大电路组成</a:t>
            </a:r>
            <a:endParaRPr lang="en-US" altLang="zh-CN" dirty="0" smtClean="0"/>
          </a:p>
          <a:p>
            <a:r>
              <a:rPr lang="zh-CN" altLang="en-US" dirty="0"/>
              <a:t>输出</a:t>
            </a:r>
            <a:r>
              <a:rPr lang="zh-CN" altLang="en-US" dirty="0" smtClean="0"/>
              <a:t>级：</a:t>
            </a:r>
            <a:r>
              <a:rPr lang="en-US" altLang="zh-CN" dirty="0" err="1" smtClean="0"/>
              <a:t>r</a:t>
            </a:r>
            <a:r>
              <a:rPr lang="en-US" altLang="zh-CN" baseline="-25000" dirty="0" err="1" smtClean="0"/>
              <a:t>o</a:t>
            </a:r>
            <a:r>
              <a:rPr lang="zh-CN" altLang="en-US" dirty="0" smtClean="0"/>
              <a:t>很小，带载能力强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理想集成运放的主要条件</a:t>
            </a:r>
            <a:r>
              <a:rPr lang="zh-CN" altLang="en-US" dirty="0" smtClean="0">
                <a:sym typeface="Wingdings" pitchFamily="2" charset="2"/>
              </a:rPr>
              <a:t>（选择题）</a:t>
            </a:r>
            <a:endParaRPr lang="en-US" altLang="zh-CN" dirty="0" smtClean="0"/>
          </a:p>
          <a:p>
            <a:r>
              <a:rPr lang="zh-CN" altLang="en-US" dirty="0"/>
              <a:t>开环</a:t>
            </a:r>
            <a:r>
              <a:rPr lang="zh-CN" altLang="en-US" dirty="0" smtClean="0"/>
              <a:t>放大倍数</a:t>
            </a:r>
            <a:r>
              <a:rPr lang="en-US" altLang="zh-CN" dirty="0" err="1" smtClean="0"/>
              <a:t>A</a:t>
            </a:r>
            <a:r>
              <a:rPr lang="en-US" altLang="zh-CN" baseline="-25000" dirty="0" err="1" smtClean="0"/>
              <a:t>o</a:t>
            </a:r>
            <a:r>
              <a:rPr lang="zh-CN" altLang="en-US" dirty="0" smtClean="0"/>
              <a:t>（</a:t>
            </a:r>
            <a:r>
              <a:rPr lang="en-US" altLang="zh-CN" dirty="0"/>
              <a:t> 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uo</a:t>
            </a:r>
            <a:r>
              <a:rPr lang="en-US" altLang="zh-CN" baseline="-25000" dirty="0"/>
              <a:t> </a:t>
            </a:r>
            <a:r>
              <a:rPr lang="zh-CN" altLang="en-US" dirty="0" smtClean="0"/>
              <a:t>）</a:t>
            </a:r>
            <a:r>
              <a:rPr lang="en-US" altLang="zh-CN" baseline="-25000" dirty="0" smtClean="0"/>
              <a:t> </a:t>
            </a:r>
            <a:r>
              <a:rPr lang="en-US" altLang="zh-CN" dirty="0" smtClean="0"/>
              <a:t>         ∞</a:t>
            </a:r>
          </a:p>
          <a:p>
            <a:r>
              <a:rPr lang="zh-CN" altLang="en-US" dirty="0"/>
              <a:t>差</a:t>
            </a:r>
            <a:r>
              <a:rPr lang="zh-CN" altLang="en-US" dirty="0" smtClean="0"/>
              <a:t>模输入电阻</a:t>
            </a:r>
            <a:r>
              <a:rPr lang="en-US" altLang="zh-CN" dirty="0" err="1" smtClean="0"/>
              <a:t>r</a:t>
            </a:r>
            <a:r>
              <a:rPr lang="en-US" altLang="zh-CN" baseline="-25000" dirty="0" err="1" smtClean="0"/>
              <a:t>i</a:t>
            </a:r>
            <a:r>
              <a:rPr lang="en-US" altLang="zh-CN" baseline="-25000" dirty="0"/>
              <a:t> </a:t>
            </a:r>
            <a:r>
              <a:rPr lang="en-US" altLang="zh-CN" dirty="0"/>
              <a:t>         </a:t>
            </a:r>
            <a:r>
              <a:rPr lang="en-US" altLang="zh-CN" dirty="0" smtClean="0"/>
              <a:t>∞</a:t>
            </a:r>
          </a:p>
          <a:p>
            <a:r>
              <a:rPr lang="zh-CN" altLang="en-US" dirty="0" smtClean="0"/>
              <a:t>开环输出电阻</a:t>
            </a:r>
            <a:r>
              <a:rPr lang="en-US" altLang="zh-CN" dirty="0" err="1" smtClean="0"/>
              <a:t>r</a:t>
            </a:r>
            <a:r>
              <a:rPr lang="en-US" altLang="zh-CN" baseline="-25000" dirty="0" err="1" smtClean="0"/>
              <a:t>o</a:t>
            </a:r>
            <a:r>
              <a:rPr lang="en-US" altLang="zh-CN" baseline="-25000" dirty="0" smtClean="0"/>
              <a:t>      </a:t>
            </a:r>
            <a:r>
              <a:rPr lang="en-US" altLang="zh-CN" dirty="0" smtClean="0"/>
              <a:t>      0</a:t>
            </a:r>
          </a:p>
          <a:p>
            <a:r>
              <a:rPr lang="zh-CN" altLang="en-US" dirty="0" smtClean="0"/>
              <a:t>共模抑制比</a:t>
            </a:r>
            <a:r>
              <a:rPr lang="en-US" altLang="zh-CN" dirty="0" smtClean="0"/>
              <a:t>K</a:t>
            </a:r>
            <a:r>
              <a:rPr lang="en-US" altLang="zh-CN" baseline="-25000" dirty="0"/>
              <a:t>CMRR              </a:t>
            </a:r>
            <a:r>
              <a:rPr lang="en-US" altLang="zh-CN" dirty="0"/>
              <a:t>∞</a:t>
            </a:r>
            <a:endParaRPr lang="en-US" altLang="zh-CN" dirty="0" smtClean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731862"/>
              </p:ext>
            </p:extLst>
          </p:nvPr>
        </p:nvGraphicFramePr>
        <p:xfrm>
          <a:off x="1979712" y="2348880"/>
          <a:ext cx="1905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" name="公式" r:id="rId3" imgW="190440" imgH="139680" progId="Equation.3">
                  <p:embed/>
                </p:oleObj>
              </mc:Choice>
              <mc:Fallback>
                <p:oleObj name="公式" r:id="rId3" imgW="190440" imgH="1396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712" y="2348880"/>
                        <a:ext cx="190500" cy="13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7419837"/>
              </p:ext>
            </p:extLst>
          </p:nvPr>
        </p:nvGraphicFramePr>
        <p:xfrm>
          <a:off x="1979712" y="2852936"/>
          <a:ext cx="720080" cy="220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" name="公式" r:id="rId5" imgW="190440" imgH="139680" progId="Equation.3">
                  <p:embed/>
                </p:oleObj>
              </mc:Choice>
              <mc:Fallback>
                <p:oleObj name="公式" r:id="rId5" imgW="190440" imgH="139680" progId="Equation.3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852936"/>
                        <a:ext cx="720080" cy="2200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103484"/>
              </p:ext>
            </p:extLst>
          </p:nvPr>
        </p:nvGraphicFramePr>
        <p:xfrm>
          <a:off x="1979712" y="2636912"/>
          <a:ext cx="1905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" name="公式" r:id="rId7" imgW="190440" imgH="139680" progId="Equation.3">
                  <p:embed/>
                </p:oleObj>
              </mc:Choice>
              <mc:Fallback>
                <p:oleObj name="公式" r:id="rId7" imgW="190440" imgH="139680" progId="Equation.3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636912"/>
                        <a:ext cx="190500" cy="13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788524"/>
              </p:ext>
            </p:extLst>
          </p:nvPr>
        </p:nvGraphicFramePr>
        <p:xfrm>
          <a:off x="2699792" y="1988840"/>
          <a:ext cx="3429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" name="公式" r:id="rId8" imgW="190417" imgH="139639" progId="Equation.3">
                  <p:embed/>
                </p:oleObj>
              </mc:Choice>
              <mc:Fallback>
                <p:oleObj name="公式" r:id="rId8" imgW="190417" imgH="139639" progId="Equation.3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1988840"/>
                        <a:ext cx="342900" cy="13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30" t="4127" b="68148"/>
          <a:stretch/>
        </p:blipFill>
        <p:spPr>
          <a:xfrm rot="10800000">
            <a:off x="-108520" y="3079540"/>
            <a:ext cx="3746298" cy="19013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67944" y="3212976"/>
            <a:ext cx="206178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“</a:t>
            </a:r>
            <a:r>
              <a:rPr lang="en-US" altLang="zh-CN" dirty="0" smtClean="0"/>
              <a:t>—</a:t>
            </a:r>
            <a:r>
              <a:rPr lang="zh-CN" altLang="en-US" dirty="0" smtClean="0"/>
              <a:t>”反相</a:t>
            </a:r>
            <a:r>
              <a:rPr lang="zh-CN" altLang="en-US" dirty="0" smtClean="0"/>
              <a:t>输入端</a:t>
            </a:r>
            <a:endParaRPr lang="en-US" altLang="zh-CN" dirty="0" smtClean="0"/>
          </a:p>
          <a:p>
            <a:r>
              <a:rPr lang="zh-CN" altLang="en-US" dirty="0" smtClean="0"/>
              <a:t>“</a:t>
            </a:r>
            <a:r>
              <a:rPr lang="en-US" altLang="zh-CN" dirty="0" smtClean="0"/>
              <a:t>+</a:t>
            </a:r>
            <a:r>
              <a:rPr lang="zh-CN" altLang="en-US" dirty="0" smtClean="0"/>
              <a:t>”同相输入</a:t>
            </a:r>
            <a:r>
              <a:rPr lang="zh-CN" altLang="en-US" dirty="0" smtClean="0"/>
              <a:t>端</a:t>
            </a:r>
            <a:endParaRPr lang="en-US" altLang="zh-CN" dirty="0" smtClean="0"/>
          </a:p>
          <a:p>
            <a:r>
              <a:rPr lang="en-US" altLang="zh-CN" dirty="0" smtClean="0"/>
              <a:t>u</a:t>
            </a:r>
            <a:r>
              <a:rPr lang="en-US" altLang="zh-CN" baseline="-25000" dirty="0" smtClean="0"/>
              <a:t>—</a:t>
            </a:r>
            <a:r>
              <a:rPr lang="zh-CN" altLang="en-US" dirty="0" smtClean="0"/>
              <a:t>反相输入端电位</a:t>
            </a:r>
            <a:endParaRPr lang="en-US" altLang="zh-CN" dirty="0" smtClean="0"/>
          </a:p>
          <a:p>
            <a:r>
              <a:rPr lang="en-US" altLang="zh-CN" dirty="0"/>
              <a:t>u</a:t>
            </a:r>
            <a:r>
              <a:rPr lang="en-US" altLang="zh-CN" baseline="-25000" dirty="0" smtClean="0"/>
              <a:t>+</a:t>
            </a:r>
            <a:r>
              <a:rPr lang="zh-CN" altLang="en-US" dirty="0" smtClean="0"/>
              <a:t>同相输入端电位</a:t>
            </a:r>
            <a:endParaRPr lang="en-US" altLang="zh-CN" dirty="0" smtClean="0"/>
          </a:p>
          <a:p>
            <a:r>
              <a:rPr lang="en-US" altLang="zh-CN" dirty="0" smtClean="0"/>
              <a:t>u</a:t>
            </a:r>
            <a:r>
              <a:rPr lang="en-US" altLang="zh-CN" baseline="-25000" dirty="0" smtClean="0"/>
              <a:t>0</a:t>
            </a:r>
            <a:r>
              <a:rPr lang="zh-CN" altLang="en-US" dirty="0" smtClean="0"/>
              <a:t>输出端电位</a:t>
            </a:r>
            <a:endParaRPr lang="zh-CN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" name="墨迹 4"/>
              <p14:cNvContentPartPr/>
              <p14:nvPr/>
            </p14:nvContentPartPr>
            <p14:xfrm>
              <a:off x="1687680" y="1401840"/>
              <a:ext cx="2447280" cy="3554640"/>
            </p14:xfrm>
          </p:contentPart>
        </mc:Choice>
        <mc:Fallback>
          <p:pic>
            <p:nvPicPr>
              <p:cNvPr id="5" name="墨迹 4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78320" y="1392480"/>
                <a:ext cx="2466000" cy="357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388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3" t="3915" r="5079" b="45079"/>
          <a:stretch/>
        </p:blipFill>
        <p:spPr>
          <a:xfrm rot="10800000">
            <a:off x="0" y="0"/>
            <a:ext cx="7460343" cy="34979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7504" y="3789040"/>
            <a:ext cx="706154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理想集成运放的特性：</a:t>
            </a:r>
            <a:r>
              <a:rPr lang="en-US" altLang="zh-CN" dirty="0"/>
              <a:t>u</a:t>
            </a:r>
            <a:r>
              <a:rPr lang="en-US" altLang="zh-CN" baseline="-25000" dirty="0"/>
              <a:t>+</a:t>
            </a:r>
            <a:r>
              <a:rPr lang="en-US" altLang="zh-CN" dirty="0"/>
              <a:t> </a:t>
            </a:r>
            <a:r>
              <a:rPr lang="en-US" altLang="zh-CN" dirty="0" smtClean="0"/>
              <a:t>﹥u</a:t>
            </a:r>
            <a:r>
              <a:rPr lang="en-US" altLang="zh-CN" baseline="-25000" dirty="0" smtClean="0"/>
              <a:t>-</a:t>
            </a:r>
            <a:r>
              <a:rPr lang="zh-CN" altLang="en-US" dirty="0" smtClean="0"/>
              <a:t>，立刻达到正饱和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工作在线性区：</a:t>
            </a:r>
            <a:r>
              <a:rPr lang="en-US" altLang="zh-CN" dirty="0"/>
              <a:t> </a:t>
            </a:r>
            <a:r>
              <a:rPr lang="en-US" altLang="zh-CN" dirty="0" smtClean="0"/>
              <a:t>u</a:t>
            </a:r>
            <a:r>
              <a:rPr lang="en-US" altLang="zh-CN" baseline="-25000" dirty="0" smtClean="0"/>
              <a:t>0</a:t>
            </a:r>
            <a:r>
              <a:rPr lang="zh-CN" altLang="en-US" dirty="0" smtClean="0"/>
              <a:t>和（</a:t>
            </a:r>
            <a:r>
              <a:rPr lang="en-US" altLang="zh-CN" dirty="0"/>
              <a:t>u</a:t>
            </a:r>
            <a:r>
              <a:rPr lang="en-US" altLang="zh-CN" baseline="-25000" dirty="0"/>
              <a:t>+</a:t>
            </a:r>
            <a:r>
              <a:rPr lang="en-US" altLang="zh-CN" dirty="0"/>
              <a:t> </a:t>
            </a:r>
            <a:r>
              <a:rPr lang="en-US" altLang="zh-CN" dirty="0" smtClean="0"/>
              <a:t>-u</a:t>
            </a:r>
            <a:r>
              <a:rPr lang="en-US" altLang="zh-CN" baseline="-25000" dirty="0" smtClean="0"/>
              <a:t>-</a:t>
            </a:r>
            <a:r>
              <a:rPr lang="zh-CN" altLang="en-US" dirty="0" smtClean="0"/>
              <a:t>）是线性关系</a:t>
            </a:r>
            <a:endParaRPr lang="en-US" altLang="zh-CN" dirty="0" smtClean="0"/>
          </a:p>
          <a:p>
            <a:r>
              <a:rPr lang="en-US" altLang="zh-CN" dirty="0" smtClean="0"/>
              <a:t>                          u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=</a:t>
            </a:r>
            <a:r>
              <a:rPr lang="en-US" altLang="zh-CN" dirty="0"/>
              <a:t> </a:t>
            </a:r>
            <a:r>
              <a:rPr lang="en-US" altLang="zh-CN" dirty="0" err="1" smtClean="0"/>
              <a:t>A</a:t>
            </a:r>
            <a:r>
              <a:rPr lang="en-US" altLang="zh-CN" baseline="-25000" dirty="0" err="1" smtClean="0"/>
              <a:t>uo</a:t>
            </a:r>
            <a:r>
              <a:rPr lang="zh-CN" altLang="en-US" dirty="0"/>
              <a:t> （</a:t>
            </a:r>
            <a:r>
              <a:rPr lang="en-US" altLang="zh-CN" dirty="0"/>
              <a:t>u</a:t>
            </a:r>
            <a:r>
              <a:rPr lang="en-US" altLang="zh-CN" baseline="-25000" dirty="0"/>
              <a:t>+</a:t>
            </a:r>
            <a:r>
              <a:rPr lang="en-US" altLang="zh-CN" dirty="0"/>
              <a:t> -u</a:t>
            </a:r>
            <a:r>
              <a:rPr lang="en-US" altLang="zh-CN" baseline="-25000" dirty="0"/>
              <a:t>-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运算放大器工作在线性区时，分析依据有两条</a:t>
            </a:r>
            <a:endParaRPr lang="en-US" altLang="zh-CN" dirty="0" smtClean="0"/>
          </a:p>
          <a:p>
            <a:r>
              <a:rPr lang="zh-CN" altLang="en-US" dirty="0"/>
              <a:t>⑴ </a:t>
            </a:r>
            <a:r>
              <a:rPr lang="zh-CN" altLang="en-US" dirty="0" smtClean="0"/>
              <a:t>虚断，</a:t>
            </a:r>
            <a:r>
              <a:rPr lang="en-US" altLang="zh-CN" dirty="0" err="1" smtClean="0"/>
              <a:t>i</a:t>
            </a:r>
            <a:r>
              <a:rPr lang="en-US" altLang="zh-CN" baseline="-25000" dirty="0" smtClean="0"/>
              <a:t>+</a:t>
            </a:r>
            <a:r>
              <a:rPr lang="en-US" altLang="zh-CN" dirty="0" smtClean="0"/>
              <a:t>=</a:t>
            </a:r>
            <a:r>
              <a:rPr lang="en-US" altLang="zh-CN" dirty="0" err="1" smtClean="0"/>
              <a:t>i</a:t>
            </a:r>
            <a:r>
              <a:rPr lang="en-US" altLang="zh-CN" baseline="-25000" dirty="0"/>
              <a:t>- </a:t>
            </a:r>
            <a:r>
              <a:rPr lang="en-US" altLang="zh-CN" dirty="0" smtClean="0"/>
              <a:t>≈0</a:t>
            </a:r>
          </a:p>
          <a:p>
            <a:r>
              <a:rPr lang="zh-CN" altLang="en-US" dirty="0" smtClean="0"/>
              <a:t>⑵虚短，</a:t>
            </a:r>
            <a:r>
              <a:rPr lang="en-US" altLang="zh-CN" dirty="0"/>
              <a:t> u</a:t>
            </a:r>
            <a:r>
              <a:rPr lang="en-US" altLang="zh-CN" baseline="-25000" dirty="0"/>
              <a:t>+</a:t>
            </a:r>
            <a:r>
              <a:rPr lang="en-US" altLang="zh-CN" dirty="0"/>
              <a:t> ≈ </a:t>
            </a:r>
            <a:r>
              <a:rPr lang="en-US" altLang="zh-CN" dirty="0" smtClean="0"/>
              <a:t>u</a:t>
            </a:r>
            <a:r>
              <a:rPr lang="en-US" altLang="zh-CN" baseline="-25000" dirty="0" smtClean="0"/>
              <a:t>-</a:t>
            </a:r>
            <a:r>
              <a:rPr lang="zh-CN" altLang="en-US" dirty="0" smtClean="0"/>
              <a:t>（这个后面可以等于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，也可以不等于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，具体分析）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工作在饱和区（非线性区），</a:t>
            </a:r>
            <a:endParaRPr lang="en-US" altLang="zh-CN" dirty="0" smtClean="0"/>
          </a:p>
          <a:p>
            <a:r>
              <a:rPr lang="zh-CN" altLang="en-US" dirty="0" smtClean="0"/>
              <a:t>虚短不成立（电压关系不满足了）</a:t>
            </a:r>
            <a:endParaRPr lang="en-US" altLang="zh-CN" dirty="0" smtClean="0"/>
          </a:p>
          <a:p>
            <a:r>
              <a:rPr lang="zh-CN" altLang="en-US" dirty="0"/>
              <a:t>虚</a:t>
            </a:r>
            <a:r>
              <a:rPr lang="zh-CN" altLang="en-US" dirty="0" smtClean="0"/>
              <a:t>断成立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1921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2689" y="153930"/>
            <a:ext cx="39773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理想集成运放在信号运算方面的应用</a:t>
            </a:r>
            <a:endParaRPr lang="en-US" altLang="zh-CN" dirty="0" smtClean="0"/>
          </a:p>
          <a:p>
            <a:r>
              <a:rPr lang="zh-CN" altLang="en-US" dirty="0" smtClean="0"/>
              <a:t>工具</a:t>
            </a:r>
            <a:r>
              <a:rPr lang="en-US" altLang="zh-CN" dirty="0" err="1"/>
              <a:t>i</a:t>
            </a:r>
            <a:r>
              <a:rPr lang="en-US" altLang="zh-CN" baseline="-25000" dirty="0"/>
              <a:t>+</a:t>
            </a:r>
            <a:r>
              <a:rPr lang="en-US" altLang="zh-CN" dirty="0"/>
              <a:t>=</a:t>
            </a:r>
            <a:r>
              <a:rPr lang="en-US" altLang="zh-CN" dirty="0" err="1"/>
              <a:t>i</a:t>
            </a:r>
            <a:r>
              <a:rPr lang="en-US" altLang="zh-CN" baseline="-25000" dirty="0"/>
              <a:t>- </a:t>
            </a:r>
            <a:r>
              <a:rPr lang="en-US" altLang="zh-CN" dirty="0" smtClean="0"/>
              <a:t>≈0</a:t>
            </a:r>
            <a:r>
              <a:rPr lang="zh-CN" altLang="en-US" dirty="0" smtClean="0"/>
              <a:t>（虚断），</a:t>
            </a:r>
            <a:r>
              <a:rPr lang="en-US" altLang="zh-CN" dirty="0" smtClean="0"/>
              <a:t> </a:t>
            </a:r>
            <a:r>
              <a:rPr lang="en-US" altLang="zh-CN" dirty="0"/>
              <a:t>u</a:t>
            </a:r>
            <a:r>
              <a:rPr lang="en-US" altLang="zh-CN" baseline="-25000" dirty="0"/>
              <a:t>+</a:t>
            </a:r>
            <a:r>
              <a:rPr lang="en-US" altLang="zh-CN" dirty="0"/>
              <a:t> ≈ </a:t>
            </a:r>
            <a:r>
              <a:rPr lang="en-US" altLang="zh-CN" dirty="0" smtClean="0"/>
              <a:t>u</a:t>
            </a:r>
            <a:r>
              <a:rPr lang="en-US" altLang="zh-CN" baseline="-25000" dirty="0" smtClean="0"/>
              <a:t>-</a:t>
            </a:r>
            <a:r>
              <a:rPr lang="zh-CN" altLang="en-US" dirty="0" smtClean="0"/>
              <a:t>（</a:t>
            </a:r>
            <a:r>
              <a:rPr lang="zh-CN" altLang="en-US" dirty="0"/>
              <a:t>虚</a:t>
            </a:r>
            <a:r>
              <a:rPr lang="zh-CN" altLang="en-US" dirty="0" smtClean="0"/>
              <a:t>短）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67" t="52064" r="12540" b="10053"/>
          <a:stretch/>
        </p:blipFill>
        <p:spPr>
          <a:xfrm>
            <a:off x="0" y="1268760"/>
            <a:ext cx="3062515" cy="25980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8534" y="800261"/>
            <a:ext cx="128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/>
              <a:t>反相比例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5117" y="181907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i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d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43" t="68360" r="59392" b="3915"/>
          <a:stretch/>
        </p:blipFill>
        <p:spPr>
          <a:xfrm>
            <a:off x="3095059" y="984927"/>
            <a:ext cx="2520540" cy="190137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48" t="23756" r="40487" b="53069"/>
          <a:stretch/>
        </p:blipFill>
        <p:spPr>
          <a:xfrm>
            <a:off x="3275856" y="2886299"/>
            <a:ext cx="1770743" cy="15893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85228" y="403642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闭环放大倍数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2" t="65261" r="45481" b="28678"/>
          <a:stretch/>
        </p:blipFill>
        <p:spPr>
          <a:xfrm>
            <a:off x="819605" y="4683464"/>
            <a:ext cx="4095333" cy="415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3975" y="5099164"/>
            <a:ext cx="2332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从“</a:t>
            </a:r>
            <a:r>
              <a:rPr lang="en-US" altLang="zh-CN" dirty="0" smtClean="0"/>
              <a:t>-</a:t>
            </a:r>
            <a:r>
              <a:rPr lang="zh-CN" altLang="en-US" dirty="0" smtClean="0"/>
              <a:t>”看进去的电阻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3944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188640"/>
            <a:ext cx="128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同相输入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6" t="11851" b="2858"/>
          <a:stretch/>
        </p:blipFill>
        <p:spPr>
          <a:xfrm>
            <a:off x="-21410" y="692696"/>
            <a:ext cx="8984343" cy="58492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墨迹 3"/>
              <p14:cNvContentPartPr/>
              <p14:nvPr/>
            </p14:nvContentPartPr>
            <p14:xfrm>
              <a:off x="4590000" y="3036240"/>
              <a:ext cx="4393800" cy="2732760"/>
            </p14:xfrm>
          </p:contentPart>
        </mc:Choice>
        <mc:Fallback>
          <p:pic>
            <p:nvPicPr>
              <p:cNvPr id="4" name="墨迹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80640" y="3026880"/>
                <a:ext cx="4412520" cy="275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634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29" b="15555"/>
          <a:stretch/>
        </p:blipFill>
        <p:spPr>
          <a:xfrm>
            <a:off x="0" y="711537"/>
            <a:ext cx="6876256" cy="585997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7544" y="26064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反相加法运算电路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931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13"/>
          <a:stretch/>
        </p:blipFill>
        <p:spPr>
          <a:xfrm>
            <a:off x="0" y="980728"/>
            <a:ext cx="9144000" cy="559525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3528" y="26064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同相加法运算电路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1029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1" t="11894" r="19662" b="43280"/>
          <a:stretch/>
        </p:blipFill>
        <p:spPr>
          <a:xfrm>
            <a:off x="0" y="460775"/>
            <a:ext cx="6847656" cy="307416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0786" y="9144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减法运算电路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3" t="67513" r="50000" b="23175"/>
          <a:stretch/>
        </p:blipFill>
        <p:spPr>
          <a:xfrm>
            <a:off x="0" y="3534941"/>
            <a:ext cx="4104456" cy="6386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7" t="20317" r="28889" b="33756"/>
          <a:stretch/>
        </p:blipFill>
        <p:spPr>
          <a:xfrm>
            <a:off x="899592" y="3708399"/>
            <a:ext cx="6171614" cy="314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42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3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786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332656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运算放大器在信号处理方面的应用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3" t="33227" r="23651" b="6455"/>
          <a:stretch/>
        </p:blipFill>
        <p:spPr>
          <a:xfrm>
            <a:off x="-16633" y="715060"/>
            <a:ext cx="6226628" cy="41365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7544" y="5157192"/>
            <a:ext cx="38779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利用集成运放工作在非线性区的特性</a:t>
            </a:r>
            <a:endParaRPr lang="en-US" altLang="zh-CN" dirty="0" smtClean="0"/>
          </a:p>
          <a:p>
            <a:r>
              <a:rPr lang="en-US" altLang="zh-CN" dirty="0"/>
              <a:t>u</a:t>
            </a:r>
            <a:r>
              <a:rPr lang="en-US" altLang="zh-CN" baseline="-25000" dirty="0"/>
              <a:t>+</a:t>
            </a:r>
            <a:r>
              <a:rPr lang="en-US" altLang="zh-CN" dirty="0"/>
              <a:t> ﹥u</a:t>
            </a:r>
            <a:r>
              <a:rPr lang="en-US" altLang="zh-CN" baseline="-25000" dirty="0"/>
              <a:t>-</a:t>
            </a:r>
            <a:r>
              <a:rPr lang="zh-CN" altLang="en-US" dirty="0"/>
              <a:t>，立刻达到正饱和</a:t>
            </a:r>
            <a:endParaRPr lang="en-US" altLang="zh-CN" dirty="0"/>
          </a:p>
          <a:p>
            <a:r>
              <a:rPr lang="en-US" altLang="zh-CN" dirty="0"/>
              <a:t>u</a:t>
            </a:r>
            <a:r>
              <a:rPr lang="en-US" altLang="zh-CN" baseline="-25000" dirty="0"/>
              <a:t>+</a:t>
            </a:r>
            <a:r>
              <a:rPr lang="en-US" altLang="zh-CN" dirty="0"/>
              <a:t> ﹤u</a:t>
            </a:r>
            <a:r>
              <a:rPr lang="en-US" altLang="zh-CN" baseline="-25000" dirty="0" smtClean="0"/>
              <a:t>-</a:t>
            </a:r>
            <a:r>
              <a:rPr lang="zh-CN" altLang="en-US" dirty="0"/>
              <a:t>，立刻</a:t>
            </a:r>
            <a:r>
              <a:rPr lang="zh-CN" altLang="en-US" dirty="0" smtClean="0"/>
              <a:t>达到负饱和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8823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79" t="28995"/>
          <a:stretch/>
        </p:blipFill>
        <p:spPr>
          <a:xfrm>
            <a:off x="0" y="0"/>
            <a:ext cx="7765143" cy="48695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9552" y="5013176"/>
            <a:ext cx="36471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书</a:t>
            </a:r>
            <a:r>
              <a:rPr lang="en-US" altLang="zh-CN" dirty="0" smtClean="0"/>
              <a:t>p113</a:t>
            </a:r>
          </a:p>
          <a:p>
            <a:r>
              <a:rPr lang="zh-CN" altLang="en-US" dirty="0"/>
              <a:t>电压</a:t>
            </a:r>
            <a:r>
              <a:rPr lang="zh-CN" altLang="en-US" dirty="0" smtClean="0"/>
              <a:t>比较器可以将正弦波变成方波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0975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10"/>
          <a:stretch/>
        </p:blipFill>
        <p:spPr>
          <a:xfrm>
            <a:off x="0" y="0"/>
            <a:ext cx="9144000" cy="322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05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711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13"/>
          <a:stretch/>
        </p:blipFill>
        <p:spPr>
          <a:xfrm>
            <a:off x="0" y="-243408"/>
            <a:ext cx="9144000" cy="497114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22"/>
          <a:stretch/>
        </p:blipFill>
        <p:spPr>
          <a:xfrm rot="16200000">
            <a:off x="2049350" y="1828569"/>
            <a:ext cx="2993581" cy="709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21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2792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u</a:t>
            </a:r>
            <a:r>
              <a:rPr lang="en-US" altLang="zh-CN" baseline="-25000" dirty="0" err="1" smtClean="0"/>
              <a:t>i</a:t>
            </a:r>
            <a:r>
              <a:rPr lang="zh-CN" altLang="en-US" dirty="0" smtClean="0"/>
              <a:t>为正弦波，则</a:t>
            </a:r>
            <a:r>
              <a:rPr lang="en-US" altLang="zh-CN" dirty="0" smtClean="0"/>
              <a:t>u0</a:t>
            </a:r>
            <a:r>
              <a:rPr lang="zh-CN" altLang="en-US" dirty="0" smtClean="0"/>
              <a:t>为（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余</a:t>
            </a:r>
            <a:r>
              <a:rPr lang="en-US" altLang="zh-CN" dirty="0" err="1" smtClean="0"/>
              <a:t>u</a:t>
            </a:r>
            <a:r>
              <a:rPr lang="en-US" altLang="zh-CN" baseline="-25000" dirty="0" err="1" smtClean="0"/>
              <a:t>i</a:t>
            </a:r>
            <a:r>
              <a:rPr lang="zh-CN" altLang="en-US" dirty="0" smtClean="0"/>
              <a:t>同相的正弦电压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与</a:t>
            </a:r>
            <a:r>
              <a:rPr lang="en-US" altLang="zh-CN" dirty="0" err="1" smtClean="0"/>
              <a:t>u</a:t>
            </a:r>
            <a:r>
              <a:rPr lang="en-US" altLang="zh-CN" baseline="-25000" dirty="0" err="1" smtClean="0"/>
              <a:t>i</a:t>
            </a:r>
            <a:r>
              <a:rPr lang="zh-CN" altLang="en-US" dirty="0" smtClean="0"/>
              <a:t>反相的正弦电压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矩形波电压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12" t="47249" r="23968" b="14656"/>
          <a:stretch/>
        </p:blipFill>
        <p:spPr>
          <a:xfrm>
            <a:off x="251520" y="1388969"/>
            <a:ext cx="5268685" cy="261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71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27" b="47302"/>
          <a:stretch/>
        </p:blipFill>
        <p:spPr>
          <a:xfrm>
            <a:off x="0" y="1"/>
            <a:ext cx="9144000" cy="133531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640" r="50000"/>
          <a:stretch/>
        </p:blipFill>
        <p:spPr>
          <a:xfrm>
            <a:off x="5974386" y="1318539"/>
            <a:ext cx="3149827" cy="22848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32240" y="1804174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i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1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07273" y="1335315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i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f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8424" y="2164769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i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3985" y="2780928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i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4</a:t>
            </a:r>
            <a:endParaRPr lang="zh-CN" altLang="en-US" baseline="-25000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08" r="1746" b="4338"/>
          <a:stretch/>
        </p:blipFill>
        <p:spPr>
          <a:xfrm>
            <a:off x="19022" y="1343316"/>
            <a:ext cx="6133908" cy="324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116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598"/>
          <a:stretch/>
        </p:blipFill>
        <p:spPr>
          <a:xfrm>
            <a:off x="0" y="116631"/>
            <a:ext cx="9144000" cy="386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401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445"/>
          <a:stretch/>
        </p:blipFill>
        <p:spPr>
          <a:xfrm>
            <a:off x="0" y="0"/>
            <a:ext cx="9144000" cy="10668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72"/>
          <a:stretch/>
        </p:blipFill>
        <p:spPr>
          <a:xfrm>
            <a:off x="-22402" y="908720"/>
            <a:ext cx="9144000" cy="365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030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24"/>
          <a:stretch/>
        </p:blipFill>
        <p:spPr>
          <a:xfrm>
            <a:off x="-20283" y="-24837"/>
            <a:ext cx="9144000" cy="55807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9552" y="764704"/>
            <a:ext cx="965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u</a:t>
            </a:r>
            <a:r>
              <a:rPr lang="en-US" altLang="zh-CN" sz="2400" b="1" baseline="-25000" dirty="0">
                <a:solidFill>
                  <a:srgbClr val="FF0000"/>
                </a:solidFill>
              </a:rPr>
              <a:t>+</a:t>
            </a:r>
            <a:r>
              <a:rPr lang="en-US" altLang="zh-CN" sz="2400" b="1" dirty="0">
                <a:solidFill>
                  <a:srgbClr val="FF0000"/>
                </a:solidFill>
              </a:rPr>
              <a:t> ≈ u</a:t>
            </a:r>
            <a:r>
              <a:rPr lang="en-US" altLang="zh-CN" sz="2400" b="1" baseline="-25000" dirty="0">
                <a:solidFill>
                  <a:srgbClr val="FF0000"/>
                </a:solidFill>
              </a:rPr>
              <a:t>-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79" t="50000" r="25397"/>
          <a:stretch/>
        </p:blipFill>
        <p:spPr>
          <a:xfrm>
            <a:off x="0" y="2996952"/>
            <a:ext cx="5356147" cy="316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608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364</Words>
  <Application>Microsoft Office PowerPoint</Application>
  <PresentationFormat>全屏显示(4:3)</PresentationFormat>
  <Paragraphs>51</Paragraphs>
  <Slides>19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1" baseType="lpstr">
      <vt:lpstr>Office 主题</vt:lpstr>
      <vt:lpstr>公式</vt:lpstr>
      <vt:lpstr>第十六章 集成运算放大器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第十六章 集成运算放大器</dc:title>
  <dc:creator>Administrator</dc:creator>
  <cp:lastModifiedBy>China</cp:lastModifiedBy>
  <cp:revision>20</cp:revision>
  <dcterms:created xsi:type="dcterms:W3CDTF">2018-01-20T13:13:15Z</dcterms:created>
  <dcterms:modified xsi:type="dcterms:W3CDTF">2018-01-24T02:27:43Z</dcterms:modified>
</cp:coreProperties>
</file>