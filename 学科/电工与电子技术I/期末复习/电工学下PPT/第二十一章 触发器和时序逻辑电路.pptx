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5T04:05:09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3895 9971,'-25'0,"-25"0,1 0,-26 0,26 0,-26 0,26 0,24 0,0 0,0 0,0 0,1 0,-26 0,0 0,1 0,24 0,0 0,-24 0,24 0,0-24,0 24,0 0,1 0,-1 0,0 0,0 0,0 0,0 0,1 0,-1 0,25-25,-25 25,0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5T04:53:30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10319 9327,'0'24,"0"26,0 0,0-1,0 1,0-1,0-24,0 0,0 0,0 0,0-1,0 1,-25 25,25-25,0-1,0 1</inkml:trace>
  <inkml:trace contextRef="#ctx0" brushRef="#br0" timeOffset="1080.8107">10071 9103,'25'-24,"49"24,1 24,-1 1,-24-25,-1 25,26-25,-26 25,-24-25,0 25,25-25,-26 0,1 0,0 24,0-24,0 25,-25 0,24-25,1 25,-25 0,25-1,-25 26,0-25,0 24,0-24,0 0,-25 25,25-26,-49 26,-26-25,50 0,-49-1,24 51,-49-50,74 24,-24-24,-1 0,50 0,-25-25,25 24</inkml:trace>
  <inkml:trace contextRef="#ctx0" brushRef="#br0" timeOffset="7143.4602">15131 11112,'0'-24,"0"-1,0 0,0 0,0 0,0 1,-25 24,-24 24,24 1,0 0,25 0,-25-25,1 25,24-1,-25-24,25 25,0 0,0 0,0 0,0 0,0-1,0 1,0 0,0 25,0-26,0 1,0 0,25 0,24-25,1-25,-25 25,-1-50,1 50,0-24,-25-1,0 0,0 0,0 0,0-24,0 24,0 0,0 0,0 0</inkml:trace>
  <inkml:trace contextRef="#ctx0" brushRef="#br0" timeOffset="8546.5659">15206 12477,'0'-25,"0"0,-25 25,0 0,0 0,0 0,1 0,-26 0,50 25,-25-25,25 25,0 0,0-1,0 1,0 0,0 0,0 24,0-24,0 0,0 25,0-26,0 1,25 0,-25 0,25-25,0 0,-1 25,1-25,0 0,0 0,0 0,-1 0,1 0,0 0,0-25,-25 0,0 0,0 0,0 1,0-1,0 0,0 0,0 0,0 1,0-26,-25 25,0 0,0 25,1-24,-1 24,0-25,0 25,0 0,-24 0,24 0,0 0,25 25,-25-1,1-24,-1 25,0-25</inkml:trace>
  <inkml:trace contextRef="#ctx0" brushRef="#br0" timeOffset="16585.4079">14040 16594,'49'0,"26"75,-50-50,74 49,0-24,0 24,-49-49,24 49,26 1,-26-51,50 51,-50-26,-24-24,24 25,-49-50,25 49,-1-24,1-25,-25 25,0-25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544" y="332656"/>
            <a:ext cx="7772400" cy="1470025"/>
          </a:xfrm>
        </p:spPr>
        <p:txBody>
          <a:bodyPr/>
          <a:lstStyle/>
          <a:p>
            <a:r>
              <a:rPr lang="zh-CN" altLang="en-US" dirty="0" smtClean="0"/>
              <a:t>第二十一章 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触发器和时许逻辑电路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16832"/>
            <a:ext cx="2859782" cy="38130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026" y="1772816"/>
            <a:ext cx="2020456" cy="3573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21250" y="554520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微博：易水两岸灯火阑珊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641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492154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组合逻辑电路基本单元：门电路（第二十章）</a:t>
            </a:r>
            <a:endParaRPr lang="en-US" altLang="zh-CN" dirty="0" smtClean="0"/>
          </a:p>
          <a:p>
            <a:r>
              <a:rPr lang="en-US" altLang="zh-CN" dirty="0" smtClean="0"/>
              <a:t>      </a:t>
            </a:r>
            <a:r>
              <a:rPr lang="zh-CN" altLang="en-US" dirty="0"/>
              <a:t>即时性</a:t>
            </a:r>
            <a:r>
              <a:rPr lang="zh-CN" altLang="en-US" dirty="0" smtClean="0"/>
              <a:t>，无记忆功能</a:t>
            </a:r>
            <a:endParaRPr lang="en-US" altLang="zh-CN" dirty="0" smtClean="0"/>
          </a:p>
          <a:p>
            <a:r>
              <a:rPr lang="zh-CN" altLang="en-US" dirty="0" smtClean="0"/>
              <a:t>时序逻辑电路：有记忆功能</a:t>
            </a:r>
            <a:endParaRPr lang="en-US" altLang="zh-CN" dirty="0" smtClean="0"/>
          </a:p>
          <a:p>
            <a:r>
              <a:rPr lang="zh-CN" altLang="en-US" dirty="0"/>
              <a:t>基本</a:t>
            </a:r>
            <a:r>
              <a:rPr lang="zh-CN" altLang="en-US" dirty="0" smtClean="0"/>
              <a:t>单元：触发器</a:t>
            </a:r>
            <a:endParaRPr lang="en-US" altLang="zh-CN" dirty="0" smtClean="0"/>
          </a:p>
          <a:p>
            <a:r>
              <a:rPr lang="zh-CN" altLang="en-US" dirty="0" smtClean="0"/>
              <a:t>应用：寄存器和计数器</a:t>
            </a:r>
            <a:endParaRPr lang="en-US" altLang="zh-CN" dirty="0" smtClean="0"/>
          </a:p>
          <a:p>
            <a:r>
              <a:rPr lang="zh-CN" altLang="en-US" dirty="0"/>
              <a:t>这</a:t>
            </a:r>
            <a:r>
              <a:rPr lang="zh-CN" altLang="en-US" dirty="0" smtClean="0"/>
              <a:t>章会出一道大题，难度可以在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分到</a:t>
            </a:r>
            <a:r>
              <a:rPr lang="en-US" altLang="zh-CN" dirty="0" smtClean="0"/>
              <a:t>15</a:t>
            </a:r>
            <a:r>
              <a:rPr lang="zh-CN" altLang="en-US" dirty="0" smtClean="0"/>
              <a:t>分不等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3318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04664"/>
            <a:ext cx="43268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基本</a:t>
            </a:r>
            <a:r>
              <a:rPr lang="en-US" altLang="zh-CN" dirty="0" smtClean="0"/>
              <a:t>RS</a:t>
            </a:r>
            <a:r>
              <a:rPr lang="zh-CN" altLang="en-US" dirty="0" smtClean="0"/>
              <a:t>触发器</a:t>
            </a:r>
            <a:endParaRPr lang="en-US" altLang="zh-CN" dirty="0" smtClean="0"/>
          </a:p>
          <a:p>
            <a:r>
              <a:rPr lang="zh-CN" altLang="en-US" dirty="0" smtClean="0"/>
              <a:t>规定：</a:t>
            </a:r>
            <a:r>
              <a:rPr lang="en-US" altLang="zh-CN" dirty="0" smtClean="0"/>
              <a:t>Q</a:t>
            </a:r>
            <a:r>
              <a:rPr lang="zh-CN" altLang="en-US" dirty="0" smtClean="0"/>
              <a:t>端的状态为触发器的状态</a:t>
            </a:r>
            <a:endParaRPr lang="en-US" altLang="zh-CN" dirty="0" smtClean="0"/>
          </a:p>
          <a:p>
            <a:r>
              <a:rPr lang="zh-CN" altLang="en-US" dirty="0"/>
              <a:t>状态</a:t>
            </a:r>
            <a:r>
              <a:rPr lang="zh-CN" altLang="en-US" dirty="0" smtClean="0"/>
              <a:t>表 </a:t>
            </a:r>
            <a:r>
              <a:rPr lang="en-US" altLang="zh-CN" dirty="0" err="1" smtClean="0"/>
              <a:t>Q</a:t>
            </a:r>
            <a:r>
              <a:rPr lang="en-US" altLang="zh-CN" baseline="-25000" dirty="0" err="1" smtClean="0"/>
              <a:t>n</a:t>
            </a:r>
            <a:r>
              <a:rPr lang="zh-CN" altLang="en-US" dirty="0" smtClean="0"/>
              <a:t>（原态）、</a:t>
            </a:r>
            <a:r>
              <a:rPr lang="en-US" altLang="zh-CN" dirty="0" smtClean="0"/>
              <a:t>Q</a:t>
            </a:r>
            <a:r>
              <a:rPr lang="en-US" altLang="zh-CN" baseline="-25000" dirty="0" smtClean="0"/>
              <a:t>n+1</a:t>
            </a:r>
            <a:r>
              <a:rPr lang="zh-CN" altLang="en-US" dirty="0" smtClean="0"/>
              <a:t>（新态，次态）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55872" r="20794" b="4762"/>
          <a:stretch/>
        </p:blipFill>
        <p:spPr>
          <a:xfrm>
            <a:off x="395535" y="1327994"/>
            <a:ext cx="6847093" cy="2699659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628533"/>
              </p:ext>
            </p:extLst>
          </p:nvPr>
        </p:nvGraphicFramePr>
        <p:xfrm>
          <a:off x="254694" y="4581128"/>
          <a:ext cx="2304255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8085"/>
                <a:gridCol w="768085"/>
                <a:gridCol w="76808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b="1" i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lang="en-US" altLang="zh-CN" sz="1800" b="1" i="1" baseline="-25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zh-CN" sz="1800" b="1" i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lang="en-US" altLang="zh-CN" sz="1800" b="1" i="1" baseline="-250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lang="en-US" altLang="zh-CN" sz="1800" b="1" i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endParaRPr lang="en-US" altLang="zh-CN" sz="1800" b="1" baseline="-25000" dirty="0">
                        <a:solidFill>
                          <a:srgbClr val="000000"/>
                        </a:solidFill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n+1</a:t>
                      </a:r>
                      <a:endParaRPr lang="zh-CN" altLang="en-US" dirty="0"/>
                    </a:p>
                  </a:txBody>
                  <a:tcPr/>
                </a:tc>
              </a:tr>
              <a:tr h="3492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禁态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8949" y="6124654"/>
            <a:ext cx="6114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也叫不定，将低电平去掉，输出</a:t>
            </a:r>
            <a:r>
              <a:rPr lang="en-US" altLang="zh-CN" dirty="0" smtClean="0"/>
              <a:t>Q</a:t>
            </a:r>
            <a:r>
              <a:rPr lang="zh-CN" altLang="en-US" dirty="0" smtClean="0"/>
              <a:t>的状态可能是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，可能是</a:t>
            </a:r>
            <a:r>
              <a:rPr lang="en-US" altLang="zh-CN" dirty="0" smtClean="0"/>
              <a:t>0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95535" y="4653136"/>
            <a:ext cx="1440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115616" y="4653136"/>
            <a:ext cx="2912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991" y="40965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低</a:t>
            </a:r>
            <a:r>
              <a:rPr lang="zh-CN" altLang="en-US" dirty="0" smtClean="0"/>
              <a:t>电平有效！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58707" y="1628800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直接置</a:t>
            </a:r>
            <a:r>
              <a:rPr lang="en-US" altLang="zh-CN" dirty="0" smtClean="0"/>
              <a:t>1</a:t>
            </a:r>
            <a:r>
              <a:rPr lang="zh-CN" altLang="en-US" dirty="0" smtClean="0"/>
              <a:t>端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61705" y="2699628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直接置</a:t>
            </a:r>
            <a:r>
              <a:rPr lang="en-US" altLang="zh-CN" dirty="0" smtClean="0"/>
              <a:t>0</a:t>
            </a:r>
            <a:r>
              <a:rPr lang="zh-CN" altLang="en-US" dirty="0" smtClean="0"/>
              <a:t>端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870502" y="4503453"/>
            <a:ext cx="4339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我不是很懂这个是干什么用的，</a:t>
            </a:r>
            <a:endParaRPr lang="en-US" altLang="zh-CN" dirty="0" smtClean="0"/>
          </a:p>
          <a:p>
            <a:r>
              <a:rPr lang="zh-CN" altLang="en-US" dirty="0" smtClean="0"/>
              <a:t>我们就是做实验的时候涉及到这个电路了</a:t>
            </a:r>
            <a:endParaRPr lang="en-US" altLang="zh-CN" dirty="0" smtClean="0"/>
          </a:p>
          <a:p>
            <a:r>
              <a:rPr lang="zh-CN" altLang="en-US" dirty="0" smtClean="0"/>
              <a:t>考试的时候没有考这个电路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82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8513" y="70272"/>
            <a:ext cx="2489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同步（钟控）</a:t>
            </a:r>
            <a:r>
              <a:rPr lang="en-US" altLang="zh-CN" dirty="0" smtClean="0"/>
              <a:t>RS</a:t>
            </a:r>
            <a:r>
              <a:rPr lang="zh-CN" altLang="en-US" dirty="0" smtClean="0"/>
              <a:t>触发器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" t="52699" r="13492"/>
          <a:stretch/>
        </p:blipFill>
        <p:spPr>
          <a:xfrm>
            <a:off x="211921" y="393437"/>
            <a:ext cx="7586758" cy="3243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9880" y="3895728"/>
            <a:ext cx="52245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</a:t>
            </a:r>
            <a:r>
              <a:rPr lang="zh-CN" altLang="en-US" dirty="0" smtClean="0"/>
              <a:t>是输入，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是输出，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D</a:t>
            </a:r>
            <a:r>
              <a:rPr lang="zh-CN" altLang="en-US" baseline="-25000" dirty="0" smtClean="0"/>
              <a:t>，</a:t>
            </a:r>
            <a:r>
              <a:rPr lang="en-US" altLang="zh-CN" dirty="0" smtClean="0"/>
              <a:t>S</a:t>
            </a:r>
            <a:r>
              <a:rPr lang="en-US" altLang="zh-CN" baseline="-25000" dirty="0" smtClean="0"/>
              <a:t>D</a:t>
            </a:r>
            <a:r>
              <a:rPr lang="zh-CN" altLang="en-US" dirty="0" smtClean="0"/>
              <a:t>一定是在高电平</a:t>
            </a:r>
            <a:endParaRPr lang="en-US" altLang="zh-CN" dirty="0" smtClean="0"/>
          </a:p>
          <a:p>
            <a:r>
              <a:rPr lang="en-US" altLang="zh-CN" dirty="0" smtClean="0"/>
              <a:t>CP=0</a:t>
            </a:r>
            <a:r>
              <a:rPr lang="zh-CN" altLang="en-US" dirty="0" smtClean="0"/>
              <a:t>时，保持原态</a:t>
            </a:r>
            <a:endParaRPr lang="en-US" altLang="zh-CN" dirty="0" smtClean="0"/>
          </a:p>
          <a:p>
            <a:r>
              <a:rPr lang="en-US" altLang="zh-CN" dirty="0" smtClean="0"/>
              <a:t>CP=1</a:t>
            </a:r>
            <a:r>
              <a:rPr lang="zh-CN" altLang="en-US" dirty="0" smtClean="0"/>
              <a:t>时，</a:t>
            </a:r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3347864" y="3895728"/>
            <a:ext cx="2160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708817" y="3954778"/>
            <a:ext cx="2160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391814"/>
              </p:ext>
            </p:extLst>
          </p:nvPr>
        </p:nvGraphicFramePr>
        <p:xfrm>
          <a:off x="267087" y="4819058"/>
          <a:ext cx="2292828" cy="1982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4276"/>
                <a:gridCol w="764276"/>
                <a:gridCol w="764276"/>
              </a:tblGrid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n+1</a:t>
                      </a:r>
                      <a:endParaRPr lang="zh-CN" altLang="en-US" baseline="-25000" dirty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不定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72133" y="5517232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随</a:t>
            </a:r>
            <a:r>
              <a:rPr lang="en-US" altLang="zh-CN" dirty="0" smtClean="0"/>
              <a:t>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22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63" y="0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主从型</a:t>
            </a:r>
            <a:r>
              <a:rPr lang="en-US" altLang="zh-CN" dirty="0" smtClean="0"/>
              <a:t>JK</a:t>
            </a:r>
            <a:r>
              <a:rPr lang="zh-CN" altLang="en-US" dirty="0" smtClean="0"/>
              <a:t>触发器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1" t="19471" r="15873" b="2011"/>
          <a:stretch/>
        </p:blipFill>
        <p:spPr>
          <a:xfrm>
            <a:off x="9873" y="391554"/>
            <a:ext cx="4833256" cy="4189574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79027"/>
              </p:ext>
            </p:extLst>
          </p:nvPr>
        </p:nvGraphicFramePr>
        <p:xfrm>
          <a:off x="4860032" y="836712"/>
          <a:ext cx="1967880" cy="1982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60"/>
                <a:gridCol w="655960"/>
                <a:gridCol w="655960"/>
              </a:tblGrid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n+1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6228184" y="2492896"/>
            <a:ext cx="2160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8264" y="12754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记忆功能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8713" y="1846973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随</a:t>
            </a:r>
            <a:r>
              <a:rPr lang="en-US" altLang="zh-CN" dirty="0" smtClean="0"/>
              <a:t>J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660232" y="2378328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/>
              <a:t>翻转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（计数器基本单元）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23728" y="472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下降沿触发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428" y="4797152"/>
            <a:ext cx="63049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波形图怎么画出来的</a:t>
            </a:r>
            <a:endParaRPr lang="en-US" altLang="zh-CN" dirty="0" smtClean="0"/>
          </a:p>
          <a:p>
            <a:r>
              <a:rPr lang="zh-CN" altLang="en-US" dirty="0" smtClean="0"/>
              <a:t>把所有的下降沿延长下来，看下降沿前面的</a:t>
            </a:r>
            <a:r>
              <a:rPr lang="en-US" altLang="zh-CN" dirty="0" smtClean="0"/>
              <a:t>JK</a:t>
            </a:r>
            <a:r>
              <a:rPr lang="zh-CN" altLang="en-US" dirty="0" smtClean="0"/>
              <a:t>，判断</a:t>
            </a:r>
            <a:r>
              <a:rPr lang="en-US" altLang="zh-CN" dirty="0" smtClean="0"/>
              <a:t>Q</a:t>
            </a:r>
            <a:r>
              <a:rPr lang="zh-CN" altLang="en-US" dirty="0" smtClean="0"/>
              <a:t>的状态</a:t>
            </a:r>
            <a:endParaRPr lang="en-US" altLang="zh-CN" dirty="0" smtClean="0"/>
          </a:p>
          <a:p>
            <a:r>
              <a:rPr lang="zh-CN" altLang="en-US" dirty="0" smtClean="0"/>
              <a:t>画红色的部分，没有下降沿，保持原态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088756" y="4361408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假设原态为</a:t>
            </a:r>
            <a:r>
              <a:rPr lang="en-US" altLang="zh-CN" dirty="0" smtClean="0"/>
              <a:t>0 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墨迹 12"/>
              <p14:cNvContentPartPr/>
              <p14:nvPr/>
            </p14:nvContentPartPr>
            <p14:xfrm>
              <a:off x="1009080" y="3571920"/>
              <a:ext cx="393480" cy="18000"/>
            </p14:xfrm>
          </p:contentPart>
        </mc:Choice>
        <mc:Fallback>
          <p:pic>
            <p:nvPicPr>
              <p:cNvPr id="13" name="墨迹 1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720" y="3562560"/>
                <a:ext cx="412200" cy="367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/>
          <p:cNvSpPr txBox="1"/>
          <p:nvPr/>
        </p:nvSpPr>
        <p:spPr>
          <a:xfrm>
            <a:off x="5068615" y="3024659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重要，大题需要用这个状态表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7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18916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D</a:t>
            </a:r>
            <a:r>
              <a:rPr lang="zh-CN" altLang="en-US" dirty="0" smtClean="0"/>
              <a:t>触发器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0" t="6493" r="20952" b="2222"/>
          <a:stretch/>
        </p:blipFill>
        <p:spPr>
          <a:xfrm>
            <a:off x="34369" y="488248"/>
            <a:ext cx="4211960" cy="4254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64088" y="30358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状态表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300019"/>
              </p:ext>
            </p:extLst>
          </p:nvPr>
        </p:nvGraphicFramePr>
        <p:xfrm>
          <a:off x="5149299" y="692319"/>
          <a:ext cx="218390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952"/>
                <a:gridCol w="1091952"/>
              </a:tblGrid>
              <a:tr h="34157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n+1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4157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4157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28888" y="423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上升沿触发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627784" y="2615529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假设原态为</a:t>
            </a:r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72000" y="2615529"/>
            <a:ext cx="34836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波形图怎么画的</a:t>
            </a:r>
            <a:endParaRPr lang="en-US" altLang="zh-CN" dirty="0" smtClean="0"/>
          </a:p>
          <a:p>
            <a:r>
              <a:rPr lang="zh-CN" altLang="en-US" dirty="0" smtClean="0"/>
              <a:t>把所有上升沿延长下来</a:t>
            </a:r>
            <a:endParaRPr lang="en-US" altLang="zh-CN" dirty="0" smtClean="0"/>
          </a:p>
          <a:p>
            <a:r>
              <a:rPr lang="zh-CN" altLang="en-US" dirty="0" smtClean="0"/>
              <a:t>看上升沿前面的</a:t>
            </a:r>
            <a:r>
              <a:rPr lang="en-US" altLang="zh-CN" dirty="0" smtClean="0"/>
              <a:t>D</a:t>
            </a:r>
            <a:r>
              <a:rPr lang="zh-CN" altLang="en-US" dirty="0" smtClean="0"/>
              <a:t>，判断</a:t>
            </a:r>
            <a:r>
              <a:rPr lang="en-US" altLang="zh-CN" dirty="0" smtClean="0"/>
              <a:t>Q</a:t>
            </a:r>
            <a:r>
              <a:rPr lang="zh-CN" altLang="en-US" dirty="0" smtClean="0"/>
              <a:t>的状态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481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04664"/>
            <a:ext cx="2829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触发器逻辑功能的转换</a:t>
            </a:r>
            <a:endParaRPr lang="en-US" altLang="zh-CN" dirty="0" smtClean="0"/>
          </a:p>
          <a:p>
            <a:r>
              <a:rPr lang="zh-CN" altLang="en-US" dirty="0" smtClean="0"/>
              <a:t>将</a:t>
            </a:r>
            <a:r>
              <a:rPr lang="en-US" altLang="zh-CN" dirty="0" smtClean="0"/>
              <a:t>JK</a:t>
            </a:r>
            <a:r>
              <a:rPr lang="zh-CN" altLang="en-US" dirty="0" smtClean="0"/>
              <a:t>触发器转化为</a:t>
            </a:r>
            <a:r>
              <a:rPr lang="en-US" altLang="zh-CN" dirty="0" smtClean="0"/>
              <a:t>D</a:t>
            </a:r>
            <a:r>
              <a:rPr lang="zh-CN" altLang="en-US" dirty="0" smtClean="0"/>
              <a:t>触发器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38930"/>
              </p:ext>
            </p:extLst>
          </p:nvPr>
        </p:nvGraphicFramePr>
        <p:xfrm>
          <a:off x="7176120" y="0"/>
          <a:ext cx="1967880" cy="1982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60"/>
                <a:gridCol w="655960"/>
                <a:gridCol w="655960"/>
              </a:tblGrid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n+1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5" t="56084" r="6508" b="3492"/>
          <a:stretch/>
        </p:blipFill>
        <p:spPr>
          <a:xfrm>
            <a:off x="-252536" y="1002314"/>
            <a:ext cx="7228114" cy="27722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3513" y="3774542"/>
            <a:ext cx="3722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JK</a:t>
            </a:r>
            <a:r>
              <a:rPr lang="zh-CN" altLang="en-US" dirty="0" smtClean="0"/>
              <a:t>触发器变成</a:t>
            </a:r>
            <a:r>
              <a:rPr lang="en-US" altLang="zh-CN" dirty="0" smtClean="0"/>
              <a:t>T</a:t>
            </a:r>
            <a:r>
              <a:rPr lang="zh-CN" altLang="en-US" dirty="0" smtClean="0"/>
              <a:t>触发器（计数功能）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0" t="18466" r="45696" b="21852"/>
          <a:stretch/>
        </p:blipFill>
        <p:spPr>
          <a:xfrm rot="16200000">
            <a:off x="833789" y="3338331"/>
            <a:ext cx="2481944" cy="40930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26281" y="3774542"/>
            <a:ext cx="234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D</a:t>
            </a:r>
            <a:r>
              <a:rPr lang="zh-CN" altLang="en-US" dirty="0" smtClean="0"/>
              <a:t>触发器实现</a:t>
            </a:r>
            <a:r>
              <a:rPr lang="en-US" altLang="zh-CN" dirty="0" smtClean="0"/>
              <a:t>T’</a:t>
            </a:r>
            <a:r>
              <a:rPr lang="zh-CN" altLang="en-US" dirty="0" smtClean="0"/>
              <a:t>触发器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6" t="45384" r="20652" b="14405"/>
          <a:stretch/>
        </p:blipFill>
        <p:spPr>
          <a:xfrm>
            <a:off x="4626281" y="4100286"/>
            <a:ext cx="2719966" cy="2757714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8532440" y="1628800"/>
            <a:ext cx="2160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46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8056" y="-1142999"/>
            <a:ext cx="6858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7704" y="98072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下降沿触发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/>
              <p14:cNvContentPartPr/>
              <p14:nvPr/>
            </p14:nvContentPartPr>
            <p14:xfrm>
              <a:off x="3625560" y="3268440"/>
              <a:ext cx="1893600" cy="29916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6200" y="3259080"/>
                <a:ext cx="1912320" cy="30103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838293"/>
              </p:ext>
            </p:extLst>
          </p:nvPr>
        </p:nvGraphicFramePr>
        <p:xfrm>
          <a:off x="7176120" y="0"/>
          <a:ext cx="1967880" cy="1982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960"/>
                <a:gridCol w="655960"/>
                <a:gridCol w="655960"/>
              </a:tblGrid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n+1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9648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078001"/>
              </p:ext>
            </p:extLst>
          </p:nvPr>
        </p:nvGraphicFramePr>
        <p:xfrm>
          <a:off x="7596336" y="3429001"/>
          <a:ext cx="1152128" cy="1280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576064"/>
              </a:tblGrid>
              <a:tr h="54863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n+1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4163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4163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8604448" y="1700808"/>
            <a:ext cx="2160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63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43000" y="-1140927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2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86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计数器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3" y="637531"/>
            <a:ext cx="5143177" cy="15028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4" y="2276872"/>
            <a:ext cx="1609950" cy="110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88640"/>
            <a:ext cx="45496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步骤：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先列出控制端的逻辑表达式（时钟方程）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列状态表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结论（异</a:t>
            </a:r>
            <a:r>
              <a:rPr lang="en-US" altLang="zh-CN" dirty="0" smtClean="0"/>
              <a:t>/</a:t>
            </a:r>
            <a:r>
              <a:rPr lang="zh-CN" altLang="en-US" dirty="0" smtClean="0"/>
              <a:t>同步   几进制   加</a:t>
            </a:r>
            <a:r>
              <a:rPr lang="en-US" altLang="zh-CN" dirty="0" smtClean="0"/>
              <a:t>/</a:t>
            </a:r>
            <a:r>
              <a:rPr lang="zh-CN" altLang="en-US" dirty="0" smtClean="0"/>
              <a:t>减法计数器）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画时序图，波形图</a:t>
            </a:r>
            <a:endParaRPr lang="en-US" altLang="zh-CN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20149" y="3381926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检查几遍，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时钟方程写错了，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这道题就白做了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018885"/>
              </p:ext>
            </p:extLst>
          </p:nvPr>
        </p:nvGraphicFramePr>
        <p:xfrm>
          <a:off x="2267744" y="2276872"/>
          <a:ext cx="6624735" cy="39775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947"/>
                <a:gridCol w="1324947"/>
                <a:gridCol w="1324947"/>
                <a:gridCol w="1324947"/>
                <a:gridCol w="1324947"/>
              </a:tblGrid>
              <a:tr h="56153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1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</a:tr>
              <a:tr h="37955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0  0  0</a:t>
                      </a:r>
                      <a:endParaRPr lang="zh-CN" altLang="en-US" dirty="0"/>
                    </a:p>
                  </a:txBody>
                  <a:tcPr/>
                </a:tc>
              </a:tr>
              <a:tr h="37955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0  0  1</a:t>
                      </a:r>
                      <a:endParaRPr lang="zh-CN" altLang="en-US" dirty="0"/>
                    </a:p>
                  </a:txBody>
                  <a:tcPr/>
                </a:tc>
              </a:tr>
              <a:tr h="37955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0  1  0</a:t>
                      </a:r>
                      <a:endParaRPr lang="zh-CN" altLang="en-US" dirty="0"/>
                    </a:p>
                  </a:txBody>
                  <a:tcPr/>
                </a:tc>
              </a:tr>
              <a:tr h="37955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0  1  1</a:t>
                      </a:r>
                      <a:endParaRPr lang="zh-CN" altLang="en-US" dirty="0"/>
                    </a:p>
                  </a:txBody>
                  <a:tcPr/>
                </a:tc>
              </a:tr>
              <a:tr h="37955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1  0  0</a:t>
                      </a:r>
                      <a:endParaRPr lang="zh-CN" altLang="en-US" dirty="0"/>
                    </a:p>
                  </a:txBody>
                  <a:tcPr/>
                </a:tc>
              </a:tr>
              <a:tr h="37955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1  0  1</a:t>
                      </a:r>
                      <a:endParaRPr lang="zh-CN" altLang="en-US" dirty="0"/>
                    </a:p>
                  </a:txBody>
                  <a:tcPr/>
                </a:tc>
              </a:tr>
              <a:tr h="37955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1  1  0</a:t>
                      </a:r>
                      <a:endParaRPr lang="zh-CN" altLang="en-US" dirty="0"/>
                    </a:p>
                  </a:txBody>
                  <a:tcPr/>
                </a:tc>
              </a:tr>
              <a:tr h="37955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1  1  1</a:t>
                      </a:r>
                      <a:endParaRPr lang="zh-CN" altLang="en-US" dirty="0"/>
                    </a:p>
                  </a:txBody>
                  <a:tcPr/>
                </a:tc>
              </a:tr>
              <a:tr h="37955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=K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=Q</a:t>
                      </a:r>
                      <a:r>
                        <a:rPr lang="en-US" altLang="zh-CN" baseline="-25000" dirty="0" smtClean="0"/>
                        <a:t>0</a:t>
                      </a:r>
                      <a:r>
                        <a:rPr lang="en-US" altLang="zh-CN" dirty="0" smtClean="0"/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0  0</a:t>
                      </a:r>
                      <a:r>
                        <a:rPr lang="en-US" altLang="zh-CN" baseline="0" dirty="0" smtClean="0"/>
                        <a:t>  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7624" y="199089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初态</a:t>
            </a:r>
            <a:r>
              <a:rPr lang="en-US" altLang="zh-CN" dirty="0" smtClean="0"/>
              <a:t>000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452831"/>
              </p:ext>
            </p:extLst>
          </p:nvPr>
        </p:nvGraphicFramePr>
        <p:xfrm>
          <a:off x="395537" y="4823090"/>
          <a:ext cx="792087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029"/>
                <a:gridCol w="264029"/>
                <a:gridCol w="264029"/>
              </a:tblGrid>
              <a:tr h="26435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3578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3578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3578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3578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66548" y="4299870"/>
            <a:ext cx="1717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与门的真值表，</a:t>
            </a:r>
            <a:endParaRPr lang="en-US" altLang="zh-CN" sz="1400" dirty="0" smtClean="0"/>
          </a:p>
          <a:p>
            <a:r>
              <a:rPr lang="zh-CN" altLang="en-US" sz="1400" dirty="0" smtClean="0"/>
              <a:t>帮助我写</a:t>
            </a:r>
            <a:r>
              <a:rPr lang="en-US" altLang="zh-CN" sz="1400" dirty="0" smtClean="0"/>
              <a:t>J</a:t>
            </a:r>
            <a:r>
              <a:rPr lang="en-US" altLang="zh-CN" sz="1400" baseline="-25000" dirty="0" smtClean="0"/>
              <a:t>2</a:t>
            </a:r>
            <a:r>
              <a:rPr lang="en-US" altLang="zh-CN" sz="1400" dirty="0" smtClean="0"/>
              <a:t>=K</a:t>
            </a:r>
            <a:r>
              <a:rPr lang="en-US" altLang="zh-CN" sz="1400" baseline="-25000" dirty="0" smtClean="0"/>
              <a:t>2</a:t>
            </a:r>
            <a:r>
              <a:rPr lang="en-US" altLang="zh-CN" sz="1400" dirty="0" smtClean="0"/>
              <a:t>=Q</a:t>
            </a:r>
            <a:r>
              <a:rPr lang="en-US" altLang="zh-CN" sz="1400" baseline="-25000" dirty="0" smtClean="0"/>
              <a:t>0</a:t>
            </a:r>
            <a:r>
              <a:rPr lang="en-US" altLang="zh-CN" sz="1400" dirty="0" smtClean="0"/>
              <a:t>Q</a:t>
            </a:r>
            <a:r>
              <a:rPr lang="en-US" altLang="zh-CN" sz="1400" baseline="-25000" dirty="0" smtClean="0"/>
              <a:t>1</a:t>
            </a:r>
            <a:endParaRPr lang="zh-CN" altLang="en-US" sz="1400" baseline="-250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093350"/>
              </p:ext>
            </p:extLst>
          </p:nvPr>
        </p:nvGraphicFramePr>
        <p:xfrm>
          <a:off x="7176120" y="199088"/>
          <a:ext cx="1356321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2107"/>
                <a:gridCol w="452107"/>
                <a:gridCol w="452107"/>
              </a:tblGrid>
              <a:tr h="35667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n+1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5667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5667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5667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5667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Q</a:t>
                      </a:r>
                      <a:r>
                        <a:rPr lang="en-US" altLang="zh-CN" baseline="-25000" dirty="0" err="1" smtClean="0"/>
                        <a:t>n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>
            <a:off x="8172400" y="1916832"/>
            <a:ext cx="2160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15816" y="642055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同步八进制加法计数器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672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2"/>
            <a:ext cx="4401164" cy="1286054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003201"/>
              </p:ext>
            </p:extLst>
          </p:nvPr>
        </p:nvGraphicFramePr>
        <p:xfrm>
          <a:off x="4788024" y="188640"/>
          <a:ext cx="352839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5678"/>
                <a:gridCol w="705678"/>
                <a:gridCol w="705678"/>
                <a:gridCol w="705678"/>
                <a:gridCol w="705678"/>
              </a:tblGrid>
              <a:tr h="223648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CP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Q</a:t>
                      </a:r>
                      <a:r>
                        <a:rPr lang="en-US" altLang="zh-CN" sz="1200" baseline="-25000" dirty="0" smtClean="0"/>
                        <a:t>1</a:t>
                      </a:r>
                      <a:endParaRPr lang="zh-CN" altLang="en-US" sz="12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endParaRPr lang="zh-CN" altLang="en-US" sz="12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Q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Q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Q</a:t>
                      </a:r>
                      <a:r>
                        <a:rPr lang="en-US" altLang="zh-CN" sz="1200" baseline="-25000" dirty="0" smtClean="0"/>
                        <a:t>0</a:t>
                      </a:r>
                      <a:endParaRPr lang="zh-CN" altLang="en-US" sz="1200" baseline="-25000" dirty="0"/>
                    </a:p>
                  </a:txBody>
                  <a:tcPr/>
                </a:tc>
              </a:tr>
              <a:tr h="15117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0  0  0</a:t>
                      </a:r>
                      <a:endParaRPr lang="zh-CN" altLang="en-US" sz="1200" dirty="0"/>
                    </a:p>
                  </a:txBody>
                  <a:tcPr/>
                </a:tc>
              </a:tr>
              <a:tr h="15117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0  0  1</a:t>
                      </a:r>
                      <a:endParaRPr lang="zh-CN" altLang="en-US" sz="1200" dirty="0"/>
                    </a:p>
                  </a:txBody>
                  <a:tcPr/>
                </a:tc>
              </a:tr>
              <a:tr h="15117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0  1  0</a:t>
                      </a:r>
                      <a:endParaRPr lang="zh-CN" altLang="en-US" sz="1200" dirty="0"/>
                    </a:p>
                  </a:txBody>
                  <a:tcPr/>
                </a:tc>
              </a:tr>
              <a:tr h="15117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0  1  1</a:t>
                      </a:r>
                      <a:endParaRPr lang="zh-CN" altLang="en-US" sz="1200" dirty="0"/>
                    </a:p>
                  </a:txBody>
                  <a:tcPr/>
                </a:tc>
              </a:tr>
              <a:tr h="15117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1  0  0</a:t>
                      </a:r>
                      <a:endParaRPr lang="zh-CN" altLang="en-US" sz="1200" dirty="0"/>
                    </a:p>
                  </a:txBody>
                  <a:tcPr/>
                </a:tc>
              </a:tr>
              <a:tr h="15117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1  0  1</a:t>
                      </a:r>
                      <a:endParaRPr lang="zh-CN" altLang="en-US" sz="1200" dirty="0"/>
                    </a:p>
                  </a:txBody>
                  <a:tcPr/>
                </a:tc>
              </a:tr>
              <a:tr h="15117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1  1  0</a:t>
                      </a:r>
                      <a:endParaRPr lang="zh-CN" altLang="en-US" sz="1200" dirty="0"/>
                    </a:p>
                  </a:txBody>
                  <a:tcPr/>
                </a:tc>
              </a:tr>
              <a:tr h="15117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1  1  1</a:t>
                      </a:r>
                      <a:endParaRPr lang="zh-CN" altLang="en-US" sz="1200" dirty="0"/>
                    </a:p>
                  </a:txBody>
                  <a:tcPr/>
                </a:tc>
              </a:tr>
              <a:tr h="15117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2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=K</a:t>
                      </a:r>
                      <a:r>
                        <a:rPr lang="en-US" altLang="zh-CN" sz="1200" baseline="-25000" dirty="0" smtClean="0"/>
                        <a:t>1</a:t>
                      </a:r>
                      <a:r>
                        <a:rPr lang="en-US" altLang="zh-CN" sz="1200" dirty="0" smtClean="0"/>
                        <a:t>=0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J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=Q</a:t>
                      </a:r>
                      <a:r>
                        <a:rPr lang="en-US" altLang="zh-CN" sz="1200" baseline="-25000" dirty="0" smtClean="0"/>
                        <a:t>0</a:t>
                      </a:r>
                      <a:r>
                        <a:rPr lang="en-US" altLang="zh-CN" sz="1200" dirty="0" smtClean="0"/>
                        <a:t>=1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0  0</a:t>
                      </a:r>
                      <a:r>
                        <a:rPr lang="en-US" altLang="zh-CN" sz="1200" baseline="0" dirty="0" smtClean="0"/>
                        <a:t>  0</a:t>
                      </a:r>
                      <a:endParaRPr lang="zh-CN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" t="62222"/>
          <a:stretch/>
        </p:blipFill>
        <p:spPr>
          <a:xfrm>
            <a:off x="-12395" y="3501008"/>
            <a:ext cx="9027886" cy="2590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" y="1412776"/>
            <a:ext cx="4644711" cy="192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8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88" y="332656"/>
            <a:ext cx="4163006" cy="184810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099020"/>
            <a:ext cx="2772162" cy="14480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9512" y="11663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异步计数器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598764"/>
              </p:ext>
            </p:extLst>
          </p:nvPr>
        </p:nvGraphicFramePr>
        <p:xfrm>
          <a:off x="395537" y="4823090"/>
          <a:ext cx="792087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029"/>
                <a:gridCol w="264029"/>
                <a:gridCol w="264029"/>
              </a:tblGrid>
              <a:tr h="26435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3578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3578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3578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3578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551029"/>
              </p:ext>
            </p:extLst>
          </p:nvPr>
        </p:nvGraphicFramePr>
        <p:xfrm>
          <a:off x="1403645" y="3547022"/>
          <a:ext cx="7488838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9834"/>
                <a:gridCol w="1069834"/>
                <a:gridCol w="884671"/>
                <a:gridCol w="1254997"/>
                <a:gridCol w="1069834"/>
                <a:gridCol w="1069834"/>
                <a:gridCol w="10698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latin typeface="+mn-lt"/>
                        </a:rPr>
                        <a:t>CP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=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Q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Q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1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  </a:t>
                      </a:r>
                      <a:endParaRPr lang="en-US" altLang="zh-CN" sz="1800" b="0" dirty="0" smtClean="0">
                        <a:latin typeface="+mn-lt"/>
                        <a:ea typeface="楷体_GB2312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Q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Q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  </a:t>
                      </a:r>
                      <a:endParaRPr lang="en-US" altLang="zh-CN" sz="1800" b="0" dirty="0" smtClean="0">
                        <a:latin typeface="+mn-lt"/>
                        <a:ea typeface="楷体_GB2312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b="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0  0  0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  </a:t>
                      </a:r>
                      <a:endParaRPr lang="en-US" altLang="zh-CN" sz="1800" b="0" dirty="0" smtClean="0">
                        <a:latin typeface="+mn-lt"/>
                        <a:ea typeface="楷体_GB2312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b="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0  0  1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  </a:t>
                      </a:r>
                      <a:endParaRPr lang="en-US" altLang="zh-CN" sz="1800" b="0" dirty="0" smtClean="0">
                        <a:latin typeface="+mn-lt"/>
                        <a:ea typeface="楷体_GB2312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b="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r>
                        <a:rPr lang="en-US" altLang="zh-CN" baseline="0" dirty="0" smtClean="0"/>
                        <a:t>  1  0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=1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  </a:t>
                      </a:r>
                      <a:endParaRPr lang="en-US" altLang="zh-CN" sz="1800" b="0" dirty="0" smtClean="0">
                        <a:latin typeface="+mn-lt"/>
                        <a:ea typeface="楷体_GB2312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b="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0  1  1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  </a:t>
                      </a:r>
                      <a:endParaRPr lang="en-US" altLang="zh-CN" sz="1800" b="0" dirty="0" smtClean="0">
                        <a:latin typeface="+mn-lt"/>
                        <a:ea typeface="楷体_GB2312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b="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1  0  0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  </a:t>
                      </a:r>
                      <a:endParaRPr lang="en-US" altLang="zh-CN" sz="1800" b="0" dirty="0" smtClean="0">
                        <a:latin typeface="+mn-lt"/>
                        <a:ea typeface="楷体_GB2312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J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 =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1" dirty="0" smtClean="0">
                          <a:latin typeface="+mn-lt"/>
                          <a:ea typeface="楷体_GB2312" pitchFamily="49" charset="-122"/>
                        </a:rPr>
                        <a:t>K</a:t>
                      </a:r>
                      <a:r>
                        <a:rPr lang="en-US" altLang="zh-CN" sz="1800" b="0" i="1" baseline="-25000" dirty="0" smtClean="0">
                          <a:latin typeface="+mn-lt"/>
                          <a:ea typeface="楷体_GB2312" pitchFamily="49" charset="-122"/>
                        </a:rPr>
                        <a:t>0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r>
                        <a:rPr lang="zh-CN" altLang="en-US" sz="1800" b="0" dirty="0" smtClean="0">
                          <a:latin typeface="+mn-lt"/>
                          <a:ea typeface="楷体_GB2312" pitchFamily="49" charset="-122"/>
                        </a:rPr>
                        <a:t>＝ </a:t>
                      </a:r>
                      <a:r>
                        <a:rPr lang="en-US" altLang="zh-CN" sz="1800" b="0" dirty="0" smtClean="0">
                          <a:latin typeface="+mn-lt"/>
                          <a:ea typeface="楷体_GB2312" pitchFamily="49" charset="-122"/>
                        </a:rPr>
                        <a:t>1</a:t>
                      </a:r>
                      <a:r>
                        <a:rPr lang="en-US" altLang="zh-CN" sz="1800" b="0" baseline="-25000" dirty="0" smtClean="0">
                          <a:latin typeface="+mn-lt"/>
                          <a:ea typeface="楷体_GB2312" pitchFamily="49" charset="-122"/>
                        </a:rPr>
                        <a:t> </a:t>
                      </a:r>
                      <a:endParaRPr lang="zh-CN" altLang="en-US" b="0" dirty="0" smtClean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0  0  0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64288" y="3177690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CP=CP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>
                <a:solidFill>
                  <a:srgbClr val="FF0000"/>
                </a:solidFill>
              </a:rPr>
              <a:t>=CP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2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99992" y="317769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CP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=Q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156176" y="3547022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156176" y="3547022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49468" y="3596086"/>
            <a:ext cx="3574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55118" y="62068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异步五进制加法计数器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499992" y="1484784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练习的都是加法计数器，</a:t>
            </a:r>
            <a:endParaRPr lang="en-US" altLang="zh-CN" dirty="0" smtClean="0"/>
          </a:p>
          <a:p>
            <a:r>
              <a:rPr lang="zh-CN" altLang="en-US" dirty="0" smtClean="0"/>
              <a:t>我当时考试的时候考了一个减法计数器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4400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565" y="-62280"/>
            <a:ext cx="3866435" cy="302407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6" t="2963" r="11614" b="15027"/>
          <a:stretch/>
        </p:blipFill>
        <p:spPr>
          <a:xfrm rot="16200000">
            <a:off x="631102" y="1285729"/>
            <a:ext cx="4362080" cy="562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9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816</Words>
  <Application>Microsoft Office PowerPoint</Application>
  <PresentationFormat>全屏显示(4:3)</PresentationFormat>
  <Paragraphs>346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第二十一章  触发器和时许逻辑电路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第二十一章  触发器和时许逻辑电路</dc:title>
  <dc:creator>Administrator</dc:creator>
  <cp:lastModifiedBy>China</cp:lastModifiedBy>
  <cp:revision>17</cp:revision>
  <dcterms:created xsi:type="dcterms:W3CDTF">2018-01-25T01:12:50Z</dcterms:created>
  <dcterms:modified xsi:type="dcterms:W3CDTF">2018-01-25T05:57:17Z</dcterms:modified>
</cp:coreProperties>
</file>