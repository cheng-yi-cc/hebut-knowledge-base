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1138" r:id="rId2"/>
    <p:sldId id="1662" r:id="rId3"/>
    <p:sldId id="1646" r:id="rId4"/>
    <p:sldId id="1647" r:id="rId5"/>
    <p:sldId id="1663" r:id="rId6"/>
    <p:sldId id="1656" r:id="rId7"/>
    <p:sldId id="1664" r:id="rId8"/>
    <p:sldId id="1658" r:id="rId9"/>
    <p:sldId id="1665" r:id="rId10"/>
    <p:sldId id="1666" r:id="rId11"/>
    <p:sldId id="1659" r:id="rId12"/>
    <p:sldId id="1667" r:id="rId13"/>
    <p:sldId id="16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44" y="184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D0595-5C8D-4128-9099-F9D555F64DDC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F9CF5-A6E7-4417-B1C0-45646B197E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113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05EF8-2F94-D577-6B71-D4CBF8F9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E4B99F-945D-CD72-79F4-16C957CCC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7E967B-34B6-3F56-E96E-37C45D67E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F1A533-469D-A6DA-0666-93B4621F71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2851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9960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8342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C20F-C8C1-6A78-6B34-5F9CDC82C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16C7B0-484C-007F-41EA-6094CDF9E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F0B78ED-0D6E-0E06-B6D5-55BA708D8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9C53AA0-AB78-BC83-4BE1-2C7EE4CD5B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395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9013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2013C-C1AE-6E71-9870-A5F4DDC9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550165-3E5E-4C69-9BC2-508A28F65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BB078F-0716-F610-97FC-554C41CF8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0B4834-2633-E994-4EEE-3137FC1B2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4132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7150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A638-D999-2297-B9B9-7968E29B0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71FBE90-64D2-2217-37C4-B5FF4F7855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D735A-043C-F2F3-0C2A-51C395059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1A661C-BB75-1771-B227-311D346F34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3648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CCA6C-6589-9460-DDDD-6658EECB9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C5D693-8471-972D-A4F0-D14990CC8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E1178-E3E5-B07B-B713-DAB5713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9FFAC7-F4C7-E0D6-EB7A-38FB3370E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865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78645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1688-1D1A-ED92-AE85-CF4440773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29788D4-2006-FEEA-FEEF-A99A2170A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42CCD4-AF92-F18E-C26A-D15FDCDF5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C66B0B-903E-3DD5-4858-538EB8248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6204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E1B1D-06D9-0E80-5A2F-7D1C3B1F4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1928C8-A11C-E48F-3733-2C03929C6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F884F4-5BA3-C07A-94AC-DDC57D00B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86A63-0A8B-A7C1-B6BE-759624AAF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BFDC6BD-B2F9-432E-8303-C09462622169}" type="slidenum">
              <a:rPr lang="en-US" altLang="zh-CN" smtClean="0"/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61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6CA66-0AFF-53AF-9D85-53A142C55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C94A20-F7F3-BC71-8E99-D89BA51A0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37E518-F2E6-1F92-5EDF-FB10E5B4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E5D5F7-FFF3-D0D2-00FD-4FF3EE7E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A0611E-C155-1C52-A335-2DD4CDAF4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27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EDD4B-CB74-6FC3-4EFE-674F7AEF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79F6A8-0070-CDE5-9BE9-0266BE874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AE6C7D-F43D-6CA2-F709-3075EE3B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F8C923-86CD-21C6-7520-7CECC4C1F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F181B-41BD-7DAF-6D00-C9D0548E7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510DB-1F6F-D944-B15C-0D373A615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41BCC5-8E7B-487E-708A-DC9F7D16E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605833-93F7-0999-9370-F2A668EA7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267D5C-F85B-1751-2E1E-C33D1C9CF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7BDA73-DEC9-A5B4-338B-720C8258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4143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07CD4-DDF0-0377-E3D8-DD53CFBEF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BC6DB1-2841-93A0-AC3C-DF8DB53A1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94084A-FB31-536F-31C6-97BF9F5C3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37EC6C-D50C-D571-4153-749256EE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E588C8-D10D-098C-E94B-9F09B7AF2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73C2DB-00E6-AADB-6DCA-EF77F1732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987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5E0CC-5CF1-999F-EF9B-14F634A3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4F6E53-5437-9011-49C0-3CB21ACAE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68257-9260-79FD-9B69-E0791B353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128A100-05EC-B3C1-A533-06FA0920E3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457DF3-6C55-EA5D-E673-852257B12E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DD57F3-4E7F-884E-45FB-A88A8E7BC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6D5CF0-5DD9-9967-38DE-D763901BA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8493A9-C32D-BC3E-C517-3249EC7F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766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EBFA5-D4A1-B462-03BA-8FCF6A93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9C2E40-4B7A-FFB6-0FAA-A8637EEA7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46AF85-37D4-55EA-4D70-CE82D867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E990C3-4F09-6516-DDFB-98EFDE837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31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55B97D-60CB-1B76-F756-72C2BF43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DC2E0A5-9614-6BA0-2721-1713EF05E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87FEC2-DC5E-5E69-93C1-58362D2E8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498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8F65E-8ED3-A22E-FAD5-73F7F222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AFBCBC-06A5-4733-A58F-5CD3BAF77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0AA833-37CE-D52B-A957-8BE2F6120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98413F-143F-043B-18A2-DF640242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8F18452-ABC5-3C4E-C461-77390494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3BD45E-6C0D-48C3-7ACC-243FDF12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545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BAB47-6652-0C0A-E462-6882C0AC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F609DF-76B2-DF6C-202C-6DB8DEA93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4AAB16-70C1-9EBB-794E-524167824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54A3EE-7437-2701-6D4A-EFCBE8815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FF350E-3FAD-DE5D-D768-F1E370A0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363DAA-616E-522F-084F-89CE6021A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29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A9E09-46F2-04F4-0A50-484848F81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73FA1-1996-6D17-E285-FE7DB3B4C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2878B2-C9AF-4E3B-7D45-CCFAC512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1AF6CC-B637-C60F-C0C7-0C3F04A12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E52060-4ECE-5CB2-9D56-79D404F58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849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66F3CD-A3DD-EEA9-E4EE-00444F27E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3DD675-7773-6985-F353-B632C1482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215518-E737-3082-44C1-64C580F9F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0ADCB4-884A-59A9-54F1-B61EDC206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85FB75-721F-5189-5A19-5AFE671F5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982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285E92-3E39-6B80-4D9A-19A683DB1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CEB4C1-15D0-21AE-20F4-2CF60C9F0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BD939A-7E19-D14C-9CC0-935199E6C9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A8FD4-5D39-4994-BB3E-A4473E157C2A}" type="datetimeFigureOut">
              <a:rPr lang="zh-CN" altLang="en-US" smtClean="0"/>
              <a:t>2026/6/24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D1ABE-FCF1-488E-A393-E020FF274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055B9A-E5EC-D780-F387-D9DBF1F25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C4AAC-1A2A-4851-9E3A-EC0CC9D8B2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37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8.wmf"/><Relationship Id="rId18" Type="http://schemas.openxmlformats.org/officeDocument/2006/relationships/oleObject" Target="../embeddings/oleObject8.bin"/><Relationship Id="rId3" Type="http://schemas.openxmlformats.org/officeDocument/2006/relationships/image" Target="../media/image3.jpg"/><Relationship Id="rId21" Type="http://schemas.openxmlformats.org/officeDocument/2006/relationships/image" Target="../media/image12.w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wmf"/><Relationship Id="rId25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24" Type="http://schemas.openxmlformats.org/officeDocument/2006/relationships/image" Target="../media/image15.png"/><Relationship Id="rId5" Type="http://schemas.openxmlformats.org/officeDocument/2006/relationships/image" Target="../media/image4.wmf"/><Relationship Id="rId15" Type="http://schemas.openxmlformats.org/officeDocument/2006/relationships/image" Target="../media/image9.wmf"/><Relationship Id="rId23" Type="http://schemas.openxmlformats.org/officeDocument/2006/relationships/image" Target="../media/image14.png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11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emf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2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.jp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38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image" Target="../media/image3.jpg"/><Relationship Id="rId7" Type="http://schemas.openxmlformats.org/officeDocument/2006/relationships/oleObject" Target="../embeddings/oleObject17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11" Type="http://schemas.openxmlformats.org/officeDocument/2006/relationships/image" Target="../media/image43.png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42.wmf"/><Relationship Id="rId4" Type="http://schemas.openxmlformats.org/officeDocument/2006/relationships/image" Target="../media/image39.png"/><Relationship Id="rId9" Type="http://schemas.openxmlformats.org/officeDocument/2006/relationships/oleObject" Target="../embeddings/oleObject1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image" Target="../media/image3.jpg"/><Relationship Id="rId7" Type="http://schemas.openxmlformats.org/officeDocument/2006/relationships/image" Target="../media/image45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44.e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4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A6DC74D-FE00-4E25-80F4-89F361EE68CC}"/>
              </a:ext>
            </a:extLst>
          </p:cNvPr>
          <p:cNvSpPr/>
          <p:nvPr/>
        </p:nvSpPr>
        <p:spPr>
          <a:xfrm>
            <a:off x="0" y="1528873"/>
            <a:ext cx="12192000" cy="2111229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51" name="Rectangle 3"/>
          <p:cNvSpPr/>
          <p:nvPr/>
        </p:nvSpPr>
        <p:spPr>
          <a:xfrm>
            <a:off x="1292146" y="2179184"/>
            <a:ext cx="9607708" cy="810607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 anchor="ctr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5000"/>
              </a:lnSpc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机电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241-242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班习题讲解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272123" y="5949280"/>
            <a:ext cx="3672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C22C74AB-1123-4D15-AC88-A770B75A9CAA}" type="datetime2">
              <a:rPr lang="zh-CN" altLang="en-US" sz="2800" b="1" smtClean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2026年6月24日</a:t>
            </a:fld>
            <a:endParaRPr lang="zh-CN" altLang="en-US" sz="2800" b="1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灯片编号占位符 2">
            <a:extLst>
              <a:ext uri="{FF2B5EF4-FFF2-40B4-BE49-F238E27FC236}">
                <a16:creationId xmlns:a16="http://schemas.microsoft.com/office/drawing/2014/main" id="{6BB23DBB-5BEB-D372-3CBE-CCD0FD1A13D7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1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0F2E3AC-97F0-9D7D-2BC3-A20F3109722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35" b="28211"/>
          <a:stretch/>
        </p:blipFill>
        <p:spPr>
          <a:xfrm>
            <a:off x="47328" y="23193"/>
            <a:ext cx="2983776" cy="914369"/>
          </a:xfrm>
          <a:prstGeom prst="rect">
            <a:avLst/>
          </a:prstGeom>
        </p:spPr>
      </p:pic>
      <p:pic>
        <p:nvPicPr>
          <p:cNvPr id="4" name="Picture 11" descr="QQ截图20150416105117">
            <a:extLst>
              <a:ext uri="{FF2B5EF4-FFF2-40B4-BE49-F238E27FC236}">
                <a16:creationId xmlns:a16="http://schemas.microsoft.com/office/drawing/2014/main" id="{782FA5EA-CCF9-85B8-F23D-E8117A4B4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6740" y="81580"/>
            <a:ext cx="2457932" cy="700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BA1B-B699-1324-6685-39EF7327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9AD74295-433D-4704-73EF-A3C91F2B6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P46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2-12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EAEBC5-8E17-93F3-C84C-22C4322A78D4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DBD04354-1935-2945-60CD-65ACF9725577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2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00E4A404-353A-3A9A-11CF-56F05488B5C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2F9D8279-DA60-F978-124A-8D61EEE81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12E1EE26-BA3A-B5B1-42D8-FC93239B8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5571B020-916A-BF38-4483-B1899B4B8A9C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3C516E48-5187-F608-CF10-861D33ED3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BAFCB8F7-1BE6-0372-F36A-3DD12105DB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74C826E-79EF-1AD3-2A61-F861AF821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684C15E9-4BD1-F969-761E-6E9DD736C94A}"/>
              </a:ext>
            </a:extLst>
          </p:cNvPr>
          <p:cNvGrpSpPr/>
          <p:nvPr/>
        </p:nvGrpSpPr>
        <p:grpSpPr>
          <a:xfrm>
            <a:off x="321611" y="914612"/>
            <a:ext cx="3937256" cy="1656234"/>
            <a:chOff x="2158744" y="3350741"/>
            <a:chExt cx="3937256" cy="1656234"/>
          </a:xfrm>
        </p:grpSpPr>
        <p:sp>
          <p:nvSpPr>
            <p:cNvPr id="203" name="Text Box 135">
              <a:extLst>
                <a:ext uri="{FF2B5EF4-FFF2-40B4-BE49-F238E27FC236}">
                  <a16:creationId xmlns:a16="http://schemas.microsoft.com/office/drawing/2014/main" id="{B28E8A43-27C7-6D6E-9EF3-94F83383A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358" y="3801358"/>
              <a:ext cx="147637" cy="2301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36000" rIns="36000" bIns="360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aphicFrame>
          <p:nvGraphicFramePr>
            <p:cNvPr id="204" name="对象 203">
              <a:extLst>
                <a:ext uri="{FF2B5EF4-FFF2-40B4-BE49-F238E27FC236}">
                  <a16:creationId xmlns:a16="http://schemas.microsoft.com/office/drawing/2014/main" id="{42D4F843-20BA-DF1A-6E89-B3C0580B40C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6808383"/>
                </p:ext>
              </p:extLst>
            </p:nvPr>
          </p:nvGraphicFramePr>
          <p:xfrm>
            <a:off x="2158744" y="3725468"/>
            <a:ext cx="415925" cy="250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9040" imgH="253800" progId="Equation.DSMT4">
                    <p:embed/>
                  </p:oleObj>
                </mc:Choice>
                <mc:Fallback>
                  <p:oleObj name="Equation" r:id="rId4" imgW="419040" imgH="253800" progId="Equation.DSMT4">
                    <p:embed/>
                    <p:pic>
                      <p:nvPicPr>
                        <p:cNvPr id="204" name="对象 203">
                          <a:extLst>
                            <a:ext uri="{FF2B5EF4-FFF2-40B4-BE49-F238E27FC236}">
                              <a16:creationId xmlns:a16="http://schemas.microsoft.com/office/drawing/2014/main" id="{42D4F843-20BA-DF1A-6E89-B3C0580B40C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8744" y="3725468"/>
                          <a:ext cx="415925" cy="2508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" name="文本框 68">
              <a:extLst>
                <a:ext uri="{FF2B5EF4-FFF2-40B4-BE49-F238E27FC236}">
                  <a16:creationId xmlns:a16="http://schemas.microsoft.com/office/drawing/2014/main" id="{0FC1763A-B0CE-AF26-F144-AB3A9C7E6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0864" y="3906749"/>
              <a:ext cx="481901" cy="30475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36000" tIns="36000" rIns="36000" bIns="36000" anchor="t" anchorCtr="0" upright="1">
              <a:noAutofit/>
            </a:bodyPr>
            <a:lstStyle/>
            <a:p>
              <a:pPr algn="ctr"/>
              <a:r>
                <a:rPr lang="en-US" sz="14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-</a:t>
              </a:r>
              <a:endParaRPr lang="zh-CN" sz="1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06" name="组合 205">
              <a:extLst>
                <a:ext uri="{FF2B5EF4-FFF2-40B4-BE49-F238E27FC236}">
                  <a16:creationId xmlns:a16="http://schemas.microsoft.com/office/drawing/2014/main" id="{4DD94BA8-7D66-220C-5352-B1B85AA007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4052" y="3836683"/>
              <a:ext cx="179681" cy="179681"/>
              <a:chOff x="2841" y="3533"/>
              <a:chExt cx="283" cy="283"/>
            </a:xfrm>
          </p:grpSpPr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806989EB-55C7-B48B-18A5-A53DD0EBF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41" y="3533"/>
                <a:ext cx="283" cy="283"/>
              </a:xfrm>
              <a:prstGeom prst="ellipse">
                <a:avLst/>
              </a:prstGeom>
              <a:solidFill>
                <a:srgbClr val="FFFFFF"/>
              </a:solidFill>
              <a:ln w="9525" cmpd="sng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228" name="直线 73">
                <a:extLst>
                  <a:ext uri="{FF2B5EF4-FFF2-40B4-BE49-F238E27FC236}">
                    <a16:creationId xmlns:a16="http://schemas.microsoft.com/office/drawing/2014/main" id="{A2E9F93B-0ED9-AB1D-C3E3-2BBDB942E4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884" y="3582"/>
                <a:ext cx="184" cy="18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9" name="直线 74">
                <a:extLst>
                  <a:ext uri="{FF2B5EF4-FFF2-40B4-BE49-F238E27FC236}">
                    <a16:creationId xmlns:a16="http://schemas.microsoft.com/office/drawing/2014/main" id="{CBE9889A-5EA4-7CA8-8A05-2D95E860EE9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V="1">
                <a:off x="2891" y="3587"/>
                <a:ext cx="184" cy="18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07" name="文本框 75">
              <a:extLst>
                <a:ext uri="{FF2B5EF4-FFF2-40B4-BE49-F238E27FC236}">
                  <a16:creationId xmlns:a16="http://schemas.microsoft.com/office/drawing/2014/main" id="{93BA019E-58A0-1A2D-F795-C7EBF47E77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5405" y="3767245"/>
              <a:ext cx="630488" cy="297140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endParaRPr lang="zh-CN" sz="1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08" name="直线 84">
              <a:extLst>
                <a:ext uri="{FF2B5EF4-FFF2-40B4-BE49-F238E27FC236}">
                  <a16:creationId xmlns:a16="http://schemas.microsoft.com/office/drawing/2014/main" id="{B494FB99-F78D-777A-860D-C874258ABADE}"/>
                </a:ext>
              </a:extLst>
            </p:cNvPr>
            <p:cNvCxnSpPr>
              <a:cxnSpLocks noChangeShapeType="1"/>
              <a:stCxn id="207" idx="3"/>
            </p:cNvCxnSpPr>
            <p:nvPr/>
          </p:nvCxnSpPr>
          <p:spPr bwMode="auto">
            <a:xfrm>
              <a:off x="4085893" y="3915815"/>
              <a:ext cx="434242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9" name="直线 87">
              <a:extLst>
                <a:ext uri="{FF2B5EF4-FFF2-40B4-BE49-F238E27FC236}">
                  <a16:creationId xmlns:a16="http://schemas.microsoft.com/office/drawing/2014/main" id="{644E005F-7FBD-23FC-B66C-DFE1F7C01B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599113" y="3906749"/>
              <a:ext cx="0" cy="946489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0" name="直线 89">
              <a:extLst>
                <a:ext uri="{FF2B5EF4-FFF2-40B4-BE49-F238E27FC236}">
                  <a16:creationId xmlns:a16="http://schemas.microsoft.com/office/drawing/2014/main" id="{7CE50E28-7616-BBE5-4B87-336DC89895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094226" y="4019443"/>
              <a:ext cx="0" cy="837453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1" name="直线 90">
              <a:extLst>
                <a:ext uri="{FF2B5EF4-FFF2-40B4-BE49-F238E27FC236}">
                  <a16:creationId xmlns:a16="http://schemas.microsoft.com/office/drawing/2014/main" id="{F3B14946-A261-176C-2BA3-B9ED177C7C97}"/>
                </a:ext>
              </a:extLst>
            </p:cNvPr>
            <p:cNvCxnSpPr>
              <a:cxnSpLocks noChangeShapeType="1"/>
              <a:stCxn id="216" idx="1"/>
            </p:cNvCxnSpPr>
            <p:nvPr/>
          </p:nvCxnSpPr>
          <p:spPr bwMode="auto">
            <a:xfrm flipH="1">
              <a:off x="3096638" y="4853238"/>
              <a:ext cx="1014846" cy="1881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" name="直线 91">
              <a:extLst>
                <a:ext uri="{FF2B5EF4-FFF2-40B4-BE49-F238E27FC236}">
                  <a16:creationId xmlns:a16="http://schemas.microsoft.com/office/drawing/2014/main" id="{5CAE8389-6711-E0C8-F7FC-7A89EBD6A08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83436" y="3916971"/>
              <a:ext cx="269839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3" name="直线 92">
              <a:extLst>
                <a:ext uri="{FF2B5EF4-FFF2-40B4-BE49-F238E27FC236}">
                  <a16:creationId xmlns:a16="http://schemas.microsoft.com/office/drawing/2014/main" id="{CFBAAD96-DD8C-B0B2-EB41-F421137C34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52700" y="3916971"/>
              <a:ext cx="457139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" name="直线 86">
              <a:extLst>
                <a:ext uri="{FF2B5EF4-FFF2-40B4-BE49-F238E27FC236}">
                  <a16:creationId xmlns:a16="http://schemas.microsoft.com/office/drawing/2014/main" id="{7A73E6A5-AF89-F6D9-FA9A-7D54134EA1DF}"/>
                </a:ext>
              </a:extLst>
            </p:cNvPr>
            <p:cNvCxnSpPr>
              <a:cxnSpLocks noChangeShapeType="1"/>
              <a:stCxn id="221" idx="3"/>
            </p:cNvCxnSpPr>
            <p:nvPr/>
          </p:nvCxnSpPr>
          <p:spPr bwMode="auto">
            <a:xfrm>
              <a:off x="5159931" y="3915815"/>
              <a:ext cx="936069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" name="直线 88">
              <a:extLst>
                <a:ext uri="{FF2B5EF4-FFF2-40B4-BE49-F238E27FC236}">
                  <a16:creationId xmlns:a16="http://schemas.microsoft.com/office/drawing/2014/main" id="{DF97E4A8-665B-1954-406B-469B9CE4C21F}"/>
                </a:ext>
              </a:extLst>
            </p:cNvPr>
            <p:cNvCxnSpPr>
              <a:cxnSpLocks noChangeShapeType="1"/>
              <a:endCxn id="216" idx="3"/>
            </p:cNvCxnSpPr>
            <p:nvPr/>
          </p:nvCxnSpPr>
          <p:spPr bwMode="auto">
            <a:xfrm flipH="1">
              <a:off x="4664600" y="4853238"/>
              <a:ext cx="934513" cy="0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6" name="文本框 70">
              <a:extLst>
                <a:ext uri="{FF2B5EF4-FFF2-40B4-BE49-F238E27FC236}">
                  <a16:creationId xmlns:a16="http://schemas.microsoft.com/office/drawing/2014/main" id="{81BCC9B0-530F-B493-62B4-7ABBABE11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1484" y="4704668"/>
              <a:ext cx="553116" cy="297140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endParaRPr lang="zh-CN" sz="1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17" name="直线 96">
              <a:extLst>
                <a:ext uri="{FF2B5EF4-FFF2-40B4-BE49-F238E27FC236}">
                  <a16:creationId xmlns:a16="http://schemas.microsoft.com/office/drawing/2014/main" id="{EEFA1031-067F-7E4F-1A97-59470BA6338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62513" y="3350741"/>
              <a:ext cx="0" cy="41650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218" name="对象 217">
              <a:extLst>
                <a:ext uri="{FF2B5EF4-FFF2-40B4-BE49-F238E27FC236}">
                  <a16:creationId xmlns:a16="http://schemas.microsoft.com/office/drawing/2014/main" id="{185A56EC-BE9C-01A1-631E-2717F0A1D4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3558483"/>
                </p:ext>
              </p:extLst>
            </p:nvPr>
          </p:nvGraphicFramePr>
          <p:xfrm>
            <a:off x="3570288" y="3797300"/>
            <a:ext cx="3937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93480" imgH="253800" progId="Equation.DSMT4">
                    <p:embed/>
                  </p:oleObj>
                </mc:Choice>
                <mc:Fallback>
                  <p:oleObj name="Equation" r:id="rId6" imgW="393480" imgH="253800" progId="Equation.DSMT4">
                    <p:embed/>
                    <p:pic>
                      <p:nvPicPr>
                        <p:cNvPr id="218" name="对象 217">
                          <a:extLst>
                            <a:ext uri="{FF2B5EF4-FFF2-40B4-BE49-F238E27FC236}">
                              <a16:creationId xmlns:a16="http://schemas.microsoft.com/office/drawing/2014/main" id="{185A56EC-BE9C-01A1-631E-2717F0A1D4E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570288" y="3797300"/>
                          <a:ext cx="3937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9" name="对象 218">
              <a:extLst>
                <a:ext uri="{FF2B5EF4-FFF2-40B4-BE49-F238E27FC236}">
                  <a16:creationId xmlns:a16="http://schemas.microsoft.com/office/drawing/2014/main" id="{1FEE6780-23AA-9D81-C75F-C17140391B8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6701975"/>
                </p:ext>
              </p:extLst>
            </p:nvPr>
          </p:nvGraphicFramePr>
          <p:xfrm>
            <a:off x="3112431" y="3670505"/>
            <a:ext cx="3556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55320" imgH="253800" progId="Equation.DSMT4">
                    <p:embed/>
                  </p:oleObj>
                </mc:Choice>
                <mc:Fallback>
                  <p:oleObj name="Equation" r:id="rId8" imgW="355320" imgH="253800" progId="Equation.DSMT4">
                    <p:embed/>
                    <p:pic>
                      <p:nvPicPr>
                        <p:cNvPr id="219" name="对象 218">
                          <a:extLst>
                            <a:ext uri="{FF2B5EF4-FFF2-40B4-BE49-F238E27FC236}">
                              <a16:creationId xmlns:a16="http://schemas.microsoft.com/office/drawing/2014/main" id="{1FEE6780-23AA-9D81-C75F-C17140391B8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3112431" y="3670505"/>
                          <a:ext cx="3556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0" name="对象 219">
              <a:extLst>
                <a:ext uri="{FF2B5EF4-FFF2-40B4-BE49-F238E27FC236}">
                  <a16:creationId xmlns:a16="http://schemas.microsoft.com/office/drawing/2014/main" id="{5F995B39-8589-6F5F-E916-C5642D5B3CE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1228304"/>
                </p:ext>
              </p:extLst>
            </p:nvPr>
          </p:nvGraphicFramePr>
          <p:xfrm>
            <a:off x="4144963" y="3671888"/>
            <a:ext cx="3429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42720" imgH="253800" progId="Equation.DSMT4">
                    <p:embed/>
                  </p:oleObj>
                </mc:Choice>
                <mc:Fallback>
                  <p:oleObj name="Equation" r:id="rId10" imgW="342720" imgH="253800" progId="Equation.DSMT4">
                    <p:embed/>
                    <p:pic>
                      <p:nvPicPr>
                        <p:cNvPr id="220" name="对象 219">
                          <a:extLst>
                            <a:ext uri="{FF2B5EF4-FFF2-40B4-BE49-F238E27FC236}">
                              <a16:creationId xmlns:a16="http://schemas.microsoft.com/office/drawing/2014/main" id="{5F995B39-8589-6F5F-E916-C5642D5B3CEB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144963" y="3671888"/>
                          <a:ext cx="3429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1" name="文本框 75">
              <a:extLst>
                <a:ext uri="{FF2B5EF4-FFF2-40B4-BE49-F238E27FC236}">
                  <a16:creationId xmlns:a16="http://schemas.microsoft.com/office/drawing/2014/main" id="{AF910E26-6084-13A8-ED7F-73C235CD0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443" y="3767245"/>
              <a:ext cx="630488" cy="297140"/>
            </a:xfrm>
            <a:prstGeom prst="rect">
              <a:avLst/>
            </a:prstGeom>
            <a:solidFill>
              <a:srgbClr val="FFFFFF"/>
            </a:solidFill>
            <a:ln w="9525" cmpd="sng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algn="just"/>
              <a:endParaRPr lang="zh-CN" sz="10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22" name="对象 221">
              <a:extLst>
                <a:ext uri="{FF2B5EF4-FFF2-40B4-BE49-F238E27FC236}">
                  <a16:creationId xmlns:a16="http://schemas.microsoft.com/office/drawing/2014/main" id="{500C898C-7233-2E2E-804E-EEB7965B08E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8925295"/>
                </p:ext>
              </p:extLst>
            </p:nvPr>
          </p:nvGraphicFramePr>
          <p:xfrm>
            <a:off x="4652963" y="3797300"/>
            <a:ext cx="4191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19040" imgH="253800" progId="Equation.DSMT4">
                    <p:embed/>
                  </p:oleObj>
                </mc:Choice>
                <mc:Fallback>
                  <p:oleObj name="Equation" r:id="rId12" imgW="419040" imgH="253800" progId="Equation.DSMT4">
                    <p:embed/>
                    <p:pic>
                      <p:nvPicPr>
                        <p:cNvPr id="222" name="对象 221">
                          <a:extLst>
                            <a:ext uri="{FF2B5EF4-FFF2-40B4-BE49-F238E27FC236}">
                              <a16:creationId xmlns:a16="http://schemas.microsoft.com/office/drawing/2014/main" id="{500C898C-7233-2E2E-804E-EEB7965B08E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4652963" y="3797300"/>
                          <a:ext cx="4191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3" name="对象 222">
              <a:extLst>
                <a:ext uri="{FF2B5EF4-FFF2-40B4-BE49-F238E27FC236}">
                  <a16:creationId xmlns:a16="http://schemas.microsoft.com/office/drawing/2014/main" id="{6D7A2EC7-92B0-3DD6-3D68-9F84E8BF9B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9308908"/>
                </p:ext>
              </p:extLst>
            </p:nvPr>
          </p:nvGraphicFramePr>
          <p:xfrm>
            <a:off x="4921198" y="3378338"/>
            <a:ext cx="3810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80880" imgH="253800" progId="Equation.DSMT4">
                    <p:embed/>
                  </p:oleObj>
                </mc:Choice>
                <mc:Fallback>
                  <p:oleObj name="Equation" r:id="rId14" imgW="380880" imgH="253800" progId="Equation.DSMT4">
                    <p:embed/>
                    <p:pic>
                      <p:nvPicPr>
                        <p:cNvPr id="223" name="对象 222">
                          <a:extLst>
                            <a:ext uri="{FF2B5EF4-FFF2-40B4-BE49-F238E27FC236}">
                              <a16:creationId xmlns:a16="http://schemas.microsoft.com/office/drawing/2014/main" id="{6D7A2EC7-92B0-3DD6-3D68-9F84E8BF9B3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921198" y="3378338"/>
                          <a:ext cx="3810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4" name="对象 223">
              <a:extLst>
                <a:ext uri="{FF2B5EF4-FFF2-40B4-BE49-F238E27FC236}">
                  <a16:creationId xmlns:a16="http://schemas.microsoft.com/office/drawing/2014/main" id="{4DD212E1-0496-9585-72FD-F680CC4D513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553191"/>
                </p:ext>
              </p:extLst>
            </p:nvPr>
          </p:nvGraphicFramePr>
          <p:xfrm>
            <a:off x="5599113" y="3670300"/>
            <a:ext cx="4572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457200" imgH="253800" progId="Equation.DSMT4">
                    <p:embed/>
                  </p:oleObj>
                </mc:Choice>
                <mc:Fallback>
                  <p:oleObj name="Equation" r:id="rId16" imgW="457200" imgH="253800" progId="Equation.DSMT4">
                    <p:embed/>
                    <p:pic>
                      <p:nvPicPr>
                        <p:cNvPr id="224" name="对象 223">
                          <a:extLst>
                            <a:ext uri="{FF2B5EF4-FFF2-40B4-BE49-F238E27FC236}">
                              <a16:creationId xmlns:a16="http://schemas.microsoft.com/office/drawing/2014/main" id="{4DD212E1-0496-9585-72FD-F680CC4D513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5599113" y="3670300"/>
                          <a:ext cx="4572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" name="对象 224">
              <a:extLst>
                <a:ext uri="{FF2B5EF4-FFF2-40B4-BE49-F238E27FC236}">
                  <a16:creationId xmlns:a16="http://schemas.microsoft.com/office/drawing/2014/main" id="{79C07ACE-C55D-A4CA-5286-BB1AC0F7C63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6057358"/>
                </p:ext>
              </p:extLst>
            </p:nvPr>
          </p:nvGraphicFramePr>
          <p:xfrm>
            <a:off x="4191000" y="4752975"/>
            <a:ext cx="3810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80880" imgH="253800" progId="Equation.DSMT4">
                    <p:embed/>
                  </p:oleObj>
                </mc:Choice>
                <mc:Fallback>
                  <p:oleObj name="Equation" r:id="rId18" imgW="380880" imgH="253800" progId="Equation.DSMT4">
                    <p:embed/>
                    <p:pic>
                      <p:nvPicPr>
                        <p:cNvPr id="225" name="对象 224">
                          <a:extLst>
                            <a:ext uri="{FF2B5EF4-FFF2-40B4-BE49-F238E27FC236}">
                              <a16:creationId xmlns:a16="http://schemas.microsoft.com/office/drawing/2014/main" id="{79C07ACE-C55D-A4CA-5286-BB1AC0F7C6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4191000" y="4752975"/>
                          <a:ext cx="3810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6" name="对象 225">
              <a:extLst>
                <a:ext uri="{FF2B5EF4-FFF2-40B4-BE49-F238E27FC236}">
                  <a16:creationId xmlns:a16="http://schemas.microsoft.com/office/drawing/2014/main" id="{AB01A3D2-6859-1948-0B60-6E7CBBA61B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2559952"/>
                </p:ext>
              </p:extLst>
            </p:nvPr>
          </p:nvGraphicFramePr>
          <p:xfrm>
            <a:off x="2673350" y="4687888"/>
            <a:ext cx="4318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31640" imgH="253800" progId="Equation.DSMT4">
                    <p:embed/>
                  </p:oleObj>
                </mc:Choice>
                <mc:Fallback>
                  <p:oleObj name="Equation" r:id="rId20" imgW="431640" imgH="253800" progId="Equation.DSMT4">
                    <p:embed/>
                    <p:pic>
                      <p:nvPicPr>
                        <p:cNvPr id="226" name="对象 225">
                          <a:extLst>
                            <a:ext uri="{FF2B5EF4-FFF2-40B4-BE49-F238E27FC236}">
                              <a16:creationId xmlns:a16="http://schemas.microsoft.com/office/drawing/2014/main" id="{AB01A3D2-6859-1948-0B60-6E7CBBA61B3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2673350" y="4687888"/>
                          <a:ext cx="4318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AAC94C57-F817-99F7-5C64-672D990306D4}"/>
              </a:ext>
            </a:extLst>
          </p:cNvPr>
          <p:cNvPicPr>
            <a:picLocks/>
          </p:cNvPicPr>
          <p:nvPr/>
        </p:nvPicPr>
        <p:blipFill>
          <a:blip r:embed="rId22"/>
          <a:srcRect t="28050"/>
          <a:stretch/>
        </p:blipFill>
        <p:spPr>
          <a:xfrm>
            <a:off x="321611" y="2700919"/>
            <a:ext cx="4876270" cy="178538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60FDD4E-1D79-D96B-6F2E-D822F40A8F7C}"/>
              </a:ext>
            </a:extLst>
          </p:cNvPr>
          <p:cNvPicPr>
            <a:picLocks/>
          </p:cNvPicPr>
          <p:nvPr/>
        </p:nvPicPr>
        <p:blipFill>
          <a:blip r:embed="rId23"/>
          <a:stretch>
            <a:fillRect/>
          </a:stretch>
        </p:blipFill>
        <p:spPr>
          <a:xfrm>
            <a:off x="321611" y="4582962"/>
            <a:ext cx="4876270" cy="178538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0DA97BC-AA9F-DF6B-D283-2EDD2326E5F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96386" y="2700919"/>
            <a:ext cx="5359832" cy="37640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9EE336-BF8E-26B7-2B20-CE9B0732E181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62832" y="1074371"/>
            <a:ext cx="7177784" cy="116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19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60A02B8B-8093-43AD-A081-D172BE35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P46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2-13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576863-F8A1-286B-A238-AC2F6CDA5032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65714F5E-09B8-1A78-A752-8FCC74055E0A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3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85F475D-30B2-CAD8-CF05-CF9881DB49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CEA73B17-2F7E-F9E9-77EC-C81BC55C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B87290BB-338E-07F4-7A60-9ACB9631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39BA919-BEF4-AD6A-5B6D-884F287FBEA2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2293F0A8-29A4-72D6-DACB-8CF5B4A87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F8FE3A37-BA5B-4A3D-7B57-41803A6A5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6A55B0F-EAE8-DBFB-C60C-77FA9580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012C7F-E65C-8936-9F24-64B240F84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741" y="1176620"/>
            <a:ext cx="11018036" cy="564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19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60A02B8B-8093-43AD-A081-D172BE35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P46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2-13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576863-F8A1-286B-A238-AC2F6CDA5032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65714F5E-09B8-1A78-A752-8FCC74055E0A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4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85F475D-30B2-CAD8-CF05-CF9881DB49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CEA73B17-2F7E-F9E9-77EC-C81BC55C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B87290BB-338E-07F4-7A60-9ACB9631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39BA919-BEF4-AD6A-5B6D-884F287FBEA2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2293F0A8-29A4-72D6-DACB-8CF5B4A87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F8FE3A37-BA5B-4A3D-7B57-41803A6A5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6A55B0F-EAE8-DBFB-C60C-77FA9580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D7932C4-3754-9D5F-F5C6-DBA4C931C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3" y="1024529"/>
            <a:ext cx="12192000" cy="27680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3C06DDB-06C6-4B89-2851-4E26BEF52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617" y="4486118"/>
            <a:ext cx="9354823" cy="1480849"/>
          </a:xfrm>
          <a:prstGeom prst="rect">
            <a:avLst/>
          </a:prstGeom>
        </p:spPr>
      </p:pic>
      <p:sp>
        <p:nvSpPr>
          <p:cNvPr id="6" name="Rectangle 25">
            <a:extLst>
              <a:ext uri="{FF2B5EF4-FFF2-40B4-BE49-F238E27FC236}">
                <a16:creationId xmlns:a16="http://schemas.microsoft.com/office/drawing/2014/main" id="{84636442-8060-8E7E-352B-0DABD0080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7617" y="4484204"/>
            <a:ext cx="9354822" cy="1589338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FF0000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31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D237E-8F09-243F-7C04-D42F593C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F13D9AF5-C62D-F862-0659-3B0C6F4F1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P74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3-3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BC5117-CB5D-F45C-9BD2-0A83E2C46546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E23C58DF-6A84-F23D-E0D0-AD7C07A3DD38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5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6B53EB02-7C92-B16C-4A27-759D94BECD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F8FB8E57-A2AE-B79C-A1CC-D18E7FE14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A9EF589D-FAEF-355D-5F4B-B31BECA93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90DD994-9659-A25D-0B4F-985740759CC0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A3854490-9327-953B-331D-E155253B0D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CD97798C-3C0F-25F1-A946-EA27DC9128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0FE4E5E-BCB2-CD25-3FCC-E7CF6B697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E1CD18-9F55-2923-F3B1-BB4FCE61B5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171" y="904810"/>
            <a:ext cx="6713829" cy="595703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8631593-D758-E6C6-6F9F-4C455F3FA29F}"/>
              </a:ext>
            </a:extLst>
          </p:cNvPr>
          <p:cNvSpPr txBox="1"/>
          <p:nvPr/>
        </p:nvSpPr>
        <p:spPr>
          <a:xfrm>
            <a:off x="171745" y="93756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绘制系统的奈奎斯特图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2A7677E-9498-47CB-B7C5-49C29402F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660883"/>
              </p:ext>
            </p:extLst>
          </p:nvPr>
        </p:nvGraphicFramePr>
        <p:xfrm>
          <a:off x="793750" y="1583311"/>
          <a:ext cx="2724150" cy="761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98320" imgH="419040" progId="Equation.DSMT4">
                  <p:embed/>
                </p:oleObj>
              </mc:Choice>
              <mc:Fallback>
                <p:oleObj name="Equation" r:id="rId5" imgW="149832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3750" y="1583311"/>
                        <a:ext cx="2724150" cy="7618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787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60A02B8B-8093-43AD-A081-D172BE35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P74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3-3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576863-F8A1-286B-A238-AC2F6CDA5032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65714F5E-09B8-1A78-A752-8FCC74055E0A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6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85F475D-30B2-CAD8-CF05-CF9881DB49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CEA73B17-2F7E-F9E9-77EC-C81BC55C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B87290BB-338E-07F4-7A60-9ACB9631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39BA919-BEF4-AD6A-5B6D-884F287FBEA2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2293F0A8-29A4-72D6-DACB-8CF5B4A87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F8FE3A37-BA5B-4A3D-7B57-41803A6A5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6A55B0F-EAE8-DBFB-C60C-77FA9580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47DFA79-29AD-DA18-1413-D7CA60C35F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5468575"/>
              </p:ext>
            </p:extLst>
          </p:nvPr>
        </p:nvGraphicFramePr>
        <p:xfrm>
          <a:off x="494983" y="1544906"/>
          <a:ext cx="27463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6285" imgH="760707" progId="Equation.DSMT4">
                  <p:embed/>
                </p:oleObj>
              </mc:Choice>
              <mc:Fallback>
                <p:oleObj name="Equation" r:id="rId4" imgW="2746285" imgH="76070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4983" y="1544906"/>
                        <a:ext cx="2746375" cy="760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13989F7-1289-D6C8-0465-4CBFF4AF1C1F}"/>
              </a:ext>
            </a:extLst>
          </p:cNvPr>
          <p:cNvSpPr txBox="1"/>
          <p:nvPr/>
        </p:nvSpPr>
        <p:spPr>
          <a:xfrm>
            <a:off x="171745" y="93756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绘制系统的奈奎斯特图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E43E69-BC30-BE7B-2E00-BCF216E78BD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397"/>
          <a:stretch/>
        </p:blipFill>
        <p:spPr>
          <a:xfrm>
            <a:off x="3816880" y="1120453"/>
            <a:ext cx="8271009" cy="577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28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19DE5-9F72-3791-DE2E-81D415846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7C574FA7-4D5A-36BD-6FBE-FF59B9DCF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P75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3-5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E020FB-846D-D7BF-D2C4-1FBB1ADF61E9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2425306F-5AEF-E732-3A8B-D267B78B117F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7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C7CBCBFB-9085-1CF8-8626-5D9AB2FA28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0082FA22-1EF3-8DBD-3506-792D590AB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C82E91E7-77CA-EA5C-6AAB-50DADC090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64373CE7-4D16-12D7-3AC2-08B7034ACA65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FEDCCC3D-9F19-C4B7-5976-2B1B31713A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C0A32F94-4D9C-E7BF-3067-488A18325D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C4E9D68-0B42-201B-FD8C-FB633EF07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088424-B013-1D10-7727-52E9E9032450}"/>
              </a:ext>
            </a:extLst>
          </p:cNvPr>
          <p:cNvSpPr txBox="1"/>
          <p:nvPr/>
        </p:nvSpPr>
        <p:spPr>
          <a:xfrm>
            <a:off x="171745" y="937562"/>
            <a:ext cx="52116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绘制系统的开环对数频率特性图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932C14C-DED7-53FB-76D4-9C6AC0A9FF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0578667"/>
              </p:ext>
            </p:extLst>
          </p:nvPr>
        </p:nvGraphicFramePr>
        <p:xfrm>
          <a:off x="692150" y="1619110"/>
          <a:ext cx="2675946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419040" progId="Equation.DSMT4">
                  <p:embed/>
                </p:oleObj>
              </mc:Choice>
              <mc:Fallback>
                <p:oleObj name="Equation" r:id="rId4" imgW="18540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2150" y="1619110"/>
                        <a:ext cx="2675946" cy="60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图片 16">
            <a:extLst>
              <a:ext uri="{FF2B5EF4-FFF2-40B4-BE49-F238E27FC236}">
                <a16:creationId xmlns:a16="http://schemas.microsoft.com/office/drawing/2014/main" id="{4BBBE7C0-39E7-CB77-0D55-BDFDEF494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750" y="1590772"/>
            <a:ext cx="8724845" cy="489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4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60A02B8B-8093-43AD-A081-D172BE35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P75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3-6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576863-F8A1-286B-A238-AC2F6CDA5032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65714F5E-09B8-1A78-A752-8FCC74055E0A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8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85F475D-30B2-CAD8-CF05-CF9881DB49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CEA73B17-2F7E-F9E9-77EC-C81BC55C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B87290BB-338E-07F4-7A60-9ACB9631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39BA919-BEF4-AD6A-5B6D-884F287FBEA2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2293F0A8-29A4-72D6-DACB-8CF5B4A87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F8FE3A37-BA5B-4A3D-7B57-41803A6A5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6A55B0F-EAE8-DBFB-C60C-77FA9580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81CD2D0-9B1B-F16D-5A93-662AAAE64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47" y="2887966"/>
            <a:ext cx="3988005" cy="154948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1C6E9D-B0C0-D38B-E26B-710CB0E149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437446"/>
            <a:ext cx="5481602" cy="23724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18ED34B-17FD-8303-23F3-99EE6B970E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3345" y="3363106"/>
            <a:ext cx="5720374" cy="151899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EA014AF-D648-BFF0-0052-7BF6A0F71E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0140" y="4987514"/>
            <a:ext cx="7366378" cy="1757770"/>
          </a:xfrm>
          <a:prstGeom prst="rect">
            <a:avLst/>
          </a:prstGeom>
        </p:spPr>
      </p:pic>
      <p:sp>
        <p:nvSpPr>
          <p:cNvPr id="10" name="Rectangle 25">
            <a:extLst>
              <a:ext uri="{FF2B5EF4-FFF2-40B4-BE49-F238E27FC236}">
                <a16:creationId xmlns:a16="http://schemas.microsoft.com/office/drawing/2014/main" id="{08A8C645-510B-121A-1A55-E21263417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00" y="3988080"/>
            <a:ext cx="2172274" cy="4005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A1C4F597-1A7F-83E1-B7A2-40FFA9D35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4807" y="4447257"/>
            <a:ext cx="2091864" cy="434847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4" name="Rectangle 25">
            <a:extLst>
              <a:ext uri="{FF2B5EF4-FFF2-40B4-BE49-F238E27FC236}">
                <a16:creationId xmlns:a16="http://schemas.microsoft.com/office/drawing/2014/main" id="{1E783F14-92A7-BACC-1B2C-AFF6E9C9C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600" y="6311279"/>
            <a:ext cx="2584104" cy="49864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330AB88B-326D-2E14-ED01-1BFC79D20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9246" y="6123161"/>
            <a:ext cx="2564473" cy="584026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A1F979F-6333-565D-A80C-6794BF91C1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40641"/>
          <a:stretch/>
        </p:blipFill>
        <p:spPr>
          <a:xfrm>
            <a:off x="6347524" y="1322646"/>
            <a:ext cx="5091609" cy="168976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E2C3612-712F-7960-6095-2C730683892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43" y="1366809"/>
            <a:ext cx="5989761" cy="156415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521FBBB-BC05-88CE-F720-B2E096773C82}"/>
              </a:ext>
            </a:extLst>
          </p:cNvPr>
          <p:cNvSpPr txBox="1"/>
          <p:nvPr/>
        </p:nvSpPr>
        <p:spPr>
          <a:xfrm>
            <a:off x="59305" y="886760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求对数幅频特性图所对应的最小相位系统的传递函数</a:t>
            </a:r>
          </a:p>
        </p:txBody>
      </p:sp>
    </p:spTree>
    <p:extLst>
      <p:ext uri="{BB962C8B-B14F-4D97-AF65-F5344CB8AC3E}">
        <p14:creationId xmlns:p14="http://schemas.microsoft.com/office/powerpoint/2010/main" val="169045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15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6A6A7-853C-9B49-9E92-41470C2A1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D42B0643-C4B9-0B9F-A3B7-8406FD148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P101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4-5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5FC1C4-1D16-4498-9D31-A06D34C8B853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963DA50C-4016-6278-1D74-24D3B71389B9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9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9E07F4F8-BF70-065F-6C79-6A4C3F7E56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04194C8D-86C5-57A7-14D5-9720FD3F89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6A4C317B-0984-DA80-202A-DC18D8BEE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FEF0B25C-7A55-F6AF-7CA1-235589263E08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08DB2018-7D68-9056-63B3-8607E9A9F1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E33CE41A-0735-1C6D-27D1-36D592826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B1AEE17-5B78-5511-050D-0A2139D69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766FEA-0A3A-5A00-E118-73CE0E39D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5100" y="1695758"/>
            <a:ext cx="9486900" cy="512941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E817B59-1419-C617-E344-3C664F02B537}"/>
              </a:ext>
            </a:extLst>
          </p:cNvPr>
          <p:cNvSpPr txBox="1"/>
          <p:nvPr/>
        </p:nvSpPr>
        <p:spPr>
          <a:xfrm>
            <a:off x="-105795" y="937562"/>
            <a:ext cx="124893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用劳斯判据确定系统稳定时开环放大系数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值得范围及系统临界稳定时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值大小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46AF6BE-FF06-83A3-DB7B-764D2DFF88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334556"/>
              </p:ext>
            </p:extLst>
          </p:nvPr>
        </p:nvGraphicFramePr>
        <p:xfrm>
          <a:off x="139123" y="1601540"/>
          <a:ext cx="2565977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419040" progId="Equation.DSMT4">
                  <p:embed/>
                </p:oleObj>
              </mc:Choice>
              <mc:Fallback>
                <p:oleObj name="Equation" r:id="rId5" imgW="13334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123" y="1601540"/>
                        <a:ext cx="2565977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86587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5DF8-E1A8-4EA4-9609-63D7CC6AC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B3877BD4-BD3E-DC20-65C4-57120AC93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P101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4-6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F076D-41F1-C26B-3EFC-5CFC6C1C1E2D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5F8EA126-18E5-9A63-D4A9-524DBED95DED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10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7076E96-20BC-ECA0-7C8F-1A87FBCBB12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2CD2AAD1-3EC9-869B-0D2F-96314874E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9272BBDE-6A3F-FBC4-A633-4D6DFBD0D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1163BCFC-9C36-5EEE-D337-50DBBECF2B30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DB311627-C307-21C7-9216-8965C4BAAF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F90B8B32-5E95-4FE4-D3F5-DDE551833A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BB539616-6FC5-FDDE-98D9-818D10CD0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A447526-2FB5-93B7-F526-9A413A017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4863" y="2221416"/>
            <a:ext cx="8847137" cy="4523868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EFE4B59-834E-BB73-264C-4014468B6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621067"/>
              </p:ext>
            </p:extLst>
          </p:nvPr>
        </p:nvGraphicFramePr>
        <p:xfrm>
          <a:off x="214313" y="1606576"/>
          <a:ext cx="3202786" cy="728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41400" imgH="419040" progId="Equation.DSMT4">
                  <p:embed/>
                </p:oleObj>
              </mc:Choice>
              <mc:Fallback>
                <p:oleObj name="Equation" r:id="rId5" imgW="184140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4313" y="1606576"/>
                        <a:ext cx="3202786" cy="728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102D267-8108-76C1-384E-EFC41AD11E44}"/>
              </a:ext>
            </a:extLst>
          </p:cNvPr>
          <p:cNvSpPr txBox="1"/>
          <p:nvPr/>
        </p:nvSpPr>
        <p:spPr>
          <a:xfrm>
            <a:off x="59305" y="937562"/>
            <a:ext cx="11674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用奈奎斯特稳定性判据，根据开环频率特性分析相应的闭环系统的稳定性</a:t>
            </a:r>
          </a:p>
        </p:txBody>
      </p:sp>
    </p:spTree>
    <p:extLst>
      <p:ext uri="{BB962C8B-B14F-4D97-AF65-F5344CB8AC3E}">
        <p14:creationId xmlns:p14="http://schemas.microsoft.com/office/powerpoint/2010/main" val="329568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60A02B8B-8093-43AD-A081-D172BE359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P102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4-8</a:t>
            </a:r>
            <a:endParaRPr lang="zh-CN" altLang="en-US" sz="32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576863-F8A1-286B-A238-AC2F6CDA5032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65714F5E-09B8-1A78-A752-8FCC74055E0A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11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85F475D-30B2-CAD8-CF05-CF9881DB49E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CEA73B17-2F7E-F9E9-77EC-C81BC55C4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B87290BB-338E-07F4-7A60-9ACB96312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939BA919-BEF4-AD6A-5B6D-884F287FBEA2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2293F0A8-29A4-72D6-DACB-8CF5B4A876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F8FE3A37-BA5B-4A3D-7B57-41803A6A5C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6A55B0F-EAE8-DBFB-C60C-77FA95809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01F9334-8561-B2B0-A0BE-3E58DF0F0DF5}"/>
              </a:ext>
            </a:extLst>
          </p:cNvPr>
          <p:cNvSpPr txBox="1"/>
          <p:nvPr/>
        </p:nvSpPr>
        <p:spPr>
          <a:xfrm>
            <a:off x="59305" y="937562"/>
            <a:ext cx="98796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对数稳定性判据判别系统稳定性，并标出相位裕量和幅值裕量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47D0891-4964-2527-EFE2-8BFC40BDF7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15" y="2548739"/>
            <a:ext cx="3584694" cy="211869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2C2C855-FD4F-E07F-4B20-EEED5FF66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158" y="1596409"/>
            <a:ext cx="5035550" cy="5362959"/>
          </a:xfrm>
          <a:prstGeom prst="rect">
            <a:avLst/>
          </a:prstGeom>
        </p:spPr>
      </p:pic>
      <p:sp>
        <p:nvSpPr>
          <p:cNvPr id="16" name="Rectangle 25">
            <a:extLst>
              <a:ext uri="{FF2B5EF4-FFF2-40B4-BE49-F238E27FC236}">
                <a16:creationId xmlns:a16="http://schemas.microsoft.com/office/drawing/2014/main" id="{90082E82-ED8F-B19D-51E4-3EEBA6740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309" y="6230999"/>
            <a:ext cx="4560754" cy="57943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>
              <a:solidFill>
                <a:srgbClr val="FF0000"/>
              </a:solidFill>
              <a:latin typeface="Tahoma" pitchFamily="34" charset="0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8E67769-AF6A-0F27-93EE-433B21985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5205733"/>
              </p:ext>
            </p:extLst>
          </p:nvPr>
        </p:nvGraphicFramePr>
        <p:xfrm>
          <a:off x="534440" y="1550458"/>
          <a:ext cx="3801836" cy="640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040" imgH="419040" progId="Equation.DSMT4">
                  <p:embed/>
                </p:oleObj>
              </mc:Choice>
              <mc:Fallback>
                <p:oleObj name="Equation" r:id="rId6" imgW="248904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34440" y="1550458"/>
                        <a:ext cx="3801836" cy="640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8859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7E4EA-874E-2D5A-428B-0533257E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99E0B7C7-A66B-3CDA-53CA-7349BDC99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P133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5-6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DF3114-92D0-070E-6666-6FCBBE18FDBD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7170CED1-3274-2208-9906-E7CBE9C9078A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12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1246E487-8150-81B3-3E1B-8DD8FE0BC11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1215C340-AA26-1515-9FAC-5F569E99D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6CDF55D2-1E8F-5B5A-94FE-6D5AFC2AA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7D9A7436-2BBC-299D-5559-A7C5F113F7BE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E324167B-E6DE-F63F-97AA-593A862122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BCE053DB-7058-8B4F-F770-46FEAF1836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10F63EF-C735-0268-E48E-D807BB6F9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CA3A9C-C78B-A748-6F63-A6C6BC5C80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77" r="4887"/>
          <a:stretch/>
        </p:blipFill>
        <p:spPr>
          <a:xfrm>
            <a:off x="6089104" y="1929928"/>
            <a:ext cx="6264941" cy="4815356"/>
          </a:xfrm>
          <a:prstGeom prst="rect">
            <a:avLst/>
          </a:prstGeom>
        </p:spPr>
      </p:pic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A16C9E2-1F8F-7B35-18A7-576D75E137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8525866"/>
              </p:ext>
            </p:extLst>
          </p:nvPr>
        </p:nvGraphicFramePr>
        <p:xfrm>
          <a:off x="6276044" y="909706"/>
          <a:ext cx="2553918" cy="739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47560" imgH="419040" progId="Equation.DSMT4">
                  <p:embed/>
                </p:oleObj>
              </mc:Choice>
              <mc:Fallback>
                <p:oleObj name="Equation" r:id="rId5" imgW="144756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6044" y="909706"/>
                        <a:ext cx="2553918" cy="7392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BA084BBE-7585-4E9C-861B-2846D11AD954}"/>
              </a:ext>
            </a:extLst>
          </p:cNvPr>
          <p:cNvGrpSpPr/>
          <p:nvPr/>
        </p:nvGrpSpPr>
        <p:grpSpPr>
          <a:xfrm>
            <a:off x="104110" y="1531235"/>
            <a:ext cx="6024406" cy="1384995"/>
            <a:chOff x="59305" y="3294334"/>
            <a:chExt cx="6024406" cy="1384995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2B0983D7-CB0C-9F3A-5884-CB03252E1ECE}"/>
                </a:ext>
              </a:extLst>
            </p:cNvPr>
            <p:cNvSpPr txBox="1"/>
            <p:nvPr/>
          </p:nvSpPr>
          <p:spPr>
            <a:xfrm>
              <a:off x="59305" y="3294334"/>
              <a:ext cx="6024406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(1)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</a:t>
              </a:r>
              <a:r>
                <a:rPr lang="en-US" altLang="zh-CN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Kp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28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Kv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Ka</a:t>
              </a:r>
            </a:p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(2)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当输入           时的稳态误差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(3)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当输入为                 时的稳态误差</a:t>
              </a:r>
              <a:endPara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2C6FF0BC-8EB2-28DB-4207-07F13432F89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3631787"/>
                </p:ext>
              </p:extLst>
            </p:nvPr>
          </p:nvGraphicFramePr>
          <p:xfrm>
            <a:off x="1686026" y="3777119"/>
            <a:ext cx="1127024" cy="431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96880" imgH="228600" progId="Equation.DSMT4">
                    <p:embed/>
                  </p:oleObj>
                </mc:Choice>
                <mc:Fallback>
                  <p:oleObj name="Equation" r:id="rId7" imgW="596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86026" y="3777119"/>
                          <a:ext cx="1127024" cy="4316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56DBEC75-1A41-A825-6EF8-78E3337B0D1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854566"/>
                </p:ext>
              </p:extLst>
            </p:nvPr>
          </p:nvGraphicFramePr>
          <p:xfrm>
            <a:off x="1971776" y="4208745"/>
            <a:ext cx="1885524" cy="4316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1054080" imgH="241200" progId="Equation.DSMT4">
                    <p:embed/>
                  </p:oleObj>
                </mc:Choice>
                <mc:Fallback>
                  <p:oleObj name="Equation" r:id="rId9" imgW="10540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71776" y="4208745"/>
                          <a:ext cx="1885524" cy="4316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C4C04E9-0209-FE63-6B00-D734DC342E46}"/>
              </a:ext>
            </a:extLst>
          </p:cNvPr>
          <p:cNvSpPr txBox="1"/>
          <p:nvPr/>
        </p:nvSpPr>
        <p:spPr>
          <a:xfrm>
            <a:off x="59305" y="937562"/>
            <a:ext cx="64152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已知单位负反馈系统的开环传递函数为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B61728E-4B04-010C-0B88-3590BB4F243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308898"/>
            <a:ext cx="6444164" cy="318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F0DCE-5503-08CF-4621-BCF8539A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2536">
            <a:extLst>
              <a:ext uri="{FF2B5EF4-FFF2-40B4-BE49-F238E27FC236}">
                <a16:creationId xmlns:a16="http://schemas.microsoft.com/office/drawing/2014/main" id="{E92C3B6B-B124-BE04-0A7E-64A1741FD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716"/>
            <a:ext cx="1217820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课堂测试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03BDCFB-5AF0-6FEE-A5EF-279EED603573}"/>
              </a:ext>
            </a:extLst>
          </p:cNvPr>
          <p:cNvSpPr/>
          <p:nvPr/>
        </p:nvSpPr>
        <p:spPr bwMode="auto">
          <a:xfrm>
            <a:off x="11640616" y="700087"/>
            <a:ext cx="447274" cy="202127"/>
          </a:xfrm>
          <a:prstGeom prst="rect">
            <a:avLst/>
          </a:prstGeom>
          <a:solidFill>
            <a:srgbClr val="00164B"/>
          </a:solidFill>
          <a:ln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342900" marR="0" indent="-34290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1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D17B8F9B-2CB9-4EB6-5953-A8785F346930}"/>
              </a:ext>
            </a:extLst>
          </p:cNvPr>
          <p:cNvSpPr txBox="1">
            <a:spLocks/>
          </p:cNvSpPr>
          <p:nvPr/>
        </p:nvSpPr>
        <p:spPr>
          <a:xfrm>
            <a:off x="11669668" y="627001"/>
            <a:ext cx="404395" cy="31056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rgbClr val="000000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algn="ctr"/>
            <a:fld id="{48F63A3B-78C7-47BE-AE5E-E10140E04643}" type="slidenum">
              <a:rPr lang="en-US" b="1" smtClean="0">
                <a:solidFill>
                  <a:schemeClr val="bg1"/>
                </a:solidFill>
                <a:cs typeface="Times New Roman" panose="02020603050405020304" pitchFamily="18" charset="0"/>
              </a:rPr>
              <a:pPr algn="ctr"/>
              <a:t>13</a:t>
            </a:fld>
            <a:endParaRPr lang="en-US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C40CE9EE-C9F8-9832-F43E-CFF3781BC46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9" t="23034" r="9565" b="16958"/>
          <a:stretch/>
        </p:blipFill>
        <p:spPr>
          <a:xfrm>
            <a:off x="10149200" y="32823"/>
            <a:ext cx="2029009" cy="641004"/>
          </a:xfrm>
          <a:prstGeom prst="rect">
            <a:avLst/>
          </a:prstGeom>
          <a:noFill/>
        </p:spPr>
      </p:pic>
      <p:sp>
        <p:nvSpPr>
          <p:cNvPr id="84" name="Rectangle 2">
            <a:extLst>
              <a:ext uri="{FF2B5EF4-FFF2-40B4-BE49-F238E27FC236}">
                <a16:creationId xmlns:a16="http://schemas.microsoft.com/office/drawing/2014/main" id="{D50F86A6-CA0A-12FD-8281-20E37CD09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D0C8D37F-EFB9-32CD-E31F-431B24685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36E1AFC-E383-9937-5A81-810113F77B84}"/>
              </a:ext>
            </a:extLst>
          </p:cNvPr>
          <p:cNvGrpSpPr/>
          <p:nvPr/>
        </p:nvGrpSpPr>
        <p:grpSpPr>
          <a:xfrm>
            <a:off x="1" y="784458"/>
            <a:ext cx="11568608" cy="68980"/>
            <a:chOff x="0" y="784458"/>
            <a:chExt cx="11615369" cy="68980"/>
          </a:xfrm>
        </p:grpSpPr>
        <p:sp>
          <p:nvSpPr>
            <p:cNvPr id="71" name="Line 6">
              <a:extLst>
                <a:ext uri="{FF2B5EF4-FFF2-40B4-BE49-F238E27FC236}">
                  <a16:creationId xmlns:a16="http://schemas.microsoft.com/office/drawing/2014/main" id="{4BC45E58-1D9E-9CE1-9FD3-DB02257879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784458"/>
              <a:ext cx="11615369" cy="12346"/>
            </a:xfrm>
            <a:prstGeom prst="line">
              <a:avLst/>
            </a:prstGeom>
            <a:noFill/>
            <a:ln w="57150">
              <a:solidFill>
                <a:srgbClr val="00164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" name="Line 6">
              <a:extLst>
                <a:ext uri="{FF2B5EF4-FFF2-40B4-BE49-F238E27FC236}">
                  <a16:creationId xmlns:a16="http://schemas.microsoft.com/office/drawing/2014/main" id="{E3C426BB-2961-505E-018C-6C560B9B36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0" y="841091"/>
              <a:ext cx="11615369" cy="12347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7217C35-D9B3-E103-5070-94FFB9F35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6DA72505-00C2-A7B5-2821-AE416D336E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708916"/>
              </p:ext>
            </p:extLst>
          </p:nvPr>
        </p:nvGraphicFramePr>
        <p:xfrm>
          <a:off x="3461008" y="857759"/>
          <a:ext cx="2156881" cy="646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8733" imgH="418698" progId="Equation.DSMT4">
                  <p:embed/>
                </p:oleObj>
              </mc:Choice>
              <mc:Fallback>
                <p:oleObj name="Equation" r:id="rId4" imgW="1398733" imgH="418698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C28BCFD-B0E9-074B-E5FF-A1EA102C8D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61008" y="857759"/>
                        <a:ext cx="2156881" cy="6463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C587D22-ED0D-959A-7DEF-46D4FD4B9700}"/>
              </a:ext>
            </a:extLst>
          </p:cNvPr>
          <p:cNvSpPr txBox="1"/>
          <p:nvPr/>
        </p:nvSpPr>
        <p:spPr>
          <a:xfrm>
            <a:off x="36513" y="924688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某系统传递函数为                   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其零点和极点分别为多少？是否为最小相位系统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buAutoNum type="arabicPeriod"/>
            </a:pP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试求下图所示的对数幅频特性图所对应的最小相位系统的传递函数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07E6488-AAC8-3A87-FFEB-20978374B5EE}"/>
              </a:ext>
            </a:extLst>
          </p:cNvPr>
          <p:cNvGrpSpPr/>
          <p:nvPr/>
        </p:nvGrpSpPr>
        <p:grpSpPr>
          <a:xfrm>
            <a:off x="3461008" y="2240198"/>
            <a:ext cx="5269984" cy="3115064"/>
            <a:chOff x="1858950" y="2574536"/>
            <a:chExt cx="5269984" cy="3115064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F6361D6A-037B-4028-8C21-0919759D4D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8950" y="2574536"/>
              <a:ext cx="5269984" cy="3115064"/>
              <a:chOff x="6822" y="8214"/>
              <a:chExt cx="2973" cy="2035"/>
            </a:xfrm>
          </p:grpSpPr>
          <p:cxnSp>
            <p:nvCxnSpPr>
              <p:cNvPr id="24" name="直线 268">
                <a:extLst>
                  <a:ext uri="{FF2B5EF4-FFF2-40B4-BE49-F238E27FC236}">
                    <a16:creationId xmlns:a16="http://schemas.microsoft.com/office/drawing/2014/main" id="{9CEF9D4E-DA75-AB57-F7DE-704C40D4C92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189" y="8339"/>
                <a:ext cx="1" cy="1823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5" name="直线 269">
                <a:extLst>
                  <a:ext uri="{FF2B5EF4-FFF2-40B4-BE49-F238E27FC236}">
                    <a16:creationId xmlns:a16="http://schemas.microsoft.com/office/drawing/2014/main" id="{B278BE99-C1B8-A4CB-2BE0-7891D583666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189" y="9381"/>
                <a:ext cx="1866" cy="1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任意多边形 270">
                <a:extLst>
                  <a:ext uri="{FF2B5EF4-FFF2-40B4-BE49-F238E27FC236}">
                    <a16:creationId xmlns:a16="http://schemas.microsoft.com/office/drawing/2014/main" id="{8A51240D-B162-019D-DD5B-2FB30F688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89" y="8773"/>
                <a:ext cx="1396" cy="1476"/>
              </a:xfrm>
              <a:custGeom>
                <a:avLst/>
                <a:gdLst>
                  <a:gd name="T0" fmla="*/ 0 w 1396"/>
                  <a:gd name="T1" fmla="*/ 0 h 1476"/>
                  <a:gd name="T2" fmla="*/ 1146 w 1396"/>
                  <a:gd name="T3" fmla="*/ 1056 h 1476"/>
                  <a:gd name="T4" fmla="*/ 1396 w 1396"/>
                  <a:gd name="T5" fmla="*/ 1476 h 14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6" h="1476">
                    <a:moveTo>
                      <a:pt x="0" y="0"/>
                    </a:moveTo>
                    <a:lnTo>
                      <a:pt x="1146" y="1056"/>
                    </a:lnTo>
                    <a:lnTo>
                      <a:pt x="1396" y="1476"/>
                    </a:lnTo>
                  </a:path>
                </a:pathLst>
              </a:custGeom>
              <a:noFill/>
              <a:ln w="952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D6108025-A20E-A078-A81A-ECA78854F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41" y="8214"/>
                <a:ext cx="4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endParaRPr lang="en-US" sz="120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" name="任意多边形 275">
                <a:extLst>
                  <a:ext uri="{FF2B5EF4-FFF2-40B4-BE49-F238E27FC236}">
                    <a16:creationId xmlns:a16="http://schemas.microsoft.com/office/drawing/2014/main" id="{49DAEFC6-387C-F137-0B3B-9F60E6338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8" y="8238"/>
                <a:ext cx="88" cy="200"/>
              </a:xfrm>
              <a:custGeom>
                <a:avLst/>
                <a:gdLst>
                  <a:gd name="T0" fmla="*/ 0 w 59"/>
                  <a:gd name="T1" fmla="*/ 188 h 188"/>
                  <a:gd name="T2" fmla="*/ 29 w 59"/>
                  <a:gd name="T3" fmla="*/ 144 h 188"/>
                  <a:gd name="T4" fmla="*/ 59 w 59"/>
                  <a:gd name="T5" fmla="*/ 188 h 188"/>
                  <a:gd name="T6" fmla="*/ 29 w 59"/>
                  <a:gd name="T7" fmla="*/ 0 h 188"/>
                  <a:gd name="T8" fmla="*/ 0 w 59"/>
                  <a:gd name="T9" fmla="*/ 188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188">
                    <a:moveTo>
                      <a:pt x="0" y="188"/>
                    </a:moveTo>
                    <a:lnTo>
                      <a:pt x="29" y="144"/>
                    </a:lnTo>
                    <a:lnTo>
                      <a:pt x="59" y="188"/>
                    </a:lnTo>
                    <a:lnTo>
                      <a:pt x="29" y="0"/>
                    </a:lnTo>
                    <a:lnTo>
                      <a:pt x="0" y="18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8207DEA4-8BCB-2F7F-3786-A08718826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89" y="8945"/>
                <a:ext cx="526" cy="1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r>
                  <a:rPr lang="en-US" sz="1600" kern="100" dirty="0">
                    <a:solidFill>
                      <a:srgbClr val="000000"/>
                    </a:solidFill>
                    <a:effectLst/>
                    <a:latin typeface="Times" panose="02020603050405020304" pitchFamily="18" charset="0"/>
                    <a:ea typeface="宋体" panose="02010600030101010101" pitchFamily="2" charset="-122"/>
                  </a:rPr>
                  <a:t>­-20dB/dec</a:t>
                </a:r>
                <a:endParaRPr 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C5246FD0-63C9-36CF-F83C-D253894775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0" y="9319"/>
                <a:ext cx="134" cy="1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r>
                  <a:rPr lang="en-US" sz="1600" kern="100" dirty="0">
                    <a:solidFill>
                      <a:srgbClr val="000000"/>
                    </a:solidFill>
                    <a:effectLst/>
                    <a:latin typeface="Times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187DA44D-357E-D790-176A-B74E105D2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14" y="9368"/>
                <a:ext cx="881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endParaRPr lang="en-US" sz="1200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2" name="任意多边形 282">
                <a:extLst>
                  <a:ext uri="{FF2B5EF4-FFF2-40B4-BE49-F238E27FC236}">
                    <a16:creationId xmlns:a16="http://schemas.microsoft.com/office/drawing/2014/main" id="{34327775-3566-0FB0-E1C8-33DD4FD1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52" y="9352"/>
                <a:ext cx="176" cy="72"/>
              </a:xfrm>
              <a:custGeom>
                <a:avLst/>
                <a:gdLst>
                  <a:gd name="T0" fmla="*/ 0 w 176"/>
                  <a:gd name="T1" fmla="*/ 0 h 72"/>
                  <a:gd name="T2" fmla="*/ 29 w 176"/>
                  <a:gd name="T3" fmla="*/ 29 h 72"/>
                  <a:gd name="T4" fmla="*/ 0 w 176"/>
                  <a:gd name="T5" fmla="*/ 72 h 72"/>
                  <a:gd name="T6" fmla="*/ 176 w 176"/>
                  <a:gd name="T7" fmla="*/ 29 h 72"/>
                  <a:gd name="T8" fmla="*/ 0 w 176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72">
                    <a:moveTo>
                      <a:pt x="0" y="0"/>
                    </a:moveTo>
                    <a:lnTo>
                      <a:pt x="29" y="29"/>
                    </a:lnTo>
                    <a:lnTo>
                      <a:pt x="0" y="72"/>
                    </a:lnTo>
                    <a:lnTo>
                      <a:pt x="176" y="2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A559232-0F3A-21D2-0DA6-2151DB496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85" y="9207"/>
                <a:ext cx="163" cy="1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r>
                  <a:rPr lang="en-US" sz="1600" kern="100" dirty="0">
                    <a:solidFill>
                      <a:srgbClr val="000000"/>
                    </a:solidFill>
                    <a:effectLst/>
                    <a:latin typeface="Times" panose="02020603050405020304" pitchFamily="18" charset="0"/>
                    <a:ea typeface="宋体" panose="02010600030101010101" pitchFamily="2" charset="-122"/>
                  </a:rPr>
                  <a:t>50</a:t>
                </a:r>
                <a:endParaRPr 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F9A0B010-5B15-2065-EA2B-179FDBCF2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14" y="9911"/>
                <a:ext cx="539" cy="1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r>
                  <a:rPr lang="en-US" sz="1600" kern="100" dirty="0">
                    <a:solidFill>
                      <a:srgbClr val="000000"/>
                    </a:solidFill>
                    <a:effectLst/>
                    <a:latin typeface="Times" panose="02020603050405020304" pitchFamily="18" charset="0"/>
                    <a:ea typeface="宋体" panose="02010600030101010101" pitchFamily="2" charset="-122"/>
                  </a:rPr>
                  <a:t>­-40dB/dec</a:t>
                </a:r>
                <a:endParaRPr 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35" name="直线 285">
                <a:extLst>
                  <a:ext uri="{FF2B5EF4-FFF2-40B4-BE49-F238E27FC236}">
                    <a16:creationId xmlns:a16="http://schemas.microsoft.com/office/drawing/2014/main" id="{A5AA5489-E147-7B0C-3EE4-481B96BC181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362" y="8928"/>
                <a:ext cx="0" cy="446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7" name="直线 286">
                <a:extLst>
                  <a:ext uri="{FF2B5EF4-FFF2-40B4-BE49-F238E27FC236}">
                    <a16:creationId xmlns:a16="http://schemas.microsoft.com/office/drawing/2014/main" id="{C5AF56FE-1750-B8B5-9D54-CD7525C7A73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7177" y="8928"/>
                <a:ext cx="185" cy="0"/>
              </a:xfrm>
              <a:prstGeom prst="line">
                <a:avLst/>
              </a:prstGeom>
              <a:noFill/>
              <a:ln w="9525" cmpd="sng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F981FFC0-CE6D-BF4F-544C-B78B09098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4" y="9395"/>
                <a:ext cx="133" cy="1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r>
                  <a:rPr lang="en-US" sz="1600" kern="100" dirty="0">
                    <a:solidFill>
                      <a:srgbClr val="000000"/>
                    </a:solidFill>
                    <a:effectLst/>
                    <a:latin typeface="Times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zh-CN" sz="10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F41568A1-06A0-4F95-F62B-B613EC17E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22" y="8685"/>
                <a:ext cx="338" cy="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/>
                <a:r>
                  <a:rPr lang="en-US" sz="1600" kern="100" dirty="0">
                    <a:solidFill>
                      <a:srgbClr val="000000"/>
                    </a:solidFill>
                    <a:effectLst/>
                    <a:latin typeface="Times" panose="02020603050405020304" pitchFamily="18" charset="0"/>
                    <a:ea typeface="宋体" panose="02010600030101010101" pitchFamily="2" charset="-122"/>
                  </a:rPr>
                  <a:t>20lg30</a:t>
                </a:r>
                <a:endParaRPr lang="zh-CN" sz="16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41" name="直线 285">
              <a:extLst>
                <a:ext uri="{FF2B5EF4-FFF2-40B4-BE49-F238E27FC236}">
                  <a16:creationId xmlns:a16="http://schemas.microsoft.com/office/drawing/2014/main" id="{F5EFE90E-C7BE-C752-629A-0E0DB2F48DBF}"/>
                </a:ext>
              </a:extLst>
            </p:cNvPr>
            <p:cNvCxnSpPr>
              <a:cxnSpLocks noChangeShapeType="1"/>
              <a:stCxn id="26" idx="1"/>
            </p:cNvCxnSpPr>
            <p:nvPr/>
          </p:nvCxnSpPr>
          <p:spPr bwMode="auto">
            <a:xfrm flipV="1">
              <a:off x="4540916" y="4382344"/>
              <a:ext cx="0" cy="664344"/>
            </a:xfrm>
            <a:prstGeom prst="line">
              <a:avLst/>
            </a:prstGeom>
            <a:noFill/>
            <a:ln w="9525" cmpd="sng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aphicFrame>
          <p:nvGraphicFramePr>
            <p:cNvPr id="44" name="对象 43">
              <a:extLst>
                <a:ext uri="{FF2B5EF4-FFF2-40B4-BE49-F238E27FC236}">
                  <a16:creationId xmlns:a16="http://schemas.microsoft.com/office/drawing/2014/main" id="{ABD6EE57-FA76-9142-35C1-D6F843C1D7C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065786"/>
                </p:ext>
              </p:extLst>
            </p:nvPr>
          </p:nvGraphicFramePr>
          <p:xfrm>
            <a:off x="5537200" y="4435578"/>
            <a:ext cx="345811" cy="2829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4662" imgH="85610" progId="Equation.DSMT4">
                    <p:embed/>
                  </p:oleObj>
                </mc:Choice>
                <mc:Fallback>
                  <p:oleObj name="Equation" r:id="rId6" imgW="104662" imgH="8561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5537200" y="4435578"/>
                          <a:ext cx="345811" cy="28293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E40A7DA8-B864-58D6-7BA1-DB72362E706D}"/>
              </a:ext>
            </a:extLst>
          </p:cNvPr>
          <p:cNvSpPr txBox="1"/>
          <p:nvPr/>
        </p:nvSpPr>
        <p:spPr>
          <a:xfrm>
            <a:off x="100036" y="535526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  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分别使用劳斯判据、霍尔维茨判据分析下列系统的稳定性。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22EDD846-63B8-F403-32AE-DC00CFBFA0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627982"/>
              </p:ext>
            </p:extLst>
          </p:nvPr>
        </p:nvGraphicFramePr>
        <p:xfrm>
          <a:off x="4557162" y="5920431"/>
          <a:ext cx="3077676" cy="76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17769" imgH="399634" progId="Equation.DSMT4">
                  <p:embed/>
                </p:oleObj>
              </mc:Choice>
              <mc:Fallback>
                <p:oleObj name="Equation" r:id="rId8" imgW="1617769" imgH="39963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57162" y="5920431"/>
                        <a:ext cx="3077676" cy="761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4674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1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252</Words>
  <Application>Microsoft Office PowerPoint</Application>
  <PresentationFormat>宽屏</PresentationFormat>
  <Paragraphs>63</Paragraphs>
  <Slides>13</Slides>
  <Notes>13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等线</vt:lpstr>
      <vt:lpstr>等线 Light</vt:lpstr>
      <vt:lpstr>微软雅黑</vt:lpstr>
      <vt:lpstr>Arial</vt:lpstr>
      <vt:lpstr>Tahoma</vt:lpstr>
      <vt:lpstr>Times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Tony Stark</dc:creator>
  <cp:lastModifiedBy>豆 豆</cp:lastModifiedBy>
  <cp:revision>42</cp:revision>
  <dcterms:created xsi:type="dcterms:W3CDTF">2024-05-27T00:07:28Z</dcterms:created>
  <dcterms:modified xsi:type="dcterms:W3CDTF">2026-06-24T06:37:20Z</dcterms:modified>
</cp:coreProperties>
</file>